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howSpecialPlsOnTitleSld="0" strictFirstAndLastChars="0" saveSubsetFonts="1">
  <p:sldMasterIdLst>
    <p:sldMasterId id="2147484395" r:id="rId1"/>
  </p:sldMasterIdLst>
  <p:notesMasterIdLst>
    <p:notesMasterId r:id="rId27"/>
  </p:notesMasterIdLst>
  <p:handoutMasterIdLst>
    <p:handoutMasterId r:id="rId28"/>
  </p:handoutMasterIdLst>
  <p:sldIdLst>
    <p:sldId id="283" r:id="rId2"/>
    <p:sldId id="295" r:id="rId3"/>
    <p:sldId id="296" r:id="rId4"/>
    <p:sldId id="292" r:id="rId5"/>
    <p:sldId id="293" r:id="rId6"/>
    <p:sldId id="289" r:id="rId7"/>
    <p:sldId id="257" r:id="rId8"/>
    <p:sldId id="258" r:id="rId9"/>
    <p:sldId id="259" r:id="rId10"/>
    <p:sldId id="260" r:id="rId11"/>
    <p:sldId id="261" r:id="rId12"/>
    <p:sldId id="281" r:id="rId13"/>
    <p:sldId id="263" r:id="rId14"/>
    <p:sldId id="264" r:id="rId15"/>
    <p:sldId id="265" r:id="rId16"/>
    <p:sldId id="266" r:id="rId17"/>
    <p:sldId id="267" r:id="rId18"/>
    <p:sldId id="268" r:id="rId19"/>
    <p:sldId id="286" r:id="rId20"/>
    <p:sldId id="287" r:id="rId21"/>
    <p:sldId id="288" r:id="rId22"/>
    <p:sldId id="278" r:id="rId23"/>
    <p:sldId id="277" r:id="rId24"/>
    <p:sldId id="279" r:id="rId25"/>
    <p:sldId id="280" r:id="rId26"/>
  </p:sldIdLst>
  <p:sldSz cx="9144000" cy="6858000" type="screen4x3"/>
  <p:notesSz cx="7099300" cy="102346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180" autoAdjust="0"/>
  </p:normalViewPr>
  <p:slideViewPr>
    <p:cSldViewPr>
      <p:cViewPr varScale="1">
        <p:scale>
          <a:sx n="115" d="100"/>
          <a:sy n="115" d="100"/>
        </p:scale>
        <p:origin x="153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37B5449-D015-4172-9523-4902258B32EA}" type="datetimeFigureOut">
              <a:rPr lang="en-US"/>
              <a:pPr>
                <a:defRPr/>
              </a:pPr>
              <a:t>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Prepared by: Dr. Muhammad Iqbal Hossain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F35557B-A6A6-499C-B57C-E879ACC9D2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3587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>
                <a:latin typeface="Comic Sans MS" pitchFamily="66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>
                <a:latin typeface="Comic Sans MS" pitchFamily="66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300">
                <a:latin typeface="Comic Sans MS" pitchFamily="66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Prepared by: Dr. Muhammad Iqbal Hossain</a:t>
            </a:r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fld id="{E66EC87D-B528-466C-8ECB-F96A4F39D9AF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322290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0815284E-C248-485A-9919-204900BB8EA6}" type="slidenum">
              <a:rPr lang="ko-KR" altLang="en-US">
                <a:latin typeface="Comic Sans MS" panose="030F0702030302020204" pitchFamily="66" charset="0"/>
              </a:rPr>
              <a:pPr/>
              <a:t>3</a:t>
            </a:fld>
            <a:endParaRPr lang="en-US" altLang="ko-KR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922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1a7771bd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75425" y="773113"/>
            <a:ext cx="5151438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1a7771bd3_0_3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284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1a7771bd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575425" y="773113"/>
            <a:ext cx="5151438" cy="3862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1a7771bd3_0_12:notes"/>
          <p:cNvSpPr txBox="1">
            <a:spLocks noGrp="1"/>
          </p:cNvSpPr>
          <p:nvPr>
            <p:ph type="body" idx="1"/>
          </p:nvPr>
        </p:nvSpPr>
        <p:spPr>
          <a:xfrm>
            <a:off x="1830050" y="4892350"/>
            <a:ext cx="14640600" cy="46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936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127FF40-488F-153B-19EB-877ABF2A3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1193D54-04FF-E96B-1A4B-F0630582A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C37E41D-C95F-1359-E1E6-7968C1C8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C9F7D58-677A-1439-B08D-FD962F3C3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67744" y="6356351"/>
            <a:ext cx="4678340" cy="365125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Chapter 1 Introduction          Prepared by: Dr. Muhammad Iqbal Hossain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112794-6744-3C1D-22CE-6F3302DF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DE6282-20D8-4D77-97D4-809750D5841D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2AFAEB3-6993-417E-06AF-308C15B5D0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060EE7D-53E9-F1D0-BE4E-30C2EB3AAB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96C8557A-C4C0-F65D-58A7-65DD059CB6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788565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5A6D1-4A64-F098-608E-B0ADF44A1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735" y="188641"/>
            <a:ext cx="7886700" cy="1008112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744CEF-7C88-6832-2FDF-638F6304F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375" y="1663568"/>
            <a:ext cx="7886700" cy="4351338"/>
          </a:xfrm>
        </p:spPr>
        <p:txBody>
          <a:bodyPr/>
          <a:lstStyle>
            <a:lvl1pPr>
              <a:defRPr>
                <a:latin typeface="Calibri Light (Headings)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7C7C217-4183-2235-543E-81575046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16CD87-CF89-E787-56FD-C9D10777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775298" cy="365125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Chapter 1 Introduction          Prepared by: Dr. Muhammad Iqbal Hossain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4D62148-F355-1632-22ED-4AA8F10A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63EEA-4EA1-4C92-8471-1DAFB8D424C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4EA166F-D2D5-A36C-F203-FC1FDBD4D6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D39E2D3-039B-9D84-2243-130A983B74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B3EA208-2427-962F-5DE3-A5C9A292B4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788565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95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16C3C30-C583-D454-BFF0-E822BC88D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solidFill>
            <a:schemeClr val="accent1">
              <a:lumMod val="75000"/>
            </a:schemeClr>
          </a:solidFill>
        </p:spPr>
        <p:txBody>
          <a:bodyPr anchor="b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9FF2424-A14D-339A-85FA-9DAECE619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F44AD6C-9468-873D-9DCB-1304B18E2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7F24AD8-27D5-6B55-3098-DE576F1B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917134" cy="365125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Chapter 1 Introduction          Prepared by: Dr. Muhammad Iqbal Hossain</a:t>
            </a:r>
            <a:endParaRPr lang="en-US" altLang="ko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3DCB02D-C255-7534-6E72-3B435880F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4248C9-CBA4-4818-9A3D-58C65035F78C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BEE7431-5672-AA1E-8A6F-3896B16189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658ACC7-DE04-E54F-C623-2FB2EDCC6B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1C0E5D9-DD5C-6A60-5F06-DB9471EC97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66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0C038D-5D4C-0E94-47AB-BE9B0681941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A9B496B-4917-7259-E010-F4B53CD27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6062CB1-3AC4-22B1-DCE7-A5893C5C7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CC01C14-06F9-F459-ED47-A434C969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8374982-25D1-3E6C-8050-8B8CD537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991322" cy="365125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FAF0BCB-8C9A-3467-D5E7-2EE6C7EC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F81D26-8F62-4C45-A911-1D881F23B34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D60EAFD-1A01-2480-7D26-DE7E97FF43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701461B-2F98-2033-8BED-3AA6D5C0AD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6D84F06-D6C0-6410-0CCD-A77C371370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0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0E1E41-9104-12CA-1E97-FFB92A0A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C0AB8B0-06F2-DB52-04AB-F02DA7B1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EC88DEEA-DA8B-FC52-FDD9-8200159A8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AE4519B-3D99-83B0-5B61-E8A4427B74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A191CA51-F1D4-6F06-ECEF-B59DFF563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5F6BFAF-CFA5-24F2-E8FB-03BC14CE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87304055-AA3A-1F91-6FAB-BD52D736E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D64AB7D3-B715-9C10-CD4C-35FFF94AC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73118C-0692-4F57-99B2-EE4803B5592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5BCD3CED-3855-7AF7-0B7E-F919A17123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D68D5EA-20FA-8E15-5EDA-6497BF780C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55B57C5-1740-C272-7DC5-DC75E71C17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7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7B6043-9FD3-79AB-711E-9CCBAF23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40" y="302442"/>
            <a:ext cx="7886700" cy="1325563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1EEC18B-8502-02C1-48EF-636736B3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EAA7E37-2088-BBDA-86E7-E38ADB2C2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775298" cy="365125"/>
          </a:xfrm>
        </p:spPr>
        <p:txBody>
          <a:bodyPr/>
          <a:lstStyle/>
          <a:p>
            <a:pPr>
              <a:defRPr/>
            </a:pPr>
            <a:r>
              <a:rPr lang="en-US" altLang="ko-KR" dirty="0" smtClean="0"/>
              <a:t>Chapter 1 Introduction          Prepared by: Dr. Muhammad Iqbal Hossain</a:t>
            </a:r>
            <a:endParaRPr lang="en-US" altLang="ko-K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B4ADDFA-D259-19DF-D997-370EC0CC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4C6DC7-5547-4CAF-A6DA-4B6FA544DE16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87693E5A-E0FC-0F83-9FAB-415FD27BC6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148B976-C71F-C284-33CC-ABD7FEC62D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0B7FB41-D1AB-64D0-14CE-4B6AAB86C1A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60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20FDAFE-F911-F799-0C03-60684C7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6C69565-0FA3-D759-2D22-E42D3CEA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A3E60E-B654-02CF-8DCE-24C6BC70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AA03F0-EECE-41D3-96B0-D50211AE8035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D3CBD71-9EAF-626E-8E00-81EECD2C9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04FAE93-798E-D1BC-3B0C-002151112B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28D5145-711C-8DDC-0672-56C5FC1FEF8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30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3C9905-C5A8-2388-9834-0E5D30C5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93978F-A35A-072F-BC14-58E3399FC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5F6A228-1C46-A1C6-8406-23E4CF225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9DA2E27-2D20-59E5-2F69-47686E04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176262-E79B-4A6F-8D25-436A9318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9A6A75-194C-3893-FE55-9E25FB15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ACE609-248D-48A1-BDB4-27BF92EB1DCE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4F7202C-7493-9162-9501-A00659AFA3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766ED86-2755-EEB0-BD1B-9499D483D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73FA9F84-F580-8ED8-C356-9D5455F65B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03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DBE144-BCF8-98B5-30B3-4652C9FD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4C32A319-5759-F04D-144A-D418722C3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2D92E1D-C028-D38F-77B5-65D5A6BC1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2E43C1-14C2-9F5A-26BA-7CB79E89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E00B85A-BB57-0541-2EBD-4E53FC15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1FB162D-794F-C3D1-CF87-BAB558CD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3CBD6-996F-4F37-808C-BE9F2C1DD447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A47C5B4-1E79-2485-3620-5A418952FD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00A9EE8C-6F93-C887-7220-5698DB5255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F5A01933-AEE3-02CF-17F7-FE2AE258FE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54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07C2BA-B50E-DF40-BCEF-2C405D8B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DEEDE40-0B31-8B91-A055-9495E9D036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B87E89-A9E8-4655-E40F-9AE338D30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848540C-DEBA-333D-5BFB-B0503B004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658D7E4-B646-EAD3-3B0C-682D7C2CA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9EE4D5-109D-4E19-AF7D-694E06454C64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C28A771-100D-0DBD-5735-E6CFE6CFF3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B360BCF-B9A7-C4D6-2FDE-B10227D46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01C9499-BA55-CD71-BF22-C8DD9A624C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8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3944CCD-A81A-3B41-F73A-690AF39947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FAABC06-3980-9FF0-27FB-E9A984F5E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B4A80E4-5EA5-B25C-781A-34856E0C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C5EEBC-11FC-4EF9-6B8D-FA7D3097B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414E6A1-4720-7B48-8565-15AC9D88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26F691-000C-4C2B-A3EB-432509ED9E08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B9B5DDD-33AE-16F3-0908-9315F286E0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84" y="4128139"/>
            <a:ext cx="2200013" cy="274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E966678-650C-5102-97B5-AD230F927A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" y="6014906"/>
            <a:ext cx="649506" cy="863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3027087-1752-352F-6AC2-50F570BF14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435" y="100669"/>
            <a:ext cx="677411" cy="86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43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>
            <a:spLocks noGrp="1"/>
          </p:cNvSpPr>
          <p:nvPr>
            <p:ph type="title"/>
          </p:nvPr>
        </p:nvSpPr>
        <p:spPr>
          <a:xfrm>
            <a:off x="1789381" y="945415"/>
            <a:ext cx="2047428" cy="273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74" b="1" i="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8229585" cy="29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28463" lvl="0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456926" lvl="1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685389" lvl="2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913851" lvl="3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142314" lvl="4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1370777" lvl="5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1599240" lvl="6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1827703" lvl="7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2056166" lvl="8" indent="-11423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11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8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6583681" y="6377940"/>
            <a:ext cx="210318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spcAft>
                <a:spcPts val="0"/>
              </a:spcAft>
            </a:pPr>
            <a:fld id="{00000000-1234-1234-1234-123412341234}" type="slidenum">
              <a:rPr lang="en-US" smtClean="0"/>
              <a:pPr>
                <a:spcAft>
                  <a:spcPts val="0"/>
                </a:spcAft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26CF0A1-CD6B-0F10-249E-E813E5A6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11AA00C-5F55-01DB-743E-662E68F5A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67A045-FF6A-DB99-1731-FC67FE769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66A1143-19AB-3B74-6461-318B9F0177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smtClean="0"/>
              <a:t>Chapter 1 Introduction          Prepared by: Dr. Muhammad Iqbal Hossain</a:t>
            </a:r>
            <a:endParaRPr lang="en-US" altLang="ko-K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3AC2373-932A-F0B1-EDA4-BF630CC73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51B591-C7BA-4C9F-B737-953C71871E4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159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6" r:id="rId1"/>
    <p:sldLayoutId id="2147484397" r:id="rId2"/>
    <p:sldLayoutId id="2147484398" r:id="rId3"/>
    <p:sldLayoutId id="2147484399" r:id="rId4"/>
    <p:sldLayoutId id="2147484400" r:id="rId5"/>
    <p:sldLayoutId id="2147484401" r:id="rId6"/>
    <p:sldLayoutId id="2147484402" r:id="rId7"/>
    <p:sldLayoutId id="2147484403" r:id="rId8"/>
    <p:sldLayoutId id="2147484404" r:id="rId9"/>
    <p:sldLayoutId id="2147484405" r:id="rId10"/>
    <p:sldLayoutId id="2147484406" r:id="rId11"/>
    <p:sldLayoutId id="2147484407" r:id="rId12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thinking-woman-p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adyjsvoice.wordpress.com/tag/misc" TargetMode="External"/><Relationship Id="rId4" Type="http://schemas.openxmlformats.org/officeDocument/2006/relationships/image" Target="../media/image1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verypiecematters.com/jget/volume03-issue01/card-game-to-improve-critical-thinking.htm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875870" y="404664"/>
            <a:ext cx="7239860" cy="22479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CSE447: Cryptography and Cryptanalysis</a:t>
            </a:r>
            <a:br>
              <a:rPr lang="en-US" altLang="ko-KR" dirty="0"/>
            </a:br>
            <a:r>
              <a:rPr lang="en-US" altLang="ko-KR" dirty="0" smtClean="0"/>
              <a:t>Spring 2025</a:t>
            </a:r>
            <a:endParaRPr lang="en-US" altLang="ko-KR" dirty="0"/>
          </a:p>
        </p:txBody>
      </p:sp>
      <p:sp>
        <p:nvSpPr>
          <p:cNvPr id="1331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315913" y="3408363"/>
            <a:ext cx="8359775" cy="2411412"/>
          </a:xfrm>
        </p:spPr>
        <p:txBody>
          <a:bodyPr rtlCol="0"/>
          <a:lstStyle/>
          <a:p>
            <a:pPr algn="ctr" eaLnBrk="1" fontAlgn="auto" hangingPunct="1">
              <a:defRPr/>
            </a:pPr>
            <a:r>
              <a:rPr lang="en-US" altLang="ko-KR" sz="2800" dirty="0"/>
              <a:t>Prepared by:</a:t>
            </a:r>
          </a:p>
          <a:p>
            <a:pPr algn="ctr" eaLnBrk="1" fontAlgn="auto" hangingPunct="1">
              <a:defRPr/>
            </a:pPr>
            <a:r>
              <a:rPr lang="en-US" altLang="ko-KR" sz="2800" dirty="0"/>
              <a:t>Dr. Muhammad Iqbal Hossain</a:t>
            </a:r>
          </a:p>
          <a:p>
            <a:pPr algn="ctr" eaLnBrk="1" fontAlgn="auto" hangingPunct="1">
              <a:defRPr/>
            </a:pPr>
            <a:r>
              <a:rPr lang="en-US" altLang="ko-KR" sz="2800" dirty="0"/>
              <a:t>Associate Professor</a:t>
            </a:r>
          </a:p>
          <a:p>
            <a:pPr algn="ctr" eaLnBrk="1" fontAlgn="auto" hangingPunct="1">
              <a:defRPr/>
            </a:pPr>
            <a:r>
              <a:rPr lang="en-US" altLang="ko-KR" sz="2800" dirty="0"/>
              <a:t>Department of CSE, </a:t>
            </a:r>
            <a:r>
              <a:rPr lang="en-US" altLang="ko-KR" sz="2800" dirty="0" err="1"/>
              <a:t>Brac</a:t>
            </a:r>
            <a:r>
              <a:rPr lang="en-US" altLang="ko-KR" sz="2800" dirty="0"/>
              <a:t> University</a:t>
            </a:r>
            <a:endParaRPr lang="ko-KR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13317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AF34651B-A97F-41A2-9898-7600796A27A7}" type="slidenum">
              <a:rPr lang="en-US" altLang="ko-KR" smtClean="0">
                <a:solidFill>
                  <a:srgbClr val="9F296B"/>
                </a:solidFill>
              </a:rPr>
              <a:pPr/>
              <a:t>3</a:t>
            </a:fld>
            <a:endParaRPr lang="en-US" altLang="ko-KR">
              <a:solidFill>
                <a:srgbClr val="9F296B"/>
              </a:solidFill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g321a7771bd3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71" y="1220359"/>
            <a:ext cx="4975832" cy="163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321a7771bd3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924" y="4120782"/>
            <a:ext cx="4362096" cy="92745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21a7771bd3_0_3"/>
          <p:cNvSpPr txBox="1"/>
          <p:nvPr/>
        </p:nvSpPr>
        <p:spPr>
          <a:xfrm>
            <a:off x="5625643" y="1585811"/>
            <a:ext cx="3518357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797">
                <a:latin typeface="Calibri"/>
                <a:ea typeface="Calibri"/>
                <a:cs typeface="Calibri"/>
                <a:sym typeface="Calibri"/>
              </a:rPr>
              <a:t>BracU</a:t>
            </a:r>
            <a:endParaRPr sz="4797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21a7771bd3_0_3"/>
          <p:cNvSpPr txBox="1"/>
          <p:nvPr/>
        </p:nvSpPr>
        <p:spPr>
          <a:xfrm>
            <a:off x="5625643" y="4120776"/>
            <a:ext cx="3518357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4797">
                <a:latin typeface="Calibri"/>
                <a:ea typeface="Calibri"/>
                <a:cs typeface="Calibri"/>
                <a:sym typeface="Calibri"/>
              </a:rPr>
              <a:t>CRYPTO</a:t>
            </a:r>
            <a:endParaRPr sz="4797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135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g321a7771bd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944" y="1188462"/>
            <a:ext cx="1306293" cy="250125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g321a7771bd3_0_12"/>
          <p:cNvSpPr txBox="1"/>
          <p:nvPr/>
        </p:nvSpPr>
        <p:spPr>
          <a:xfrm>
            <a:off x="5032505" y="1112321"/>
            <a:ext cx="3308802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>
                <a:latin typeface="Calibri"/>
                <a:ea typeface="Calibri"/>
                <a:cs typeface="Calibri"/>
                <a:sym typeface="Calibri"/>
              </a:rPr>
              <a:t>= A</a:t>
            </a:r>
            <a:endParaRPr sz="29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21a7771bd3_0_12"/>
          <p:cNvSpPr txBox="1"/>
          <p:nvPr/>
        </p:nvSpPr>
        <p:spPr>
          <a:xfrm>
            <a:off x="5032505" y="1645801"/>
            <a:ext cx="3308802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>
                <a:latin typeface="Calibri"/>
                <a:ea typeface="Calibri"/>
                <a:cs typeface="Calibri"/>
                <a:sym typeface="Calibri"/>
              </a:rPr>
              <a:t>= B</a:t>
            </a:r>
            <a:endParaRPr sz="29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21a7771bd3_0_12"/>
          <p:cNvSpPr txBox="1"/>
          <p:nvPr/>
        </p:nvSpPr>
        <p:spPr>
          <a:xfrm>
            <a:off x="5032505" y="2229608"/>
            <a:ext cx="3308802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>
                <a:latin typeface="Calibri"/>
                <a:ea typeface="Calibri"/>
                <a:cs typeface="Calibri"/>
                <a:sym typeface="Calibri"/>
              </a:rPr>
              <a:t>= S</a:t>
            </a:r>
            <a:endParaRPr sz="299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21a7771bd3_0_12"/>
          <p:cNvSpPr txBox="1"/>
          <p:nvPr/>
        </p:nvSpPr>
        <p:spPr>
          <a:xfrm>
            <a:off x="5032505" y="2818836"/>
            <a:ext cx="3308802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998">
                <a:latin typeface="Calibri"/>
                <a:ea typeface="Calibri"/>
                <a:cs typeface="Calibri"/>
                <a:sym typeface="Calibri"/>
              </a:rPr>
              <a:t>= T</a:t>
            </a:r>
            <a:endParaRPr sz="299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g321a7771bd3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7809" y="3763729"/>
            <a:ext cx="2940767" cy="72354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21a7771bd3_0_12"/>
          <p:cNvSpPr txBox="1"/>
          <p:nvPr/>
        </p:nvSpPr>
        <p:spPr>
          <a:xfrm>
            <a:off x="7068576" y="3735207"/>
            <a:ext cx="2079356" cy="319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598">
                <a:latin typeface="Calibri"/>
                <a:ea typeface="Calibri"/>
                <a:cs typeface="Calibri"/>
                <a:sym typeface="Calibri"/>
              </a:rPr>
              <a:t>BracU</a:t>
            </a:r>
            <a:endParaRPr sz="359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g321a7771bd3_0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1027" y="4487278"/>
            <a:ext cx="2482039" cy="52772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321a7771bd3_0_12"/>
          <p:cNvSpPr txBox="1"/>
          <p:nvPr/>
        </p:nvSpPr>
        <p:spPr>
          <a:xfrm>
            <a:off x="7068579" y="4336957"/>
            <a:ext cx="2000361" cy="723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81" tIns="45681" rIns="45681" bIns="45681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3498">
                <a:latin typeface="Calibri"/>
                <a:ea typeface="Calibri"/>
                <a:cs typeface="Calibri"/>
                <a:sym typeface="Calibri"/>
              </a:rPr>
              <a:t>CRYPTO</a:t>
            </a:r>
            <a:endParaRPr sz="3498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g321a7771bd3_0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47" y="932009"/>
            <a:ext cx="3504788" cy="50701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52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5055A8-A60D-4D59-B4D7-91FC40D92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933403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/>
              <a:t>How to get A in this course???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B5F74A6-D2AA-4FC7-94FB-FCAC1DC7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C4149C2-C073-4D34-98EC-1FC74ED6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63EEA-4EA1-4C92-8471-1DAFB8D424C3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6A55385-2F45-42A7-8866-60A65B49C4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80112" y="3155704"/>
            <a:ext cx="2621285" cy="24140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BFBEEEB6-7DA5-42DA-88B0-F18E12CBE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64796" y="3376343"/>
            <a:ext cx="1961232" cy="220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4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B5F74A6-D2AA-4FC7-94FB-FCAC1DC7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C4149C2-C073-4D34-98EC-1FC74ED6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63EEA-4EA1-4C92-8471-1DAFB8D424C3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38A2A710-B3CF-4651-A38D-FA61379ED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268760"/>
            <a:ext cx="914400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98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581025" y="3284538"/>
            <a:ext cx="7989888" cy="2881312"/>
          </a:xfrm>
        </p:spPr>
        <p:txBody>
          <a:bodyPr rtlCol="0"/>
          <a:lstStyle/>
          <a:p>
            <a:pPr marL="571500" indent="-5715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altLang="ko-KR" sz="3600" dirty="0">
                <a:solidFill>
                  <a:schemeClr val="bg1"/>
                </a:solidFill>
              </a:rPr>
              <a:t>The cast of characters</a:t>
            </a:r>
          </a:p>
          <a:p>
            <a:pPr marL="571500" indent="-5715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altLang="ko-KR" sz="3600" dirty="0">
                <a:solidFill>
                  <a:schemeClr val="bg1"/>
                </a:solidFill>
              </a:rPr>
              <a:t>Alice’s online Bank</a:t>
            </a:r>
          </a:p>
          <a:p>
            <a:pPr marL="571500" indent="-571500" eaLnBrk="1" fontAlgn="auto" hangingPunct="1">
              <a:buFont typeface="Arial" panose="020B0604020202020204" pitchFamily="34" charset="0"/>
              <a:buChar char="•"/>
              <a:defRPr/>
            </a:pPr>
            <a:r>
              <a:rPr lang="en-US" altLang="ko-KR" sz="3600" dirty="0">
                <a:solidFill>
                  <a:schemeClr val="bg1"/>
                </a:solidFill>
              </a:rPr>
              <a:t>About the text book</a:t>
            </a:r>
            <a:endParaRPr lang="ko-KR" altLang="en-US" sz="3600" dirty="0">
              <a:solidFill>
                <a:schemeClr val="bg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3568" y="6356351"/>
            <a:ext cx="5431482" cy="365125"/>
          </a:xfrm>
        </p:spPr>
        <p:txBody>
          <a:bodyPr/>
          <a:lstStyle/>
          <a:p>
            <a:pPr>
              <a:defRPr/>
            </a:pPr>
            <a:r>
              <a:rPr lang="en-US" altLang="ko-KR" dirty="0"/>
              <a:t>Chapter 1 Introduction          Prepared by: Dr. Muhammad Iqbal Hossain</a:t>
            </a:r>
          </a:p>
        </p:txBody>
      </p:sp>
      <p:sp>
        <p:nvSpPr>
          <p:cNvPr id="15365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BE200245-23DE-4DFC-A691-12D0DEF1F954}" type="slidenum">
              <a:rPr lang="en-US" altLang="ko-KR" smtClean="0">
                <a:solidFill>
                  <a:srgbClr val="9F296B"/>
                </a:solidFill>
              </a:rPr>
              <a:pPr/>
              <a:t>8</a:t>
            </a:fld>
            <a:endParaRPr lang="en-US" altLang="ko-KR">
              <a:solidFill>
                <a:srgbClr val="9F296B"/>
              </a:solidFill>
            </a:endParaRPr>
          </a:p>
        </p:txBody>
      </p:sp>
      <p:pic>
        <p:nvPicPr>
          <p:cNvPr id="6" name="Google Shape;50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8627" y="-10089"/>
            <a:ext cx="5680747" cy="63194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928" y="2459697"/>
            <a:ext cx="6858000" cy="126868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Chapter 1</a:t>
            </a:r>
            <a:br>
              <a:rPr lang="en-US" altLang="ko-KR" dirty="0"/>
            </a:br>
            <a:r>
              <a:rPr lang="en-US" altLang="ko-KR" dirty="0"/>
              <a:t>Introduction</a:t>
            </a:r>
            <a:endParaRPr lang="en-US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338137"/>
            <a:ext cx="7992888" cy="942975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>
                <a:solidFill>
                  <a:schemeClr val="bg1"/>
                </a:solidFill>
              </a:rPr>
              <a:t>The Cast of Characters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1714500"/>
            <a:ext cx="7900987" cy="571500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cs typeface="휴먼매직체"/>
              </a:rPr>
              <a:t>Alice and Bob are the good guys</a:t>
            </a:r>
          </a:p>
        </p:txBody>
      </p:sp>
      <p:sp>
        <p:nvSpPr>
          <p:cNvPr id="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Chapter 1 Introduction          Prepared by: Dr. Muhammad Iqbal Hossain</a:t>
            </a:r>
          </a:p>
        </p:txBody>
      </p:sp>
      <p:sp>
        <p:nvSpPr>
          <p:cNvPr id="16389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E457D1AD-3633-4F59-BB78-3C920D93680E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9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785813" y="4214813"/>
            <a:ext cx="7672387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kumimoji="1" lang="en-US" altLang="ko-KR" sz="3000" dirty="0">
                <a:latin typeface="Calibri Light (Headings)"/>
                <a:ea typeface="굴림" panose="020B0600000101010101" pitchFamily="34" charset="-127"/>
              </a:rPr>
              <a:t>Trudy is the bad guy</a:t>
            </a:r>
          </a:p>
        </p:txBody>
      </p:sp>
      <p:sp>
        <p:nvSpPr>
          <p:cNvPr id="16391" name="Rectangle 5"/>
          <p:cNvSpPr>
            <a:spLocks noChangeArrowheads="1"/>
          </p:cNvSpPr>
          <p:nvPr/>
        </p:nvSpPr>
        <p:spPr bwMode="auto">
          <a:xfrm>
            <a:off x="785813" y="5000625"/>
            <a:ext cx="62865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</a:pPr>
            <a:r>
              <a:rPr kumimoji="1" lang="en-US" altLang="ko-KR" sz="3000" dirty="0">
                <a:latin typeface="Calibri Light (Headings)"/>
                <a:ea typeface="굴림" panose="020B0600000101010101" pitchFamily="34" charset="-127"/>
              </a:rPr>
              <a:t>Trudy is our generic “in</a:t>
            </a:r>
            <a:r>
              <a:rPr kumimoji="1" lang="en-US" altLang="ko-KR" sz="3000" dirty="0">
                <a:solidFill>
                  <a:srgbClr val="FF0000"/>
                </a:solidFill>
                <a:latin typeface="Calibri Light (Headings)"/>
                <a:ea typeface="굴림" panose="020B0600000101010101" pitchFamily="34" charset="-127"/>
              </a:rPr>
              <a:t>trud</a:t>
            </a:r>
            <a:r>
              <a:rPr kumimoji="1" lang="en-US" altLang="ko-KR" sz="3000" dirty="0">
                <a:latin typeface="Calibri Light (Headings)"/>
                <a:ea typeface="굴림" panose="020B0600000101010101" pitchFamily="34" charset="-127"/>
              </a:rPr>
              <a:t>er”</a:t>
            </a:r>
          </a:p>
        </p:txBody>
      </p:sp>
      <p:pic>
        <p:nvPicPr>
          <p:cNvPr id="1639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492375"/>
            <a:ext cx="946150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2492375"/>
            <a:ext cx="107632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4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4508500"/>
            <a:ext cx="1039812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Alice’s Online Bank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1714500"/>
            <a:ext cx="7912100" cy="4613275"/>
          </a:xfrm>
        </p:spPr>
        <p:txBody>
          <a:bodyPr/>
          <a:lstStyle/>
          <a:p>
            <a:pPr eaLnBrk="1" hangingPunct="1"/>
            <a:r>
              <a:rPr lang="en-US" altLang="ko-KR" sz="2400" dirty="0">
                <a:cs typeface="휴먼매직체"/>
              </a:rPr>
              <a:t>Alice opens Alice’s Online Bank (AOB)</a:t>
            </a:r>
          </a:p>
          <a:p>
            <a:pPr eaLnBrk="1" hangingPunct="1"/>
            <a:r>
              <a:rPr lang="en-US" altLang="ko-KR" sz="2400" dirty="0">
                <a:solidFill>
                  <a:srgbClr val="0000FF"/>
                </a:solidFill>
                <a:cs typeface="휴먼매직체"/>
              </a:rPr>
              <a:t>What are Alice’s security concerns?</a:t>
            </a:r>
          </a:p>
          <a:p>
            <a:pPr eaLnBrk="1" hangingPunct="1"/>
            <a:r>
              <a:rPr lang="en-US" altLang="ko-KR" sz="2400" dirty="0">
                <a:solidFill>
                  <a:srgbClr val="0000FF"/>
                </a:solidFill>
                <a:cs typeface="휴먼매직체"/>
              </a:rPr>
              <a:t>If Bob is a customer of AOB, what are his security concerns?</a:t>
            </a:r>
          </a:p>
          <a:p>
            <a:pPr eaLnBrk="1" hangingPunct="1"/>
            <a:r>
              <a:rPr lang="en-US" altLang="ko-KR" sz="2400" dirty="0">
                <a:solidFill>
                  <a:srgbClr val="0000FF"/>
                </a:solidFill>
                <a:cs typeface="휴먼매직체"/>
              </a:rPr>
              <a:t>How are Alice and Bob concerns similar? How are they different?</a:t>
            </a:r>
          </a:p>
          <a:p>
            <a:pPr eaLnBrk="1" hangingPunct="1"/>
            <a:r>
              <a:rPr lang="en-US" altLang="ko-KR" sz="2400" dirty="0">
                <a:solidFill>
                  <a:srgbClr val="0000FF"/>
                </a:solidFill>
                <a:cs typeface="휴먼매직체"/>
              </a:rPr>
              <a:t>How does Trudy view the situation?</a:t>
            </a:r>
          </a:p>
        </p:txBody>
      </p:sp>
      <p:sp>
        <p:nvSpPr>
          <p:cNvPr id="512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17413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1F2A45FB-0190-4A62-B714-B0B9EDB5DBF0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10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CIA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idx="1"/>
          </p:nvPr>
        </p:nvSpPr>
        <p:spPr>
          <a:xfrm>
            <a:off x="785813" y="1714500"/>
            <a:ext cx="7818437" cy="4537075"/>
          </a:xfrm>
        </p:spPr>
        <p:txBody>
          <a:bodyPr/>
          <a:lstStyle/>
          <a:p>
            <a:pPr eaLnBrk="1" hangingPunct="1">
              <a:spcBef>
                <a:spcPts val="1800"/>
              </a:spcBef>
              <a:spcAft>
                <a:spcPts val="1800"/>
              </a:spcAft>
            </a:pPr>
            <a:r>
              <a:rPr lang="en-US" altLang="ko-KR" sz="2800">
                <a:cs typeface="휴먼매직체"/>
              </a:rPr>
              <a:t>CIA: Confidentiality, Integrity, and Availability</a:t>
            </a:r>
          </a:p>
          <a:p>
            <a:pPr eaLnBrk="1" hangingPunct="1"/>
            <a:r>
              <a:rPr lang="en-US" altLang="ko-KR" sz="2800">
                <a:solidFill>
                  <a:srgbClr val="0000FF"/>
                </a:solidFill>
                <a:cs typeface="휴먼매직체"/>
              </a:rPr>
              <a:t>Confidentiality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AOB must prevent Trudy from learning Bob’s account balance</a:t>
            </a:r>
          </a:p>
          <a:p>
            <a:pPr lvl="1" eaLnBrk="1" hangingPunct="1"/>
            <a:r>
              <a:rPr lang="en-US" altLang="ko-KR" sz="2400" b="1">
                <a:solidFill>
                  <a:srgbClr val="FF0000"/>
                </a:solidFill>
                <a:cs typeface="휴먼매직체"/>
              </a:rPr>
              <a:t>Confidentiality</a:t>
            </a:r>
            <a:r>
              <a:rPr lang="en-US" altLang="ko-KR" sz="2400" b="1">
                <a:solidFill>
                  <a:schemeClr val="accent2"/>
                </a:solidFill>
                <a:cs typeface="휴먼매직체"/>
              </a:rPr>
              <a:t>: </a:t>
            </a:r>
            <a:r>
              <a:rPr lang="en-US" altLang="ko-KR" sz="2400">
                <a:cs typeface="휴먼매직체"/>
              </a:rPr>
              <a:t>prevent unauthorized reading of information 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Cryptography used for </a:t>
            </a:r>
            <a:br>
              <a:rPr lang="en-US" altLang="ko-KR" sz="2400">
                <a:cs typeface="휴먼매직체"/>
              </a:rPr>
            </a:br>
            <a:r>
              <a:rPr lang="en-US" altLang="ko-KR" sz="2400">
                <a:cs typeface="휴먼매직체"/>
              </a:rPr>
              <a:t>confidentiality</a:t>
            </a:r>
          </a:p>
        </p:txBody>
      </p:sp>
      <p:sp>
        <p:nvSpPr>
          <p:cNvPr id="614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18437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BF0DF3D3-CFAD-4D82-B8B6-1AE308184951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11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5857875" y="4857750"/>
            <a:ext cx="2514600" cy="1371600"/>
            <a:chOff x="6381" y="4865"/>
            <a:chExt cx="3960" cy="2160"/>
          </a:xfrm>
        </p:grpSpPr>
        <p:sp>
          <p:nvSpPr>
            <p:cNvPr id="18439" name="Rectangle 17"/>
            <p:cNvSpPr>
              <a:spLocks noChangeArrowheads="1"/>
            </p:cNvSpPr>
            <p:nvPr/>
          </p:nvSpPr>
          <p:spPr bwMode="auto">
            <a:xfrm>
              <a:off x="6381" y="4865"/>
              <a:ext cx="3960" cy="2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8440" name="Oval 18"/>
            <p:cNvSpPr>
              <a:spLocks noChangeArrowheads="1"/>
            </p:cNvSpPr>
            <p:nvPr/>
          </p:nvSpPr>
          <p:spPr bwMode="auto">
            <a:xfrm>
              <a:off x="6741" y="5225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8441" name="Oval 19"/>
            <p:cNvSpPr>
              <a:spLocks noChangeArrowheads="1"/>
            </p:cNvSpPr>
            <p:nvPr/>
          </p:nvSpPr>
          <p:spPr bwMode="auto">
            <a:xfrm>
              <a:off x="9441" y="5225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8442" name="Oval 20"/>
            <p:cNvSpPr>
              <a:spLocks noChangeArrowheads="1"/>
            </p:cNvSpPr>
            <p:nvPr/>
          </p:nvSpPr>
          <p:spPr bwMode="auto">
            <a:xfrm>
              <a:off x="8087" y="6261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8443" name="Line 21"/>
            <p:cNvSpPr>
              <a:spLocks noChangeShapeType="1"/>
            </p:cNvSpPr>
            <p:nvPr/>
          </p:nvSpPr>
          <p:spPr bwMode="auto">
            <a:xfrm>
              <a:off x="7268" y="5470"/>
              <a:ext cx="2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4" name="Arc 22"/>
            <p:cNvSpPr>
              <a:spLocks/>
            </p:cNvSpPr>
            <p:nvPr/>
          </p:nvSpPr>
          <p:spPr bwMode="auto">
            <a:xfrm>
              <a:off x="7641" y="5477"/>
              <a:ext cx="720" cy="758"/>
            </a:xfrm>
            <a:custGeom>
              <a:avLst/>
              <a:gdLst>
                <a:gd name="T0" fmla="*/ 0 w 21600"/>
                <a:gd name="T1" fmla="*/ 0 h 21524"/>
                <a:gd name="T2" fmla="*/ 0 w 21600"/>
                <a:gd name="T3" fmla="*/ 0 h 21524"/>
                <a:gd name="T4" fmla="*/ 0 w 21600"/>
                <a:gd name="T5" fmla="*/ 0 h 2152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24"/>
                <a:gd name="T11" fmla="*/ 21600 w 21600"/>
                <a:gd name="T12" fmla="*/ 21524 h 215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24" fill="none" extrusionOk="0">
                  <a:moveTo>
                    <a:pt x="1814" y="0"/>
                  </a:moveTo>
                  <a:cubicBezTo>
                    <a:pt x="13001" y="943"/>
                    <a:pt x="21600" y="10298"/>
                    <a:pt x="21600" y="21524"/>
                  </a:cubicBezTo>
                </a:path>
                <a:path w="21600" h="21524" stroke="0" extrusionOk="0">
                  <a:moveTo>
                    <a:pt x="1814" y="0"/>
                  </a:moveTo>
                  <a:cubicBezTo>
                    <a:pt x="13001" y="943"/>
                    <a:pt x="21600" y="10298"/>
                    <a:pt x="21600" y="21524"/>
                  </a:cubicBezTo>
                  <a:lnTo>
                    <a:pt x="0" y="21524"/>
                  </a:lnTo>
                  <a:lnTo>
                    <a:pt x="1814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CIA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solidFill>
                  <a:srgbClr val="0000FF"/>
                </a:solidFill>
                <a:cs typeface="휴먼매직체"/>
              </a:rPr>
              <a:t>Integrity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Trudy must not be able to change Bob’s account balance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Bob must not be able to improperly change his own account balance</a:t>
            </a:r>
          </a:p>
          <a:p>
            <a:pPr lvl="1" eaLnBrk="1" hangingPunct="1"/>
            <a:r>
              <a:rPr lang="en-US" altLang="ko-KR" sz="2400" b="1">
                <a:solidFill>
                  <a:srgbClr val="FF0000"/>
                </a:solidFill>
                <a:cs typeface="휴먼매직체"/>
              </a:rPr>
              <a:t>Integrity</a:t>
            </a:r>
            <a:r>
              <a:rPr lang="en-US" altLang="ko-KR" sz="2400" b="1">
                <a:solidFill>
                  <a:schemeClr val="accent2"/>
                </a:solidFill>
                <a:latin typeface="HY백송B"/>
                <a:ea typeface="HY백송B"/>
                <a:cs typeface="HY백송B"/>
              </a:rPr>
              <a:t>:</a:t>
            </a:r>
            <a:r>
              <a:rPr lang="en-US" altLang="ko-KR" sz="2400">
                <a:cs typeface="휴먼매직체"/>
              </a:rPr>
              <a:t> prevent unauthorized writing of information</a:t>
            </a:r>
          </a:p>
          <a:p>
            <a:pPr lvl="2" eaLnBrk="1" hangingPunct="1"/>
            <a:r>
              <a:rPr lang="en-US" altLang="ko-KR" sz="2000">
                <a:cs typeface="휴먼매직체"/>
              </a:rPr>
              <a:t>Cryptography used </a:t>
            </a:r>
            <a:br>
              <a:rPr lang="en-US" altLang="ko-KR" sz="2000">
                <a:cs typeface="휴먼매직체"/>
              </a:rPr>
            </a:br>
            <a:r>
              <a:rPr lang="en-US" altLang="ko-KR" sz="2000">
                <a:cs typeface="휴먼매직체"/>
              </a:rPr>
              <a:t>for integrity</a:t>
            </a:r>
          </a:p>
          <a:p>
            <a:pPr lvl="2" eaLnBrk="1" hangingPunct="1"/>
            <a:endParaRPr lang="en-US" altLang="ko-KR" sz="2000">
              <a:cs typeface="휴먼매직체"/>
            </a:endParaRPr>
          </a:p>
        </p:txBody>
      </p:sp>
      <p:sp>
        <p:nvSpPr>
          <p:cNvPr id="7170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19461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5429D16A-3BBE-46F8-B145-B2E8B0D7B7AE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12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5715000" y="4643438"/>
            <a:ext cx="2514600" cy="1371600"/>
            <a:chOff x="1881" y="7925"/>
            <a:chExt cx="3960" cy="2160"/>
          </a:xfrm>
        </p:grpSpPr>
        <p:sp>
          <p:nvSpPr>
            <p:cNvPr id="19463" name="Rectangle 24"/>
            <p:cNvSpPr>
              <a:spLocks noChangeArrowheads="1"/>
            </p:cNvSpPr>
            <p:nvPr/>
          </p:nvSpPr>
          <p:spPr bwMode="auto">
            <a:xfrm>
              <a:off x="1881" y="7925"/>
              <a:ext cx="3960" cy="21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9464" name="Oval 25"/>
            <p:cNvSpPr>
              <a:spLocks noChangeArrowheads="1"/>
            </p:cNvSpPr>
            <p:nvPr/>
          </p:nvSpPr>
          <p:spPr bwMode="auto">
            <a:xfrm>
              <a:off x="2241" y="8285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9465" name="Oval 26"/>
            <p:cNvSpPr>
              <a:spLocks noChangeArrowheads="1"/>
            </p:cNvSpPr>
            <p:nvPr/>
          </p:nvSpPr>
          <p:spPr bwMode="auto">
            <a:xfrm>
              <a:off x="4941" y="8285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9466" name="Oval 27"/>
            <p:cNvSpPr>
              <a:spLocks noChangeArrowheads="1"/>
            </p:cNvSpPr>
            <p:nvPr/>
          </p:nvSpPr>
          <p:spPr bwMode="auto">
            <a:xfrm>
              <a:off x="3587" y="9321"/>
              <a:ext cx="484" cy="48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eaLnBrk="1" hangingPunct="1"/>
              <a:endParaRPr kumimoji="1" lang="ko-KR" altLang="en-US">
                <a:latin typeface="굴림" panose="020B0600000101010101" pitchFamily="34" charset="-127"/>
                <a:ea typeface="굴림" panose="020B0600000101010101" pitchFamily="34" charset="-127"/>
              </a:endParaRPr>
            </a:p>
          </p:txBody>
        </p:sp>
        <p:sp>
          <p:nvSpPr>
            <p:cNvPr id="19467" name="Arc 28"/>
            <p:cNvSpPr>
              <a:spLocks/>
            </p:cNvSpPr>
            <p:nvPr/>
          </p:nvSpPr>
          <p:spPr bwMode="auto">
            <a:xfrm>
              <a:off x="2755" y="8478"/>
              <a:ext cx="900" cy="8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Arc 29"/>
            <p:cNvSpPr>
              <a:spLocks/>
            </p:cNvSpPr>
            <p:nvPr/>
          </p:nvSpPr>
          <p:spPr bwMode="auto">
            <a:xfrm flipH="1">
              <a:off x="3995" y="8460"/>
              <a:ext cx="947" cy="9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303858" y="226222"/>
            <a:ext cx="7605464" cy="100250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CIA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idx="1"/>
          </p:nvPr>
        </p:nvSpPr>
        <p:spPr>
          <a:xfrm>
            <a:off x="520277" y="1770064"/>
            <a:ext cx="7989888" cy="363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800">
                <a:solidFill>
                  <a:srgbClr val="0000FF"/>
                </a:solidFill>
                <a:cs typeface="휴먼매직체"/>
              </a:rPr>
              <a:t>Availability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>
                <a:cs typeface="휴먼매직체"/>
              </a:rPr>
              <a:t>AOB’s information must be available when needed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>
                <a:cs typeface="휴먼매직체"/>
              </a:rPr>
              <a:t>Alice must be able to make transaction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2000">
                <a:cs typeface="휴먼매직체"/>
              </a:rPr>
              <a:t>If not, Bob’ll take his business elsewhere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 b="1">
                <a:solidFill>
                  <a:srgbClr val="FF0000"/>
                </a:solidFill>
                <a:cs typeface="휴먼매직체"/>
              </a:rPr>
              <a:t>Availability</a:t>
            </a:r>
            <a:r>
              <a:rPr lang="en-US" altLang="ko-KR" sz="2400" b="1">
                <a:solidFill>
                  <a:schemeClr val="accent2"/>
                </a:solidFill>
                <a:cs typeface="휴먼매직체"/>
              </a:rPr>
              <a:t>: </a:t>
            </a:r>
            <a:r>
              <a:rPr lang="en-US" altLang="ko-KR" sz="2400">
                <a:cs typeface="휴먼매직체"/>
              </a:rPr>
              <a:t>Data is available in a timely manner when needed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400">
                <a:cs typeface="휴먼매직체"/>
              </a:rPr>
              <a:t>Availability is a “new” </a:t>
            </a:r>
            <a:br>
              <a:rPr lang="en-US" altLang="ko-KR" sz="2400">
                <a:cs typeface="휴먼매직체"/>
              </a:rPr>
            </a:br>
            <a:r>
              <a:rPr lang="en-US" altLang="ko-KR" sz="2400">
                <a:cs typeface="휴먼매직체"/>
              </a:rPr>
              <a:t>security concern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ko-KR" sz="2000">
                <a:cs typeface="휴먼매직체"/>
              </a:rPr>
              <a:t>In response </a:t>
            </a:r>
            <a:br>
              <a:rPr lang="en-US" altLang="ko-KR" sz="2000">
                <a:cs typeface="휴먼매직체"/>
              </a:rPr>
            </a:br>
            <a:r>
              <a:rPr lang="en-US" altLang="ko-KR" sz="2000">
                <a:cs typeface="휴먼매직체"/>
              </a:rPr>
              <a:t>to denial of service (DoS)</a:t>
            </a:r>
          </a:p>
        </p:txBody>
      </p:sp>
      <p:sp>
        <p:nvSpPr>
          <p:cNvPr id="819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0485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3D5C045B-6D87-4AE8-8862-D436B435E1D8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13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786438" y="4572000"/>
            <a:ext cx="2514600" cy="1371600"/>
            <a:chOff x="1881" y="4865"/>
            <a:chExt cx="3960" cy="2160"/>
          </a:xfrm>
        </p:grpSpPr>
        <p:grpSp>
          <p:nvGrpSpPr>
            <p:cNvPr id="20487" name="Group 10"/>
            <p:cNvGrpSpPr>
              <a:grpSpLocks/>
            </p:cNvGrpSpPr>
            <p:nvPr/>
          </p:nvGrpSpPr>
          <p:grpSpPr bwMode="auto">
            <a:xfrm>
              <a:off x="1881" y="4865"/>
              <a:ext cx="3960" cy="2160"/>
              <a:chOff x="1881" y="4865"/>
              <a:chExt cx="3960" cy="2160"/>
            </a:xfrm>
          </p:grpSpPr>
          <p:sp>
            <p:nvSpPr>
              <p:cNvPr id="20489" name="Rectangle 11"/>
              <p:cNvSpPr>
                <a:spLocks noChangeArrowheads="1"/>
              </p:cNvSpPr>
              <p:nvPr/>
            </p:nvSpPr>
            <p:spPr bwMode="auto">
              <a:xfrm>
                <a:off x="1881" y="4865"/>
                <a:ext cx="3960" cy="21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/>
                <a:endParaRPr kumimoji="1" lang="ko-KR" altLang="en-US">
                  <a:latin typeface="굴림" panose="020B0600000101010101" pitchFamily="34" charset="-127"/>
                  <a:ea typeface="굴림" panose="020B0600000101010101" pitchFamily="34" charset="-127"/>
                </a:endParaRPr>
              </a:p>
            </p:txBody>
          </p:sp>
          <p:sp>
            <p:nvSpPr>
              <p:cNvPr id="20490" name="Oval 12"/>
              <p:cNvSpPr>
                <a:spLocks noChangeArrowheads="1"/>
              </p:cNvSpPr>
              <p:nvPr/>
            </p:nvSpPr>
            <p:spPr bwMode="auto">
              <a:xfrm>
                <a:off x="2241" y="5225"/>
                <a:ext cx="484" cy="48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/>
                <a:endParaRPr kumimoji="1" lang="ko-KR" altLang="en-US">
                  <a:latin typeface="굴림" panose="020B0600000101010101" pitchFamily="34" charset="-127"/>
                  <a:ea typeface="굴림" panose="020B0600000101010101" pitchFamily="34" charset="-127"/>
                </a:endParaRPr>
              </a:p>
            </p:txBody>
          </p:sp>
          <p:sp>
            <p:nvSpPr>
              <p:cNvPr id="20491" name="Oval 13"/>
              <p:cNvSpPr>
                <a:spLocks noChangeArrowheads="1"/>
              </p:cNvSpPr>
              <p:nvPr/>
            </p:nvSpPr>
            <p:spPr bwMode="auto">
              <a:xfrm>
                <a:off x="4941" y="5225"/>
                <a:ext cx="484" cy="484"/>
              </a:xfrm>
              <a:prstGeom prst="ellipse">
                <a:avLst/>
              </a:prstGeom>
              <a:solidFill>
                <a:srgbClr val="C0C0C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ill Sans MT" panose="020B0502020104020203" pitchFamily="34" charset="0"/>
                  </a:defRPr>
                </a:lvl9pPr>
              </a:lstStyle>
              <a:p>
                <a:pPr eaLnBrk="1" hangingPunct="1"/>
                <a:endParaRPr kumimoji="1" lang="ko-KR" altLang="en-US">
                  <a:latin typeface="굴림" panose="020B0600000101010101" pitchFamily="34" charset="-127"/>
                  <a:ea typeface="굴림" panose="020B0600000101010101" pitchFamily="34" charset="-127"/>
                </a:endParaRPr>
              </a:p>
            </p:txBody>
          </p:sp>
          <p:sp>
            <p:nvSpPr>
              <p:cNvPr id="20492" name="Line 14"/>
              <p:cNvSpPr>
                <a:spLocks noChangeShapeType="1"/>
              </p:cNvSpPr>
              <p:nvPr/>
            </p:nvSpPr>
            <p:spPr bwMode="auto">
              <a:xfrm>
                <a:off x="2768" y="5470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488" name="Line 15"/>
            <p:cNvSpPr>
              <a:spLocks noChangeShapeType="1"/>
            </p:cNvSpPr>
            <p:nvPr/>
          </p:nvSpPr>
          <p:spPr bwMode="auto">
            <a:xfrm>
              <a:off x="4041" y="5288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400">
                <a:cs typeface="휴먼매직체"/>
              </a:rPr>
              <a:t>CIA are only beginning of the Inf Sec.</a:t>
            </a:r>
          </a:p>
          <a:p>
            <a:pPr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Case 1: when Bob logs on his computer</a:t>
            </a:r>
          </a:p>
          <a:p>
            <a:pPr lvl="1" eaLnBrk="1" hangingPunct="1"/>
            <a:r>
              <a:rPr lang="en-US" altLang="ko-KR" sz="2000">
                <a:solidFill>
                  <a:srgbClr val="0000FF"/>
                </a:solidFill>
                <a:cs typeface="휴먼매직체"/>
              </a:rPr>
              <a:t>How does Bob’s computer know that “Bob” is really Bob and not Trudy?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Bob’s password must be verified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This requires some clever </a:t>
            </a:r>
            <a:r>
              <a:rPr lang="en-US" altLang="ko-KR" sz="3600" b="1">
                <a:solidFill>
                  <a:srgbClr val="FF0000"/>
                </a:solidFill>
                <a:cs typeface="휴먼매직체"/>
              </a:rPr>
              <a:t>cryptography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What are security concerns of pwds?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Are there alternatives to passwords?</a:t>
            </a:r>
          </a:p>
        </p:txBody>
      </p:sp>
      <p:sp>
        <p:nvSpPr>
          <p:cNvPr id="92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1509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83229473-18F8-4952-A0DF-28BCD5ADB375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14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2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92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400" dirty="0" smtClean="0">
                <a:solidFill>
                  <a:srgbClr val="0000FF"/>
                </a:solidFill>
                <a:cs typeface="휴먼매직체"/>
              </a:rPr>
              <a:t>Case 2</a:t>
            </a:r>
            <a:r>
              <a:rPr lang="en-US" altLang="ko-KR" sz="2400" dirty="0">
                <a:solidFill>
                  <a:srgbClr val="0000FF"/>
                </a:solidFill>
                <a:cs typeface="휴먼매직체"/>
              </a:rPr>
              <a:t>: when Bob logs into AOB</a:t>
            </a:r>
          </a:p>
          <a:p>
            <a:pPr lvl="1" eaLnBrk="1" hangingPunct="1"/>
            <a:r>
              <a:rPr lang="en-US" altLang="ko-KR" sz="2000" dirty="0">
                <a:solidFill>
                  <a:srgbClr val="0000FF"/>
                </a:solidFill>
                <a:cs typeface="휴먼매직체"/>
              </a:rPr>
              <a:t>how does AOB know that “Bob” is really Bob?</a:t>
            </a:r>
          </a:p>
          <a:p>
            <a:pPr eaLnBrk="1" hangingPunct="1"/>
            <a:r>
              <a:rPr lang="en-US" altLang="ko-KR" sz="2400" dirty="0">
                <a:cs typeface="휴먼매직체"/>
              </a:rPr>
              <a:t>As before, Bob’s password is verified</a:t>
            </a:r>
          </a:p>
          <a:p>
            <a:pPr eaLnBrk="1" hangingPunct="1"/>
            <a:r>
              <a:rPr lang="en-US" altLang="ko-KR" sz="2400" dirty="0">
                <a:cs typeface="휴먼매직체"/>
              </a:rPr>
              <a:t>Unlike standalone computer case, network security issues arise</a:t>
            </a:r>
          </a:p>
          <a:p>
            <a:pPr eaLnBrk="1" hangingPunct="1"/>
            <a:r>
              <a:rPr lang="en-US" altLang="ko-KR" sz="2400" dirty="0">
                <a:cs typeface="휴먼매직체"/>
              </a:rPr>
              <a:t>What are network security concerns?</a:t>
            </a:r>
          </a:p>
          <a:p>
            <a:pPr lvl="1" eaLnBrk="1" hangingPunct="1"/>
            <a:r>
              <a:rPr lang="en-US" altLang="ko-KR" sz="4000" b="1" dirty="0">
                <a:solidFill>
                  <a:srgbClr val="FF0000"/>
                </a:solidFill>
                <a:cs typeface="휴먼매직체"/>
              </a:rPr>
              <a:t>Protocols</a:t>
            </a:r>
            <a:r>
              <a:rPr lang="en-US" altLang="ko-KR" sz="2000" dirty="0">
                <a:cs typeface="휴먼매직체"/>
              </a:rPr>
              <a:t> are critically important</a:t>
            </a:r>
          </a:p>
          <a:p>
            <a:pPr lvl="1" eaLnBrk="1" hangingPunct="1"/>
            <a:r>
              <a:rPr lang="en-US" altLang="ko-KR" sz="2000" dirty="0">
                <a:solidFill>
                  <a:srgbClr val="0000FF"/>
                </a:solidFill>
                <a:cs typeface="휴먼매직체"/>
              </a:rPr>
              <a:t>Crypto also important in protocols</a:t>
            </a:r>
          </a:p>
        </p:txBody>
      </p:sp>
      <p:sp>
        <p:nvSpPr>
          <p:cNvPr id="1024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2533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FDC251FB-C594-435C-803E-8324B46FF507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15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6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404813"/>
            <a:ext cx="7143750" cy="9525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Once Bob is </a:t>
            </a:r>
            <a:r>
              <a:rPr lang="en-US" altLang="ko-KR" sz="2800" i="1">
                <a:solidFill>
                  <a:srgbClr val="0000FF"/>
                </a:solidFill>
                <a:cs typeface="휴먼매직체"/>
              </a:rPr>
              <a:t>authenticated </a:t>
            </a:r>
            <a:r>
              <a:rPr lang="en-US" altLang="ko-KR" sz="2800">
                <a:cs typeface="휴먼매직체"/>
              </a:rPr>
              <a:t> by AOB, then AOB must restrict actions of Bob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Bob can’t view Charlie’s account info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Bob can’t install new software, etc.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Enforcing these restrictions is known as </a:t>
            </a:r>
            <a:r>
              <a:rPr lang="en-US" altLang="ko-KR" sz="2800">
                <a:solidFill>
                  <a:srgbClr val="0000FF"/>
                </a:solidFill>
                <a:cs typeface="휴먼매직체"/>
              </a:rPr>
              <a:t>authorization</a:t>
            </a:r>
          </a:p>
          <a:p>
            <a:pPr eaLnBrk="1" hangingPunct="1"/>
            <a:r>
              <a:rPr lang="en-US" altLang="ko-KR" sz="2800" b="1">
                <a:solidFill>
                  <a:srgbClr val="FF0000"/>
                </a:solidFill>
                <a:cs typeface="휴먼매직체"/>
              </a:rPr>
              <a:t>Access control</a:t>
            </a:r>
            <a:r>
              <a:rPr lang="en-US" altLang="ko-KR" sz="2800">
                <a:cs typeface="휴먼매직체"/>
              </a:rPr>
              <a:t> includes both </a:t>
            </a:r>
            <a:r>
              <a:rPr lang="en-US" altLang="ko-KR" sz="2800">
                <a:solidFill>
                  <a:srgbClr val="0000FF"/>
                </a:solidFill>
                <a:cs typeface="휴먼매직체"/>
              </a:rPr>
              <a:t>authentication</a:t>
            </a:r>
            <a:r>
              <a:rPr lang="en-US" altLang="ko-KR" sz="2800">
                <a:cs typeface="휴먼매직체"/>
              </a:rPr>
              <a:t> and </a:t>
            </a:r>
            <a:r>
              <a:rPr lang="en-US" altLang="ko-KR" sz="2800">
                <a:solidFill>
                  <a:srgbClr val="0000FF"/>
                </a:solidFill>
                <a:cs typeface="휴먼매직체"/>
              </a:rPr>
              <a:t>authorization</a:t>
            </a:r>
          </a:p>
        </p:txBody>
      </p:sp>
      <p:sp>
        <p:nvSpPr>
          <p:cNvPr id="1126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3557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C867D2EE-D3CE-4A85-8E92-755B3C3A7895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16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22238"/>
            <a:ext cx="7215187" cy="12350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581025" y="1920875"/>
            <a:ext cx="8250238" cy="4451350"/>
          </a:xfrm>
        </p:spPr>
        <p:txBody>
          <a:bodyPr/>
          <a:lstStyle/>
          <a:p>
            <a:pPr eaLnBrk="1" hangingPunct="1"/>
            <a:r>
              <a:rPr lang="en-US" altLang="ko-KR" sz="2400">
                <a:cs typeface="휴먼매직체"/>
              </a:rPr>
              <a:t>Cryptography, protocols, and access control are implemented in </a:t>
            </a:r>
            <a:r>
              <a:rPr lang="en-US" altLang="ko-KR" sz="2400" b="1">
                <a:solidFill>
                  <a:srgbClr val="FF0000"/>
                </a:solidFill>
                <a:cs typeface="휴먼매직체"/>
              </a:rPr>
              <a:t>software</a:t>
            </a:r>
          </a:p>
          <a:p>
            <a:pPr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What are security issues of software?</a:t>
            </a:r>
          </a:p>
          <a:p>
            <a:pPr lvl="1" eaLnBrk="1" hangingPunct="1"/>
            <a:r>
              <a:rPr lang="en-US" altLang="ko-KR" sz="2000">
                <a:solidFill>
                  <a:srgbClr val="0000FF"/>
                </a:solidFill>
                <a:cs typeface="휴먼매직체"/>
              </a:rPr>
              <a:t>Most software is complex and buggy</a:t>
            </a:r>
          </a:p>
          <a:p>
            <a:pPr lvl="1" eaLnBrk="1" hangingPunct="1"/>
            <a:r>
              <a:rPr lang="en-US" altLang="ko-KR" sz="2000">
                <a:solidFill>
                  <a:srgbClr val="0000FF"/>
                </a:solidFill>
                <a:cs typeface="휴먼매직체"/>
              </a:rPr>
              <a:t>Software flaws lead to security flaws</a:t>
            </a:r>
          </a:p>
          <a:p>
            <a:pPr lvl="1" eaLnBrk="1" hangingPunct="1"/>
            <a:r>
              <a:rPr lang="en-US" altLang="ko-KR" sz="3200">
                <a:solidFill>
                  <a:srgbClr val="0000FF"/>
                </a:solidFill>
                <a:cs typeface="휴먼매직체"/>
              </a:rPr>
              <a:t>How does Trudy attack software?</a:t>
            </a:r>
            <a:endParaRPr lang="en-US" altLang="ko-KR" sz="1800">
              <a:solidFill>
                <a:srgbClr val="0000FF"/>
              </a:solidFill>
              <a:cs typeface="휴먼매직체"/>
            </a:endParaRPr>
          </a:p>
          <a:p>
            <a:pPr lvl="1" eaLnBrk="1" hangingPunct="1"/>
            <a:r>
              <a:rPr lang="en-US" altLang="ko-KR" sz="2000">
                <a:solidFill>
                  <a:srgbClr val="0000FF"/>
                </a:solidFill>
                <a:cs typeface="휴먼매직체"/>
              </a:rPr>
              <a:t>How to reduce flaws in software development?</a:t>
            </a:r>
          </a:p>
          <a:p>
            <a:pPr eaLnBrk="1" hangingPunct="1"/>
            <a:r>
              <a:rPr lang="en-US" altLang="ko-KR" sz="3600">
                <a:cs typeface="휴먼매직체"/>
              </a:rPr>
              <a:t>And what about malware?</a:t>
            </a:r>
            <a:endParaRPr lang="en-US" altLang="ko-KR" sz="2000">
              <a:solidFill>
                <a:srgbClr val="0000FF"/>
              </a:solidFill>
              <a:cs typeface="휴먼매직체"/>
            </a:endParaRPr>
          </a:p>
        </p:txBody>
      </p:sp>
      <p:sp>
        <p:nvSpPr>
          <p:cNvPr id="12290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4581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8B0F333B-AD30-4D3A-BF49-95602ECE4B3E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17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22238"/>
            <a:ext cx="7215187" cy="12350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Some software is intentionally evil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Malware: computer viruses, worms, etc.</a:t>
            </a:r>
          </a:p>
          <a:p>
            <a:pPr eaLnBrk="1" hangingPunct="1">
              <a:buClrTx/>
            </a:pPr>
            <a:r>
              <a:rPr lang="en-US" altLang="ko-KR" sz="2800">
                <a:solidFill>
                  <a:srgbClr val="0000FF"/>
                </a:solidFill>
                <a:cs typeface="휴먼매직체"/>
              </a:rPr>
              <a:t>How do the malwares work?</a:t>
            </a:r>
          </a:p>
          <a:p>
            <a:pPr eaLnBrk="1" hangingPunct="1"/>
            <a:r>
              <a:rPr lang="en-US" altLang="ko-KR" sz="2800">
                <a:solidFill>
                  <a:srgbClr val="0000FF"/>
                </a:solidFill>
                <a:cs typeface="휴먼매직체"/>
              </a:rPr>
              <a:t>What can Alice and Bob do to protect themselves from malware?</a:t>
            </a:r>
          </a:p>
          <a:p>
            <a:pPr eaLnBrk="1" hangingPunct="1"/>
            <a:r>
              <a:rPr lang="en-US" altLang="ko-KR" sz="2800">
                <a:solidFill>
                  <a:srgbClr val="0000FF"/>
                </a:solidFill>
                <a:cs typeface="휴먼매직체"/>
              </a:rPr>
              <a:t>What can Trudy do to make malware more “effective”?</a:t>
            </a:r>
          </a:p>
        </p:txBody>
      </p:sp>
      <p:sp>
        <p:nvSpPr>
          <p:cNvPr id="1331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5605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112B81FC-5EFD-4AA8-9B1C-227F1F773553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18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22238"/>
            <a:ext cx="7215187" cy="12350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Beyond CIA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Operating systems enforce security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For example, authorization</a:t>
            </a:r>
          </a:p>
          <a:p>
            <a:pPr eaLnBrk="1" hangingPunct="1"/>
            <a:r>
              <a:rPr lang="en-US" altLang="ko-KR" sz="2800">
                <a:solidFill>
                  <a:srgbClr val="0000FF"/>
                </a:solidFill>
                <a:cs typeface="휴먼매직체"/>
              </a:rPr>
              <a:t>OS: large and complex software</a:t>
            </a:r>
          </a:p>
          <a:p>
            <a:pPr lvl="1"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Win XP has 40,000,000 lines of code!</a:t>
            </a:r>
          </a:p>
          <a:p>
            <a:pPr lvl="1"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Subject to bugs and flaws like any other software</a:t>
            </a:r>
          </a:p>
          <a:p>
            <a:pPr lvl="1"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Many security issues specific to OSs</a:t>
            </a:r>
          </a:p>
          <a:p>
            <a:pPr lvl="1"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Can you trust an OS?</a:t>
            </a:r>
          </a:p>
        </p:txBody>
      </p:sp>
      <p:sp>
        <p:nvSpPr>
          <p:cNvPr id="1433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6629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C066A40F-A2BD-431E-B863-FBF188E23CC2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19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122238"/>
            <a:ext cx="7215187" cy="12350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Text Book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306000" indent="-306000" eaLnBrk="1" fontAlgn="auto" hangingPunct="1">
              <a:defRPr/>
            </a:pPr>
            <a:r>
              <a:rPr lang="en-US" altLang="ko-KR" sz="3200" dirty="0"/>
              <a:t>The text consists of four major parts</a:t>
            </a:r>
          </a:p>
          <a:p>
            <a:pPr marL="630000" lvl="1" indent="-306000" eaLnBrk="1" fontAlgn="auto" hangingPunct="1">
              <a:lnSpc>
                <a:spcPct val="140000"/>
              </a:lnSpc>
              <a:defRPr/>
            </a:pPr>
            <a:r>
              <a:rPr lang="en-US" altLang="ko-KR" sz="3200" b="1" dirty="0"/>
              <a:t>Cryptography</a:t>
            </a:r>
          </a:p>
          <a:p>
            <a:pPr marL="630000" lvl="1" indent="-306000" eaLnBrk="1" fontAlgn="auto" hangingPunct="1">
              <a:lnSpc>
                <a:spcPct val="140000"/>
              </a:lnSpc>
              <a:defRPr/>
            </a:pPr>
            <a:r>
              <a:rPr lang="en-US" altLang="ko-KR" sz="3200" dirty="0"/>
              <a:t>Access control</a:t>
            </a:r>
          </a:p>
          <a:p>
            <a:pPr marL="630000" lvl="1" indent="-306000" eaLnBrk="1" fontAlgn="auto" hangingPunct="1">
              <a:lnSpc>
                <a:spcPct val="140000"/>
              </a:lnSpc>
              <a:defRPr/>
            </a:pPr>
            <a:r>
              <a:rPr lang="en-US" altLang="ko-KR" sz="3200" b="1" dirty="0"/>
              <a:t>Protocols</a:t>
            </a:r>
          </a:p>
          <a:p>
            <a:pPr marL="630000" lvl="1" indent="-306000" eaLnBrk="1" fontAlgn="auto" hangingPunct="1">
              <a:lnSpc>
                <a:spcPct val="140000"/>
              </a:lnSpc>
              <a:defRPr/>
            </a:pPr>
            <a:r>
              <a:rPr lang="en-US" altLang="ko-KR" sz="3200" dirty="0"/>
              <a:t>Software</a:t>
            </a:r>
          </a:p>
          <a:p>
            <a:pPr marL="306000" indent="-306000" eaLnBrk="1" fontAlgn="auto" hangingPunct="1">
              <a:lnSpc>
                <a:spcPct val="140000"/>
              </a:lnSpc>
              <a:defRPr/>
            </a:pPr>
            <a:r>
              <a:rPr lang="en-US" altLang="ko-KR" sz="3200" dirty="0"/>
              <a:t>Note: Our focus is on technical issues</a:t>
            </a:r>
          </a:p>
          <a:p>
            <a:pPr marL="306000" indent="-306000" eaLnBrk="1" fontAlgn="auto" hangingPunct="1">
              <a:lnSpc>
                <a:spcPct val="140000"/>
              </a:lnSpc>
              <a:defRPr/>
            </a:pPr>
            <a:endParaRPr lang="en-US" altLang="ko-KR" sz="3600" b="1" dirty="0"/>
          </a:p>
        </p:txBody>
      </p:sp>
      <p:sp>
        <p:nvSpPr>
          <p:cNvPr id="1536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96BE0974-CBDF-4722-AE8D-8CFCC2EA71D0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20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The People Problem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62000" y="1828800"/>
            <a:ext cx="7848600" cy="4191000"/>
          </a:xfrm>
        </p:spPr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People often break security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Both intentionally and unintentionally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Here, we consider the unintentional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For example, suppose you want to buy something online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To make it concrete, suppose you want to buy from amazon.com</a:t>
            </a: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7715250" cy="457200"/>
          </a:xfr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/>
              <a:t>Chapter 1 Introduction          Prepared by: Dr. Muhammad Iqbal Hossain</a:t>
            </a:r>
            <a:endParaRPr kumimoji="0" lang="en-US" altLang="ko-KR" dirty="0">
              <a:latin typeface="Times New Roman" panose="02020603050405020304" pitchFamily="18" charset="0"/>
            </a:endParaRPr>
          </a:p>
        </p:txBody>
      </p:sp>
      <p:sp>
        <p:nvSpPr>
          <p:cNvPr id="28677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523190C3-03C1-4BE5-AAB4-B2CDDA32DB7D}" type="slidenum">
              <a:rPr lang="en-US" altLang="ko-KR" smtClean="0">
                <a:solidFill>
                  <a:schemeClr val="accent2"/>
                </a:solidFill>
              </a:rPr>
              <a:pPr/>
              <a:t>21</a:t>
            </a:fld>
            <a:endParaRPr lang="en-US" altLang="ko-KR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The People Problem</a:t>
            </a:r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To buy from amazon.com… 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Your Web browser uses SSL protocol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SSL relies on cryptography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Access control issues arise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All security mechanisms are in software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Suppose all of these security stuff works perfectly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What could possibly go wrong?</a:t>
            </a: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6994525" cy="457200"/>
          </a:xfr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/>
              <a:t>Chapter 1 Introduction          Prepared by: Dr. Muhammad Iqbal Hossain</a:t>
            </a:r>
            <a:endParaRPr kumimoji="0" lang="en-US" altLang="ko-KR" dirty="0">
              <a:latin typeface="Times New Roman" panose="02020603050405020304" pitchFamily="18" charset="0"/>
            </a:endParaRPr>
          </a:p>
        </p:txBody>
      </p:sp>
      <p:sp>
        <p:nvSpPr>
          <p:cNvPr id="29701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6D5D1F1D-9CDF-4D58-BC5B-B2892F304764}" type="slidenum">
              <a:rPr lang="en-US" altLang="ko-KR" smtClean="0">
                <a:solidFill>
                  <a:schemeClr val="accent2"/>
                </a:solidFill>
              </a:rPr>
              <a:pPr/>
              <a:t>22</a:t>
            </a:fld>
            <a:endParaRPr lang="en-US" altLang="ko-KR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The People Problem</a:t>
            </a:r>
          </a:p>
        </p:txBody>
      </p:sp>
      <p:sp>
        <p:nvSpPr>
          <p:cNvPr id="307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077200" cy="4191000"/>
          </a:xfrm>
        </p:spPr>
        <p:txBody>
          <a:bodyPr/>
          <a:lstStyle/>
          <a:p>
            <a:pPr eaLnBrk="1" hangingPunct="1"/>
            <a:r>
              <a:rPr lang="en-US" altLang="ko-KR" sz="2400">
                <a:cs typeface="휴먼매직체"/>
              </a:rPr>
              <a:t>What could go wrong?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Trudy can try man-in-the-middle attack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SSL is secure, so attack doesn’t “work”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Web browser issues a warning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What do you, the user, do? 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If user ignores warning, attack works!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None of the security mechanisms failed 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But user unintentionally broke security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7343775" cy="457200"/>
          </a:xfrm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defRPr/>
            </a:pPr>
            <a:r>
              <a:rPr kumimoji="0" lang="en-US" altLang="ko-KR" dirty="0"/>
              <a:t>Chapter 1 Introduction          Prepared by: Dr. Muhammad Iqbal Hossain</a:t>
            </a:r>
            <a:endParaRPr kumimoji="0" lang="en-US" altLang="ko-KR" dirty="0">
              <a:latin typeface="Times New Roman" panose="02020603050405020304" pitchFamily="18" charset="0"/>
            </a:endParaRPr>
          </a:p>
        </p:txBody>
      </p:sp>
      <p:sp>
        <p:nvSpPr>
          <p:cNvPr id="30725" name="Slide Number Placeholder 1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A43EEF24-8D8D-4BB1-8908-D404C3E4CF64}" type="slidenum">
              <a:rPr lang="en-US" altLang="ko-KR" smtClean="0">
                <a:solidFill>
                  <a:schemeClr val="accent2"/>
                </a:solidFill>
              </a:rPr>
              <a:pPr/>
              <a:t>23</a:t>
            </a:fld>
            <a:endParaRPr lang="en-US" altLang="ko-KR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Think Like Trudy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400">
                <a:cs typeface="휴먼매직체"/>
              </a:rPr>
              <a:t>Good guys must think like bad guys!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A police detective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Must study and understand criminals</a:t>
            </a:r>
          </a:p>
          <a:p>
            <a:pPr eaLnBrk="1" hangingPunct="1"/>
            <a:r>
              <a:rPr lang="en-US" altLang="ko-KR" sz="2400">
                <a:solidFill>
                  <a:srgbClr val="0000FF"/>
                </a:solidFill>
                <a:cs typeface="휴먼매직체"/>
              </a:rPr>
              <a:t>In information security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We want to understand Trudy’s motives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We must know Trudy’s methods</a:t>
            </a:r>
          </a:p>
          <a:p>
            <a:pPr lvl="1" eaLnBrk="1" hangingPunct="1"/>
            <a:r>
              <a:rPr lang="en-US" altLang="ko-KR" sz="2000">
                <a:cs typeface="휴먼매직체"/>
              </a:rPr>
              <a:t>We’ll often pretend to be Trudy</a:t>
            </a:r>
          </a:p>
        </p:txBody>
      </p:sp>
      <p:sp>
        <p:nvSpPr>
          <p:cNvPr id="2355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37893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17741A4E-B1EE-4D76-857C-B3BE11607BAB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24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Think Like Trudy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 dirty="0">
                <a:cs typeface="휴먼매직체"/>
              </a:rPr>
              <a:t>Is all of this security information a good idea?</a:t>
            </a:r>
          </a:p>
          <a:p>
            <a:pPr eaLnBrk="1" hangingPunct="1"/>
            <a:r>
              <a:rPr lang="en-US" altLang="ko-KR" sz="2800" dirty="0">
                <a:solidFill>
                  <a:srgbClr val="0000FF"/>
                </a:solidFill>
                <a:cs typeface="휴먼매직체"/>
              </a:rPr>
              <a:t>“It’s about time somebody wrote a book to teach the good guys what the bad guys already know.”</a:t>
            </a:r>
            <a:r>
              <a:rPr lang="en-US" altLang="ko-KR" sz="2800" dirty="0">
                <a:cs typeface="휴먼매직체"/>
              </a:rPr>
              <a:t> </a:t>
            </a:r>
            <a:r>
              <a:rPr lang="en-US" altLang="ko-KR" sz="2800" dirty="0">
                <a:cs typeface="휴먼매직체"/>
                <a:sym typeface="Symbol" panose="05050102010706020507" pitchFamily="18" charset="2"/>
              </a:rPr>
              <a:t></a:t>
            </a:r>
            <a:r>
              <a:rPr lang="en-US" altLang="ko-KR" sz="2800" dirty="0">
                <a:cs typeface="휴먼매직체"/>
              </a:rPr>
              <a:t> Bruce </a:t>
            </a:r>
            <a:r>
              <a:rPr lang="en-US" altLang="ko-KR" sz="2800" dirty="0" err="1">
                <a:cs typeface="휴먼매직체"/>
              </a:rPr>
              <a:t>Schneier</a:t>
            </a:r>
            <a:endParaRPr lang="en-US" altLang="ko-KR" sz="2800" dirty="0">
              <a:cs typeface="휴먼매직체"/>
            </a:endParaRPr>
          </a:p>
        </p:txBody>
      </p:sp>
      <p:sp>
        <p:nvSpPr>
          <p:cNvPr id="2457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38917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2326B25A-F2A1-469F-A6B2-CBB7BBA97D03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25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/>
              <a:t>Think Like Trudy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cs typeface="휴먼매직체"/>
              </a:rPr>
              <a:t>We must try to think like Trudy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We must study Trudy’s methods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We can admire Trudy’s cleverness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Often, we can’t help but laugh at Alice and Bob’s stupidity</a:t>
            </a:r>
          </a:p>
          <a:p>
            <a:pPr eaLnBrk="1" hangingPunct="1"/>
            <a:r>
              <a:rPr lang="en-US" altLang="ko-KR" sz="2800">
                <a:cs typeface="휴먼매직체"/>
              </a:rPr>
              <a:t>But, we </a:t>
            </a:r>
            <a:r>
              <a:rPr lang="en-US" altLang="ko-KR" sz="2800" b="1">
                <a:solidFill>
                  <a:srgbClr val="FF0000"/>
                </a:solidFill>
                <a:cs typeface="휴먼매직체"/>
              </a:rPr>
              <a:t>cannot</a:t>
            </a:r>
            <a:r>
              <a:rPr lang="en-US" altLang="ko-KR" sz="2800">
                <a:cs typeface="휴먼매직체"/>
              </a:rPr>
              <a:t> </a:t>
            </a:r>
            <a:r>
              <a:rPr lang="en-US" altLang="ko-KR" sz="2800" b="1">
                <a:solidFill>
                  <a:srgbClr val="FF0000"/>
                </a:solidFill>
                <a:cs typeface="휴먼매직체"/>
              </a:rPr>
              <a:t>act</a:t>
            </a:r>
            <a:r>
              <a:rPr lang="en-US" altLang="ko-KR" sz="2800">
                <a:cs typeface="휴먼매직체"/>
              </a:rPr>
              <a:t> like Trudy</a:t>
            </a:r>
          </a:p>
          <a:p>
            <a:pPr lvl="1" eaLnBrk="1" hangingPunct="1"/>
            <a:r>
              <a:rPr lang="en-US" altLang="ko-KR" sz="2400">
                <a:cs typeface="휴먼매직체"/>
              </a:rPr>
              <a:t>Except in this class…</a:t>
            </a:r>
          </a:p>
        </p:txBody>
      </p:sp>
      <p:sp>
        <p:nvSpPr>
          <p:cNvPr id="2560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39941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3160CD3D-BE6F-4F50-A5A9-EA7A19FA1DB0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26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9" y="260648"/>
            <a:ext cx="7677472" cy="93610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dirty="0"/>
              <a:t>In This Course…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sz="2400">
                <a:cs typeface="휴먼매직체"/>
              </a:rPr>
              <a:t>Always think like the bad guy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Always look for weaknesses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Strive to find a weak link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It’s OK to break the rules</a:t>
            </a:r>
          </a:p>
          <a:p>
            <a:pPr eaLnBrk="1" hangingPunct="1"/>
            <a:r>
              <a:rPr lang="en-US" altLang="ko-KR" sz="2400">
                <a:cs typeface="휴먼매직체"/>
              </a:rPr>
              <a:t>Think like Trudy!</a:t>
            </a:r>
          </a:p>
          <a:p>
            <a:pPr eaLnBrk="1" hangingPunct="1"/>
            <a:r>
              <a:rPr lang="en-US" altLang="ko-KR" sz="2400">
                <a:solidFill>
                  <a:srgbClr val="FF0000"/>
                </a:solidFill>
                <a:cs typeface="휴먼매직체"/>
              </a:rPr>
              <a:t>But don’t do anything illegal…</a:t>
            </a:r>
          </a:p>
        </p:txBody>
      </p:sp>
      <p:sp>
        <p:nvSpPr>
          <p:cNvPr id="2662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Chapter 1 Introduction          Prepared by: Dr. Muhammad Iqbal Hossain</a:t>
            </a:r>
          </a:p>
        </p:txBody>
      </p:sp>
      <p:sp>
        <p:nvSpPr>
          <p:cNvPr id="40965" name="슬라이드 번호 개체 틀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fld id="{7578BE95-F9ED-4C97-821D-1783733C4BE9}" type="slidenum">
              <a:rPr lang="en-US" altLang="ko-KR" smtClean="0">
                <a:latin typeface="굴림" panose="020B0600000101010101" pitchFamily="34" charset="-127"/>
                <a:ea typeface="굴림" panose="020B0600000101010101" pitchFamily="34" charset="-127"/>
              </a:rPr>
              <a:pPr/>
              <a:t>27</a:t>
            </a:fld>
            <a:endParaRPr lang="en-US" altLang="ko-KR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4.5|4.2|5.6|6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40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46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|0.6|0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20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1.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1.1"/>
</p:tagLst>
</file>

<file path=ppt/theme/theme1.xml><?xml version="1.0" encoding="utf-8"?>
<a:theme xmlns:a="http://schemas.openxmlformats.org/drawingml/2006/main" name="BRAC University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BRAC University Template</Template>
  <TotalTime>7432</TotalTime>
  <Words>1119</Words>
  <Application>Microsoft Office PowerPoint</Application>
  <PresentationFormat>On-screen Show (4:3)</PresentationFormat>
  <Paragraphs>194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맑은 고딕</vt:lpstr>
      <vt:lpstr>Arial</vt:lpstr>
      <vt:lpstr>Calibri</vt:lpstr>
      <vt:lpstr>Calibri Light</vt:lpstr>
      <vt:lpstr>Calibri Light (Headings)</vt:lpstr>
      <vt:lpstr>Cambria</vt:lpstr>
      <vt:lpstr>Comic Sans MS</vt:lpstr>
      <vt:lpstr>Gill Sans MT</vt:lpstr>
      <vt:lpstr>굴림</vt:lpstr>
      <vt:lpstr>HY백송B</vt:lpstr>
      <vt:lpstr>휴먼매직체</vt:lpstr>
      <vt:lpstr>Symbol</vt:lpstr>
      <vt:lpstr>Times New Roman</vt:lpstr>
      <vt:lpstr>Wingdings</vt:lpstr>
      <vt:lpstr>BRAC University Template</vt:lpstr>
      <vt:lpstr>CSE447: Cryptography and Cryptanalysis Spring 2025</vt:lpstr>
      <vt:lpstr>PowerPoint Presentation</vt:lpstr>
      <vt:lpstr>PowerPoint Presentation</vt:lpstr>
      <vt:lpstr>PowerPoint Presentation</vt:lpstr>
      <vt:lpstr>PowerPoint Presentation</vt:lpstr>
      <vt:lpstr>Chapter 1 Introduction</vt:lpstr>
      <vt:lpstr>The Cast of Characters</vt:lpstr>
      <vt:lpstr>Alice’s Online Bank</vt:lpstr>
      <vt:lpstr>CIA</vt:lpstr>
      <vt:lpstr>CIA</vt:lpstr>
      <vt:lpstr>CIA</vt:lpstr>
      <vt:lpstr>Beyond CIA</vt:lpstr>
      <vt:lpstr>Beyond CIA</vt:lpstr>
      <vt:lpstr>Beyond CIA</vt:lpstr>
      <vt:lpstr>Beyond CIA</vt:lpstr>
      <vt:lpstr>Beyond CIA</vt:lpstr>
      <vt:lpstr>Beyond CIA</vt:lpstr>
      <vt:lpstr>Text Book</vt:lpstr>
      <vt:lpstr>The People Problem</vt:lpstr>
      <vt:lpstr>The People Problem</vt:lpstr>
      <vt:lpstr>The People Problem</vt:lpstr>
      <vt:lpstr>Think Like Trudy</vt:lpstr>
      <vt:lpstr>Think Like Trudy</vt:lpstr>
      <vt:lpstr>Think Like Trudy</vt:lpstr>
      <vt:lpstr>In This Course…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</dc:title>
  <dc:creator>Mark Stamp</dc:creator>
  <cp:lastModifiedBy>Muhammad Iqbal Hossain</cp:lastModifiedBy>
  <cp:revision>714</cp:revision>
  <dcterms:created xsi:type="dcterms:W3CDTF">2003-06-09T15:34:05Z</dcterms:created>
  <dcterms:modified xsi:type="dcterms:W3CDTF">2025-01-28T04:34:01Z</dcterms:modified>
</cp:coreProperties>
</file>