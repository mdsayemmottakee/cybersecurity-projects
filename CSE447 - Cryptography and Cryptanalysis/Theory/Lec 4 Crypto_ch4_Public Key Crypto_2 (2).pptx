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9.xml"/>
  <Override ContentType="application/vnd.openxmlformats-officedocument.presentationml.slideMaster+xml" PartName="/ppt/slideMasters/slideMaster11.xml"/>
  <Override ContentType="application/vnd.openxmlformats-officedocument.presentationml.slideMaster+xml" PartName="/ppt/slideMasters/slideMaster10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7.xml"/>
  <Override ContentType="application/vnd.openxmlformats-officedocument.presentationml.slideMaster+xml" PartName="/ppt/slideMasters/slideMaster6.xml"/>
  <Override ContentType="application/vnd.openxmlformats-officedocument.presentationml.slideMaster+xml" PartName="/ppt/slideMasters/slideMaster5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7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11.xml"/>
  <Override ContentType="application/vnd.openxmlformats-officedocument.theme+xml" PartName="/ppt/theme/theme5.xml"/>
  <Override ContentType="application/vnd.openxmlformats-officedocument.theme+xml" PartName="/ppt/theme/theme8.xml"/>
  <Override ContentType="application/vnd.openxmlformats-officedocument.theme+xml" PartName="/ppt/theme/theme10.xml"/>
  <Override ContentType="application/vnd.openxmlformats-officedocument.theme+xml" PartName="/ppt/theme/theme12.xml"/>
  <Override ContentType="application/vnd.openxmlformats-officedocument.theme+xml" PartName="/ppt/theme/theme9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5"/>
    <p:sldMasterId id="2147483650" r:id="rId6"/>
    <p:sldMasterId id="2147483652" r:id="rId7"/>
    <p:sldMasterId id="2147483654" r:id="rId8"/>
    <p:sldMasterId id="2147483657" r:id="rId9"/>
    <p:sldMasterId id="2147483659" r:id="rId10"/>
    <p:sldMasterId id="2147483661" r:id="rId11"/>
    <p:sldMasterId id="2147483663" r:id="rId12"/>
    <p:sldMasterId id="2147483665" r:id="rId13"/>
    <p:sldMasterId id="2147483667" r:id="rId14"/>
    <p:sldMasterId id="2147483669" r:id="rId15"/>
  </p:sldMasterIdLst>
  <p:notesMasterIdLst>
    <p:notesMasterId r:id="rId16"/>
  </p:notesMasterIdLst>
  <p:sldIdLst>
    <p:sldId id="256" r:id="rId17"/>
    <p:sldId id="257" r:id="rId18"/>
    <p:sldId id="258" r:id="rId19"/>
    <p:sldId id="259" r:id="rId20"/>
    <p:sldId id="260" r:id="rId21"/>
    <p:sldId id="261" r:id="rId22"/>
    <p:sldId id="262" r:id="rId23"/>
    <p:sldId id="263" r:id="rId24"/>
    <p:sldId id="264" r:id="rId25"/>
    <p:sldId id="265" r:id="rId26"/>
    <p:sldId id="266" r:id="rId27"/>
    <p:sldId id="267" r:id="rId28"/>
    <p:sldId id="268" r:id="rId29"/>
    <p:sldId id="269" r:id="rId30"/>
    <p:sldId id="270" r:id="rId31"/>
    <p:sldId id="271" r:id="rId32"/>
    <p:sldId id="272" r:id="rId33"/>
    <p:sldId id="273" r:id="rId34"/>
    <p:sldId id="274" r:id="rId35"/>
    <p:sldId id="275" r:id="rId36"/>
    <p:sldId id="276" r:id="rId37"/>
    <p:sldId id="277" r:id="rId38"/>
    <p:sldId id="278" r:id="rId39"/>
    <p:sldId id="279" r:id="rId40"/>
    <p:sldId id="280" r:id="rId41"/>
    <p:sldId id="281" r:id="rId42"/>
    <p:sldId id="282" r:id="rId43"/>
    <p:sldId id="283" r:id="rId44"/>
    <p:sldId id="284" r:id="rId45"/>
    <p:sldId id="285" r:id="rId46"/>
    <p:sldId id="286" r:id="rId47"/>
    <p:sldId id="287" r:id="rId48"/>
    <p:sldId id="288" r:id="rId49"/>
    <p:sldId id="289" r:id="rId50"/>
    <p:sldId id="290" r:id="rId51"/>
    <p:sldId id="291" r:id="rId52"/>
    <p:sldId id="292" r:id="rId53"/>
    <p:sldId id="293" r:id="rId54"/>
    <p:sldId id="294" r:id="rId55"/>
    <p:sldId id="295" r:id="rId56"/>
    <p:sldId id="296" r:id="rId57"/>
    <p:sldId id="297" r:id="rId58"/>
    <p:sldId id="298" r:id="rId59"/>
    <p:sldId id="299" r:id="rId60"/>
    <p:sldId id="300" r:id="rId61"/>
    <p:sldId id="301" r:id="rId62"/>
    <p:sldId id="302" r:id="rId63"/>
    <p:sldId id="303" r:id="rId64"/>
    <p:sldId id="304" r:id="rId65"/>
    <p:sldId id="305" r:id="rId66"/>
    <p:sldId id="306" r:id="rId67"/>
    <p:sldId id="307" r:id="rId68"/>
    <p:sldId id="308" r:id="rId69"/>
    <p:sldId id="309" r:id="rId70"/>
    <p:sldId id="310" r:id="rId71"/>
    <p:sldId id="311" r:id="rId72"/>
    <p:sldId id="312" r:id="rId73"/>
  </p:sldIdLst>
  <p:sldSz cy="6858000" cx="9144000"/>
  <p:notesSz cx="7099300" cy="10234600"/>
  <p:embeddedFontLst>
    <p:embeddedFont>
      <p:font typeface="Gill Sans"/>
      <p:regular r:id="rId74"/>
      <p:bold r:id="rId7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>
        <p15:guide id="1" orient="horz" pos="3224">
          <p15:clr>
            <a:srgbClr val="000000"/>
          </p15:clr>
        </p15:guide>
        <p15:guide id="2" pos="2236">
          <p15:clr>
            <a:srgbClr val="000000"/>
          </p15:clr>
        </p15:guide>
      </p15:notesGuideLst>
    </p:ext>
    <p:ext uri="GoogleSlidesCustomDataVersion2">
      <go:slidesCustomData xmlns:go="http://customooxmlschemas.google.com/" r:id="rId76" roundtripDataSignature="AMtx7miZdjK6oEeguz+8mtpXlqcMyMHF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C198481-A974-40F2-9E6A-14EA53DCA851}">
  <a:tblStyle styleId="{2C198481-A974-40F2-9E6A-14EA53DCA85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3224" orient="horz"/>
        <p:guide pos="2236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24.xml"/><Relationship Id="rId42" Type="http://schemas.openxmlformats.org/officeDocument/2006/relationships/slide" Target="slides/slide26.xml"/><Relationship Id="rId41" Type="http://schemas.openxmlformats.org/officeDocument/2006/relationships/slide" Target="slides/slide25.xml"/><Relationship Id="rId44" Type="http://schemas.openxmlformats.org/officeDocument/2006/relationships/slide" Target="slides/slide28.xml"/><Relationship Id="rId43" Type="http://schemas.openxmlformats.org/officeDocument/2006/relationships/slide" Target="slides/slide27.xml"/><Relationship Id="rId46" Type="http://schemas.openxmlformats.org/officeDocument/2006/relationships/slide" Target="slides/slide30.xml"/><Relationship Id="rId45" Type="http://schemas.openxmlformats.org/officeDocument/2006/relationships/slide" Target="slides/slide29.xml"/><Relationship Id="rId1" Type="http://schemas.openxmlformats.org/officeDocument/2006/relationships/theme" Target="theme/theme8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Master" Target="slideMasters/slideMaster5.xml"/><Relationship Id="rId48" Type="http://schemas.openxmlformats.org/officeDocument/2006/relationships/slide" Target="slides/slide32.xml"/><Relationship Id="rId47" Type="http://schemas.openxmlformats.org/officeDocument/2006/relationships/slide" Target="slides/slide31.xml"/><Relationship Id="rId49" Type="http://schemas.openxmlformats.org/officeDocument/2006/relationships/slide" Target="slides/slide33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slideMaster" Target="slideMasters/slideMaster4.xml"/><Relationship Id="rId73" Type="http://schemas.openxmlformats.org/officeDocument/2006/relationships/slide" Target="slides/slide57.xml"/><Relationship Id="rId72" Type="http://schemas.openxmlformats.org/officeDocument/2006/relationships/slide" Target="slides/slide56.xml"/><Relationship Id="rId31" Type="http://schemas.openxmlformats.org/officeDocument/2006/relationships/slide" Target="slides/slide15.xml"/><Relationship Id="rId75" Type="http://schemas.openxmlformats.org/officeDocument/2006/relationships/font" Target="fonts/GillSans-bold.fntdata"/><Relationship Id="rId30" Type="http://schemas.openxmlformats.org/officeDocument/2006/relationships/slide" Target="slides/slide14.xml"/><Relationship Id="rId74" Type="http://schemas.openxmlformats.org/officeDocument/2006/relationships/font" Target="fonts/GillSans-regular.fntdata"/><Relationship Id="rId33" Type="http://schemas.openxmlformats.org/officeDocument/2006/relationships/slide" Target="slides/slide17.xml"/><Relationship Id="rId32" Type="http://schemas.openxmlformats.org/officeDocument/2006/relationships/slide" Target="slides/slide16.xml"/><Relationship Id="rId76" Type="http://customschemas.google.com/relationships/presentationmetadata" Target="metadata"/><Relationship Id="rId35" Type="http://schemas.openxmlformats.org/officeDocument/2006/relationships/slide" Target="slides/slide19.xml"/><Relationship Id="rId34" Type="http://schemas.openxmlformats.org/officeDocument/2006/relationships/slide" Target="slides/slide18.xml"/><Relationship Id="rId71" Type="http://schemas.openxmlformats.org/officeDocument/2006/relationships/slide" Target="slides/slide55.xml"/><Relationship Id="rId70" Type="http://schemas.openxmlformats.org/officeDocument/2006/relationships/slide" Target="slides/slide54.xml"/><Relationship Id="rId37" Type="http://schemas.openxmlformats.org/officeDocument/2006/relationships/slide" Target="slides/slide21.xml"/><Relationship Id="rId36" Type="http://schemas.openxmlformats.org/officeDocument/2006/relationships/slide" Target="slides/slide20.xml"/><Relationship Id="rId39" Type="http://schemas.openxmlformats.org/officeDocument/2006/relationships/slide" Target="slides/slide23.xml"/><Relationship Id="rId38" Type="http://schemas.openxmlformats.org/officeDocument/2006/relationships/slide" Target="slides/slide22.xml"/><Relationship Id="rId62" Type="http://schemas.openxmlformats.org/officeDocument/2006/relationships/slide" Target="slides/slide46.xml"/><Relationship Id="rId61" Type="http://schemas.openxmlformats.org/officeDocument/2006/relationships/slide" Target="slides/slide45.xml"/><Relationship Id="rId20" Type="http://schemas.openxmlformats.org/officeDocument/2006/relationships/slide" Target="slides/slide4.xml"/><Relationship Id="rId64" Type="http://schemas.openxmlformats.org/officeDocument/2006/relationships/slide" Target="slides/slide48.xml"/><Relationship Id="rId63" Type="http://schemas.openxmlformats.org/officeDocument/2006/relationships/slide" Target="slides/slide47.xml"/><Relationship Id="rId22" Type="http://schemas.openxmlformats.org/officeDocument/2006/relationships/slide" Target="slides/slide6.xml"/><Relationship Id="rId66" Type="http://schemas.openxmlformats.org/officeDocument/2006/relationships/slide" Target="slides/slide50.xml"/><Relationship Id="rId21" Type="http://schemas.openxmlformats.org/officeDocument/2006/relationships/slide" Target="slides/slide5.xml"/><Relationship Id="rId65" Type="http://schemas.openxmlformats.org/officeDocument/2006/relationships/slide" Target="slides/slide49.xml"/><Relationship Id="rId24" Type="http://schemas.openxmlformats.org/officeDocument/2006/relationships/slide" Target="slides/slide8.xml"/><Relationship Id="rId68" Type="http://schemas.openxmlformats.org/officeDocument/2006/relationships/slide" Target="slides/slide52.xml"/><Relationship Id="rId23" Type="http://schemas.openxmlformats.org/officeDocument/2006/relationships/slide" Target="slides/slide7.xml"/><Relationship Id="rId67" Type="http://schemas.openxmlformats.org/officeDocument/2006/relationships/slide" Target="slides/slide51.xml"/><Relationship Id="rId60" Type="http://schemas.openxmlformats.org/officeDocument/2006/relationships/slide" Target="slides/slide44.xml"/><Relationship Id="rId26" Type="http://schemas.openxmlformats.org/officeDocument/2006/relationships/slide" Target="slides/slide10.xml"/><Relationship Id="rId25" Type="http://schemas.openxmlformats.org/officeDocument/2006/relationships/slide" Target="slides/slide9.xml"/><Relationship Id="rId69" Type="http://schemas.openxmlformats.org/officeDocument/2006/relationships/slide" Target="slides/slide53.xml"/><Relationship Id="rId28" Type="http://schemas.openxmlformats.org/officeDocument/2006/relationships/slide" Target="slides/slide12.xml"/><Relationship Id="rId27" Type="http://schemas.openxmlformats.org/officeDocument/2006/relationships/slide" Target="slides/slide11.xml"/><Relationship Id="rId29" Type="http://schemas.openxmlformats.org/officeDocument/2006/relationships/slide" Target="slides/slide13.xml"/><Relationship Id="rId51" Type="http://schemas.openxmlformats.org/officeDocument/2006/relationships/slide" Target="slides/slide35.xml"/><Relationship Id="rId50" Type="http://schemas.openxmlformats.org/officeDocument/2006/relationships/slide" Target="slides/slide34.xml"/><Relationship Id="rId53" Type="http://schemas.openxmlformats.org/officeDocument/2006/relationships/slide" Target="slides/slide37.xml"/><Relationship Id="rId52" Type="http://schemas.openxmlformats.org/officeDocument/2006/relationships/slide" Target="slides/slide36.xml"/><Relationship Id="rId11" Type="http://schemas.openxmlformats.org/officeDocument/2006/relationships/slideMaster" Target="slideMasters/slideMaster7.xml"/><Relationship Id="rId55" Type="http://schemas.openxmlformats.org/officeDocument/2006/relationships/slide" Target="slides/slide39.xml"/><Relationship Id="rId10" Type="http://schemas.openxmlformats.org/officeDocument/2006/relationships/slideMaster" Target="slideMasters/slideMaster6.xml"/><Relationship Id="rId54" Type="http://schemas.openxmlformats.org/officeDocument/2006/relationships/slide" Target="slides/slide38.xml"/><Relationship Id="rId13" Type="http://schemas.openxmlformats.org/officeDocument/2006/relationships/slideMaster" Target="slideMasters/slideMaster9.xml"/><Relationship Id="rId57" Type="http://schemas.openxmlformats.org/officeDocument/2006/relationships/slide" Target="slides/slide41.xml"/><Relationship Id="rId12" Type="http://schemas.openxmlformats.org/officeDocument/2006/relationships/slideMaster" Target="slideMasters/slideMaster8.xml"/><Relationship Id="rId56" Type="http://schemas.openxmlformats.org/officeDocument/2006/relationships/slide" Target="slides/slide40.xml"/><Relationship Id="rId15" Type="http://schemas.openxmlformats.org/officeDocument/2006/relationships/slideMaster" Target="slideMasters/slideMaster11.xml"/><Relationship Id="rId59" Type="http://schemas.openxmlformats.org/officeDocument/2006/relationships/slide" Target="slides/slide43.xml"/><Relationship Id="rId14" Type="http://schemas.openxmlformats.org/officeDocument/2006/relationships/slideMaster" Target="slideMasters/slideMaster10.xml"/><Relationship Id="rId58" Type="http://schemas.openxmlformats.org/officeDocument/2006/relationships/slide" Target="slides/slide42.xml"/><Relationship Id="rId17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19" Type="http://schemas.openxmlformats.org/officeDocument/2006/relationships/slide" Target="slides/slide3.xml"/><Relationship Id="rId1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25" spcFirstLastPara="1" rIns="99025" wrap="square" tIns="495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21137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25" spcFirstLastPara="1" rIns="99025" wrap="square" tIns="495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25" spcFirstLastPara="1" rIns="99025" wrap="square" tIns="495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9500" lIns="99025" spcFirstLastPara="1" rIns="99025" wrap="square" tIns="495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9500" lIns="99025" spcFirstLastPara="1" rIns="99025" wrap="square" tIns="49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Gulim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94" name="Google Shape;194;p1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9500" lIns="99025" spcFirstLastPara="1" rIns="99025" wrap="square" tIns="49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Gulim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3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4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18" name="Google Shape;218;p4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DH is not for encrypting or signing, but instead it allows users to establish a shared symmetric key.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We have g, and g^k. what is k?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Find by LOG.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4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9500" lIns="99025" spcFirstLastPara="1" rIns="99025" wrap="square" tIns="49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Gulim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5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29" name="Google Shape;229;p5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Why share symm key?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5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9500" lIns="99025" spcFirstLastPara="1" rIns="99025" wrap="square" tIns="49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Gulim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6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6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7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7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9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9500" lIns="99025" spcFirstLastPara="1" rIns="99025" wrap="square" tIns="49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66" name="Google Shape;266;p9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67" name="Google Shape;267;p9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4d8702162e_0_0:notes"/>
          <p:cNvSpPr/>
          <p:nvPr>
            <p:ph idx="2" type="sldImg"/>
          </p:nvPr>
        </p:nvSpPr>
        <p:spPr>
          <a:xfrm>
            <a:off x="992187" y="768350"/>
            <a:ext cx="5115000" cy="3837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4d8702162e_0_0:notes"/>
          <p:cNvSpPr txBox="1"/>
          <p:nvPr>
            <p:ph idx="1" type="body"/>
          </p:nvPr>
        </p:nvSpPr>
        <p:spPr>
          <a:xfrm>
            <a:off x="709612" y="4860925"/>
            <a:ext cx="5680200" cy="4605300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g34d8702162e_0_0:notes"/>
          <p:cNvSpPr txBox="1"/>
          <p:nvPr>
            <p:ph idx="12" type="sldNum"/>
          </p:nvPr>
        </p:nvSpPr>
        <p:spPr>
          <a:xfrm>
            <a:off x="4021137" y="9721850"/>
            <a:ext cx="3076500" cy="511200"/>
          </a:xfrm>
          <a:prstGeom prst="rect">
            <a:avLst/>
          </a:prstGeom>
        </p:spPr>
        <p:txBody>
          <a:bodyPr anchorCtr="0" anchor="b" bIns="49500" lIns="99025" spcFirstLastPara="1" rIns="99025" wrap="square" tIns="49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Gulim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8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9500" lIns="99025" spcFirstLastPara="1" rIns="99025" wrap="square" tIns="49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300" name="Google Shape;300;p8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301" name="Google Shape;301;p8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0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0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1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1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2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2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3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3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4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4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5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5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6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6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7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7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18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420" name="Google Shape;420;p18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None/>
            </a:pPr>
            <a:r>
              <a:rPr b="1" lang="en-US" sz="1200">
                <a:solidFill>
                  <a:srgbClr val="0000FF"/>
                </a:solidFill>
              </a:rPr>
              <a:t>non-repudiation..cant say didn’t do this</a:t>
            </a:r>
            <a:endParaRPr sz="1200"/>
          </a:p>
        </p:txBody>
      </p:sp>
      <p:sp>
        <p:nvSpPr>
          <p:cNvPr id="421" name="Google Shape;421;p18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9500" lIns="99025" spcFirstLastPara="1" rIns="99025" wrap="square" tIns="49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Gulim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19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430" name="Google Shape;430;p19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Alice and bob share symmetric key because MAC is used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9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9500" lIns="99025" spcFirstLastPara="1" rIns="99025" wrap="square" tIns="49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Gulim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20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440" name="Google Shape;440;p20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Only alice can sign so it can be proved</a:t>
            </a:r>
            <a:endParaRPr/>
          </a:p>
        </p:txBody>
      </p:sp>
      <p:sp>
        <p:nvSpPr>
          <p:cNvPr id="441" name="Google Shape;441;p20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9500" lIns="99025" spcFirstLastPara="1" rIns="99025" wrap="square" tIns="49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Gulim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21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21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22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22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23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23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24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24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25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25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26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26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27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27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28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28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29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29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30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30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31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31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34d8702162e_0_9:notes"/>
          <p:cNvSpPr/>
          <p:nvPr>
            <p:ph idx="2" type="sldImg"/>
          </p:nvPr>
        </p:nvSpPr>
        <p:spPr>
          <a:xfrm>
            <a:off x="992187" y="768350"/>
            <a:ext cx="5115000" cy="3837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4" name="Google Shape;554;g34d8702162e_0_9:notes"/>
          <p:cNvSpPr txBox="1"/>
          <p:nvPr>
            <p:ph idx="1" type="body"/>
          </p:nvPr>
        </p:nvSpPr>
        <p:spPr>
          <a:xfrm>
            <a:off x="709612" y="4860925"/>
            <a:ext cx="5680200" cy="4605300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g34d8702162e_0_9:notes"/>
          <p:cNvSpPr txBox="1"/>
          <p:nvPr>
            <p:ph idx="12" type="sldNum"/>
          </p:nvPr>
        </p:nvSpPr>
        <p:spPr>
          <a:xfrm>
            <a:off x="4021137" y="9721850"/>
            <a:ext cx="3076500" cy="511200"/>
          </a:xfrm>
          <a:prstGeom prst="rect">
            <a:avLst/>
          </a:prstGeom>
        </p:spPr>
        <p:txBody>
          <a:bodyPr anchorCtr="0" anchor="b" bIns="49500" lIns="99025" spcFirstLastPara="1" rIns="99025" wrap="square" tIns="49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Gulim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32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32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33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33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34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34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35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35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36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36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37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37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38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38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39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39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40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40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41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41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42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653" name="Google Shape;653;p42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42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9500" lIns="99025" spcFirstLastPara="1" rIns="99025" wrap="square" tIns="49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Gulim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43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662" name="Google Shape;662;p43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Compression — For any size input </a:t>
            </a:r>
            <a:r>
              <a:rPr i="1" lang="en-US"/>
              <a:t>x, </a:t>
            </a:r>
            <a:r>
              <a:rPr lang="en-US"/>
              <a:t>the output length of </a:t>
            </a:r>
            <a:r>
              <a:rPr i="1" lang="en-US"/>
              <a:t>y </a:t>
            </a:r>
            <a:r>
              <a:rPr lang="en-US"/>
              <a:t>= </a:t>
            </a:r>
            <a:r>
              <a:rPr i="1" lang="en-US"/>
              <a:t>h(x) </a:t>
            </a:r>
            <a:r>
              <a:rPr lang="en-US"/>
              <a:t>is small. In practice, the output is a fixed size (e.g., 160 bits), regardless of the length of the input.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• Efficiency — It must be easy to compute </a:t>
            </a:r>
            <a:r>
              <a:rPr i="1" lang="en-US"/>
              <a:t>h(x) </a:t>
            </a:r>
            <a:r>
              <a:rPr lang="en-US"/>
              <a:t>for any input </a:t>
            </a:r>
            <a:r>
              <a:rPr i="1" lang="en-US"/>
              <a:t>x. </a:t>
            </a:r>
            <a:r>
              <a:rPr lang="en-US"/>
              <a:t>The computational effort required to compute </a:t>
            </a:r>
            <a:r>
              <a:rPr i="1" lang="en-US"/>
              <a:t>h{x) </a:t>
            </a:r>
            <a:r>
              <a:rPr lang="en-US"/>
              <a:t>will, of course, grow with the length of </a:t>
            </a:r>
            <a:r>
              <a:rPr i="1" lang="en-US"/>
              <a:t>x, </a:t>
            </a:r>
            <a:r>
              <a:rPr lang="en-US"/>
              <a:t>but it cannot grow too fast.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• One-way — Given any value </a:t>
            </a:r>
            <a:r>
              <a:rPr i="1" lang="en-US"/>
              <a:t>y, </a:t>
            </a:r>
            <a:r>
              <a:rPr lang="en-US"/>
              <a:t>it's computationally infeasible to find a value a; such that </a:t>
            </a:r>
            <a:r>
              <a:rPr i="1" lang="en-US"/>
              <a:t>h{x) = y. </a:t>
            </a:r>
            <a:r>
              <a:rPr lang="en-US"/>
              <a:t>Another way to say this is that there is no feasible way to invert the hash.</a:t>
            </a:r>
            <a:endParaRPr/>
          </a:p>
        </p:txBody>
      </p:sp>
      <p:sp>
        <p:nvSpPr>
          <p:cNvPr id="663" name="Google Shape;663;p43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9500" lIns="99025" spcFirstLastPara="1" rIns="99025" wrap="square" tIns="49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Gulim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44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671" name="Google Shape;671;p44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• Weak collision resistance — Given </a:t>
            </a:r>
            <a:r>
              <a:rPr i="1" lang="en-US"/>
              <a:t>x </a:t>
            </a:r>
            <a:r>
              <a:rPr lang="en-US"/>
              <a:t>and </a:t>
            </a:r>
            <a:r>
              <a:rPr i="1" lang="en-US"/>
              <a:t>h(x), </a:t>
            </a:r>
            <a:r>
              <a:rPr lang="en-US"/>
              <a:t>it's infeasible to find any </a:t>
            </a:r>
            <a:r>
              <a:rPr i="1" lang="en-US"/>
              <a:t>y, </a:t>
            </a:r>
            <a:r>
              <a:rPr lang="en-US"/>
              <a:t>with </a:t>
            </a:r>
            <a:r>
              <a:rPr i="1" lang="en-US"/>
              <a:t>y ö x, </a:t>
            </a:r>
            <a:r>
              <a:rPr lang="en-US"/>
              <a:t>such that </a:t>
            </a:r>
            <a:r>
              <a:rPr i="1" lang="en-US"/>
              <a:t>h(y) = h(x). </a:t>
            </a:r>
            <a:r>
              <a:rPr lang="en-US"/>
              <a:t>Another way to state this requirement is that it is not feasible to modify a message without changing its hash value.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• Strong collision resistance — It's infeasible to find any </a:t>
            </a:r>
            <a:r>
              <a:rPr i="1" lang="en-US"/>
              <a:t>x </a:t>
            </a:r>
            <a:r>
              <a:rPr lang="en-US"/>
              <a:t>and </a:t>
            </a:r>
            <a:r>
              <a:rPr i="1" lang="en-US"/>
              <a:t>y, </a:t>
            </a:r>
            <a:r>
              <a:rPr lang="en-US"/>
              <a:t>such that </a:t>
            </a:r>
            <a:r>
              <a:rPr i="1" lang="en-US"/>
              <a:t>x ö y </a:t>
            </a:r>
            <a:r>
              <a:rPr lang="en-US"/>
              <a:t>and </a:t>
            </a:r>
            <a:r>
              <a:rPr i="1" lang="en-US"/>
              <a:t>h(x) = h(y). </a:t>
            </a:r>
            <a:r>
              <a:rPr lang="en-US"/>
              <a:t>That is, we cannot find any two inputs that hash to the same output.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Alice has a cryptographic hash function </a:t>
            </a:r>
            <a:r>
              <a:rPr i="1" lang="en-US"/>
              <a:t>h. </a:t>
            </a:r>
            <a:r>
              <a:rPr lang="en-US"/>
              <a:t>Then </a:t>
            </a:r>
            <a:r>
              <a:rPr i="1" lang="en-US"/>
              <a:t>h(M) </a:t>
            </a:r>
            <a:r>
              <a:rPr lang="en-US"/>
              <a:t>can be viewed as a "fingerprint" of the file </a:t>
            </a:r>
            <a:r>
              <a:rPr i="1" lang="en-US"/>
              <a:t>M, </a:t>
            </a:r>
            <a:r>
              <a:rPr lang="en-US"/>
              <a:t>that is, </a:t>
            </a:r>
            <a:r>
              <a:rPr i="1" lang="en-US"/>
              <a:t>h(M) </a:t>
            </a:r>
            <a:r>
              <a:rPr lang="en-US"/>
              <a:t>is much smaller than </a:t>
            </a:r>
            <a:r>
              <a:rPr i="1" lang="en-US"/>
              <a:t>M </a:t>
            </a:r>
            <a:r>
              <a:rPr lang="en-US"/>
              <a:t>but it identifies </a:t>
            </a:r>
            <a:r>
              <a:rPr i="1" lang="en-US"/>
              <a:t>M. </a:t>
            </a:r>
            <a:r>
              <a:rPr lang="en-US"/>
              <a:t>If </a:t>
            </a:r>
            <a:r>
              <a:rPr i="1" lang="en-US"/>
              <a:t>M' </a:t>
            </a:r>
            <a:r>
              <a:rPr lang="en-US"/>
              <a:t>differs from M, even by just a single bit, then the hashes will almost certainly differ.1 Furthermore, the collision resistance properties imply that it is not feasible to replace </a:t>
            </a:r>
            <a:r>
              <a:rPr i="1" lang="en-US"/>
              <a:t>M </a:t>
            </a:r>
            <a:r>
              <a:rPr lang="en-US"/>
              <a:t>with any different message </a:t>
            </a:r>
            <a:r>
              <a:rPr i="1" lang="en-US"/>
              <a:t>M' </a:t>
            </a:r>
            <a:r>
              <a:rPr lang="en-US"/>
              <a:t>such that </a:t>
            </a:r>
            <a:r>
              <a:rPr i="1" lang="en-US"/>
              <a:t>h(M) = h(M’). </a:t>
            </a:r>
            <a:endParaRPr/>
          </a:p>
        </p:txBody>
      </p:sp>
      <p:sp>
        <p:nvSpPr>
          <p:cNvPr id="672" name="Google Shape;672;p44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9500" lIns="99025" spcFirstLastPara="1" rIns="99025" wrap="square" tIns="49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Gulim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45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45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46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46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47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p47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48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p48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49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49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50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50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51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p51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52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1" name="Google Shape;741;p52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53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753" name="Google Shape;753;p53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/>
              <a:t>addition modulo = (A + B) mod C = (A mod C + B mod C) mod 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754" name="Google Shape;754;p53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9500" lIns="99025" spcFirstLastPara="1" rIns="99025" wrap="square" tIns="49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Gulim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54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6" name="Google Shape;816;p54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p55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6" name="Google Shape;826;p55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7"/>
          <p:cNvSpPr txBox="1"/>
          <p:nvPr>
            <p:ph type="ctrTitle"/>
          </p:nvPr>
        </p:nvSpPr>
        <p:spPr>
          <a:xfrm>
            <a:off x="581192" y="990600"/>
            <a:ext cx="7989752" cy="150484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60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57"/>
          <p:cNvSpPr txBox="1"/>
          <p:nvPr>
            <p:ph idx="1" type="subTitle"/>
          </p:nvPr>
        </p:nvSpPr>
        <p:spPr>
          <a:xfrm>
            <a:off x="581192" y="2495444"/>
            <a:ext cx="7989752" cy="5903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320"/>
              </a:spcBef>
              <a:spcAft>
                <a:spcPts val="0"/>
              </a:spcAft>
              <a:buSzPts val="1472"/>
              <a:buNone/>
              <a:defRPr sz="1600" cap="none">
                <a:solidFill>
                  <a:schemeClr val="accent2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1472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1288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600"/>
              </a:spcBef>
              <a:spcAft>
                <a:spcPts val="600"/>
              </a:spcAft>
              <a:buSzPts val="1104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57"/>
          <p:cNvSpPr txBox="1"/>
          <p:nvPr>
            <p:ph idx="10" type="dt"/>
          </p:nvPr>
        </p:nvSpPr>
        <p:spPr>
          <a:xfrm>
            <a:off x="5559425" y="59563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7"/>
          <p:cNvSpPr txBox="1"/>
          <p:nvPr>
            <p:ph idx="11" type="ftr"/>
          </p:nvPr>
        </p:nvSpPr>
        <p:spPr>
          <a:xfrm>
            <a:off x="581025" y="5951537"/>
            <a:ext cx="48704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60B2D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7"/>
          <p:cNvSpPr txBox="1"/>
          <p:nvPr>
            <p:ph idx="12" type="sldNum"/>
          </p:nvPr>
        </p:nvSpPr>
        <p:spPr>
          <a:xfrm>
            <a:off x="7800975" y="5956300"/>
            <a:ext cx="7699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9"/>
          <p:cNvSpPr txBox="1"/>
          <p:nvPr>
            <p:ph type="title"/>
          </p:nvPr>
        </p:nvSpPr>
        <p:spPr>
          <a:xfrm>
            <a:off x="581025" y="687389"/>
            <a:ext cx="7989888" cy="7253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9"/>
          <p:cNvSpPr txBox="1"/>
          <p:nvPr>
            <p:ph idx="1" type="body"/>
          </p:nvPr>
        </p:nvSpPr>
        <p:spPr>
          <a:xfrm>
            <a:off x="581192" y="2228003"/>
            <a:ext cx="7989752" cy="36307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333756" lvl="0" marL="4572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22072" lvl="1" marL="914400" algn="l">
              <a:spcBef>
                <a:spcPts val="600"/>
              </a:spcBef>
              <a:spcAft>
                <a:spcPts val="0"/>
              </a:spcAft>
              <a:buSzPts val="1472"/>
              <a:buChar char="◼"/>
              <a:defRPr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10388" lvl="2" marL="1371600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98703" lvl="3" marL="1828800" algn="l">
              <a:spcBef>
                <a:spcPts val="600"/>
              </a:spcBef>
              <a:spcAft>
                <a:spcPts val="0"/>
              </a:spcAft>
              <a:buSzPts val="1104"/>
              <a:buChar char="◼"/>
              <a:defRPr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98704" lvl="4" marL="2286000" algn="l">
              <a:spcBef>
                <a:spcPts val="600"/>
              </a:spcBef>
              <a:spcAft>
                <a:spcPts val="0"/>
              </a:spcAft>
              <a:buSzPts val="1104"/>
              <a:buChar char="◼"/>
              <a:defRPr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40" name="Google Shape;40;p59"/>
          <p:cNvSpPr txBox="1"/>
          <p:nvPr>
            <p:ph idx="10" type="dt"/>
          </p:nvPr>
        </p:nvSpPr>
        <p:spPr>
          <a:xfrm>
            <a:off x="5559425" y="630713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9"/>
          <p:cNvSpPr txBox="1"/>
          <p:nvPr>
            <p:ph idx="11" type="ftr"/>
          </p:nvPr>
        </p:nvSpPr>
        <p:spPr>
          <a:xfrm>
            <a:off x="581025" y="6321425"/>
            <a:ext cx="48704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9"/>
          <p:cNvSpPr txBox="1"/>
          <p:nvPr>
            <p:ph idx="12" type="sldNum"/>
          </p:nvPr>
        </p:nvSpPr>
        <p:spPr>
          <a:xfrm>
            <a:off x="7823200" y="6307137"/>
            <a:ext cx="7699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und Inhalt">
  <p:cSld name="Titel und Inhal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61"/>
          <p:cNvSpPr txBox="1"/>
          <p:nvPr>
            <p:ph idx="1" type="body"/>
          </p:nvPr>
        </p:nvSpPr>
        <p:spPr>
          <a:xfrm>
            <a:off x="500034" y="1071546"/>
            <a:ext cx="8215370" cy="16773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333756" lvl="0" marL="457200" algn="l">
              <a:spcBef>
                <a:spcPts val="360"/>
              </a:spcBef>
              <a:spcAft>
                <a:spcPts val="0"/>
              </a:spcAft>
              <a:buSzPts val="1656"/>
              <a:buFont typeface="Noto Sans Symbols"/>
              <a:buChar char="▪"/>
              <a:defRPr sz="1800"/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10388" lvl="2" marL="1371600" algn="l">
              <a:spcBef>
                <a:spcPts val="600"/>
              </a:spcBef>
              <a:spcAft>
                <a:spcPts val="0"/>
              </a:spcAft>
              <a:buSzPts val="1288"/>
              <a:buFont typeface="Noto Sans Symbols"/>
              <a:buChar char="−"/>
              <a:defRPr/>
            </a:lvl3pPr>
            <a:lvl4pPr indent="-298703" lvl="3" marL="1828800" algn="l">
              <a:spcBef>
                <a:spcPts val="600"/>
              </a:spcBef>
              <a:spcAft>
                <a:spcPts val="0"/>
              </a:spcAft>
              <a:buSzPts val="1104"/>
              <a:buChar char="◼"/>
              <a:defRPr sz="1200"/>
            </a:lvl4pPr>
            <a:lvl5pPr indent="-298704" lvl="4" marL="2286000" algn="l">
              <a:spcBef>
                <a:spcPts val="600"/>
              </a:spcBef>
              <a:spcAft>
                <a:spcPts val="0"/>
              </a:spcAft>
              <a:buSzPts val="1104"/>
              <a:buChar char="◼"/>
              <a:defRPr sz="1200"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53" name="Google Shape;53;p61"/>
          <p:cNvSpPr txBox="1"/>
          <p:nvPr>
            <p:ph type="title"/>
          </p:nvPr>
        </p:nvSpPr>
        <p:spPr>
          <a:xfrm>
            <a:off x="581025" y="687387"/>
            <a:ext cx="7989887" cy="10826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61"/>
          <p:cNvSpPr txBox="1"/>
          <p:nvPr>
            <p:ph idx="12" type="sldNum"/>
          </p:nvPr>
        </p:nvSpPr>
        <p:spPr>
          <a:xfrm>
            <a:off x="179387" y="6570662"/>
            <a:ext cx="504825" cy="21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/20</a:t>
            </a:r>
            <a:endParaRPr/>
          </a:p>
        </p:txBody>
      </p:sp>
      <p:sp>
        <p:nvSpPr>
          <p:cNvPr id="55" name="Google Shape;55;p61"/>
          <p:cNvSpPr txBox="1"/>
          <p:nvPr>
            <p:ph idx="11" type="ftr"/>
          </p:nvPr>
        </p:nvSpPr>
        <p:spPr>
          <a:xfrm>
            <a:off x="2411412" y="6572250"/>
            <a:ext cx="4321175" cy="260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3"/>
          <p:cNvSpPr txBox="1"/>
          <p:nvPr>
            <p:ph type="title"/>
          </p:nvPr>
        </p:nvSpPr>
        <p:spPr>
          <a:xfrm>
            <a:off x="581192" y="4693389"/>
            <a:ext cx="7989752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sz="240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63"/>
          <p:cNvSpPr/>
          <p:nvPr>
            <p:ph idx="2" type="pic"/>
          </p:nvPr>
        </p:nvSpPr>
        <p:spPr>
          <a:xfrm>
            <a:off x="448093" y="599725"/>
            <a:ext cx="8238706" cy="3557252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63"/>
          <p:cNvSpPr txBox="1"/>
          <p:nvPr>
            <p:ph idx="1" type="body"/>
          </p:nvPr>
        </p:nvSpPr>
        <p:spPr>
          <a:xfrm>
            <a:off x="581192" y="5260126"/>
            <a:ext cx="7989752" cy="5986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SzPts val="1104"/>
              <a:buNone/>
              <a:defRPr sz="12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104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/>
        </p:txBody>
      </p:sp>
      <p:sp>
        <p:nvSpPr>
          <p:cNvPr id="69" name="Google Shape;69;p63"/>
          <p:cNvSpPr txBox="1"/>
          <p:nvPr>
            <p:ph idx="10" type="dt"/>
          </p:nvPr>
        </p:nvSpPr>
        <p:spPr>
          <a:xfrm>
            <a:off x="5559425" y="59563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63"/>
          <p:cNvSpPr txBox="1"/>
          <p:nvPr>
            <p:ph idx="11" type="ftr"/>
          </p:nvPr>
        </p:nvSpPr>
        <p:spPr>
          <a:xfrm>
            <a:off x="581025" y="5951537"/>
            <a:ext cx="48704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63"/>
          <p:cNvSpPr txBox="1"/>
          <p:nvPr>
            <p:ph idx="12" type="sldNum"/>
          </p:nvPr>
        </p:nvSpPr>
        <p:spPr>
          <a:xfrm>
            <a:off x="7800975" y="5956300"/>
            <a:ext cx="7699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4"/>
          <p:cNvSpPr txBox="1"/>
          <p:nvPr>
            <p:ph idx="10" type="dt"/>
          </p:nvPr>
        </p:nvSpPr>
        <p:spPr>
          <a:xfrm>
            <a:off x="5559425" y="59563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64"/>
          <p:cNvSpPr txBox="1"/>
          <p:nvPr>
            <p:ph idx="11" type="ftr"/>
          </p:nvPr>
        </p:nvSpPr>
        <p:spPr>
          <a:xfrm>
            <a:off x="581025" y="5951537"/>
            <a:ext cx="48704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64"/>
          <p:cNvSpPr txBox="1"/>
          <p:nvPr>
            <p:ph idx="12" type="sldNum"/>
          </p:nvPr>
        </p:nvSpPr>
        <p:spPr>
          <a:xfrm>
            <a:off x="7800975" y="5956300"/>
            <a:ext cx="7699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66"/>
          <p:cNvSpPr txBox="1"/>
          <p:nvPr>
            <p:ph type="title"/>
          </p:nvPr>
        </p:nvSpPr>
        <p:spPr>
          <a:xfrm>
            <a:off x="581193" y="3036573"/>
            <a:ext cx="7989751" cy="150484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sz="3600" cap="none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66"/>
          <p:cNvSpPr txBox="1"/>
          <p:nvPr>
            <p:ph idx="1" type="body"/>
          </p:nvPr>
        </p:nvSpPr>
        <p:spPr>
          <a:xfrm>
            <a:off x="581193" y="4541417"/>
            <a:ext cx="7989751" cy="600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1656"/>
              <a:buNone/>
              <a:defRPr sz="1800" cap="none">
                <a:solidFill>
                  <a:schemeClr val="accent2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656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9" name="Google Shape;89;p66"/>
          <p:cNvSpPr txBox="1"/>
          <p:nvPr>
            <p:ph idx="10" type="dt"/>
          </p:nvPr>
        </p:nvSpPr>
        <p:spPr>
          <a:xfrm>
            <a:off x="5559425" y="59563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66"/>
          <p:cNvSpPr txBox="1"/>
          <p:nvPr>
            <p:ph idx="11" type="ftr"/>
          </p:nvPr>
        </p:nvSpPr>
        <p:spPr>
          <a:xfrm>
            <a:off x="581025" y="5951537"/>
            <a:ext cx="48704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60B2D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66"/>
          <p:cNvSpPr txBox="1"/>
          <p:nvPr>
            <p:ph idx="12" type="sldNum"/>
          </p:nvPr>
        </p:nvSpPr>
        <p:spPr>
          <a:xfrm>
            <a:off x="7800975" y="5956300"/>
            <a:ext cx="7699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68"/>
          <p:cNvSpPr txBox="1"/>
          <p:nvPr>
            <p:ph type="title"/>
          </p:nvPr>
        </p:nvSpPr>
        <p:spPr>
          <a:xfrm>
            <a:off x="581025" y="687387"/>
            <a:ext cx="7989887" cy="10826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68"/>
          <p:cNvSpPr txBox="1"/>
          <p:nvPr>
            <p:ph idx="1" type="body"/>
          </p:nvPr>
        </p:nvSpPr>
        <p:spPr>
          <a:xfrm>
            <a:off x="581192" y="2228002"/>
            <a:ext cx="3899527" cy="3633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3756" lvl="0" marL="4572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105" name="Google Shape;105;p68"/>
          <p:cNvSpPr txBox="1"/>
          <p:nvPr>
            <p:ph idx="2" type="body"/>
          </p:nvPr>
        </p:nvSpPr>
        <p:spPr>
          <a:xfrm>
            <a:off x="4663282" y="2228003"/>
            <a:ext cx="3907662" cy="3633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3756" lvl="0" marL="4572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106" name="Google Shape;106;p68"/>
          <p:cNvSpPr txBox="1"/>
          <p:nvPr>
            <p:ph idx="10" type="dt"/>
          </p:nvPr>
        </p:nvSpPr>
        <p:spPr>
          <a:xfrm>
            <a:off x="5559425" y="59563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68"/>
          <p:cNvSpPr txBox="1"/>
          <p:nvPr>
            <p:ph idx="11" type="ftr"/>
          </p:nvPr>
        </p:nvSpPr>
        <p:spPr>
          <a:xfrm>
            <a:off x="581025" y="5951537"/>
            <a:ext cx="48704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68"/>
          <p:cNvSpPr txBox="1"/>
          <p:nvPr>
            <p:ph idx="12" type="sldNum"/>
          </p:nvPr>
        </p:nvSpPr>
        <p:spPr>
          <a:xfrm>
            <a:off x="7800975" y="5956300"/>
            <a:ext cx="7699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0"/>
          <p:cNvSpPr txBox="1"/>
          <p:nvPr>
            <p:ph type="title"/>
          </p:nvPr>
        </p:nvSpPr>
        <p:spPr>
          <a:xfrm>
            <a:off x="581025" y="687387"/>
            <a:ext cx="7989887" cy="10826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70"/>
          <p:cNvSpPr txBox="1"/>
          <p:nvPr>
            <p:ph idx="1" type="body"/>
          </p:nvPr>
        </p:nvSpPr>
        <p:spPr>
          <a:xfrm>
            <a:off x="887219" y="2228003"/>
            <a:ext cx="35935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40"/>
              </a:spcBef>
              <a:spcAft>
                <a:spcPts val="0"/>
              </a:spcAft>
              <a:buSzPts val="2024"/>
              <a:buNone/>
              <a:defRPr b="0" sz="2200">
                <a:solidFill>
                  <a:schemeClr val="accent2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84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656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472"/>
              <a:buNone/>
              <a:defRPr b="1" sz="1600"/>
            </a:lvl9pPr>
          </a:lstStyle>
          <a:p/>
        </p:txBody>
      </p:sp>
      <p:sp>
        <p:nvSpPr>
          <p:cNvPr id="122" name="Google Shape;122;p70"/>
          <p:cNvSpPr txBox="1"/>
          <p:nvPr>
            <p:ph idx="2" type="body"/>
          </p:nvPr>
        </p:nvSpPr>
        <p:spPr>
          <a:xfrm>
            <a:off x="581192" y="2926051"/>
            <a:ext cx="3899527" cy="2934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3756" lvl="0" marL="4572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123" name="Google Shape;123;p70"/>
          <p:cNvSpPr txBox="1"/>
          <p:nvPr>
            <p:ph idx="3" type="body"/>
          </p:nvPr>
        </p:nvSpPr>
        <p:spPr>
          <a:xfrm>
            <a:off x="4969308" y="2228003"/>
            <a:ext cx="360163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40"/>
              </a:spcBef>
              <a:spcAft>
                <a:spcPts val="0"/>
              </a:spcAft>
              <a:buSzPts val="2024"/>
              <a:buNone/>
              <a:defRPr b="0" sz="2200">
                <a:solidFill>
                  <a:schemeClr val="accent2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84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656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472"/>
              <a:buNone/>
              <a:defRPr b="1" sz="1600"/>
            </a:lvl9pPr>
          </a:lstStyle>
          <a:p/>
        </p:txBody>
      </p:sp>
      <p:sp>
        <p:nvSpPr>
          <p:cNvPr id="124" name="Google Shape;124;p70"/>
          <p:cNvSpPr txBox="1"/>
          <p:nvPr>
            <p:ph idx="4" type="body"/>
          </p:nvPr>
        </p:nvSpPr>
        <p:spPr>
          <a:xfrm>
            <a:off x="4663282" y="2926051"/>
            <a:ext cx="3907662" cy="2934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3756" lvl="0" marL="4572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125" name="Google Shape;125;p70"/>
          <p:cNvSpPr txBox="1"/>
          <p:nvPr>
            <p:ph idx="10" type="dt"/>
          </p:nvPr>
        </p:nvSpPr>
        <p:spPr>
          <a:xfrm>
            <a:off x="5559425" y="59563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70"/>
          <p:cNvSpPr txBox="1"/>
          <p:nvPr>
            <p:ph idx="11" type="ftr"/>
          </p:nvPr>
        </p:nvSpPr>
        <p:spPr>
          <a:xfrm>
            <a:off x="581025" y="5951537"/>
            <a:ext cx="48704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70"/>
          <p:cNvSpPr txBox="1"/>
          <p:nvPr>
            <p:ph idx="12" type="sldNum"/>
          </p:nvPr>
        </p:nvSpPr>
        <p:spPr>
          <a:xfrm>
            <a:off x="7800975" y="5956300"/>
            <a:ext cx="7699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2"/>
          <p:cNvSpPr txBox="1"/>
          <p:nvPr>
            <p:ph type="title"/>
          </p:nvPr>
        </p:nvSpPr>
        <p:spPr>
          <a:xfrm>
            <a:off x="581025" y="687387"/>
            <a:ext cx="7989887" cy="10826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72"/>
          <p:cNvSpPr txBox="1"/>
          <p:nvPr>
            <p:ph idx="10" type="dt"/>
          </p:nvPr>
        </p:nvSpPr>
        <p:spPr>
          <a:xfrm>
            <a:off x="5559425" y="630396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72"/>
          <p:cNvSpPr txBox="1"/>
          <p:nvPr>
            <p:ph idx="11" type="ftr"/>
          </p:nvPr>
        </p:nvSpPr>
        <p:spPr>
          <a:xfrm>
            <a:off x="581025" y="6299200"/>
            <a:ext cx="48704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72"/>
          <p:cNvSpPr txBox="1"/>
          <p:nvPr>
            <p:ph idx="12" type="sldNum"/>
          </p:nvPr>
        </p:nvSpPr>
        <p:spPr>
          <a:xfrm>
            <a:off x="7800975" y="6303962"/>
            <a:ext cx="7699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4"/>
          <p:cNvSpPr txBox="1"/>
          <p:nvPr>
            <p:ph type="title"/>
          </p:nvPr>
        </p:nvSpPr>
        <p:spPr>
          <a:xfrm>
            <a:off x="581352" y="5262296"/>
            <a:ext cx="3536625" cy="689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sz="2000">
                <a:solidFill>
                  <a:srgbClr val="5DB2D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74"/>
          <p:cNvSpPr txBox="1"/>
          <p:nvPr>
            <p:ph idx="1" type="body"/>
          </p:nvPr>
        </p:nvSpPr>
        <p:spPr>
          <a:xfrm>
            <a:off x="446399" y="601200"/>
            <a:ext cx="8240400" cy="42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5440" lvl="0" marL="457200" algn="l">
              <a:spcBef>
                <a:spcPts val="400"/>
              </a:spcBef>
              <a:spcAft>
                <a:spcPts val="0"/>
              </a:spcAft>
              <a:buSzPts val="1840"/>
              <a:buChar char="◼"/>
              <a:defRPr sz="2000">
                <a:solidFill>
                  <a:schemeClr val="dk2"/>
                </a:solidFill>
              </a:defRPr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 sz="1800">
                <a:solidFill>
                  <a:schemeClr val="dk2"/>
                </a:solidFill>
              </a:defRPr>
            </a:lvl2pPr>
            <a:lvl3pPr indent="-322072" lvl="2" marL="1371600" algn="l">
              <a:spcBef>
                <a:spcPts val="600"/>
              </a:spcBef>
              <a:spcAft>
                <a:spcPts val="0"/>
              </a:spcAft>
              <a:buSzPts val="1472"/>
              <a:buChar char="◼"/>
              <a:defRPr sz="1600">
                <a:solidFill>
                  <a:schemeClr val="dk2"/>
                </a:solidFill>
              </a:defRPr>
            </a:lvl3pPr>
            <a:lvl4pPr indent="-310388" lvl="3" marL="1828800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4pPr>
            <a:lvl5pPr indent="-310388" lvl="4" marL="2286000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5pPr>
            <a:lvl6pPr indent="-310388" lvl="5" marL="2743200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6pPr>
            <a:lvl7pPr indent="-310388" lvl="6" marL="3200400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7pPr>
            <a:lvl8pPr indent="-310388" lvl="7" marL="3657600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8pPr>
            <a:lvl9pPr indent="-310388" lvl="8" marL="4114800" algn="l">
              <a:spcBef>
                <a:spcPts val="600"/>
              </a:spcBef>
              <a:spcAft>
                <a:spcPts val="60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6" name="Google Shape;156;p74"/>
          <p:cNvSpPr txBox="1"/>
          <p:nvPr>
            <p:ph idx="2" type="body"/>
          </p:nvPr>
        </p:nvSpPr>
        <p:spPr>
          <a:xfrm>
            <a:off x="4305617" y="5262295"/>
            <a:ext cx="4265327" cy="6895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220"/>
              </a:spcBef>
              <a:spcAft>
                <a:spcPts val="0"/>
              </a:spcAft>
              <a:buSzPts val="1012"/>
              <a:buNone/>
              <a:defRPr sz="11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012"/>
              <a:buNone/>
              <a:defRPr sz="11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/>
        </p:txBody>
      </p:sp>
      <p:sp>
        <p:nvSpPr>
          <p:cNvPr id="157" name="Google Shape;157;p74"/>
          <p:cNvSpPr txBox="1"/>
          <p:nvPr>
            <p:ph idx="10" type="dt"/>
          </p:nvPr>
        </p:nvSpPr>
        <p:spPr>
          <a:xfrm>
            <a:off x="5559425" y="59563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74"/>
          <p:cNvSpPr txBox="1"/>
          <p:nvPr>
            <p:ph idx="11" type="ftr"/>
          </p:nvPr>
        </p:nvSpPr>
        <p:spPr>
          <a:xfrm>
            <a:off x="581025" y="5951537"/>
            <a:ext cx="48704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60B2D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74"/>
          <p:cNvSpPr txBox="1"/>
          <p:nvPr>
            <p:ph idx="12" type="sldNum"/>
          </p:nvPr>
        </p:nvSpPr>
        <p:spPr>
          <a:xfrm>
            <a:off x="7800975" y="5956300"/>
            <a:ext cx="7699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6"/>
          <p:cNvSpPr txBox="1"/>
          <p:nvPr>
            <p:ph type="title"/>
          </p:nvPr>
        </p:nvSpPr>
        <p:spPr>
          <a:xfrm>
            <a:off x="581025" y="687387"/>
            <a:ext cx="7989887" cy="10826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76"/>
          <p:cNvSpPr txBox="1"/>
          <p:nvPr>
            <p:ph idx="1" type="body"/>
          </p:nvPr>
        </p:nvSpPr>
        <p:spPr>
          <a:xfrm rot="5400000">
            <a:off x="2759868" y="48418"/>
            <a:ext cx="3632200" cy="798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3756" lvl="0" marL="4572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22072" lvl="1" marL="914400" algn="l">
              <a:spcBef>
                <a:spcPts val="600"/>
              </a:spcBef>
              <a:spcAft>
                <a:spcPts val="0"/>
              </a:spcAft>
              <a:buSzPts val="1472"/>
              <a:buChar char="◼"/>
              <a:defRPr/>
            </a:lvl2pPr>
            <a:lvl3pPr indent="-310388" lvl="2" marL="1371600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/>
            </a:lvl3pPr>
            <a:lvl4pPr indent="-298703" lvl="3" marL="1828800" algn="l"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4pPr>
            <a:lvl5pPr indent="-298704" lvl="4" marL="2286000" algn="l"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173" name="Google Shape;173;p76"/>
          <p:cNvSpPr txBox="1"/>
          <p:nvPr>
            <p:ph idx="10" type="dt"/>
          </p:nvPr>
        </p:nvSpPr>
        <p:spPr>
          <a:xfrm>
            <a:off x="5559425" y="59563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76"/>
          <p:cNvSpPr txBox="1"/>
          <p:nvPr>
            <p:ph idx="11" type="ftr"/>
          </p:nvPr>
        </p:nvSpPr>
        <p:spPr>
          <a:xfrm>
            <a:off x="581025" y="5951537"/>
            <a:ext cx="48704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76"/>
          <p:cNvSpPr txBox="1"/>
          <p:nvPr>
            <p:ph idx="12" type="sldNum"/>
          </p:nvPr>
        </p:nvSpPr>
        <p:spPr>
          <a:xfrm>
            <a:off x="7800975" y="5956300"/>
            <a:ext cx="7699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78"/>
          <p:cNvSpPr txBox="1"/>
          <p:nvPr>
            <p:ph type="title"/>
          </p:nvPr>
        </p:nvSpPr>
        <p:spPr>
          <a:xfrm rot="5400000">
            <a:off x="4789425" y="2515700"/>
            <a:ext cx="5183073" cy="150312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78"/>
          <p:cNvSpPr txBox="1"/>
          <p:nvPr>
            <p:ph idx="1" type="body"/>
          </p:nvPr>
        </p:nvSpPr>
        <p:spPr>
          <a:xfrm rot="5400000">
            <a:off x="950760" y="306157"/>
            <a:ext cx="5183073" cy="59222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3756" lvl="0" marL="4572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189" name="Google Shape;189;p78"/>
          <p:cNvSpPr txBox="1"/>
          <p:nvPr>
            <p:ph idx="10" type="dt"/>
          </p:nvPr>
        </p:nvSpPr>
        <p:spPr>
          <a:xfrm>
            <a:off x="6745287" y="5956300"/>
            <a:ext cx="9477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p78"/>
          <p:cNvSpPr txBox="1"/>
          <p:nvPr>
            <p:ph idx="11" type="ftr"/>
          </p:nvPr>
        </p:nvSpPr>
        <p:spPr>
          <a:xfrm>
            <a:off x="581025" y="5951537"/>
            <a:ext cx="59229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78"/>
          <p:cNvSpPr txBox="1"/>
          <p:nvPr>
            <p:ph idx="12" type="sldNum"/>
          </p:nvPr>
        </p:nvSpPr>
        <p:spPr>
          <a:xfrm>
            <a:off x="7800975" y="5956300"/>
            <a:ext cx="7699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.xml"/><Relationship Id="rId4" Type="http://schemas.openxmlformats.org/officeDocument/2006/relationships/theme" Target="../theme/theme3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11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theme" Target="../theme/theme9.xml"/></Relationships>
</file>

<file path=ppt/slideMasters/_rels/slideMaster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theme" Target="../theme/theme10.xml"/></Relationships>
</file>

<file path=ppt/slideMasters/_rels/slideMaster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theme" Target="../theme/theme4.xml"/></Relationships>
</file>

<file path=ppt/slideMasters/_rels/slideMaster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theme" Target="../theme/theme6.xml"/></Relationships>
</file>

<file path=ppt/slideMasters/_rels/slideMaster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theme" Target="../theme/theme2.xml"/></Relationships>
</file>

<file path=ppt/slideMasters/_rels/slideMaster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theme" Target="../theme/theme7.xml"/></Relationships>
</file>

<file path=ppt/slideMasters/_rels/slideMaster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theme" Target="../theme/theme5.xml"/></Relationships>
</file>

<file path=ppt/slideMasters/_rels/slideMaster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6"/>
          <p:cNvSpPr/>
          <p:nvPr/>
        </p:nvSpPr>
        <p:spPr>
          <a:xfrm>
            <a:off x="447675" y="441325"/>
            <a:ext cx="2720975" cy="1079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11" name="Google Shape;11;p56"/>
          <p:cNvSpPr/>
          <p:nvPr/>
        </p:nvSpPr>
        <p:spPr>
          <a:xfrm>
            <a:off x="5975350" y="441325"/>
            <a:ext cx="2711450" cy="107950"/>
          </a:xfrm>
          <a:prstGeom prst="rect">
            <a:avLst/>
          </a:prstGeom>
          <a:solidFill>
            <a:srgbClr val="7A8C8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12" name="Google Shape;12;p56"/>
          <p:cNvSpPr/>
          <p:nvPr/>
        </p:nvSpPr>
        <p:spPr>
          <a:xfrm>
            <a:off x="3216275" y="441325"/>
            <a:ext cx="2711450" cy="107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13" name="Google Shape;13;p56"/>
          <p:cNvSpPr/>
          <p:nvPr/>
        </p:nvSpPr>
        <p:spPr>
          <a:xfrm>
            <a:off x="447675" y="3086100"/>
            <a:ext cx="8240712" cy="33051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14" name="Google Shape;14;p56"/>
          <p:cNvSpPr txBox="1"/>
          <p:nvPr>
            <p:ph type="title"/>
          </p:nvPr>
        </p:nvSpPr>
        <p:spPr>
          <a:xfrm>
            <a:off x="581025" y="687387"/>
            <a:ext cx="7989887" cy="10826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" name="Google Shape;15;p56"/>
          <p:cNvSpPr txBox="1"/>
          <p:nvPr>
            <p:ph idx="1" type="body"/>
          </p:nvPr>
        </p:nvSpPr>
        <p:spPr>
          <a:xfrm>
            <a:off x="581025" y="2227262"/>
            <a:ext cx="7989887" cy="36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333756" lvl="0" marL="457200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b="0" i="0" sz="18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22072" lvl="1" marL="9144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  <a:defRPr b="0" i="0" sz="16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10388" lvl="2" marL="13716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Char char="◼"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298703" lvl="3" marL="18288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298704" lvl="4" marL="22860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298704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298704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298703" lvl="7" marL="36576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298703" lvl="8" marL="4114800" marR="0" rtl="0" algn="l"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6" name="Google Shape;16;p56"/>
          <p:cNvSpPr txBox="1"/>
          <p:nvPr>
            <p:ph idx="10" type="dt"/>
          </p:nvPr>
        </p:nvSpPr>
        <p:spPr>
          <a:xfrm>
            <a:off x="5559425" y="59563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  <p:sp>
        <p:nvSpPr>
          <p:cNvPr id="17" name="Google Shape;17;p56"/>
          <p:cNvSpPr txBox="1"/>
          <p:nvPr>
            <p:ph idx="11" type="ftr"/>
          </p:nvPr>
        </p:nvSpPr>
        <p:spPr>
          <a:xfrm>
            <a:off x="581025" y="5951537"/>
            <a:ext cx="48704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  <p:sp>
        <p:nvSpPr>
          <p:cNvPr id="18" name="Google Shape;18;p56"/>
          <p:cNvSpPr txBox="1"/>
          <p:nvPr>
            <p:ph idx="12" type="sldNum"/>
          </p:nvPr>
        </p:nvSpPr>
        <p:spPr>
          <a:xfrm>
            <a:off x="7800975" y="5956300"/>
            <a:ext cx="7699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8"/>
          <p:cNvSpPr/>
          <p:nvPr/>
        </p:nvSpPr>
        <p:spPr>
          <a:xfrm>
            <a:off x="447675" y="441325"/>
            <a:ext cx="2720975" cy="1079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27" name="Google Shape;27;p58"/>
          <p:cNvSpPr/>
          <p:nvPr/>
        </p:nvSpPr>
        <p:spPr>
          <a:xfrm>
            <a:off x="5975350" y="441325"/>
            <a:ext cx="2711450" cy="107950"/>
          </a:xfrm>
          <a:prstGeom prst="rect">
            <a:avLst/>
          </a:prstGeom>
          <a:solidFill>
            <a:srgbClr val="7A8C8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28" name="Google Shape;28;p58"/>
          <p:cNvSpPr/>
          <p:nvPr/>
        </p:nvSpPr>
        <p:spPr>
          <a:xfrm>
            <a:off x="3216275" y="441325"/>
            <a:ext cx="2711450" cy="107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29" name="Google Shape;29;p58"/>
          <p:cNvSpPr/>
          <p:nvPr/>
        </p:nvSpPr>
        <p:spPr>
          <a:xfrm>
            <a:off x="454025" y="598487"/>
            <a:ext cx="8239125" cy="12461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pic>
        <p:nvPicPr>
          <p:cNvPr id="30" name="Google Shape;30;p58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235825" y="620712"/>
            <a:ext cx="1408112" cy="11509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5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80287" y="692150"/>
            <a:ext cx="1147762" cy="1062037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58"/>
          <p:cNvSpPr txBox="1"/>
          <p:nvPr>
            <p:ph type="title"/>
          </p:nvPr>
        </p:nvSpPr>
        <p:spPr>
          <a:xfrm>
            <a:off x="581025" y="687387"/>
            <a:ext cx="7989887" cy="10826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3" name="Google Shape;33;p58"/>
          <p:cNvSpPr txBox="1"/>
          <p:nvPr>
            <p:ph idx="1" type="body"/>
          </p:nvPr>
        </p:nvSpPr>
        <p:spPr>
          <a:xfrm>
            <a:off x="581025" y="2227262"/>
            <a:ext cx="7989887" cy="36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333756" lvl="0" marL="457200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b="0" i="0" sz="18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22072" lvl="1" marL="9144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  <a:defRPr b="0" i="0" sz="16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10388" lvl="2" marL="13716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Char char="◼"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298703" lvl="3" marL="18288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298704" lvl="4" marL="22860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298704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298704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298703" lvl="7" marL="36576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298703" lvl="8" marL="4114800" marR="0" rtl="0" algn="l"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34" name="Google Shape;34;p58"/>
          <p:cNvSpPr txBox="1"/>
          <p:nvPr>
            <p:ph idx="10" type="dt"/>
          </p:nvPr>
        </p:nvSpPr>
        <p:spPr>
          <a:xfrm>
            <a:off x="5559425" y="630713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  <p:sp>
        <p:nvSpPr>
          <p:cNvPr id="35" name="Google Shape;35;p58"/>
          <p:cNvSpPr txBox="1"/>
          <p:nvPr>
            <p:ph idx="11" type="ftr"/>
          </p:nvPr>
        </p:nvSpPr>
        <p:spPr>
          <a:xfrm>
            <a:off x="581025" y="6321425"/>
            <a:ext cx="48704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  <p:sp>
        <p:nvSpPr>
          <p:cNvPr id="36" name="Google Shape;36;p58"/>
          <p:cNvSpPr txBox="1"/>
          <p:nvPr>
            <p:ph idx="12" type="sldNum"/>
          </p:nvPr>
        </p:nvSpPr>
        <p:spPr>
          <a:xfrm>
            <a:off x="7823200" y="6307137"/>
            <a:ext cx="7699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0"/>
          <p:cNvSpPr/>
          <p:nvPr/>
        </p:nvSpPr>
        <p:spPr>
          <a:xfrm>
            <a:off x="447675" y="441325"/>
            <a:ext cx="2720975" cy="1079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45" name="Google Shape;45;p60"/>
          <p:cNvSpPr/>
          <p:nvPr/>
        </p:nvSpPr>
        <p:spPr>
          <a:xfrm>
            <a:off x="5975350" y="441325"/>
            <a:ext cx="2711450" cy="107950"/>
          </a:xfrm>
          <a:prstGeom prst="rect">
            <a:avLst/>
          </a:prstGeom>
          <a:solidFill>
            <a:srgbClr val="7A8C8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46" name="Google Shape;46;p60"/>
          <p:cNvSpPr/>
          <p:nvPr/>
        </p:nvSpPr>
        <p:spPr>
          <a:xfrm>
            <a:off x="3216275" y="441325"/>
            <a:ext cx="2711450" cy="107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47" name="Google Shape;47;p60"/>
          <p:cNvSpPr txBox="1"/>
          <p:nvPr>
            <p:ph type="title"/>
          </p:nvPr>
        </p:nvSpPr>
        <p:spPr>
          <a:xfrm>
            <a:off x="581025" y="687387"/>
            <a:ext cx="7989887" cy="10826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60"/>
          <p:cNvSpPr txBox="1"/>
          <p:nvPr>
            <p:ph idx="1" type="body"/>
          </p:nvPr>
        </p:nvSpPr>
        <p:spPr>
          <a:xfrm>
            <a:off x="581025" y="2227262"/>
            <a:ext cx="7989887" cy="36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333756" lvl="0" marL="457200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b="0" i="0" sz="18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22072" lvl="1" marL="9144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  <a:defRPr b="0" i="0" sz="16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10388" lvl="2" marL="13716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Char char="◼"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298703" lvl="3" marL="18288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298704" lvl="4" marL="22860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298704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298704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298703" lvl="7" marL="36576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298703" lvl="8" marL="4114800" marR="0" rtl="0" algn="l"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49" name="Google Shape;49;p60"/>
          <p:cNvSpPr txBox="1"/>
          <p:nvPr>
            <p:ph idx="12" type="sldNum"/>
          </p:nvPr>
        </p:nvSpPr>
        <p:spPr>
          <a:xfrm>
            <a:off x="179387" y="6570662"/>
            <a:ext cx="504825" cy="21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/20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60"/>
          <p:cNvSpPr txBox="1"/>
          <p:nvPr>
            <p:ph idx="11" type="ftr"/>
          </p:nvPr>
        </p:nvSpPr>
        <p:spPr>
          <a:xfrm>
            <a:off x="2411412" y="6572250"/>
            <a:ext cx="4321175" cy="260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3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62"/>
          <p:cNvSpPr txBox="1"/>
          <p:nvPr>
            <p:ph type="title"/>
          </p:nvPr>
        </p:nvSpPr>
        <p:spPr>
          <a:xfrm>
            <a:off x="581025" y="687387"/>
            <a:ext cx="7989887" cy="10826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8" name="Google Shape;58;p62"/>
          <p:cNvSpPr txBox="1"/>
          <p:nvPr>
            <p:ph idx="1" type="body"/>
          </p:nvPr>
        </p:nvSpPr>
        <p:spPr>
          <a:xfrm>
            <a:off x="581025" y="2227262"/>
            <a:ext cx="7989887" cy="36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333756" lvl="0" marL="457200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b="0" i="0" sz="18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22072" lvl="1" marL="9144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  <a:defRPr b="0" i="0" sz="16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10388" lvl="2" marL="13716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Char char="◼"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298703" lvl="3" marL="18288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298704" lvl="4" marL="22860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298704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298704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298703" lvl="7" marL="36576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298703" lvl="8" marL="4114800" marR="0" rtl="0" algn="l"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59" name="Google Shape;59;p62"/>
          <p:cNvSpPr txBox="1"/>
          <p:nvPr>
            <p:ph idx="10" type="dt"/>
          </p:nvPr>
        </p:nvSpPr>
        <p:spPr>
          <a:xfrm>
            <a:off x="5559425" y="59563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  <p:sp>
        <p:nvSpPr>
          <p:cNvPr id="60" name="Google Shape;60;p62"/>
          <p:cNvSpPr txBox="1"/>
          <p:nvPr>
            <p:ph idx="11" type="ftr"/>
          </p:nvPr>
        </p:nvSpPr>
        <p:spPr>
          <a:xfrm>
            <a:off x="581025" y="5951537"/>
            <a:ext cx="48704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  <p:sp>
        <p:nvSpPr>
          <p:cNvPr id="61" name="Google Shape;61;p62"/>
          <p:cNvSpPr txBox="1"/>
          <p:nvPr>
            <p:ph idx="12" type="sldNum"/>
          </p:nvPr>
        </p:nvSpPr>
        <p:spPr>
          <a:xfrm>
            <a:off x="7800975" y="5956300"/>
            <a:ext cx="7699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62"/>
          <p:cNvSpPr/>
          <p:nvPr/>
        </p:nvSpPr>
        <p:spPr>
          <a:xfrm>
            <a:off x="447675" y="441325"/>
            <a:ext cx="2720975" cy="1079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63" name="Google Shape;63;p62"/>
          <p:cNvSpPr/>
          <p:nvPr/>
        </p:nvSpPr>
        <p:spPr>
          <a:xfrm>
            <a:off x="5975350" y="441325"/>
            <a:ext cx="2711450" cy="107950"/>
          </a:xfrm>
          <a:prstGeom prst="rect">
            <a:avLst/>
          </a:prstGeom>
          <a:solidFill>
            <a:srgbClr val="7A8C8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64" name="Google Shape;64;p62"/>
          <p:cNvSpPr/>
          <p:nvPr/>
        </p:nvSpPr>
        <p:spPr>
          <a:xfrm>
            <a:off x="3216275" y="441325"/>
            <a:ext cx="2711450" cy="107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5"/>
          <p:cNvSpPr/>
          <p:nvPr/>
        </p:nvSpPr>
        <p:spPr>
          <a:xfrm>
            <a:off x="447675" y="441325"/>
            <a:ext cx="2720975" cy="1079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78" name="Google Shape;78;p65"/>
          <p:cNvSpPr/>
          <p:nvPr/>
        </p:nvSpPr>
        <p:spPr>
          <a:xfrm>
            <a:off x="5975350" y="441325"/>
            <a:ext cx="2711450" cy="107950"/>
          </a:xfrm>
          <a:prstGeom prst="rect">
            <a:avLst/>
          </a:prstGeom>
          <a:solidFill>
            <a:srgbClr val="7A8C8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79" name="Google Shape;79;p65"/>
          <p:cNvSpPr/>
          <p:nvPr/>
        </p:nvSpPr>
        <p:spPr>
          <a:xfrm>
            <a:off x="3216275" y="441325"/>
            <a:ext cx="2711450" cy="107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80" name="Google Shape;80;p65"/>
          <p:cNvSpPr/>
          <p:nvPr/>
        </p:nvSpPr>
        <p:spPr>
          <a:xfrm>
            <a:off x="452437" y="5141912"/>
            <a:ext cx="8239125" cy="12588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81" name="Google Shape;81;p65"/>
          <p:cNvSpPr txBox="1"/>
          <p:nvPr>
            <p:ph type="title"/>
          </p:nvPr>
        </p:nvSpPr>
        <p:spPr>
          <a:xfrm>
            <a:off x="581025" y="687387"/>
            <a:ext cx="7989887" cy="10826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" name="Google Shape;82;p65"/>
          <p:cNvSpPr txBox="1"/>
          <p:nvPr>
            <p:ph idx="1" type="body"/>
          </p:nvPr>
        </p:nvSpPr>
        <p:spPr>
          <a:xfrm>
            <a:off x="581025" y="2227262"/>
            <a:ext cx="7989887" cy="36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333756" lvl="0" marL="457200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b="0" i="0" sz="18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22072" lvl="1" marL="9144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  <a:defRPr b="0" i="0" sz="16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10388" lvl="2" marL="13716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Char char="◼"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298703" lvl="3" marL="18288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298704" lvl="4" marL="22860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298704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298704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298703" lvl="7" marL="36576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298703" lvl="8" marL="4114800" marR="0" rtl="0" algn="l"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83" name="Google Shape;83;p65"/>
          <p:cNvSpPr txBox="1"/>
          <p:nvPr>
            <p:ph idx="10" type="dt"/>
          </p:nvPr>
        </p:nvSpPr>
        <p:spPr>
          <a:xfrm>
            <a:off x="5559425" y="59563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  <p:sp>
        <p:nvSpPr>
          <p:cNvPr id="84" name="Google Shape;84;p65"/>
          <p:cNvSpPr txBox="1"/>
          <p:nvPr>
            <p:ph idx="11" type="ftr"/>
          </p:nvPr>
        </p:nvSpPr>
        <p:spPr>
          <a:xfrm>
            <a:off x="581025" y="5951537"/>
            <a:ext cx="48704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  <p:sp>
        <p:nvSpPr>
          <p:cNvPr id="85" name="Google Shape;85;p65"/>
          <p:cNvSpPr txBox="1"/>
          <p:nvPr>
            <p:ph idx="12" type="sldNum"/>
          </p:nvPr>
        </p:nvSpPr>
        <p:spPr>
          <a:xfrm>
            <a:off x="7800975" y="5956300"/>
            <a:ext cx="7699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8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7"/>
          <p:cNvSpPr/>
          <p:nvPr/>
        </p:nvSpPr>
        <p:spPr>
          <a:xfrm>
            <a:off x="447675" y="441325"/>
            <a:ext cx="2720975" cy="1079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94" name="Google Shape;94;p67"/>
          <p:cNvSpPr/>
          <p:nvPr/>
        </p:nvSpPr>
        <p:spPr>
          <a:xfrm>
            <a:off x="5975350" y="441325"/>
            <a:ext cx="2711450" cy="107950"/>
          </a:xfrm>
          <a:prstGeom prst="rect">
            <a:avLst/>
          </a:prstGeom>
          <a:solidFill>
            <a:srgbClr val="7A8C8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95" name="Google Shape;95;p67"/>
          <p:cNvSpPr/>
          <p:nvPr/>
        </p:nvSpPr>
        <p:spPr>
          <a:xfrm>
            <a:off x="3216275" y="441325"/>
            <a:ext cx="2711450" cy="107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96" name="Google Shape;96;p67"/>
          <p:cNvSpPr/>
          <p:nvPr/>
        </p:nvSpPr>
        <p:spPr>
          <a:xfrm>
            <a:off x="447675" y="600075"/>
            <a:ext cx="8239125" cy="12588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97" name="Google Shape;97;p67"/>
          <p:cNvSpPr txBox="1"/>
          <p:nvPr>
            <p:ph type="title"/>
          </p:nvPr>
        </p:nvSpPr>
        <p:spPr>
          <a:xfrm>
            <a:off x="581025" y="687387"/>
            <a:ext cx="7989887" cy="10826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8" name="Google Shape;98;p67"/>
          <p:cNvSpPr txBox="1"/>
          <p:nvPr>
            <p:ph idx="1" type="body"/>
          </p:nvPr>
        </p:nvSpPr>
        <p:spPr>
          <a:xfrm>
            <a:off x="581025" y="2227262"/>
            <a:ext cx="7989887" cy="36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333756" lvl="0" marL="457200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b="0" i="0" sz="18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22072" lvl="1" marL="9144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  <a:defRPr b="0" i="0" sz="16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10388" lvl="2" marL="13716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Char char="◼"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298703" lvl="3" marL="18288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298704" lvl="4" marL="22860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298704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298704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298703" lvl="7" marL="36576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298703" lvl="8" marL="4114800" marR="0" rtl="0" algn="l"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99" name="Google Shape;99;p67"/>
          <p:cNvSpPr txBox="1"/>
          <p:nvPr>
            <p:ph idx="10" type="dt"/>
          </p:nvPr>
        </p:nvSpPr>
        <p:spPr>
          <a:xfrm>
            <a:off x="5559425" y="59563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  <p:sp>
        <p:nvSpPr>
          <p:cNvPr id="100" name="Google Shape;100;p67"/>
          <p:cNvSpPr txBox="1"/>
          <p:nvPr>
            <p:ph idx="11" type="ftr"/>
          </p:nvPr>
        </p:nvSpPr>
        <p:spPr>
          <a:xfrm>
            <a:off x="581025" y="5951537"/>
            <a:ext cx="48704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  <p:sp>
        <p:nvSpPr>
          <p:cNvPr id="101" name="Google Shape;101;p67"/>
          <p:cNvSpPr txBox="1"/>
          <p:nvPr>
            <p:ph idx="12" type="sldNum"/>
          </p:nvPr>
        </p:nvSpPr>
        <p:spPr>
          <a:xfrm>
            <a:off x="7800975" y="5956300"/>
            <a:ext cx="7699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9"/>
          <p:cNvSpPr/>
          <p:nvPr/>
        </p:nvSpPr>
        <p:spPr>
          <a:xfrm>
            <a:off x="447675" y="441325"/>
            <a:ext cx="2720975" cy="1079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111" name="Google Shape;111;p69"/>
          <p:cNvSpPr/>
          <p:nvPr/>
        </p:nvSpPr>
        <p:spPr>
          <a:xfrm>
            <a:off x="5975350" y="441325"/>
            <a:ext cx="2711450" cy="107950"/>
          </a:xfrm>
          <a:prstGeom prst="rect">
            <a:avLst/>
          </a:prstGeom>
          <a:solidFill>
            <a:srgbClr val="7A8C8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112" name="Google Shape;112;p69"/>
          <p:cNvSpPr/>
          <p:nvPr/>
        </p:nvSpPr>
        <p:spPr>
          <a:xfrm>
            <a:off x="3216275" y="441325"/>
            <a:ext cx="2711450" cy="107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113" name="Google Shape;113;p69"/>
          <p:cNvSpPr/>
          <p:nvPr/>
        </p:nvSpPr>
        <p:spPr>
          <a:xfrm>
            <a:off x="447675" y="600075"/>
            <a:ext cx="8239125" cy="12588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114" name="Google Shape;114;p69"/>
          <p:cNvSpPr txBox="1"/>
          <p:nvPr>
            <p:ph type="title"/>
          </p:nvPr>
        </p:nvSpPr>
        <p:spPr>
          <a:xfrm>
            <a:off x="581025" y="687387"/>
            <a:ext cx="7989887" cy="10826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5" name="Google Shape;115;p69"/>
          <p:cNvSpPr txBox="1"/>
          <p:nvPr>
            <p:ph idx="1" type="body"/>
          </p:nvPr>
        </p:nvSpPr>
        <p:spPr>
          <a:xfrm>
            <a:off x="581025" y="2227262"/>
            <a:ext cx="7989887" cy="36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333756" lvl="0" marL="457200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b="0" i="0" sz="18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22072" lvl="1" marL="9144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  <a:defRPr b="0" i="0" sz="16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10388" lvl="2" marL="13716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Char char="◼"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298703" lvl="3" marL="18288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298704" lvl="4" marL="22860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298704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298704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298703" lvl="7" marL="36576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298703" lvl="8" marL="4114800" marR="0" rtl="0" algn="l"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16" name="Google Shape;116;p69"/>
          <p:cNvSpPr txBox="1"/>
          <p:nvPr>
            <p:ph idx="10" type="dt"/>
          </p:nvPr>
        </p:nvSpPr>
        <p:spPr>
          <a:xfrm>
            <a:off x="5559425" y="59563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  <p:sp>
        <p:nvSpPr>
          <p:cNvPr id="117" name="Google Shape;117;p69"/>
          <p:cNvSpPr txBox="1"/>
          <p:nvPr>
            <p:ph idx="11" type="ftr"/>
          </p:nvPr>
        </p:nvSpPr>
        <p:spPr>
          <a:xfrm>
            <a:off x="581025" y="5951537"/>
            <a:ext cx="48704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  <p:sp>
        <p:nvSpPr>
          <p:cNvPr id="118" name="Google Shape;118;p69"/>
          <p:cNvSpPr txBox="1"/>
          <p:nvPr>
            <p:ph idx="12" type="sldNum"/>
          </p:nvPr>
        </p:nvSpPr>
        <p:spPr>
          <a:xfrm>
            <a:off x="7800975" y="5956300"/>
            <a:ext cx="7699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1"/>
          <p:cNvSpPr/>
          <p:nvPr/>
        </p:nvSpPr>
        <p:spPr>
          <a:xfrm>
            <a:off x="447675" y="441325"/>
            <a:ext cx="2720975" cy="1079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130" name="Google Shape;130;p71"/>
          <p:cNvSpPr/>
          <p:nvPr/>
        </p:nvSpPr>
        <p:spPr>
          <a:xfrm>
            <a:off x="5975350" y="441325"/>
            <a:ext cx="2711450" cy="107950"/>
          </a:xfrm>
          <a:prstGeom prst="rect">
            <a:avLst/>
          </a:prstGeom>
          <a:solidFill>
            <a:srgbClr val="7A8C8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131" name="Google Shape;131;p71"/>
          <p:cNvSpPr/>
          <p:nvPr/>
        </p:nvSpPr>
        <p:spPr>
          <a:xfrm>
            <a:off x="3216275" y="441325"/>
            <a:ext cx="2711450" cy="107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132" name="Google Shape;132;p71"/>
          <p:cNvSpPr/>
          <p:nvPr/>
        </p:nvSpPr>
        <p:spPr>
          <a:xfrm>
            <a:off x="447675" y="600075"/>
            <a:ext cx="8239125" cy="12588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133" name="Google Shape;133;p71"/>
          <p:cNvSpPr txBox="1"/>
          <p:nvPr>
            <p:ph type="title"/>
          </p:nvPr>
        </p:nvSpPr>
        <p:spPr>
          <a:xfrm>
            <a:off x="581025" y="687387"/>
            <a:ext cx="7989887" cy="10826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34" name="Google Shape;134;p71"/>
          <p:cNvSpPr txBox="1"/>
          <p:nvPr>
            <p:ph idx="1" type="body"/>
          </p:nvPr>
        </p:nvSpPr>
        <p:spPr>
          <a:xfrm>
            <a:off x="581025" y="2227262"/>
            <a:ext cx="7989887" cy="36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333756" lvl="0" marL="457200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b="0" i="0" sz="18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22072" lvl="1" marL="9144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  <a:defRPr b="0" i="0" sz="16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10388" lvl="2" marL="13716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Char char="◼"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298703" lvl="3" marL="18288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298704" lvl="4" marL="22860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298704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298704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298703" lvl="7" marL="36576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298703" lvl="8" marL="4114800" marR="0" rtl="0" algn="l"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35" name="Google Shape;135;p71"/>
          <p:cNvSpPr txBox="1"/>
          <p:nvPr>
            <p:ph idx="10" type="dt"/>
          </p:nvPr>
        </p:nvSpPr>
        <p:spPr>
          <a:xfrm>
            <a:off x="5559425" y="630396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  <p:sp>
        <p:nvSpPr>
          <p:cNvPr id="136" name="Google Shape;136;p71"/>
          <p:cNvSpPr txBox="1"/>
          <p:nvPr>
            <p:ph idx="11" type="ftr"/>
          </p:nvPr>
        </p:nvSpPr>
        <p:spPr>
          <a:xfrm>
            <a:off x="581025" y="6299200"/>
            <a:ext cx="48704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  <p:sp>
        <p:nvSpPr>
          <p:cNvPr id="137" name="Google Shape;137;p71"/>
          <p:cNvSpPr txBox="1"/>
          <p:nvPr>
            <p:ph idx="12" type="sldNum"/>
          </p:nvPr>
        </p:nvSpPr>
        <p:spPr>
          <a:xfrm>
            <a:off x="7800975" y="6303962"/>
            <a:ext cx="7699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4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3"/>
          <p:cNvSpPr/>
          <p:nvPr/>
        </p:nvSpPr>
        <p:spPr>
          <a:xfrm>
            <a:off x="447675" y="441325"/>
            <a:ext cx="2720975" cy="1079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145" name="Google Shape;145;p73"/>
          <p:cNvSpPr/>
          <p:nvPr/>
        </p:nvSpPr>
        <p:spPr>
          <a:xfrm>
            <a:off x="5975350" y="441325"/>
            <a:ext cx="2711450" cy="107950"/>
          </a:xfrm>
          <a:prstGeom prst="rect">
            <a:avLst/>
          </a:prstGeom>
          <a:solidFill>
            <a:srgbClr val="7A8C8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146" name="Google Shape;146;p73"/>
          <p:cNvSpPr/>
          <p:nvPr/>
        </p:nvSpPr>
        <p:spPr>
          <a:xfrm>
            <a:off x="3216275" y="441325"/>
            <a:ext cx="2711450" cy="107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147" name="Google Shape;147;p73"/>
          <p:cNvSpPr/>
          <p:nvPr/>
        </p:nvSpPr>
        <p:spPr>
          <a:xfrm>
            <a:off x="452437" y="5141912"/>
            <a:ext cx="8239125" cy="12747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148" name="Google Shape;148;p73"/>
          <p:cNvSpPr txBox="1"/>
          <p:nvPr>
            <p:ph type="title"/>
          </p:nvPr>
        </p:nvSpPr>
        <p:spPr>
          <a:xfrm>
            <a:off x="581025" y="687387"/>
            <a:ext cx="7989887" cy="10826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49" name="Google Shape;149;p73"/>
          <p:cNvSpPr txBox="1"/>
          <p:nvPr>
            <p:ph idx="1" type="body"/>
          </p:nvPr>
        </p:nvSpPr>
        <p:spPr>
          <a:xfrm>
            <a:off x="581025" y="2227262"/>
            <a:ext cx="7989887" cy="36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333756" lvl="0" marL="457200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b="0" i="0" sz="18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22072" lvl="1" marL="9144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  <a:defRPr b="0" i="0" sz="16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10388" lvl="2" marL="13716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Char char="◼"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298703" lvl="3" marL="18288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298704" lvl="4" marL="22860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298704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298704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298703" lvl="7" marL="36576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298703" lvl="8" marL="4114800" marR="0" rtl="0" algn="l"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50" name="Google Shape;150;p73"/>
          <p:cNvSpPr txBox="1"/>
          <p:nvPr>
            <p:ph idx="10" type="dt"/>
          </p:nvPr>
        </p:nvSpPr>
        <p:spPr>
          <a:xfrm>
            <a:off x="5559425" y="59563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  <p:sp>
        <p:nvSpPr>
          <p:cNvPr id="151" name="Google Shape;151;p73"/>
          <p:cNvSpPr txBox="1"/>
          <p:nvPr>
            <p:ph idx="11" type="ftr"/>
          </p:nvPr>
        </p:nvSpPr>
        <p:spPr>
          <a:xfrm>
            <a:off x="581025" y="5951537"/>
            <a:ext cx="48704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  <p:sp>
        <p:nvSpPr>
          <p:cNvPr id="152" name="Google Shape;152;p73"/>
          <p:cNvSpPr txBox="1"/>
          <p:nvPr>
            <p:ph idx="12" type="sldNum"/>
          </p:nvPr>
        </p:nvSpPr>
        <p:spPr>
          <a:xfrm>
            <a:off x="7800975" y="5956300"/>
            <a:ext cx="7699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6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5"/>
          <p:cNvSpPr/>
          <p:nvPr/>
        </p:nvSpPr>
        <p:spPr>
          <a:xfrm>
            <a:off x="447675" y="441325"/>
            <a:ext cx="2720975" cy="1079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162" name="Google Shape;162;p75"/>
          <p:cNvSpPr/>
          <p:nvPr/>
        </p:nvSpPr>
        <p:spPr>
          <a:xfrm>
            <a:off x="5975350" y="441325"/>
            <a:ext cx="2711450" cy="107950"/>
          </a:xfrm>
          <a:prstGeom prst="rect">
            <a:avLst/>
          </a:prstGeom>
          <a:solidFill>
            <a:srgbClr val="7A8C8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163" name="Google Shape;163;p75"/>
          <p:cNvSpPr/>
          <p:nvPr/>
        </p:nvSpPr>
        <p:spPr>
          <a:xfrm>
            <a:off x="3216275" y="441325"/>
            <a:ext cx="2711450" cy="107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164" name="Google Shape;164;p75"/>
          <p:cNvSpPr/>
          <p:nvPr/>
        </p:nvSpPr>
        <p:spPr>
          <a:xfrm>
            <a:off x="447675" y="600075"/>
            <a:ext cx="8239125" cy="12588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165" name="Google Shape;165;p75"/>
          <p:cNvSpPr txBox="1"/>
          <p:nvPr>
            <p:ph type="title"/>
          </p:nvPr>
        </p:nvSpPr>
        <p:spPr>
          <a:xfrm>
            <a:off x="581025" y="687387"/>
            <a:ext cx="7989887" cy="10826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66" name="Google Shape;166;p75"/>
          <p:cNvSpPr txBox="1"/>
          <p:nvPr>
            <p:ph idx="1" type="body"/>
          </p:nvPr>
        </p:nvSpPr>
        <p:spPr>
          <a:xfrm>
            <a:off x="581025" y="2227262"/>
            <a:ext cx="7989887" cy="36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333756" lvl="0" marL="457200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b="0" i="0" sz="18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22072" lvl="1" marL="9144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  <a:defRPr b="0" i="0" sz="16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10388" lvl="2" marL="13716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Char char="◼"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298703" lvl="3" marL="18288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298704" lvl="4" marL="22860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298704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298704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298703" lvl="7" marL="36576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298703" lvl="8" marL="4114800" marR="0" rtl="0" algn="l"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67" name="Google Shape;167;p75"/>
          <p:cNvSpPr txBox="1"/>
          <p:nvPr>
            <p:ph idx="10" type="dt"/>
          </p:nvPr>
        </p:nvSpPr>
        <p:spPr>
          <a:xfrm>
            <a:off x="5559425" y="59563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  <p:sp>
        <p:nvSpPr>
          <p:cNvPr id="168" name="Google Shape;168;p75"/>
          <p:cNvSpPr txBox="1"/>
          <p:nvPr>
            <p:ph idx="11" type="ftr"/>
          </p:nvPr>
        </p:nvSpPr>
        <p:spPr>
          <a:xfrm>
            <a:off x="581025" y="5951537"/>
            <a:ext cx="48704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  <p:sp>
        <p:nvSpPr>
          <p:cNvPr id="169" name="Google Shape;169;p75"/>
          <p:cNvSpPr txBox="1"/>
          <p:nvPr>
            <p:ph idx="12" type="sldNum"/>
          </p:nvPr>
        </p:nvSpPr>
        <p:spPr>
          <a:xfrm>
            <a:off x="7800975" y="5956300"/>
            <a:ext cx="7699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8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7"/>
          <p:cNvSpPr/>
          <p:nvPr/>
        </p:nvSpPr>
        <p:spPr>
          <a:xfrm>
            <a:off x="447675" y="441325"/>
            <a:ext cx="2720975" cy="1079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178" name="Google Shape;178;p77"/>
          <p:cNvSpPr/>
          <p:nvPr/>
        </p:nvSpPr>
        <p:spPr>
          <a:xfrm>
            <a:off x="5975350" y="441325"/>
            <a:ext cx="2711450" cy="107950"/>
          </a:xfrm>
          <a:prstGeom prst="rect">
            <a:avLst/>
          </a:prstGeom>
          <a:solidFill>
            <a:srgbClr val="7A8C8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179" name="Google Shape;179;p77"/>
          <p:cNvSpPr/>
          <p:nvPr/>
        </p:nvSpPr>
        <p:spPr>
          <a:xfrm>
            <a:off x="3216275" y="441325"/>
            <a:ext cx="2711450" cy="107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180" name="Google Shape;180;p77"/>
          <p:cNvSpPr/>
          <p:nvPr/>
        </p:nvSpPr>
        <p:spPr>
          <a:xfrm>
            <a:off x="6629400" y="600075"/>
            <a:ext cx="2057400" cy="581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181" name="Google Shape;181;p77"/>
          <p:cNvSpPr txBox="1"/>
          <p:nvPr>
            <p:ph type="title"/>
          </p:nvPr>
        </p:nvSpPr>
        <p:spPr>
          <a:xfrm>
            <a:off x="581025" y="687387"/>
            <a:ext cx="7989887" cy="10826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2" name="Google Shape;182;p77"/>
          <p:cNvSpPr txBox="1"/>
          <p:nvPr>
            <p:ph idx="1" type="body"/>
          </p:nvPr>
        </p:nvSpPr>
        <p:spPr>
          <a:xfrm>
            <a:off x="581025" y="2227262"/>
            <a:ext cx="7989887" cy="36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333756" lvl="0" marL="457200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b="0" i="0" sz="18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22072" lvl="1" marL="9144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  <a:defRPr b="0" i="0" sz="16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10388" lvl="2" marL="13716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Char char="◼"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298703" lvl="3" marL="18288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298704" lvl="4" marL="22860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298704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298704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298703" lvl="7" marL="36576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298703" lvl="8" marL="4114800" marR="0" rtl="0" algn="l"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83" name="Google Shape;183;p77"/>
          <p:cNvSpPr txBox="1"/>
          <p:nvPr>
            <p:ph idx="10" type="dt"/>
          </p:nvPr>
        </p:nvSpPr>
        <p:spPr>
          <a:xfrm>
            <a:off x="6745287" y="5956300"/>
            <a:ext cx="9477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  <p:sp>
        <p:nvSpPr>
          <p:cNvPr id="184" name="Google Shape;184;p77"/>
          <p:cNvSpPr txBox="1"/>
          <p:nvPr>
            <p:ph idx="11" type="ftr"/>
          </p:nvPr>
        </p:nvSpPr>
        <p:spPr>
          <a:xfrm>
            <a:off x="581025" y="5951537"/>
            <a:ext cx="59229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  <p:sp>
        <p:nvSpPr>
          <p:cNvPr id="185" name="Google Shape;185;p77"/>
          <p:cNvSpPr txBox="1"/>
          <p:nvPr>
            <p:ph idx="12" type="sldNum"/>
          </p:nvPr>
        </p:nvSpPr>
        <p:spPr>
          <a:xfrm>
            <a:off x="7800975" y="5956300"/>
            <a:ext cx="7699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0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20.png"/><Relationship Id="rId5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5" Type="http://schemas.openxmlformats.org/officeDocument/2006/relationships/image" Target="../media/image1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5" Type="http://schemas.openxmlformats.org/officeDocument/2006/relationships/image" Target="../media/image1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7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6.jpg"/><Relationship Id="rId4" Type="http://schemas.openxmlformats.org/officeDocument/2006/relationships/image" Target="../media/image15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4.jpg"/><Relationship Id="rId4" Type="http://schemas.openxmlformats.org/officeDocument/2006/relationships/image" Target="../media/image19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2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23.jpg"/><Relationship Id="rId4" Type="http://schemas.openxmlformats.org/officeDocument/2006/relationships/image" Target="../media/image25.jpg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"/>
          <p:cNvSpPr txBox="1"/>
          <p:nvPr>
            <p:ph type="ctrTitle"/>
          </p:nvPr>
        </p:nvSpPr>
        <p:spPr>
          <a:xfrm>
            <a:off x="315912" y="466725"/>
            <a:ext cx="8255000" cy="23193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</a:pPr>
            <a:r>
              <a:rPr b="0" i="0" lang="en-US" sz="3600" u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rPr>
              <a:t>CHAPTER 4</a:t>
            </a:r>
            <a:br>
              <a:rPr b="0" i="0" lang="en-US" sz="3600" u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rPr>
            </a:br>
            <a:r>
              <a:rPr b="0" i="0" lang="en-US" sz="3600" u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rPr>
              <a:t>PUBLIC KEY CRYPTO</a:t>
            </a:r>
            <a:endParaRPr/>
          </a:p>
        </p:txBody>
      </p:sp>
      <p:sp>
        <p:nvSpPr>
          <p:cNvPr id="198" name="Google Shape;198;p1"/>
          <p:cNvSpPr txBox="1"/>
          <p:nvPr>
            <p:ph idx="1" type="subTitle"/>
          </p:nvPr>
        </p:nvSpPr>
        <p:spPr>
          <a:xfrm>
            <a:off x="581025" y="3284537"/>
            <a:ext cx="7989887" cy="26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76"/>
              <a:buNone/>
            </a:pPr>
            <a:r>
              <a:rPr b="0" i="0" lang="en-US" sz="28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PREPARED BY: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2576"/>
              <a:buNone/>
            </a:pPr>
            <a:r>
              <a:rPr b="0" i="0" lang="en-US" sz="28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DR. MUHAMMAD IQBAL HOSSAIN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2576"/>
              <a:buNone/>
            </a:pPr>
            <a:r>
              <a:rPr b="0" i="0" lang="en-US" sz="28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ASSOCIATE PROFESSOR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2576"/>
              <a:buNone/>
            </a:pPr>
            <a:r>
              <a:rPr b="0" i="0" lang="en-US" sz="28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DEPARTMENT OF CSE, BRAC UNIVERSITY</a:t>
            </a:r>
            <a:endParaRPr/>
          </a:p>
        </p:txBody>
      </p:sp>
      <p:pic>
        <p:nvPicPr>
          <p:cNvPr id="199" name="Google Shape;19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80287" y="692150"/>
            <a:ext cx="1147762" cy="1062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"/>
          <p:cNvSpPr txBox="1"/>
          <p:nvPr>
            <p:ph type="ctrTitle"/>
          </p:nvPr>
        </p:nvSpPr>
        <p:spPr>
          <a:xfrm>
            <a:off x="315912" y="466725"/>
            <a:ext cx="6899275" cy="2247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</a:pPr>
            <a:r>
              <a:rPr b="0" i="0" lang="en-US" sz="3600" u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rPr>
              <a:t>APPENDIX</a:t>
            </a:r>
            <a:endParaRPr/>
          </a:p>
        </p:txBody>
      </p:sp>
      <p:sp>
        <p:nvSpPr>
          <p:cNvPr id="205" name="Google Shape;205;p2"/>
          <p:cNvSpPr txBox="1"/>
          <p:nvPr>
            <p:ph idx="1" type="subTitle"/>
          </p:nvPr>
        </p:nvSpPr>
        <p:spPr>
          <a:xfrm>
            <a:off x="827087" y="3357562"/>
            <a:ext cx="7058025" cy="3143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40"/>
              <a:buNone/>
            </a:pPr>
            <a:r>
              <a:rPr b="0" i="0" lang="en-US" sz="20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DIFFIE-HELLMAN KEY EXCHANGE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40"/>
              <a:buNone/>
            </a:pPr>
            <a:r>
              <a:rPr b="0" i="0" lang="en-US" sz="20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ELLIPTIC CURVE CRYPTOGRAPHY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40"/>
              <a:buNone/>
            </a:pPr>
            <a:r>
              <a:rPr b="0" i="0" lang="en-US" sz="20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USES FOR PUBLIC KEY CRYPTO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40"/>
              <a:buNone/>
            </a:pPr>
            <a:r>
              <a:rPr b="0" i="0" lang="en-US" sz="20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INFORMATION HIDING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40"/>
              <a:buNone/>
            </a:pPr>
            <a:r>
              <a:rPr b="0" i="0" lang="en-US" sz="20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STEGANOGRAPHY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40"/>
              <a:buNone/>
            </a:pPr>
            <a:r>
              <a:rPr b="0" i="0" lang="en-US" sz="20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HASH FUNCTION</a:t>
            </a:r>
            <a:endParaRPr/>
          </a:p>
        </p:txBody>
      </p:sp>
      <p:pic>
        <p:nvPicPr>
          <p:cNvPr id="206" name="Google Shape;20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80287" y="692150"/>
            <a:ext cx="1147762" cy="1062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"/>
          <p:cNvSpPr txBox="1"/>
          <p:nvPr>
            <p:ph type="title"/>
          </p:nvPr>
        </p:nvSpPr>
        <p:spPr>
          <a:xfrm>
            <a:off x="581025" y="687387"/>
            <a:ext cx="7989887" cy="725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12" name="Google Shape;212;p3"/>
          <p:cNvSpPr txBox="1"/>
          <p:nvPr>
            <p:ph idx="1" type="body"/>
          </p:nvPr>
        </p:nvSpPr>
        <p:spPr>
          <a:xfrm>
            <a:off x="581025" y="2227262"/>
            <a:ext cx="7989887" cy="32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16"/>
              <a:buFont typeface="Noto Sans Symbols"/>
              <a:buNone/>
            </a:pPr>
            <a:r>
              <a:rPr b="0" i="0" lang="en-US" sz="4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Diffie-Hellman Key exchange</a:t>
            </a:r>
            <a:endParaRPr/>
          </a:p>
        </p:txBody>
      </p:sp>
      <p:sp>
        <p:nvSpPr>
          <p:cNvPr id="213" name="Google Shape;213;p3"/>
          <p:cNvSpPr txBox="1"/>
          <p:nvPr/>
        </p:nvSpPr>
        <p:spPr>
          <a:xfrm>
            <a:off x="5559425" y="630713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214" name="Google Shape;214;p3"/>
          <p:cNvSpPr txBox="1"/>
          <p:nvPr/>
        </p:nvSpPr>
        <p:spPr>
          <a:xfrm>
            <a:off x="581025" y="6321425"/>
            <a:ext cx="48704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</a:pPr>
            <a:r>
              <a:rPr b="0" i="0" lang="en-US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rPr>
              <a:t>CHAPTER 3   SYMMETRIC KEY CRYPTO.        DR. MUHAMMAD IQBAL HOSSAIN</a:t>
            </a:r>
            <a:endParaRPr/>
          </a:p>
        </p:txBody>
      </p:sp>
      <p:sp>
        <p:nvSpPr>
          <p:cNvPr id="215" name="Google Shape;215;p3"/>
          <p:cNvSpPr txBox="1"/>
          <p:nvPr/>
        </p:nvSpPr>
        <p:spPr>
          <a:xfrm>
            <a:off x="7823200" y="6307137"/>
            <a:ext cx="7699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</a:pPr>
            <a:fld id="{00000000-1234-1234-1234-123412341234}" type="slidenum">
              <a:rPr b="0" i="0" lang="en-US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"/>
          <p:cNvSpPr txBox="1"/>
          <p:nvPr>
            <p:ph type="title"/>
          </p:nvPr>
        </p:nvSpPr>
        <p:spPr>
          <a:xfrm>
            <a:off x="785812" y="122237"/>
            <a:ext cx="7143750" cy="12350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b="0" i="0" lang="en-US" sz="28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DIFFIE-HELLMAN</a:t>
            </a:r>
            <a:endParaRPr/>
          </a:p>
        </p:txBody>
      </p:sp>
      <p:sp>
        <p:nvSpPr>
          <p:cNvPr id="222" name="Google Shape;222;p4"/>
          <p:cNvSpPr txBox="1"/>
          <p:nvPr>
            <p:ph idx="1" type="body"/>
          </p:nvPr>
        </p:nvSpPr>
        <p:spPr>
          <a:xfrm>
            <a:off x="581025" y="1919287"/>
            <a:ext cx="7972425" cy="2214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4800" lvl="0" marL="30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Invented by Williamson (GCHQ) and, independently, by D and H (Stanford)</a:t>
            </a:r>
            <a:endParaRPr/>
          </a:p>
          <a:p>
            <a:pPr indent="-304800" lvl="0" marL="30480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“key exchange” algorithm</a:t>
            </a:r>
            <a:endParaRPr/>
          </a:p>
          <a:p>
            <a:pPr indent="-304800" lvl="1" marL="6286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40"/>
              <a:buFont typeface="Noto Sans Symbols"/>
              <a:buChar char="◼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Used to establish a shared symmetric key</a:t>
            </a:r>
            <a:endParaRPr/>
          </a:p>
          <a:p>
            <a:pPr indent="-304800" lvl="0" marL="30480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1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 for encrypting or signing</a:t>
            </a:r>
            <a:endParaRPr/>
          </a:p>
        </p:txBody>
      </p:sp>
      <p:sp>
        <p:nvSpPr>
          <p:cNvPr id="223" name="Google Shape;223;p4"/>
          <p:cNvSpPr txBox="1"/>
          <p:nvPr/>
        </p:nvSpPr>
        <p:spPr>
          <a:xfrm>
            <a:off x="581025" y="6321425"/>
            <a:ext cx="48704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</a:pPr>
            <a:r>
              <a:rPr b="0" i="0" lang="en-US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rPr>
              <a:t>CHAPTER 3   SYMMETRIC KEY CRYPTO.        DR. MUHAMMAD IQBAL HOSSAIN</a:t>
            </a:r>
            <a:endParaRPr/>
          </a:p>
        </p:txBody>
      </p:sp>
      <p:sp>
        <p:nvSpPr>
          <p:cNvPr id="224" name="Google Shape;224;p4"/>
          <p:cNvSpPr txBox="1"/>
          <p:nvPr/>
        </p:nvSpPr>
        <p:spPr>
          <a:xfrm>
            <a:off x="7823200" y="6307137"/>
            <a:ext cx="7699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</a:pPr>
            <a:fld id="{00000000-1234-1234-1234-123412341234}" type="slidenum">
              <a:rPr b="0" i="0" lang="en-US" sz="9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‹#›</a:t>
            </a:fld>
            <a:endParaRPr/>
          </a:p>
        </p:txBody>
      </p:sp>
      <p:sp>
        <p:nvSpPr>
          <p:cNvPr id="225" name="Google Shape;225;p4"/>
          <p:cNvSpPr txBox="1"/>
          <p:nvPr/>
        </p:nvSpPr>
        <p:spPr>
          <a:xfrm>
            <a:off x="723900" y="4319587"/>
            <a:ext cx="7829550" cy="1854200"/>
          </a:xfrm>
          <a:prstGeom prst="rect">
            <a:avLst/>
          </a:prstGeom>
          <a:solidFill>
            <a:srgbClr val="7FC1DB"/>
          </a:soli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Noto Sans Symbols"/>
              <a:buChar char="●"/>
            </a:pPr>
            <a:r>
              <a:rPr b="0" i="0" lang="en-US" sz="30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Security rests on difficulty of </a:t>
            </a:r>
            <a:r>
              <a:rPr b="1" i="0" lang="en-US" sz="3000" u="none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discrete log</a:t>
            </a:r>
            <a:r>
              <a:rPr b="0" i="0" lang="en-US" sz="3000" u="none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 problem: </a:t>
            </a:r>
            <a:r>
              <a:rPr b="0" i="0" lang="en-US" sz="2400" u="none">
                <a:solidFill>
                  <a:srgbClr val="0000FF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b="0" i="0" lang="en-US" sz="3000" u="none">
                <a:solidFill>
                  <a:srgbClr val="0000FF"/>
                </a:solidFill>
                <a:latin typeface="Gill Sans"/>
                <a:ea typeface="Gill Sans"/>
                <a:cs typeface="Gill Sans"/>
                <a:sym typeface="Gill Sans"/>
              </a:rPr>
              <a:t>(Not known: NP-complete)</a:t>
            </a:r>
            <a:endParaRPr b="0" i="0" sz="3000" u="none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00FF"/>
              </a:buClr>
              <a:buSzPts val="3000"/>
              <a:buFont typeface="Gill Sans"/>
              <a:buNone/>
            </a:pPr>
            <a:r>
              <a:rPr b="0" i="0" lang="en-US" sz="3000" u="none">
                <a:solidFill>
                  <a:srgbClr val="0000FF"/>
                </a:solidFill>
                <a:latin typeface="Gill Sans"/>
                <a:ea typeface="Gill Sans"/>
                <a:cs typeface="Gill Sans"/>
                <a:sym typeface="Gill Sans"/>
              </a:rPr>
              <a:t>	   </a:t>
            </a:r>
            <a:r>
              <a:rPr b="0" i="0" lang="en-US" sz="3200" u="none">
                <a:solidFill>
                  <a:srgbClr val="0000FF"/>
                </a:solidFill>
                <a:latin typeface="Gill Sans"/>
                <a:ea typeface="Gill Sans"/>
                <a:cs typeface="Gill Sans"/>
                <a:sym typeface="Gill Sans"/>
              </a:rPr>
              <a:t>given </a:t>
            </a:r>
            <a:r>
              <a:rPr b="0" i="0" lang="en-US" sz="3200" u="none">
                <a:solidFill>
                  <a:srgbClr val="0000FF"/>
                </a:solidFill>
                <a:latin typeface="Times"/>
                <a:ea typeface="Times"/>
                <a:cs typeface="Times"/>
                <a:sym typeface="Times"/>
              </a:rPr>
              <a:t>g, p, </a:t>
            </a:r>
            <a:r>
              <a:rPr b="0" i="0" lang="en-US" sz="3200" u="none">
                <a:solidFill>
                  <a:srgbClr val="0000FF"/>
                </a:solidFill>
                <a:latin typeface="Gill Sans"/>
                <a:ea typeface="Gill Sans"/>
                <a:cs typeface="Gill Sans"/>
                <a:sym typeface="Gill Sans"/>
              </a:rPr>
              <a:t>and </a:t>
            </a:r>
            <a:r>
              <a:rPr b="0" i="0" lang="en-US" sz="3200" u="none">
                <a:solidFill>
                  <a:srgbClr val="0000FF"/>
                </a:solidFill>
                <a:latin typeface="Times"/>
                <a:ea typeface="Times"/>
                <a:cs typeface="Times"/>
                <a:sym typeface="Times"/>
              </a:rPr>
              <a:t>g</a:t>
            </a:r>
            <a:r>
              <a:rPr b="0" baseline="30000" i="0" lang="en-US" sz="3200" u="none">
                <a:solidFill>
                  <a:srgbClr val="0000FF"/>
                </a:solidFill>
                <a:latin typeface="Times"/>
                <a:ea typeface="Times"/>
                <a:cs typeface="Times"/>
                <a:sym typeface="Times"/>
              </a:rPr>
              <a:t>k</a:t>
            </a:r>
            <a:r>
              <a:rPr b="0" i="0" lang="en-US" sz="3200" u="none">
                <a:solidFill>
                  <a:srgbClr val="0000FF"/>
                </a:solidFill>
                <a:latin typeface="Times"/>
                <a:ea typeface="Times"/>
                <a:cs typeface="Times"/>
                <a:sym typeface="Times"/>
              </a:rPr>
              <a:t> mod p →</a:t>
            </a:r>
            <a:r>
              <a:rPr b="0" i="0" lang="en-US" sz="3200" u="none">
                <a:solidFill>
                  <a:srgbClr val="0000FF"/>
                </a:solidFill>
                <a:latin typeface="Gill Sans"/>
                <a:ea typeface="Gill Sans"/>
                <a:cs typeface="Gill Sans"/>
                <a:sym typeface="Gill Sans"/>
              </a:rPr>
              <a:t> find </a:t>
            </a:r>
            <a:r>
              <a:rPr b="0" i="0" lang="en-US" sz="3200" u="none">
                <a:solidFill>
                  <a:srgbClr val="0000FF"/>
                </a:solidFill>
                <a:latin typeface="Times"/>
                <a:ea typeface="Times"/>
                <a:cs typeface="Times"/>
                <a:sym typeface="Times"/>
              </a:rPr>
              <a:t>k</a:t>
            </a:r>
            <a:endParaRPr/>
          </a:p>
        </p:txBody>
      </p:sp>
      <p:sp>
        <p:nvSpPr>
          <p:cNvPr id="226" name="Google Shape;226;p4"/>
          <p:cNvSpPr txBox="1"/>
          <p:nvPr/>
        </p:nvSpPr>
        <p:spPr>
          <a:xfrm>
            <a:off x="5559425" y="630713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5"/>
          <p:cNvSpPr txBox="1"/>
          <p:nvPr>
            <p:ph type="title"/>
          </p:nvPr>
        </p:nvSpPr>
        <p:spPr>
          <a:xfrm>
            <a:off x="785812" y="122237"/>
            <a:ext cx="7143750" cy="12350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b="0" i="0" lang="en-US" sz="28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DIFFIE-HELLMAN</a:t>
            </a:r>
            <a:endParaRPr/>
          </a:p>
        </p:txBody>
      </p:sp>
      <p:sp>
        <p:nvSpPr>
          <p:cNvPr id="233" name="Google Shape;233;p5"/>
          <p:cNvSpPr txBox="1"/>
          <p:nvPr>
            <p:ph idx="1" type="body"/>
          </p:nvPr>
        </p:nvSpPr>
        <p:spPr>
          <a:xfrm>
            <a:off x="581025" y="1958975"/>
            <a:ext cx="7929562" cy="43132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4800" lvl="0" marL="30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Let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p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be prime, let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g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be a </a:t>
            </a:r>
            <a:r>
              <a:rPr b="1" i="0" lang="en-US" sz="24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generator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(p,g are public)</a:t>
            </a:r>
            <a:endParaRPr/>
          </a:p>
          <a:p>
            <a:pPr indent="-304800" lvl="1" marL="62865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any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∈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{1,2,…,p-1}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there is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n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s.t.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x = g</a:t>
            </a:r>
            <a:r>
              <a:rPr b="0" baseline="30000" i="0" lang="en-US" sz="2400" u="none" cap="none" strike="noStrike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n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mod p</a:t>
            </a:r>
            <a:endParaRPr b="0" i="0" sz="24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30480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Alice selects secret value </a:t>
            </a:r>
            <a:r>
              <a:rPr b="0" i="0" lang="en-US" sz="2400" u="none" cap="none" strike="noStrike">
                <a:solidFill>
                  <a:srgbClr val="0000FF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endParaRPr b="0" i="0" sz="24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30480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Bob selects secret value </a:t>
            </a:r>
            <a:r>
              <a:rPr b="0" i="0" lang="en-US" sz="2400" u="none" cap="none" strike="noStrike">
                <a:solidFill>
                  <a:srgbClr val="0000FF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endParaRPr b="0" i="0" sz="24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30480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Alice sends </a:t>
            </a:r>
            <a:r>
              <a:rPr b="0" i="0" lang="en-US" sz="2400" u="none" cap="none" strike="noStrike">
                <a:solidFill>
                  <a:srgbClr val="0000FF"/>
                </a:solidFill>
                <a:latin typeface="Times"/>
                <a:ea typeface="Times"/>
                <a:cs typeface="Times"/>
                <a:sym typeface="Times"/>
              </a:rPr>
              <a:t>g</a:t>
            </a:r>
            <a:r>
              <a:rPr b="0" baseline="30000" i="0" lang="en-US" sz="2400" u="none" cap="none" strike="noStrike">
                <a:solidFill>
                  <a:srgbClr val="0000FF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b="0" i="0" lang="en-US" sz="2400" u="none" cap="none" strike="noStrike">
                <a:solidFill>
                  <a:srgbClr val="0000FF"/>
                </a:solidFill>
                <a:latin typeface="Times"/>
                <a:ea typeface="Times"/>
                <a:cs typeface="Times"/>
                <a:sym typeface="Times"/>
              </a:rPr>
              <a:t> mod p</a:t>
            </a:r>
            <a:r>
              <a:rPr b="0" i="0" lang="en-US" sz="24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Bob</a:t>
            </a:r>
            <a:endParaRPr/>
          </a:p>
          <a:p>
            <a:pPr indent="-304800" lvl="0" marL="30480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Bob sends </a:t>
            </a:r>
            <a:r>
              <a:rPr b="0" i="0" lang="en-US" sz="2400" u="none" cap="none" strike="noStrike">
                <a:solidFill>
                  <a:srgbClr val="0000FF"/>
                </a:solidFill>
                <a:latin typeface="Times"/>
                <a:ea typeface="Times"/>
                <a:cs typeface="Times"/>
                <a:sym typeface="Times"/>
              </a:rPr>
              <a:t>g</a:t>
            </a:r>
            <a:r>
              <a:rPr b="0" baseline="30000" i="0" lang="en-US" sz="2400" u="none" cap="none" strike="noStrike">
                <a:solidFill>
                  <a:srgbClr val="0000FF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r>
              <a:rPr b="0" i="0" lang="en-US" sz="2400" u="none" cap="none" strike="noStrike">
                <a:solidFill>
                  <a:srgbClr val="0000FF"/>
                </a:solidFill>
                <a:latin typeface="Times"/>
                <a:ea typeface="Times"/>
                <a:cs typeface="Times"/>
                <a:sym typeface="Times"/>
              </a:rPr>
              <a:t> mod p</a:t>
            </a:r>
            <a:r>
              <a:rPr b="0" i="0" lang="en-US" sz="24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Alice</a:t>
            </a:r>
            <a:endParaRPr/>
          </a:p>
          <a:p>
            <a:pPr indent="-304800" lvl="0" marL="30480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Both compute shared secret </a:t>
            </a:r>
            <a:r>
              <a:rPr b="0" i="0" lang="en-US" sz="2400" u="none" cap="none" strike="noStrike">
                <a:solidFill>
                  <a:srgbClr val="0000FF"/>
                </a:solidFill>
                <a:latin typeface="Times"/>
                <a:ea typeface="Times"/>
                <a:cs typeface="Times"/>
                <a:sym typeface="Times"/>
              </a:rPr>
              <a:t>g</a:t>
            </a:r>
            <a:r>
              <a:rPr b="0" baseline="30000" i="0" lang="en-US" sz="2400" u="none" cap="none" strike="noStrike">
                <a:solidFill>
                  <a:srgbClr val="0000FF"/>
                </a:solidFill>
                <a:latin typeface="Times"/>
                <a:ea typeface="Times"/>
                <a:cs typeface="Times"/>
                <a:sym typeface="Times"/>
              </a:rPr>
              <a:t>ab</a:t>
            </a:r>
            <a:r>
              <a:rPr b="0" i="0" lang="en-US" sz="2400" u="none" cap="none" strike="noStrike">
                <a:solidFill>
                  <a:srgbClr val="0000FF"/>
                </a:solidFill>
                <a:latin typeface="Times"/>
                <a:ea typeface="Times"/>
                <a:cs typeface="Times"/>
                <a:sym typeface="Times"/>
              </a:rPr>
              <a:t> mod p</a:t>
            </a:r>
            <a:endParaRPr/>
          </a:p>
          <a:p>
            <a:pPr indent="-304800" lvl="1" marL="6286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40"/>
              <a:buFont typeface="Noto Sans Symbols"/>
              <a:buChar char="◼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(g</a:t>
            </a:r>
            <a:r>
              <a:rPr b="0" baseline="30000" i="0" lang="en-US" sz="20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r>
              <a:rPr b="0" baseline="30000" i="0" lang="en-US" sz="20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= g</a:t>
            </a:r>
            <a:r>
              <a:rPr b="0" baseline="30000" i="0" lang="en-US" sz="20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ba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= g</a:t>
            </a:r>
            <a:r>
              <a:rPr b="0" baseline="30000" i="0" lang="en-US" sz="20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ab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mod p</a:t>
            </a:r>
            <a:endParaRPr b="0" i="0" sz="2000" u="none" cap="none" strike="noStrike">
              <a:solidFill>
                <a:srgbClr val="0000FF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04800" lvl="0" marL="30480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Shared secret can be used as symmetric key</a:t>
            </a:r>
            <a:endParaRPr/>
          </a:p>
        </p:txBody>
      </p:sp>
      <p:sp>
        <p:nvSpPr>
          <p:cNvPr id="234" name="Google Shape;234;p5"/>
          <p:cNvSpPr txBox="1"/>
          <p:nvPr/>
        </p:nvSpPr>
        <p:spPr>
          <a:xfrm>
            <a:off x="581025" y="6321425"/>
            <a:ext cx="48704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</a:pPr>
            <a:r>
              <a:rPr b="0" i="0" lang="en-US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rPr>
              <a:t>CHAPTER 3   SYMMETRIC KEY CRYPTO.        DR. MUHAMMAD IQBAL HOSSAIN</a:t>
            </a:r>
            <a:endParaRPr/>
          </a:p>
        </p:txBody>
      </p:sp>
      <p:sp>
        <p:nvSpPr>
          <p:cNvPr id="235" name="Google Shape;235;p5"/>
          <p:cNvSpPr txBox="1"/>
          <p:nvPr/>
        </p:nvSpPr>
        <p:spPr>
          <a:xfrm>
            <a:off x="7823200" y="6307137"/>
            <a:ext cx="7699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</a:pPr>
            <a:fld id="{00000000-1234-1234-1234-123412341234}" type="slidenum">
              <a:rPr b="0" i="0" lang="en-US" sz="9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‹#›</a:t>
            </a:fld>
            <a:endParaRPr/>
          </a:p>
        </p:txBody>
      </p:sp>
      <p:sp>
        <p:nvSpPr>
          <p:cNvPr id="236" name="Google Shape;236;p5"/>
          <p:cNvSpPr txBox="1"/>
          <p:nvPr/>
        </p:nvSpPr>
        <p:spPr>
          <a:xfrm>
            <a:off x="5559425" y="630713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6"/>
          <p:cNvSpPr txBox="1"/>
          <p:nvPr>
            <p:ph type="title"/>
          </p:nvPr>
        </p:nvSpPr>
        <p:spPr>
          <a:xfrm>
            <a:off x="785812" y="122237"/>
            <a:ext cx="7143750" cy="12350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b="0" i="0" lang="en-US" sz="28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DIFFIE-HELLMAN</a:t>
            </a:r>
            <a:endParaRPr/>
          </a:p>
        </p:txBody>
      </p:sp>
      <p:sp>
        <p:nvSpPr>
          <p:cNvPr id="242" name="Google Shape;242;p6"/>
          <p:cNvSpPr txBox="1"/>
          <p:nvPr>
            <p:ph idx="1" type="body"/>
          </p:nvPr>
        </p:nvSpPr>
        <p:spPr>
          <a:xfrm>
            <a:off x="785812" y="1719262"/>
            <a:ext cx="7900987" cy="44116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4800" lvl="0" marL="30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Suppose that Bob and Alice use </a:t>
            </a:r>
            <a:r>
              <a:rPr b="0" i="0" lang="en-US" sz="2800" u="none" cap="none" strike="noStrike">
                <a:solidFill>
                  <a:srgbClr val="0000FF"/>
                </a:solidFill>
                <a:latin typeface="Times"/>
                <a:ea typeface="Times"/>
                <a:cs typeface="Times"/>
                <a:sym typeface="Times"/>
              </a:rPr>
              <a:t>g</a:t>
            </a:r>
            <a:r>
              <a:rPr b="0" baseline="30000" i="0" lang="en-US" sz="2800" u="none" cap="none" strike="noStrike">
                <a:solidFill>
                  <a:srgbClr val="0000FF"/>
                </a:solidFill>
                <a:latin typeface="Times"/>
                <a:ea typeface="Times"/>
                <a:cs typeface="Times"/>
                <a:sym typeface="Times"/>
              </a:rPr>
              <a:t>ab</a:t>
            </a:r>
            <a:r>
              <a:rPr b="0" i="0" lang="en-US" sz="2800" u="none" cap="none" strike="noStrike">
                <a:solidFill>
                  <a:srgbClr val="0000FF"/>
                </a:solidFill>
                <a:latin typeface="Times"/>
                <a:ea typeface="Times"/>
                <a:cs typeface="Times"/>
                <a:sym typeface="Times"/>
              </a:rPr>
              <a:t> mod p</a:t>
            </a:r>
            <a:r>
              <a:rPr b="0" i="0" lang="en-US" sz="28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 a symmetric key</a:t>
            </a:r>
            <a:endParaRPr/>
          </a:p>
          <a:p>
            <a:pPr indent="-304800" lvl="0" marL="304800" marR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Trudy can see </a:t>
            </a:r>
            <a:r>
              <a:rPr b="0" i="0" lang="en-US" sz="2800" u="none" cap="none" strike="noStrike">
                <a:solidFill>
                  <a:srgbClr val="0000FF"/>
                </a:solidFill>
                <a:latin typeface="Times"/>
                <a:ea typeface="Times"/>
                <a:cs typeface="Times"/>
                <a:sym typeface="Times"/>
              </a:rPr>
              <a:t>g</a:t>
            </a:r>
            <a:r>
              <a:rPr b="0" baseline="30000" i="0" lang="en-US" sz="2800" u="none" cap="none" strike="noStrike">
                <a:solidFill>
                  <a:srgbClr val="0000FF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b="0" i="0" lang="en-US" sz="2800" u="none" cap="none" strike="noStrike">
                <a:solidFill>
                  <a:srgbClr val="0000FF"/>
                </a:solidFill>
                <a:latin typeface="Times"/>
                <a:ea typeface="Times"/>
                <a:cs typeface="Times"/>
                <a:sym typeface="Times"/>
              </a:rPr>
              <a:t> mod p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b="0" i="0" lang="en-US" sz="2800" u="none" cap="none" strike="noStrike">
                <a:solidFill>
                  <a:srgbClr val="0000FF"/>
                </a:solidFill>
                <a:latin typeface="Times"/>
                <a:ea typeface="Times"/>
                <a:cs typeface="Times"/>
                <a:sym typeface="Times"/>
              </a:rPr>
              <a:t>g</a:t>
            </a:r>
            <a:r>
              <a:rPr b="0" baseline="30000" i="0" lang="en-US" sz="2800" u="none" cap="none" strike="noStrike">
                <a:solidFill>
                  <a:srgbClr val="0000FF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r>
              <a:rPr b="0" i="0" lang="en-US" sz="2800" u="none" cap="none" strike="noStrike">
                <a:solidFill>
                  <a:srgbClr val="0000FF"/>
                </a:solidFill>
                <a:latin typeface="Times"/>
                <a:ea typeface="Times"/>
                <a:cs typeface="Times"/>
                <a:sym typeface="Times"/>
              </a:rPr>
              <a:t> mod p</a:t>
            </a:r>
            <a:endParaRPr/>
          </a:p>
          <a:p>
            <a:pPr indent="-304800" lvl="0" marL="304800" marR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Note </a:t>
            </a:r>
            <a:r>
              <a:rPr b="0" i="0" lang="en-US" sz="2800" u="none" cap="none" strike="noStrike">
                <a:solidFill>
                  <a:srgbClr val="0000FF"/>
                </a:solidFill>
                <a:latin typeface="Times"/>
                <a:ea typeface="Times"/>
                <a:cs typeface="Times"/>
                <a:sym typeface="Times"/>
              </a:rPr>
              <a:t>g</a:t>
            </a:r>
            <a:r>
              <a:rPr b="0" baseline="30000" i="0" lang="en-US" sz="2800" u="none" cap="none" strike="noStrike">
                <a:solidFill>
                  <a:srgbClr val="0000FF"/>
                </a:solidFill>
                <a:latin typeface="Times"/>
                <a:ea typeface="Times"/>
                <a:cs typeface="Times"/>
                <a:sym typeface="Times"/>
              </a:rPr>
              <a:t>a </a:t>
            </a:r>
            <a:r>
              <a:rPr b="0" i="0" lang="en-US" sz="2800" u="none" cap="none" strike="noStrike">
                <a:solidFill>
                  <a:srgbClr val="0000FF"/>
                </a:solidFill>
                <a:latin typeface="Times"/>
                <a:ea typeface="Times"/>
                <a:cs typeface="Times"/>
                <a:sym typeface="Times"/>
              </a:rPr>
              <a:t>g</a:t>
            </a:r>
            <a:r>
              <a:rPr b="0" baseline="30000" i="0" lang="en-US" sz="2800" u="none" cap="none" strike="noStrike">
                <a:solidFill>
                  <a:srgbClr val="0000FF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r>
              <a:rPr b="0" i="0" lang="en-US" sz="2800" u="none" cap="none" strike="noStrike">
                <a:solidFill>
                  <a:srgbClr val="0000FF"/>
                </a:solidFill>
                <a:latin typeface="Times"/>
                <a:ea typeface="Times"/>
                <a:cs typeface="Times"/>
                <a:sym typeface="Times"/>
              </a:rPr>
              <a:t> mod p </a:t>
            </a:r>
            <a:r>
              <a:rPr b="0" i="0" lang="en-US" sz="2800" u="none" cap="none" strike="noStrike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=</a:t>
            </a:r>
            <a:r>
              <a:rPr b="0" i="0" lang="en-US" sz="2800" u="none" cap="none" strike="noStrike">
                <a:solidFill>
                  <a:srgbClr val="0000FF"/>
                </a:solidFill>
                <a:latin typeface="Times"/>
                <a:ea typeface="Times"/>
                <a:cs typeface="Times"/>
                <a:sym typeface="Times"/>
              </a:rPr>
              <a:t> g</a:t>
            </a:r>
            <a:r>
              <a:rPr b="0" baseline="30000" i="0" lang="en-US" sz="2800" u="none" cap="none" strike="noStrike">
                <a:solidFill>
                  <a:srgbClr val="0000FF"/>
                </a:solidFill>
                <a:latin typeface="Times"/>
                <a:ea typeface="Times"/>
                <a:cs typeface="Times"/>
                <a:sym typeface="Times"/>
              </a:rPr>
              <a:t>a+b </a:t>
            </a:r>
            <a:r>
              <a:rPr b="0" i="0" lang="en-US" sz="2800" u="none" cap="none" strike="noStrike">
                <a:solidFill>
                  <a:srgbClr val="0000FF"/>
                </a:solidFill>
                <a:latin typeface="Times"/>
                <a:ea typeface="Times"/>
                <a:cs typeface="Times"/>
                <a:sym typeface="Times"/>
              </a:rPr>
              <a:t>mod p </a:t>
            </a:r>
            <a:r>
              <a:rPr b="0" i="0" lang="en-US" sz="2800" u="none" cap="none" strike="noStrike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≠</a:t>
            </a:r>
            <a:r>
              <a:rPr b="0" i="0" lang="en-US" sz="2800" u="none" cap="none" strike="noStrike">
                <a:solidFill>
                  <a:srgbClr val="0000FF"/>
                </a:solidFill>
                <a:latin typeface="Times"/>
                <a:ea typeface="Times"/>
                <a:cs typeface="Times"/>
                <a:sym typeface="Times"/>
              </a:rPr>
              <a:t> g</a:t>
            </a:r>
            <a:r>
              <a:rPr b="0" baseline="30000" i="0" lang="en-US" sz="2800" u="none" cap="none" strike="noStrike">
                <a:solidFill>
                  <a:srgbClr val="0000FF"/>
                </a:solidFill>
                <a:latin typeface="Times"/>
                <a:ea typeface="Times"/>
                <a:cs typeface="Times"/>
                <a:sym typeface="Times"/>
              </a:rPr>
              <a:t>ab</a:t>
            </a:r>
            <a:r>
              <a:rPr b="0" i="0" lang="en-US" sz="2800" u="none" cap="none" strike="noStrike">
                <a:solidFill>
                  <a:srgbClr val="0000FF"/>
                </a:solidFill>
                <a:latin typeface="Times"/>
                <a:ea typeface="Times"/>
                <a:cs typeface="Times"/>
                <a:sym typeface="Times"/>
              </a:rPr>
              <a:t> mod p</a:t>
            </a:r>
            <a:endParaRPr b="0" i="0" sz="28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304800" marR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Trudy can find </a:t>
            </a:r>
            <a:r>
              <a:rPr b="0" i="0" lang="en-US" sz="2800" u="none" cap="none" strike="noStrike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b="0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or </a:t>
            </a:r>
            <a:r>
              <a:rPr b="0" i="0" lang="en-US" sz="2800" u="none" cap="none" strike="noStrike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r>
              <a:rPr b="0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system is broken</a:t>
            </a:r>
            <a:endParaRPr/>
          </a:p>
          <a:p>
            <a:pPr indent="-304800" lvl="0" marL="304800" marR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Trudy can solve </a:t>
            </a:r>
            <a:r>
              <a:rPr b="1" i="0" lang="en-US" sz="28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discrete log</a:t>
            </a:r>
            <a:r>
              <a:rPr b="0" i="0" lang="en-US" sz="28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problem, then she can find 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or 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endParaRPr/>
          </a:p>
        </p:txBody>
      </p:sp>
      <p:sp>
        <p:nvSpPr>
          <p:cNvPr id="243" name="Google Shape;243;p6"/>
          <p:cNvSpPr txBox="1"/>
          <p:nvPr/>
        </p:nvSpPr>
        <p:spPr>
          <a:xfrm>
            <a:off x="581025" y="6321425"/>
            <a:ext cx="48704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</a:pPr>
            <a:r>
              <a:rPr b="0" i="0" lang="en-US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rPr>
              <a:t>CHAPTER 3   SYMMETRIC KEY CRYPTO.        DR. MUHAMMAD IQBAL HOSSAIN</a:t>
            </a:r>
            <a:endParaRPr/>
          </a:p>
        </p:txBody>
      </p:sp>
      <p:sp>
        <p:nvSpPr>
          <p:cNvPr id="244" name="Google Shape;244;p6"/>
          <p:cNvSpPr txBox="1"/>
          <p:nvPr/>
        </p:nvSpPr>
        <p:spPr>
          <a:xfrm>
            <a:off x="7823200" y="6307137"/>
            <a:ext cx="7699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</a:pPr>
            <a:fld id="{00000000-1234-1234-1234-123412341234}" type="slidenum">
              <a:rPr b="0" i="0" lang="en-US" sz="9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‹#›</a:t>
            </a:fld>
            <a:endParaRPr/>
          </a:p>
        </p:txBody>
      </p:sp>
      <p:sp>
        <p:nvSpPr>
          <p:cNvPr id="245" name="Google Shape;245;p6"/>
          <p:cNvSpPr txBox="1"/>
          <p:nvPr/>
        </p:nvSpPr>
        <p:spPr>
          <a:xfrm>
            <a:off x="5559425" y="630713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7"/>
          <p:cNvSpPr txBox="1"/>
          <p:nvPr>
            <p:ph type="title"/>
          </p:nvPr>
        </p:nvSpPr>
        <p:spPr>
          <a:xfrm>
            <a:off x="785812" y="457200"/>
            <a:ext cx="7143750" cy="9001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b="0" i="0" lang="en-US" sz="28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DIFFIE-HELLMAN</a:t>
            </a:r>
            <a:endParaRPr/>
          </a:p>
        </p:txBody>
      </p:sp>
      <p:sp>
        <p:nvSpPr>
          <p:cNvPr id="251" name="Google Shape;251;p7"/>
          <p:cNvSpPr txBox="1"/>
          <p:nvPr>
            <p:ph idx="1" type="body"/>
          </p:nvPr>
        </p:nvSpPr>
        <p:spPr>
          <a:xfrm>
            <a:off x="785812" y="1700212"/>
            <a:ext cx="7934325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4800" lvl="0" marL="304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392"/>
              <a:buFont typeface="Noto Sans Symbols"/>
              <a:buChar char="◼"/>
            </a:pPr>
            <a:r>
              <a:rPr b="1" i="0" lang="en-US" sz="26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Public:</a:t>
            </a: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6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g</a:t>
            </a: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b="0" i="0" lang="en-US" sz="26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p</a:t>
            </a:r>
            <a:endParaRPr b="0" i="0" sz="2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304800" marR="0" rtl="0" algn="l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accent2"/>
              </a:buClr>
              <a:buSzPts val="2392"/>
              <a:buFont typeface="Noto Sans Symbols"/>
              <a:buChar char="◼"/>
            </a:pPr>
            <a:r>
              <a:rPr b="1" i="0" lang="en-US" sz="26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Secret:</a:t>
            </a:r>
            <a:r>
              <a:rPr b="0" i="0" lang="en-US" sz="26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Alice’s exponent </a:t>
            </a:r>
            <a:r>
              <a:rPr b="0" i="0" lang="en-US" sz="2600" u="none" cap="none" strike="noStrike">
                <a:solidFill>
                  <a:srgbClr val="0000FF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b="0" i="0" lang="en-US" sz="26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Bob’s exponent </a:t>
            </a:r>
            <a:r>
              <a:rPr b="0" i="0" lang="en-US" sz="2600" u="none" cap="none" strike="noStrike">
                <a:solidFill>
                  <a:srgbClr val="0000FF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endParaRPr/>
          </a:p>
        </p:txBody>
      </p:sp>
      <p:sp>
        <p:nvSpPr>
          <p:cNvPr id="252" name="Google Shape;252;p7"/>
          <p:cNvSpPr txBox="1"/>
          <p:nvPr/>
        </p:nvSpPr>
        <p:spPr>
          <a:xfrm>
            <a:off x="581025" y="6321425"/>
            <a:ext cx="48704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</a:pPr>
            <a:r>
              <a:rPr b="0" i="0" lang="en-US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rPr>
              <a:t>CHAPTER 3   SYMMETRIC KEY CRYPTO.        DR. MUHAMMAD IQBAL HOSSAIN</a:t>
            </a:r>
            <a:endParaRPr/>
          </a:p>
        </p:txBody>
      </p:sp>
      <p:sp>
        <p:nvSpPr>
          <p:cNvPr id="253" name="Google Shape;253;p7"/>
          <p:cNvSpPr txBox="1"/>
          <p:nvPr/>
        </p:nvSpPr>
        <p:spPr>
          <a:xfrm>
            <a:off x="7823200" y="6307137"/>
            <a:ext cx="7699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</a:pPr>
            <a:fld id="{00000000-1234-1234-1234-123412341234}" type="slidenum">
              <a:rPr b="0" i="0" lang="en-US" sz="9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‹#›</a:t>
            </a:fld>
            <a:endParaRPr/>
          </a:p>
        </p:txBody>
      </p:sp>
      <p:cxnSp>
        <p:nvCxnSpPr>
          <p:cNvPr id="254" name="Google Shape;254;p7"/>
          <p:cNvCxnSpPr/>
          <p:nvPr/>
        </p:nvCxnSpPr>
        <p:spPr>
          <a:xfrm>
            <a:off x="1981200" y="3417887"/>
            <a:ext cx="4648200" cy="0"/>
          </a:xfrm>
          <a:prstGeom prst="straightConnector1">
            <a:avLst/>
          </a:prstGeom>
          <a:noFill/>
          <a:ln cap="flat" cmpd="sng" w="508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255" name="Google Shape;255;p7"/>
          <p:cNvCxnSpPr/>
          <p:nvPr/>
        </p:nvCxnSpPr>
        <p:spPr>
          <a:xfrm flipH="1">
            <a:off x="1905000" y="3960812"/>
            <a:ext cx="4648200" cy="14287"/>
          </a:xfrm>
          <a:prstGeom prst="straightConnector1">
            <a:avLst/>
          </a:prstGeom>
          <a:noFill/>
          <a:ln cap="flat" cmpd="sng" w="508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256" name="Google Shape;256;p7"/>
          <p:cNvSpPr txBox="1"/>
          <p:nvPr/>
        </p:nvSpPr>
        <p:spPr>
          <a:xfrm>
            <a:off x="800100" y="4233862"/>
            <a:ext cx="1257300" cy="517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mic Sans MS"/>
              <a:buNone/>
            </a:pPr>
            <a:r>
              <a:rPr b="0" i="0" lang="en-US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Alice, </a:t>
            </a:r>
            <a:r>
              <a:rPr b="0" i="0" lang="en-US" sz="240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a</a:t>
            </a:r>
            <a:endParaRPr/>
          </a:p>
        </p:txBody>
      </p:sp>
      <p:sp>
        <p:nvSpPr>
          <p:cNvPr id="257" name="Google Shape;257;p7"/>
          <p:cNvSpPr txBox="1"/>
          <p:nvPr/>
        </p:nvSpPr>
        <p:spPr>
          <a:xfrm>
            <a:off x="6781800" y="4233862"/>
            <a:ext cx="1074737" cy="517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mic Sans MS"/>
              <a:buNone/>
            </a:pPr>
            <a:r>
              <a:rPr b="0" i="0" lang="en-US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Bob, </a:t>
            </a:r>
            <a:r>
              <a:rPr b="0" i="0" lang="en-US" sz="240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b</a:t>
            </a:r>
            <a:endParaRPr/>
          </a:p>
        </p:txBody>
      </p:sp>
      <p:sp>
        <p:nvSpPr>
          <p:cNvPr id="258" name="Google Shape;258;p7"/>
          <p:cNvSpPr txBox="1"/>
          <p:nvPr/>
        </p:nvSpPr>
        <p:spPr>
          <a:xfrm>
            <a:off x="3402012" y="2921000"/>
            <a:ext cx="13985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None/>
            </a:pPr>
            <a:r>
              <a:rPr b="0" i="0" lang="en-US" sz="2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g</a:t>
            </a:r>
            <a:r>
              <a:rPr b="0" baseline="30000" i="0" lang="en-US" sz="2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b="0" i="0" lang="en-US" sz="2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mod p</a:t>
            </a:r>
            <a:endParaRPr/>
          </a:p>
        </p:txBody>
      </p:sp>
      <p:sp>
        <p:nvSpPr>
          <p:cNvPr id="259" name="Google Shape;259;p7"/>
          <p:cNvSpPr txBox="1"/>
          <p:nvPr/>
        </p:nvSpPr>
        <p:spPr>
          <a:xfrm>
            <a:off x="3402012" y="3503612"/>
            <a:ext cx="13985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None/>
            </a:pPr>
            <a:r>
              <a:rPr b="0" i="0" lang="en-US" sz="2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g</a:t>
            </a:r>
            <a:r>
              <a:rPr b="0" baseline="30000" i="0" lang="en-US" sz="2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r>
              <a:rPr b="0" i="0" lang="en-US" sz="2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mod p</a:t>
            </a:r>
            <a:endParaRPr/>
          </a:p>
        </p:txBody>
      </p:sp>
      <p:sp>
        <p:nvSpPr>
          <p:cNvPr id="260" name="Google Shape;260;p7"/>
          <p:cNvSpPr txBox="1"/>
          <p:nvPr/>
        </p:nvSpPr>
        <p:spPr>
          <a:xfrm>
            <a:off x="785812" y="4857750"/>
            <a:ext cx="7929562" cy="14525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20"/>
              <a:buFont typeface="Noto Sans Symbols"/>
              <a:buChar char="●"/>
            </a:pPr>
            <a:r>
              <a:rPr b="0" i="0" lang="en-US" sz="26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Alice computes </a:t>
            </a:r>
            <a:r>
              <a:rPr b="0" i="0" lang="en-US" sz="26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(g</a:t>
            </a:r>
            <a:r>
              <a:rPr b="0" baseline="30000" i="0" lang="en-US" sz="26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r>
              <a:rPr b="0" i="0" lang="en-US" sz="26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r>
              <a:rPr b="0" baseline="30000" i="0" lang="en-US" sz="26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b="0" i="0" lang="en-US" sz="26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= g</a:t>
            </a:r>
            <a:r>
              <a:rPr b="0" baseline="30000" i="0" lang="en-US" sz="26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ba</a:t>
            </a:r>
            <a:r>
              <a:rPr b="0" i="0" lang="en-US" sz="26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b="0" i="0" lang="en-US" sz="26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= g</a:t>
            </a:r>
            <a:r>
              <a:rPr b="0" baseline="30000" i="0" lang="en-US" sz="26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ab</a:t>
            </a:r>
            <a:r>
              <a:rPr b="0" i="0" lang="en-US" sz="26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mod p</a:t>
            </a:r>
            <a:r>
              <a:rPr b="0" i="0" lang="en-US" sz="26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820"/>
              <a:buFont typeface="Noto Sans Symbols"/>
              <a:buChar char="●"/>
            </a:pPr>
            <a:r>
              <a:rPr b="0" i="0" lang="en-US" sz="26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Bob computes </a:t>
            </a:r>
            <a:r>
              <a:rPr b="0" i="0" lang="en-US" sz="26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(g</a:t>
            </a:r>
            <a:r>
              <a:rPr b="0" baseline="30000" i="0" lang="en-US" sz="26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b="0" i="0" lang="en-US" sz="26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r>
              <a:rPr b="0" baseline="30000" i="0" lang="en-US" sz="26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r>
              <a:rPr b="0" i="0" lang="en-US" sz="26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= g</a:t>
            </a:r>
            <a:r>
              <a:rPr b="0" baseline="30000" i="0" lang="en-US" sz="26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ab</a:t>
            </a:r>
            <a:r>
              <a:rPr b="0" i="0" lang="en-US" sz="26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mod p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820"/>
              <a:buFont typeface="Noto Sans Symbols"/>
              <a:buChar char="●"/>
            </a:pPr>
            <a:r>
              <a:rPr b="0" i="0" lang="en-US" sz="26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Could use </a:t>
            </a:r>
            <a:r>
              <a:rPr b="0" i="0" lang="en-US" sz="2600" u="none">
                <a:solidFill>
                  <a:srgbClr val="00B050"/>
                </a:solidFill>
                <a:latin typeface="Times"/>
                <a:ea typeface="Times"/>
                <a:cs typeface="Times"/>
                <a:sym typeface="Times"/>
              </a:rPr>
              <a:t>K = g</a:t>
            </a:r>
            <a:r>
              <a:rPr b="0" baseline="30000" i="0" lang="en-US" sz="2600" u="none">
                <a:solidFill>
                  <a:srgbClr val="00B050"/>
                </a:solidFill>
                <a:latin typeface="Times"/>
                <a:ea typeface="Times"/>
                <a:cs typeface="Times"/>
                <a:sym typeface="Times"/>
              </a:rPr>
              <a:t>ab</a:t>
            </a:r>
            <a:r>
              <a:rPr b="0" i="0" lang="en-US" sz="2600" u="none">
                <a:solidFill>
                  <a:srgbClr val="00B05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b="0" i="0" lang="en-US" sz="26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mod p</a:t>
            </a:r>
            <a:r>
              <a:rPr b="0" i="0" lang="en-US" sz="26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as symmetric key </a:t>
            </a:r>
            <a:endParaRPr/>
          </a:p>
        </p:txBody>
      </p:sp>
      <p:pic>
        <p:nvPicPr>
          <p:cNvPr id="261" name="Google Shape;26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2650" y="2741612"/>
            <a:ext cx="946150" cy="1624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81800" y="2665412"/>
            <a:ext cx="1076325" cy="1665287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7"/>
          <p:cNvSpPr txBox="1"/>
          <p:nvPr/>
        </p:nvSpPr>
        <p:spPr>
          <a:xfrm>
            <a:off x="5559425" y="630713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9"/>
          <p:cNvSpPr txBox="1"/>
          <p:nvPr>
            <p:ph idx="1" type="body"/>
          </p:nvPr>
        </p:nvSpPr>
        <p:spPr>
          <a:xfrm>
            <a:off x="285750" y="944562"/>
            <a:ext cx="4286250" cy="6429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None/>
            </a:pPr>
            <a:r>
              <a:rPr b="0" i="0" lang="en-US" sz="2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Alice</a:t>
            </a:r>
            <a:endParaRPr/>
          </a:p>
        </p:txBody>
      </p:sp>
      <p:sp>
        <p:nvSpPr>
          <p:cNvPr id="270" name="Google Shape;270;p9"/>
          <p:cNvSpPr txBox="1"/>
          <p:nvPr>
            <p:ph type="title"/>
          </p:nvPr>
        </p:nvSpPr>
        <p:spPr>
          <a:xfrm>
            <a:off x="581025" y="687387"/>
            <a:ext cx="7989887" cy="10826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b="0" i="0" lang="en-US" sz="28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DIFFIE–HELLMAN KEY EXCHANGE</a:t>
            </a:r>
            <a:endParaRPr/>
          </a:p>
        </p:txBody>
      </p:sp>
      <p:sp>
        <p:nvSpPr>
          <p:cNvPr id="271" name="Google Shape;271;p9"/>
          <p:cNvSpPr txBox="1"/>
          <p:nvPr>
            <p:ph idx="1" type="body"/>
          </p:nvPr>
        </p:nvSpPr>
        <p:spPr>
          <a:xfrm>
            <a:off x="4714875" y="928687"/>
            <a:ext cx="4429125" cy="328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8"/>
              <a:buNone/>
            </a:pPr>
            <a:r>
              <a:rPr b="0" i="0" lang="en-US" sz="2400" u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Bob</a:t>
            </a:r>
            <a:endParaRPr/>
          </a:p>
        </p:txBody>
      </p:sp>
      <p:cxnSp>
        <p:nvCxnSpPr>
          <p:cNvPr id="272" name="Google Shape;272;p9"/>
          <p:cNvCxnSpPr/>
          <p:nvPr/>
        </p:nvCxnSpPr>
        <p:spPr>
          <a:xfrm>
            <a:off x="3352800" y="2876550"/>
            <a:ext cx="2133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273" name="Google Shape;273;p9"/>
          <p:cNvCxnSpPr/>
          <p:nvPr/>
        </p:nvCxnSpPr>
        <p:spPr>
          <a:xfrm rot="10800000">
            <a:off x="3352800" y="3486150"/>
            <a:ext cx="2133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274" name="Google Shape;274;p9"/>
          <p:cNvCxnSpPr/>
          <p:nvPr/>
        </p:nvCxnSpPr>
        <p:spPr>
          <a:xfrm flipH="1" rot="10800000">
            <a:off x="285750" y="4857750"/>
            <a:ext cx="8429625" cy="2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75" name="Google Shape;275;p9"/>
          <p:cNvCxnSpPr/>
          <p:nvPr/>
        </p:nvCxnSpPr>
        <p:spPr>
          <a:xfrm>
            <a:off x="3429000" y="6045200"/>
            <a:ext cx="2133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276" name="Google Shape;276;p9"/>
          <p:cNvSpPr txBox="1"/>
          <p:nvPr/>
        </p:nvSpPr>
        <p:spPr>
          <a:xfrm>
            <a:off x="250825" y="1504950"/>
            <a:ext cx="3313112" cy="492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Choose random private key</a:t>
            </a:r>
            <a:b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∈{1,2,…,</a:t>
            </a: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-1}</a:t>
            </a:r>
            <a:endParaRPr/>
          </a:p>
        </p:txBody>
      </p:sp>
      <p:sp>
        <p:nvSpPr>
          <p:cNvPr id="277" name="Google Shape;277;p9"/>
          <p:cNvSpPr txBox="1"/>
          <p:nvPr/>
        </p:nvSpPr>
        <p:spPr>
          <a:xfrm>
            <a:off x="5651500" y="1504950"/>
            <a:ext cx="3313112" cy="492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Choose random private key</a:t>
            </a:r>
            <a:b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 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∈ {1,2,…,</a:t>
            </a: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-1}</a:t>
            </a:r>
            <a:endParaRPr/>
          </a:p>
        </p:txBody>
      </p:sp>
      <p:sp>
        <p:nvSpPr>
          <p:cNvPr id="278" name="Google Shape;278;p9"/>
          <p:cNvSpPr txBox="1"/>
          <p:nvPr/>
        </p:nvSpPr>
        <p:spPr>
          <a:xfrm>
            <a:off x="250825" y="2439987"/>
            <a:ext cx="3249612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Compute corresponding public key</a:t>
            </a:r>
            <a:b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= α</a:t>
            </a:r>
            <a:r>
              <a:rPr b="0" baseline="3000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 </a:t>
            </a: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</p:txBody>
      </p:sp>
      <p:sp>
        <p:nvSpPr>
          <p:cNvPr id="279" name="Google Shape;279;p9"/>
          <p:cNvSpPr txBox="1"/>
          <p:nvPr/>
        </p:nvSpPr>
        <p:spPr>
          <a:xfrm>
            <a:off x="5651500" y="3016250"/>
            <a:ext cx="302577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Compute correspondig public key</a:t>
            </a:r>
            <a:b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 = α</a:t>
            </a:r>
            <a:r>
              <a:rPr b="0" baseline="3000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 </a:t>
            </a: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</p:txBody>
      </p:sp>
      <p:sp>
        <p:nvSpPr>
          <p:cNvPr id="280" name="Google Shape;280;p9"/>
          <p:cNvSpPr txBox="1"/>
          <p:nvPr/>
        </p:nvSpPr>
        <p:spPr>
          <a:xfrm>
            <a:off x="250825" y="3881437"/>
            <a:ext cx="3240087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Compute common secret</a:t>
            </a:r>
            <a:b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baseline="-2500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 </a:t>
            </a: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B</a:t>
            </a:r>
            <a:r>
              <a:rPr b="0" baseline="3000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r>
              <a:rPr b="0" baseline="3000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0" baseline="3000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 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 </a:t>
            </a: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</p:txBody>
      </p:sp>
      <p:sp>
        <p:nvSpPr>
          <p:cNvPr id="281" name="Google Shape;281;p9"/>
          <p:cNvSpPr txBox="1"/>
          <p:nvPr/>
        </p:nvSpPr>
        <p:spPr>
          <a:xfrm>
            <a:off x="5651500" y="3881437"/>
            <a:ext cx="3240087" cy="492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Compute common secret</a:t>
            </a:r>
            <a:b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k</a:t>
            </a:r>
            <a:r>
              <a:rPr b="0" baseline="-2500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 </a:t>
            </a: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A</a:t>
            </a:r>
            <a:r>
              <a:rPr b="0" baseline="3000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(</a:t>
            </a: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r>
              <a:rPr b="0" baseline="3000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0" baseline="3000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 </a:t>
            </a: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</p:txBody>
      </p:sp>
      <p:sp>
        <p:nvSpPr>
          <p:cNvPr id="282" name="Google Shape;282;p9"/>
          <p:cNvSpPr txBox="1"/>
          <p:nvPr/>
        </p:nvSpPr>
        <p:spPr>
          <a:xfrm>
            <a:off x="4211637" y="2513012"/>
            <a:ext cx="360362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1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283" name="Google Shape;283;p9"/>
          <p:cNvSpPr txBox="1"/>
          <p:nvPr/>
        </p:nvSpPr>
        <p:spPr>
          <a:xfrm>
            <a:off x="4211637" y="3160712"/>
            <a:ext cx="360362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1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284" name="Google Shape;284;p9"/>
          <p:cNvSpPr txBox="1"/>
          <p:nvPr/>
        </p:nvSpPr>
        <p:spPr>
          <a:xfrm>
            <a:off x="4284662" y="5695950"/>
            <a:ext cx="1809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1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/>
          </a:p>
        </p:txBody>
      </p:sp>
      <p:sp>
        <p:nvSpPr>
          <p:cNvPr id="285" name="Google Shape;285;p9"/>
          <p:cNvSpPr txBox="1"/>
          <p:nvPr/>
        </p:nvSpPr>
        <p:spPr>
          <a:xfrm>
            <a:off x="1042987" y="5838825"/>
            <a:ext cx="1655762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1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 = AES</a:t>
            </a:r>
            <a:r>
              <a:rPr b="0" baseline="-25000" i="1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kAB</a:t>
            </a:r>
            <a:r>
              <a:rPr b="0" i="1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(x)</a:t>
            </a:r>
            <a:endParaRPr/>
          </a:p>
        </p:txBody>
      </p:sp>
      <p:sp>
        <p:nvSpPr>
          <p:cNvPr id="286" name="Google Shape;286;p9"/>
          <p:cNvSpPr txBox="1"/>
          <p:nvPr/>
        </p:nvSpPr>
        <p:spPr>
          <a:xfrm>
            <a:off x="6516687" y="5838825"/>
            <a:ext cx="2270125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1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 = AES</a:t>
            </a:r>
            <a:r>
              <a:rPr b="0" baseline="30000" i="1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r>
              <a:rPr b="0" baseline="-25000" i="1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kAB</a:t>
            </a:r>
            <a:r>
              <a:rPr b="0" i="1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(y)</a:t>
            </a:r>
            <a:endParaRPr/>
          </a:p>
        </p:txBody>
      </p:sp>
      <p:sp>
        <p:nvSpPr>
          <p:cNvPr id="287" name="Google Shape;287;p9"/>
          <p:cNvSpPr txBox="1"/>
          <p:nvPr/>
        </p:nvSpPr>
        <p:spPr>
          <a:xfrm>
            <a:off x="179387" y="6570662"/>
            <a:ext cx="504825" cy="21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94073"/>
              </a:buClr>
              <a:buSzPts val="900"/>
              <a:buFont typeface="Arial"/>
              <a:buNone/>
            </a:pPr>
            <a:fld id="{00000000-1234-1234-1234-123412341234}" type="slidenum">
              <a:rPr b="0" i="0" lang="en-US" sz="900" u="none">
                <a:solidFill>
                  <a:srgbClr val="39407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b="0" i="0" lang="en-US" sz="900" u="none">
                <a:solidFill>
                  <a:srgbClr val="394073"/>
                </a:solidFill>
                <a:latin typeface="Arial"/>
                <a:ea typeface="Arial"/>
                <a:cs typeface="Arial"/>
                <a:sym typeface="Arial"/>
              </a:rPr>
              <a:t>/19</a:t>
            </a:r>
            <a:endParaRPr/>
          </a:p>
        </p:txBody>
      </p:sp>
      <p:sp>
        <p:nvSpPr>
          <p:cNvPr id="288" name="Google Shape;288;p9"/>
          <p:cNvSpPr txBox="1"/>
          <p:nvPr/>
        </p:nvSpPr>
        <p:spPr>
          <a:xfrm>
            <a:off x="214312" y="5240337"/>
            <a:ext cx="3240087" cy="492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can now use the joint key k</a:t>
            </a:r>
            <a:r>
              <a:rPr b="0" baseline="-2500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encryption, e.g., with AES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4d8702162e_0_0"/>
          <p:cNvSpPr txBox="1"/>
          <p:nvPr>
            <p:ph idx="1" type="body"/>
          </p:nvPr>
        </p:nvSpPr>
        <p:spPr>
          <a:xfrm>
            <a:off x="500034" y="1071546"/>
            <a:ext cx="8215500" cy="1677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60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g34d8702162e_0_0"/>
          <p:cNvSpPr txBox="1"/>
          <p:nvPr>
            <p:ph type="title"/>
          </p:nvPr>
        </p:nvSpPr>
        <p:spPr>
          <a:xfrm>
            <a:off x="581025" y="687387"/>
            <a:ext cx="7989900" cy="1082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g34d8702162e_0_0"/>
          <p:cNvSpPr txBox="1"/>
          <p:nvPr>
            <p:ph idx="12" type="sldNum"/>
          </p:nvPr>
        </p:nvSpPr>
        <p:spPr>
          <a:xfrm>
            <a:off x="179387" y="6570662"/>
            <a:ext cx="504900" cy="216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/20</a:t>
            </a:r>
            <a:endParaRPr/>
          </a:p>
        </p:txBody>
      </p:sp>
      <p:pic>
        <p:nvPicPr>
          <p:cNvPr id="297" name="Google Shape;297;g34d8702162e_0_0" title="Diffie-Hellman Key Exchange - visual select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14473"/>
            <a:ext cx="9143999" cy="5207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8"/>
          <p:cNvSpPr txBox="1"/>
          <p:nvPr>
            <p:ph idx="1" type="body"/>
          </p:nvPr>
        </p:nvSpPr>
        <p:spPr>
          <a:xfrm>
            <a:off x="285750" y="1230312"/>
            <a:ext cx="2701925" cy="6429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None/>
            </a:pPr>
            <a:r>
              <a:rPr b="0" i="0" lang="en-US" sz="2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Alice</a:t>
            </a:r>
            <a:endParaRPr/>
          </a:p>
        </p:txBody>
      </p:sp>
      <p:sp>
        <p:nvSpPr>
          <p:cNvPr id="304" name="Google Shape;304;p8"/>
          <p:cNvSpPr txBox="1"/>
          <p:nvPr>
            <p:ph type="title"/>
          </p:nvPr>
        </p:nvSpPr>
        <p:spPr>
          <a:xfrm>
            <a:off x="468312" y="55562"/>
            <a:ext cx="7989887" cy="409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83C6"/>
              </a:buClr>
              <a:buSzPts val="2500"/>
              <a:buFont typeface="Gill Sans"/>
              <a:buNone/>
            </a:pPr>
            <a:r>
              <a:rPr b="0" i="0" lang="en-US" sz="2500" u="none">
                <a:solidFill>
                  <a:srgbClr val="2683C6"/>
                </a:solidFill>
                <a:latin typeface="Gill Sans"/>
                <a:ea typeface="Gill Sans"/>
                <a:cs typeface="Gill Sans"/>
                <a:sym typeface="Gill Sans"/>
              </a:rPr>
              <a:t>DIFFIE–HELLMAN KEY EXCHANGE: EXAMPLE</a:t>
            </a:r>
            <a:endParaRPr/>
          </a:p>
        </p:txBody>
      </p:sp>
      <p:sp>
        <p:nvSpPr>
          <p:cNvPr id="305" name="Google Shape;305;p8"/>
          <p:cNvSpPr txBox="1"/>
          <p:nvPr>
            <p:ph idx="1" type="body"/>
          </p:nvPr>
        </p:nvSpPr>
        <p:spPr>
          <a:xfrm>
            <a:off x="4714875" y="1214437"/>
            <a:ext cx="4429125" cy="328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8"/>
              <a:buNone/>
            </a:pPr>
            <a:r>
              <a:rPr b="0" i="0" lang="en-US" sz="2400" u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Bob</a:t>
            </a:r>
            <a:endParaRPr/>
          </a:p>
        </p:txBody>
      </p:sp>
      <p:cxnSp>
        <p:nvCxnSpPr>
          <p:cNvPr id="306" name="Google Shape;306;p8"/>
          <p:cNvCxnSpPr/>
          <p:nvPr/>
        </p:nvCxnSpPr>
        <p:spPr>
          <a:xfrm>
            <a:off x="3352800" y="3162300"/>
            <a:ext cx="2133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307" name="Google Shape;307;p8"/>
          <p:cNvCxnSpPr/>
          <p:nvPr/>
        </p:nvCxnSpPr>
        <p:spPr>
          <a:xfrm rot="10800000">
            <a:off x="3352800" y="3771900"/>
            <a:ext cx="2133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308" name="Google Shape;308;p8"/>
          <p:cNvSpPr txBox="1"/>
          <p:nvPr/>
        </p:nvSpPr>
        <p:spPr>
          <a:xfrm>
            <a:off x="250825" y="1790700"/>
            <a:ext cx="3313112" cy="492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Choose random private key</a:t>
            </a:r>
            <a:b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= 5</a:t>
            </a:r>
            <a:endParaRPr/>
          </a:p>
        </p:txBody>
      </p:sp>
      <p:sp>
        <p:nvSpPr>
          <p:cNvPr id="309" name="Google Shape;309;p8"/>
          <p:cNvSpPr txBox="1"/>
          <p:nvPr/>
        </p:nvSpPr>
        <p:spPr>
          <a:xfrm>
            <a:off x="5651500" y="1790700"/>
            <a:ext cx="3313112" cy="492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Choose random private key</a:t>
            </a:r>
            <a:b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 =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12</a:t>
            </a:r>
            <a:endParaRPr/>
          </a:p>
        </p:txBody>
      </p:sp>
      <p:sp>
        <p:nvSpPr>
          <p:cNvPr id="310" name="Google Shape;310;p8"/>
          <p:cNvSpPr txBox="1"/>
          <p:nvPr/>
        </p:nvSpPr>
        <p:spPr>
          <a:xfrm>
            <a:off x="250825" y="2725737"/>
            <a:ext cx="3249612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Compute corresponding public key</a:t>
            </a:r>
            <a:b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= </a:t>
            </a:r>
            <a:r>
              <a:rPr b="0" i="0" lang="en-US" sz="16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g</a:t>
            </a:r>
            <a:r>
              <a:rPr b="0" baseline="30000" i="0" lang="en-US" sz="16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2</a:t>
            </a:r>
            <a:r>
              <a:rPr b="0" baseline="3000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3 mod </a:t>
            </a: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29</a:t>
            </a:r>
            <a:endParaRPr/>
          </a:p>
        </p:txBody>
      </p:sp>
      <p:sp>
        <p:nvSpPr>
          <p:cNvPr id="311" name="Google Shape;311;p8"/>
          <p:cNvSpPr txBox="1"/>
          <p:nvPr/>
        </p:nvSpPr>
        <p:spPr>
          <a:xfrm>
            <a:off x="5651500" y="3302000"/>
            <a:ext cx="302577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Compute correspondig public key</a:t>
            </a:r>
            <a:b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 = </a:t>
            </a:r>
            <a:r>
              <a:rPr b="0" i="0" lang="en-US" sz="16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g</a:t>
            </a:r>
            <a:r>
              <a:rPr b="0" baseline="30000" i="0" lang="en-US" sz="16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2</a:t>
            </a:r>
            <a:r>
              <a:rPr b="0" baseline="3000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7 mod 29</a:t>
            </a:r>
            <a:endParaRPr/>
          </a:p>
        </p:txBody>
      </p:sp>
      <p:sp>
        <p:nvSpPr>
          <p:cNvPr id="312" name="Google Shape;312;p8"/>
          <p:cNvSpPr txBox="1"/>
          <p:nvPr/>
        </p:nvSpPr>
        <p:spPr>
          <a:xfrm>
            <a:off x="250825" y="4167187"/>
            <a:ext cx="3240087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Compute common secret</a:t>
            </a:r>
            <a:b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baseline="-2500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</a:t>
            </a: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B</a:t>
            </a:r>
            <a:r>
              <a:rPr b="0" baseline="3000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="0" i="0" lang="en-US" sz="16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g</a:t>
            </a:r>
            <a:r>
              <a:rPr b="0" baseline="30000" i="0" lang="en-US" sz="16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ba 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7</a:t>
            </a:r>
            <a:r>
              <a:rPr b="0" baseline="3000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0" baseline="3000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16 mod </a:t>
            </a: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29</a:t>
            </a:r>
            <a:endParaRPr/>
          </a:p>
        </p:txBody>
      </p:sp>
      <p:sp>
        <p:nvSpPr>
          <p:cNvPr id="313" name="Google Shape;313;p8"/>
          <p:cNvSpPr txBox="1"/>
          <p:nvPr/>
        </p:nvSpPr>
        <p:spPr>
          <a:xfrm>
            <a:off x="5651500" y="4167187"/>
            <a:ext cx="3240087" cy="492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Compute common secret</a:t>
            </a:r>
            <a:b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k</a:t>
            </a:r>
            <a:r>
              <a:rPr b="0" baseline="-2500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</a:t>
            </a: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A</a:t>
            </a:r>
            <a:r>
              <a:rPr b="0" baseline="3000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</a:t>
            </a:r>
            <a:r>
              <a:rPr b="0" i="0" lang="en-US" sz="16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g</a:t>
            </a:r>
            <a:r>
              <a:rPr b="0" baseline="30000" i="0" lang="en-US" sz="16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ab 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3</a:t>
            </a:r>
            <a:r>
              <a:rPr b="0" baseline="3000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r>
              <a:rPr b="0" baseline="3000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16 mod 29</a:t>
            </a:r>
            <a:endParaRPr/>
          </a:p>
        </p:txBody>
      </p:sp>
      <p:sp>
        <p:nvSpPr>
          <p:cNvPr id="314" name="Google Shape;314;p8"/>
          <p:cNvSpPr txBox="1"/>
          <p:nvPr/>
        </p:nvSpPr>
        <p:spPr>
          <a:xfrm>
            <a:off x="4211637" y="2798762"/>
            <a:ext cx="360362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1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315" name="Google Shape;315;p8"/>
          <p:cNvSpPr txBox="1"/>
          <p:nvPr/>
        </p:nvSpPr>
        <p:spPr>
          <a:xfrm>
            <a:off x="4211637" y="3446462"/>
            <a:ext cx="360362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1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316" name="Google Shape;316;p8"/>
          <p:cNvSpPr txBox="1"/>
          <p:nvPr/>
        </p:nvSpPr>
        <p:spPr>
          <a:xfrm>
            <a:off x="285750" y="811212"/>
            <a:ext cx="8429625" cy="2460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Domain parameters </a:t>
            </a: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=29, </a:t>
            </a: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=2</a:t>
            </a:r>
            <a:endParaRPr/>
          </a:p>
        </p:txBody>
      </p:sp>
      <p:sp>
        <p:nvSpPr>
          <p:cNvPr id="317" name="Google Shape;317;p8"/>
          <p:cNvSpPr txBox="1"/>
          <p:nvPr/>
        </p:nvSpPr>
        <p:spPr>
          <a:xfrm>
            <a:off x="179387" y="6570662"/>
            <a:ext cx="504825" cy="21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94073"/>
              </a:buClr>
              <a:buSzPts val="900"/>
              <a:buFont typeface="Arial"/>
              <a:buNone/>
            </a:pPr>
            <a:fld id="{00000000-1234-1234-1234-123412341234}" type="slidenum">
              <a:rPr b="0" i="0" lang="en-US" sz="900" u="none">
                <a:solidFill>
                  <a:srgbClr val="39407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b="0" i="0" lang="en-US" sz="900" u="none">
                <a:solidFill>
                  <a:srgbClr val="394073"/>
                </a:solidFill>
                <a:latin typeface="Arial"/>
                <a:ea typeface="Arial"/>
                <a:cs typeface="Arial"/>
                <a:sym typeface="Arial"/>
              </a:rPr>
              <a:t>/19</a:t>
            </a:r>
            <a:endParaRPr/>
          </a:p>
        </p:txBody>
      </p:sp>
      <p:sp>
        <p:nvSpPr>
          <p:cNvPr id="318" name="Google Shape;318;p8"/>
          <p:cNvSpPr txBox="1"/>
          <p:nvPr/>
        </p:nvSpPr>
        <p:spPr>
          <a:xfrm>
            <a:off x="2286000" y="5072062"/>
            <a:ext cx="435768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Proof of correctness: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Alice computes: B</a:t>
            </a:r>
            <a:r>
              <a:rPr b="0" baseline="3000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(</a:t>
            </a: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r>
              <a:rPr b="0" baseline="3000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0" baseline="3000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mod p</a:t>
            </a:r>
            <a:b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Bob computes:  A</a:t>
            </a:r>
            <a:r>
              <a:rPr b="0" baseline="3000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(</a:t>
            </a: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r>
              <a:rPr b="0" baseline="3000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0" baseline="3000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 </a:t>
            </a: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mod p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i.e., Alice and Bob compute the same key k</a:t>
            </a:r>
            <a:r>
              <a:rPr b="0" baseline="-2500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</a:t>
            </a:r>
            <a:r>
              <a:rPr b="0" baseline="-2500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!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0"/>
          <p:cNvSpPr txBox="1"/>
          <p:nvPr>
            <p:ph type="title"/>
          </p:nvPr>
        </p:nvSpPr>
        <p:spPr>
          <a:xfrm>
            <a:off x="785812" y="122237"/>
            <a:ext cx="7143750" cy="12350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b="0" i="0" lang="en-US" sz="28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DIFFIE-HELLMAN</a:t>
            </a:r>
            <a:endParaRPr/>
          </a:p>
        </p:txBody>
      </p:sp>
      <p:sp>
        <p:nvSpPr>
          <p:cNvPr id="324" name="Google Shape;324;p10"/>
          <p:cNvSpPr txBox="1"/>
          <p:nvPr>
            <p:ph idx="1" type="body"/>
          </p:nvPr>
        </p:nvSpPr>
        <p:spPr>
          <a:xfrm>
            <a:off x="785812" y="1714500"/>
            <a:ext cx="75184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4800" lvl="0" marL="304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392"/>
              <a:buFont typeface="Noto Sans Symbols"/>
              <a:buChar char="◼"/>
            </a:pP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Subject to </a:t>
            </a:r>
            <a:r>
              <a:rPr b="1" i="0" lang="en-US" sz="26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man-in-the-middle (MiM) </a:t>
            </a: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attack</a:t>
            </a:r>
            <a:endParaRPr/>
          </a:p>
        </p:txBody>
      </p:sp>
      <p:sp>
        <p:nvSpPr>
          <p:cNvPr id="325" name="Google Shape;325;p10"/>
          <p:cNvSpPr txBox="1"/>
          <p:nvPr/>
        </p:nvSpPr>
        <p:spPr>
          <a:xfrm>
            <a:off x="581025" y="6321425"/>
            <a:ext cx="48704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</a:pPr>
            <a:r>
              <a:rPr b="0" i="0" lang="en-US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rPr>
              <a:t>CHAPTER 3   SYMMETRIC KEY CRYPTO.        DR. MUHAMMAD IQBAL HOSSAIN</a:t>
            </a:r>
            <a:endParaRPr/>
          </a:p>
        </p:txBody>
      </p:sp>
      <p:sp>
        <p:nvSpPr>
          <p:cNvPr id="326" name="Google Shape;326;p10"/>
          <p:cNvSpPr txBox="1"/>
          <p:nvPr/>
        </p:nvSpPr>
        <p:spPr>
          <a:xfrm>
            <a:off x="7823200" y="6307137"/>
            <a:ext cx="7699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</a:pPr>
            <a:fld id="{00000000-1234-1234-1234-123412341234}" type="slidenum">
              <a:rPr b="0" i="0" lang="en-US" sz="9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‹#›</a:t>
            </a:fld>
            <a:endParaRPr/>
          </a:p>
        </p:txBody>
      </p:sp>
      <p:cxnSp>
        <p:nvCxnSpPr>
          <p:cNvPr id="327" name="Google Shape;327;p10"/>
          <p:cNvCxnSpPr/>
          <p:nvPr/>
        </p:nvCxnSpPr>
        <p:spPr>
          <a:xfrm rot="-120000">
            <a:off x="1447800" y="3200400"/>
            <a:ext cx="2133600" cy="36512"/>
          </a:xfrm>
          <a:prstGeom prst="straightConnector1">
            <a:avLst/>
          </a:prstGeom>
          <a:noFill/>
          <a:ln cap="flat" cmpd="sng" w="508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328" name="Google Shape;328;p10"/>
          <p:cNvCxnSpPr/>
          <p:nvPr/>
        </p:nvCxnSpPr>
        <p:spPr>
          <a:xfrm rot="10800000">
            <a:off x="5181600" y="3810000"/>
            <a:ext cx="2438400" cy="0"/>
          </a:xfrm>
          <a:prstGeom prst="straightConnector1">
            <a:avLst/>
          </a:prstGeom>
          <a:noFill/>
          <a:ln cap="flat" cmpd="sng" w="508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329" name="Google Shape;329;p10"/>
          <p:cNvSpPr txBox="1"/>
          <p:nvPr/>
        </p:nvSpPr>
        <p:spPr>
          <a:xfrm>
            <a:off x="304800" y="4054475"/>
            <a:ext cx="1244600" cy="517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mic Sans MS"/>
              <a:buNone/>
            </a:pPr>
            <a:r>
              <a:rPr b="0" i="0" lang="en-US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Alice, </a:t>
            </a:r>
            <a:r>
              <a:rPr b="0" i="0" lang="en-US" sz="2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endParaRPr/>
          </a:p>
        </p:txBody>
      </p:sp>
      <p:sp>
        <p:nvSpPr>
          <p:cNvPr id="330" name="Google Shape;330;p10"/>
          <p:cNvSpPr txBox="1"/>
          <p:nvPr/>
        </p:nvSpPr>
        <p:spPr>
          <a:xfrm>
            <a:off x="7696200" y="4038600"/>
            <a:ext cx="1062037" cy="517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mic Sans MS"/>
              <a:buNone/>
            </a:pPr>
            <a:r>
              <a:rPr b="0" i="0" lang="en-US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Bob, </a:t>
            </a:r>
            <a:r>
              <a:rPr b="0" i="0" lang="en-US" sz="2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endParaRPr/>
          </a:p>
        </p:txBody>
      </p:sp>
      <p:sp>
        <p:nvSpPr>
          <p:cNvPr id="331" name="Google Shape;331;p10"/>
          <p:cNvSpPr txBox="1"/>
          <p:nvPr/>
        </p:nvSpPr>
        <p:spPr>
          <a:xfrm>
            <a:off x="1801812" y="2743200"/>
            <a:ext cx="13985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None/>
            </a:pPr>
            <a:r>
              <a:rPr b="0" i="0" lang="en-US" sz="2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g</a:t>
            </a:r>
            <a:r>
              <a:rPr b="0" baseline="30000" i="0" lang="en-US" sz="2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b="0" i="0" lang="en-US" sz="2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mod p</a:t>
            </a:r>
            <a:endParaRPr/>
          </a:p>
        </p:txBody>
      </p:sp>
      <p:sp>
        <p:nvSpPr>
          <p:cNvPr id="332" name="Google Shape;332;p10"/>
          <p:cNvSpPr txBox="1"/>
          <p:nvPr/>
        </p:nvSpPr>
        <p:spPr>
          <a:xfrm>
            <a:off x="5791200" y="3276600"/>
            <a:ext cx="13985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None/>
            </a:pPr>
            <a:r>
              <a:rPr b="0" i="0" lang="en-US" sz="2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g</a:t>
            </a:r>
            <a:r>
              <a:rPr b="0" baseline="30000" i="0" lang="en-US" sz="2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r>
              <a:rPr b="0" i="0" lang="en-US" sz="2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mod p</a:t>
            </a:r>
            <a:endParaRPr/>
          </a:p>
        </p:txBody>
      </p:sp>
      <p:sp>
        <p:nvSpPr>
          <p:cNvPr id="333" name="Google Shape;333;p10"/>
          <p:cNvSpPr txBox="1"/>
          <p:nvPr/>
        </p:nvSpPr>
        <p:spPr>
          <a:xfrm>
            <a:off x="3741737" y="4038600"/>
            <a:ext cx="1287462" cy="517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mic Sans MS"/>
              <a:buNone/>
            </a:pPr>
            <a:r>
              <a:rPr b="0" i="0" lang="en-US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Trudy,</a:t>
            </a:r>
            <a:r>
              <a:rPr b="0" i="0" lang="en-US" sz="2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t</a:t>
            </a:r>
            <a:endParaRPr/>
          </a:p>
        </p:txBody>
      </p:sp>
      <p:cxnSp>
        <p:nvCxnSpPr>
          <p:cNvPr id="334" name="Google Shape;334;p10"/>
          <p:cNvCxnSpPr/>
          <p:nvPr/>
        </p:nvCxnSpPr>
        <p:spPr>
          <a:xfrm>
            <a:off x="5257800" y="3200400"/>
            <a:ext cx="2362200" cy="0"/>
          </a:xfrm>
          <a:prstGeom prst="straightConnector1">
            <a:avLst/>
          </a:prstGeom>
          <a:noFill/>
          <a:ln cap="flat" cmpd="sng" w="508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335" name="Google Shape;335;p10"/>
          <p:cNvCxnSpPr/>
          <p:nvPr/>
        </p:nvCxnSpPr>
        <p:spPr>
          <a:xfrm rot="10800000">
            <a:off x="1371600" y="3810000"/>
            <a:ext cx="2209800" cy="0"/>
          </a:xfrm>
          <a:prstGeom prst="straightConnector1">
            <a:avLst/>
          </a:prstGeom>
          <a:noFill/>
          <a:ln cap="flat" cmpd="sng" w="508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336" name="Google Shape;336;p10"/>
          <p:cNvSpPr txBox="1"/>
          <p:nvPr/>
        </p:nvSpPr>
        <p:spPr>
          <a:xfrm>
            <a:off x="1781175" y="3276600"/>
            <a:ext cx="13430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None/>
            </a:pPr>
            <a:r>
              <a:rPr b="0" i="0" lang="en-US" sz="2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g</a:t>
            </a:r>
            <a:r>
              <a:rPr b="0" baseline="30000" i="0" lang="en-US" sz="2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t</a:t>
            </a:r>
            <a:r>
              <a:rPr b="0" i="0" lang="en-US" sz="2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mod p</a:t>
            </a:r>
            <a:endParaRPr/>
          </a:p>
        </p:txBody>
      </p:sp>
      <p:sp>
        <p:nvSpPr>
          <p:cNvPr id="337" name="Google Shape;337;p10"/>
          <p:cNvSpPr txBox="1"/>
          <p:nvPr/>
        </p:nvSpPr>
        <p:spPr>
          <a:xfrm>
            <a:off x="5791200" y="2743200"/>
            <a:ext cx="13430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None/>
            </a:pPr>
            <a:r>
              <a:rPr b="0" i="0" lang="en-US" sz="2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g</a:t>
            </a:r>
            <a:r>
              <a:rPr b="0" baseline="30000" i="0" lang="en-US" sz="2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t</a:t>
            </a:r>
            <a:r>
              <a:rPr b="0" i="0" lang="en-US" sz="2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mod p</a:t>
            </a:r>
            <a:endParaRPr/>
          </a:p>
        </p:txBody>
      </p:sp>
      <p:sp>
        <p:nvSpPr>
          <p:cNvPr id="338" name="Google Shape;338;p10"/>
          <p:cNvSpPr txBox="1"/>
          <p:nvPr/>
        </p:nvSpPr>
        <p:spPr>
          <a:xfrm>
            <a:off x="785812" y="4724400"/>
            <a:ext cx="7900987" cy="1419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20"/>
              <a:buFont typeface="Noto Sans Symbols"/>
              <a:buChar char="●"/>
            </a:pPr>
            <a:r>
              <a:rPr b="0" i="0" lang="en-US" sz="26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Trudy shares secret </a:t>
            </a:r>
            <a:r>
              <a:rPr b="0" i="0" lang="en-US" sz="26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g</a:t>
            </a:r>
            <a:r>
              <a:rPr b="0" baseline="30000" i="0" lang="en-US" sz="26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at</a:t>
            </a:r>
            <a:r>
              <a:rPr b="0" i="0" lang="en-US" sz="26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mod p</a:t>
            </a:r>
            <a:r>
              <a:rPr b="0" i="0" lang="en-US" sz="26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with Alice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820"/>
              <a:buFont typeface="Noto Sans Symbols"/>
              <a:buChar char="●"/>
            </a:pPr>
            <a:r>
              <a:rPr b="0" i="0" lang="en-US" sz="26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Trudy shares secret </a:t>
            </a:r>
            <a:r>
              <a:rPr b="0" i="0" lang="en-US" sz="26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g</a:t>
            </a:r>
            <a:r>
              <a:rPr b="0" baseline="30000" i="0" lang="en-US" sz="26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bt</a:t>
            </a:r>
            <a:r>
              <a:rPr b="0" i="0" lang="en-US" sz="26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mod p</a:t>
            </a:r>
            <a:r>
              <a:rPr b="0" i="0" lang="en-US" sz="26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with Bob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820"/>
              <a:buFont typeface="Noto Sans Symbols"/>
              <a:buChar char="●"/>
            </a:pPr>
            <a:r>
              <a:rPr b="0" i="0" lang="en-US" sz="2600" u="non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Alice and Bob don’t know Trudy exists!</a:t>
            </a:r>
            <a:endParaRPr/>
          </a:p>
        </p:txBody>
      </p:sp>
      <p:pic>
        <p:nvPicPr>
          <p:cNvPr id="339" name="Google Shape;33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9250" y="2566987"/>
            <a:ext cx="946150" cy="1624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6200" y="2438400"/>
            <a:ext cx="1076325" cy="16652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86200" y="2743200"/>
            <a:ext cx="1039812" cy="1282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10"/>
          <p:cNvSpPr txBox="1"/>
          <p:nvPr/>
        </p:nvSpPr>
        <p:spPr>
          <a:xfrm>
            <a:off x="5559425" y="630713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1"/>
          <p:cNvSpPr txBox="1"/>
          <p:nvPr>
            <p:ph type="title"/>
          </p:nvPr>
        </p:nvSpPr>
        <p:spPr>
          <a:xfrm>
            <a:off x="785812" y="122237"/>
            <a:ext cx="7143750" cy="12350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b="0" i="0" lang="en-US" sz="28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DIFFIE-HELLMAN</a:t>
            </a:r>
            <a:endParaRPr/>
          </a:p>
        </p:txBody>
      </p:sp>
      <p:sp>
        <p:nvSpPr>
          <p:cNvPr id="348" name="Google Shape;348;p11"/>
          <p:cNvSpPr txBox="1"/>
          <p:nvPr>
            <p:ph idx="1" type="body"/>
          </p:nvPr>
        </p:nvSpPr>
        <p:spPr>
          <a:xfrm>
            <a:off x="484187" y="2065337"/>
            <a:ext cx="7747000" cy="423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4800" lvl="0" marL="30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to prevent MiM attack? </a:t>
            </a:r>
            <a:endParaRPr/>
          </a:p>
          <a:p>
            <a:pPr indent="-304800" lvl="0" marL="304800" marR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Solutions</a:t>
            </a:r>
            <a:endParaRPr/>
          </a:p>
          <a:p>
            <a:pPr indent="-514350" lvl="1" marL="85725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omic Sans MS"/>
              <a:buAutoNum type="arabicPeriod"/>
            </a:pPr>
            <a:r>
              <a:rPr b="0" i="0" lang="en-US" sz="24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Encrypt DH exchange with symmetric key</a:t>
            </a:r>
            <a:endParaRPr/>
          </a:p>
          <a:p>
            <a:pPr indent="-514350" lvl="1" marL="85725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omic Sans MS"/>
              <a:buAutoNum type="arabicPeriod"/>
            </a:pPr>
            <a:r>
              <a:rPr b="0" i="0" lang="en-US" sz="24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Encrypt DH exchange with public key</a:t>
            </a:r>
            <a:endParaRPr/>
          </a:p>
          <a:p>
            <a:pPr indent="-514350" lvl="1" marL="85725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omic Sans MS"/>
              <a:buAutoNum type="arabicPeriod"/>
            </a:pPr>
            <a:r>
              <a:rPr b="0" i="0" lang="en-US" sz="24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 DH values with private key</a:t>
            </a:r>
            <a:endParaRPr/>
          </a:p>
          <a:p>
            <a:pPr indent="-514350" lvl="1" marL="85725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omic Sans MS"/>
              <a:buAutoNum type="arabicPeriod"/>
            </a:pPr>
            <a:r>
              <a:rPr b="0" i="0" lang="en-US" sz="24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Other?</a:t>
            </a:r>
            <a:endParaRPr/>
          </a:p>
          <a:p>
            <a:pPr indent="-304800" lvl="0" marL="304800" marR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</a:t>
            </a:r>
            <a:r>
              <a:rPr b="1" i="0" lang="en-US" sz="2800" u="none" cap="none" strike="noStrike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MUST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be aware of MiM attack on Diffie-Hellman</a:t>
            </a:r>
            <a:endParaRPr/>
          </a:p>
        </p:txBody>
      </p:sp>
      <p:sp>
        <p:nvSpPr>
          <p:cNvPr id="349" name="Google Shape;349;p11"/>
          <p:cNvSpPr txBox="1"/>
          <p:nvPr/>
        </p:nvSpPr>
        <p:spPr>
          <a:xfrm>
            <a:off x="581025" y="6321425"/>
            <a:ext cx="48704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</a:pPr>
            <a:r>
              <a:rPr b="0" i="0" lang="en-US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rPr>
              <a:t>CHAPTER 3   SYMMETRIC KEY CRYPTO.        DR. MUHAMMAD IQBAL HOSSAIN</a:t>
            </a:r>
            <a:endParaRPr/>
          </a:p>
        </p:txBody>
      </p:sp>
      <p:sp>
        <p:nvSpPr>
          <p:cNvPr id="350" name="Google Shape;350;p11"/>
          <p:cNvSpPr txBox="1"/>
          <p:nvPr/>
        </p:nvSpPr>
        <p:spPr>
          <a:xfrm>
            <a:off x="7823200" y="6307137"/>
            <a:ext cx="7699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</a:pPr>
            <a:fld id="{00000000-1234-1234-1234-123412341234}" type="slidenum">
              <a:rPr b="0" i="0" lang="en-US" sz="9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‹#›</a:t>
            </a:fld>
            <a:endParaRPr/>
          </a:p>
        </p:txBody>
      </p:sp>
      <p:sp>
        <p:nvSpPr>
          <p:cNvPr id="351" name="Google Shape;351;p11"/>
          <p:cNvSpPr txBox="1"/>
          <p:nvPr/>
        </p:nvSpPr>
        <p:spPr>
          <a:xfrm>
            <a:off x="5559425" y="630713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2"/>
          <p:cNvSpPr txBox="1"/>
          <p:nvPr>
            <p:ph type="title"/>
          </p:nvPr>
        </p:nvSpPr>
        <p:spPr>
          <a:xfrm>
            <a:off x="428625" y="2071687"/>
            <a:ext cx="8215312" cy="22764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b="0" i="0" lang="en-US" sz="40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ECC:</a:t>
            </a:r>
            <a:br>
              <a:rPr b="0" i="0" lang="en-US" sz="40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</a:br>
            <a:r>
              <a:rPr b="0" i="0" lang="en-US" sz="40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ELLIPTIC CURVE CRYPTOGRAPHY</a:t>
            </a:r>
            <a:endParaRPr/>
          </a:p>
        </p:txBody>
      </p:sp>
      <p:sp>
        <p:nvSpPr>
          <p:cNvPr id="357" name="Google Shape;357;p12"/>
          <p:cNvSpPr txBox="1"/>
          <p:nvPr/>
        </p:nvSpPr>
        <p:spPr>
          <a:xfrm>
            <a:off x="581025" y="6321425"/>
            <a:ext cx="48704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</a:pPr>
            <a:r>
              <a:rPr b="0" i="0" lang="en-US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rPr>
              <a:t>CHAPTER 3   SYMMETRIC KEY CRYPTO.        DR. MUHAMMAD IQBAL HOSSAIN</a:t>
            </a:r>
            <a:endParaRPr/>
          </a:p>
        </p:txBody>
      </p:sp>
      <p:sp>
        <p:nvSpPr>
          <p:cNvPr id="358" name="Google Shape;358;p12"/>
          <p:cNvSpPr txBox="1"/>
          <p:nvPr/>
        </p:nvSpPr>
        <p:spPr>
          <a:xfrm>
            <a:off x="7823200" y="6307137"/>
            <a:ext cx="7699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</a:pPr>
            <a:fld id="{00000000-1234-1234-1234-123412341234}" type="slidenum">
              <a:rPr b="0" i="0" lang="en-US" sz="9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‹#›</a:t>
            </a:fld>
            <a:endParaRPr/>
          </a:p>
        </p:txBody>
      </p:sp>
      <p:sp>
        <p:nvSpPr>
          <p:cNvPr id="359" name="Google Shape;359;p12"/>
          <p:cNvSpPr txBox="1"/>
          <p:nvPr/>
        </p:nvSpPr>
        <p:spPr>
          <a:xfrm>
            <a:off x="5559425" y="630713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3"/>
          <p:cNvSpPr txBox="1"/>
          <p:nvPr>
            <p:ph type="title"/>
          </p:nvPr>
        </p:nvSpPr>
        <p:spPr>
          <a:xfrm>
            <a:off x="785812" y="122237"/>
            <a:ext cx="7143750" cy="12350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b="0" i="0" lang="en-US" sz="28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ELLIPTIC CURVE CRYPTO (ECC)</a:t>
            </a:r>
            <a:endParaRPr/>
          </a:p>
        </p:txBody>
      </p:sp>
      <p:sp>
        <p:nvSpPr>
          <p:cNvPr id="365" name="Google Shape;365;p13"/>
          <p:cNvSpPr txBox="1"/>
          <p:nvPr>
            <p:ph idx="1" type="body"/>
          </p:nvPr>
        </p:nvSpPr>
        <p:spPr>
          <a:xfrm>
            <a:off x="785812" y="1719262"/>
            <a:ext cx="7900987" cy="4138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4800" lvl="0" marL="30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“Elliptic curve” is </a:t>
            </a:r>
            <a:r>
              <a:rPr b="1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cryptosystem</a:t>
            </a:r>
            <a:endParaRPr/>
          </a:p>
          <a:p>
            <a:pPr indent="-304800" lvl="1" marL="6286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40"/>
              <a:buFont typeface="Noto Sans Symbols"/>
              <a:buChar char="◼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Elliptic curves are a different way to do the math in public key system</a:t>
            </a:r>
            <a:endParaRPr/>
          </a:p>
          <a:p>
            <a:pPr indent="-304800" lvl="0" marL="30480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Elliptic curve versions of DH, RSA, etc.</a:t>
            </a:r>
            <a:endParaRPr/>
          </a:p>
          <a:p>
            <a:pPr indent="-304800" lvl="0" marL="30480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0" i="0" lang="en-US" sz="24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Elliptic curves may be more efficient</a:t>
            </a:r>
            <a:endParaRPr/>
          </a:p>
          <a:p>
            <a:pPr indent="-304800" lvl="1" marL="6286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40"/>
              <a:buFont typeface="Noto Sans Symbols"/>
              <a:buChar char="◼"/>
            </a:pPr>
            <a:r>
              <a:rPr b="0" i="0" lang="en-US" sz="20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Fewer bits needed for same security</a:t>
            </a:r>
            <a:endParaRPr/>
          </a:p>
          <a:p>
            <a:pPr indent="-304800" lvl="1" marL="6286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40"/>
              <a:buFont typeface="Noto Sans Symbols"/>
              <a:buChar char="◼"/>
            </a:pPr>
            <a:r>
              <a:rPr b="0" i="0" lang="en-US" sz="20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But the operations are more complex</a:t>
            </a:r>
            <a:endParaRPr/>
          </a:p>
        </p:txBody>
      </p:sp>
      <p:sp>
        <p:nvSpPr>
          <p:cNvPr id="366" name="Google Shape;366;p13"/>
          <p:cNvSpPr txBox="1"/>
          <p:nvPr/>
        </p:nvSpPr>
        <p:spPr>
          <a:xfrm>
            <a:off x="581025" y="6321425"/>
            <a:ext cx="48704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</a:pPr>
            <a:r>
              <a:rPr b="0" i="0" lang="en-US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rPr>
              <a:t>CHAPTER 3   SYMMETRIC KEY CRYPTO.        DR. MUHAMMAD IQBAL HOSSAIN</a:t>
            </a:r>
            <a:endParaRPr/>
          </a:p>
        </p:txBody>
      </p:sp>
      <p:sp>
        <p:nvSpPr>
          <p:cNvPr id="367" name="Google Shape;367;p13"/>
          <p:cNvSpPr txBox="1"/>
          <p:nvPr/>
        </p:nvSpPr>
        <p:spPr>
          <a:xfrm>
            <a:off x="7823200" y="6307137"/>
            <a:ext cx="7699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</a:pPr>
            <a:fld id="{00000000-1234-1234-1234-123412341234}" type="slidenum">
              <a:rPr b="0" i="0" lang="en-US" sz="9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‹#›</a:t>
            </a:fld>
            <a:endParaRPr/>
          </a:p>
        </p:txBody>
      </p:sp>
      <p:sp>
        <p:nvSpPr>
          <p:cNvPr id="368" name="Google Shape;368;p13"/>
          <p:cNvSpPr txBox="1"/>
          <p:nvPr/>
        </p:nvSpPr>
        <p:spPr>
          <a:xfrm>
            <a:off x="5559425" y="630713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4"/>
          <p:cNvSpPr txBox="1"/>
          <p:nvPr>
            <p:ph type="title"/>
          </p:nvPr>
        </p:nvSpPr>
        <p:spPr>
          <a:xfrm>
            <a:off x="785812" y="122237"/>
            <a:ext cx="7143750" cy="12350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b="0" i="0" lang="en-US" sz="28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WHAT IS AN ELLIPTIC CURVE?</a:t>
            </a:r>
            <a:endParaRPr/>
          </a:p>
        </p:txBody>
      </p:sp>
      <p:sp>
        <p:nvSpPr>
          <p:cNvPr id="374" name="Google Shape;374;p14"/>
          <p:cNvSpPr txBox="1"/>
          <p:nvPr>
            <p:ph idx="1" type="body"/>
          </p:nvPr>
        </p:nvSpPr>
        <p:spPr>
          <a:xfrm>
            <a:off x="785812" y="1719262"/>
            <a:ext cx="7497762" cy="4329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4800" lvl="0" marL="30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elliptic curve E is the graph of an equation of the form</a:t>
            </a:r>
            <a:endParaRPr/>
          </a:p>
          <a:p>
            <a:pPr indent="-304800" lvl="0" marL="30480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b="1" i="0" lang="en-US" sz="24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="1" baseline="30000" i="0" lang="en-US" sz="24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1" i="0" lang="en-US" sz="24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x</a:t>
            </a:r>
            <a:r>
              <a:rPr b="1" baseline="30000" i="0" lang="en-US" sz="24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b="1" i="0" lang="en-US" sz="24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ax + b</a:t>
            </a:r>
            <a:endParaRPr/>
          </a:p>
          <a:p>
            <a:pPr indent="-304800" lvl="0" marL="30480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Also includes a “</a:t>
            </a:r>
            <a:r>
              <a:rPr b="0" i="0" lang="en-US" sz="24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point at infinity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” : </a:t>
            </a:r>
            <a:r>
              <a:rPr b="1" i="0" lang="en-US" sz="24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/>
          </a:p>
          <a:p>
            <a:pPr indent="-304800" lvl="0" marL="30480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do elliptic curves look like?</a:t>
            </a:r>
            <a:endParaRPr/>
          </a:p>
          <a:p>
            <a:pPr indent="-304800" lvl="0" marL="30480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See the next slide!</a:t>
            </a:r>
            <a:endParaRPr/>
          </a:p>
        </p:txBody>
      </p:sp>
      <p:sp>
        <p:nvSpPr>
          <p:cNvPr id="375" name="Google Shape;375;p14"/>
          <p:cNvSpPr txBox="1"/>
          <p:nvPr/>
        </p:nvSpPr>
        <p:spPr>
          <a:xfrm>
            <a:off x="581025" y="6321425"/>
            <a:ext cx="48704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</a:pPr>
            <a:r>
              <a:rPr b="0" i="0" lang="en-US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rPr>
              <a:t>CHAPTER 3   SYMMETRIC KEY CRYPTO.        DR. MUHAMMAD IQBAL HOSSAIN</a:t>
            </a:r>
            <a:endParaRPr/>
          </a:p>
        </p:txBody>
      </p:sp>
      <p:sp>
        <p:nvSpPr>
          <p:cNvPr id="376" name="Google Shape;376;p14"/>
          <p:cNvSpPr txBox="1"/>
          <p:nvPr/>
        </p:nvSpPr>
        <p:spPr>
          <a:xfrm>
            <a:off x="7823200" y="6307137"/>
            <a:ext cx="7699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</a:pPr>
            <a:fld id="{00000000-1234-1234-1234-123412341234}" type="slidenum">
              <a:rPr b="0" i="0" lang="en-US" sz="9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‹#›</a:t>
            </a:fld>
            <a:endParaRPr/>
          </a:p>
        </p:txBody>
      </p:sp>
      <p:sp>
        <p:nvSpPr>
          <p:cNvPr id="377" name="Google Shape;377;p14"/>
          <p:cNvSpPr txBox="1"/>
          <p:nvPr/>
        </p:nvSpPr>
        <p:spPr>
          <a:xfrm>
            <a:off x="5559425" y="630713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2" name="Google Shape;38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8675" y="2547937"/>
            <a:ext cx="2895600" cy="2533650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15"/>
          <p:cNvSpPr txBox="1"/>
          <p:nvPr>
            <p:ph type="title"/>
          </p:nvPr>
        </p:nvSpPr>
        <p:spPr>
          <a:xfrm>
            <a:off x="785812" y="122237"/>
            <a:ext cx="7143750" cy="12350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b="0" i="0" lang="en-US" sz="28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ELLIPTIC CURVE PICTURE</a:t>
            </a:r>
            <a:endParaRPr/>
          </a:p>
        </p:txBody>
      </p:sp>
      <p:sp>
        <p:nvSpPr>
          <p:cNvPr id="384" name="Google Shape;384;p15"/>
          <p:cNvSpPr txBox="1"/>
          <p:nvPr>
            <p:ph idx="1" type="body"/>
          </p:nvPr>
        </p:nvSpPr>
        <p:spPr>
          <a:xfrm>
            <a:off x="4286250" y="1714500"/>
            <a:ext cx="4246562" cy="4451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04800" lvl="0" marL="304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392"/>
              <a:buFont typeface="Noto Sans Symbols"/>
              <a:buChar char="◼"/>
            </a:pP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Consider elliptic curve</a:t>
            </a:r>
            <a:endParaRPr/>
          </a:p>
          <a:p>
            <a:pPr indent="-304800" lvl="1" marL="628650" marR="0" rtl="0" algn="l">
              <a:lnSpc>
                <a:spcPct val="90000"/>
              </a:lnSpc>
              <a:spcBef>
                <a:spcPts val="1040"/>
              </a:spcBef>
              <a:spcAft>
                <a:spcPts val="0"/>
              </a:spcAft>
              <a:buClr>
                <a:schemeClr val="accent2"/>
              </a:buClr>
              <a:buSzPts val="2024"/>
              <a:buFont typeface="Noto Sans Symbols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0" lang="en-US" sz="22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E:  y</a:t>
            </a:r>
            <a:r>
              <a:rPr b="0" baseline="30000" i="0" lang="en-US" sz="22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n-US" sz="22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x</a:t>
            </a:r>
            <a:r>
              <a:rPr b="0" baseline="30000" i="0" lang="en-US" sz="22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b="0" i="0" lang="en-US" sz="22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x + 1</a:t>
            </a:r>
            <a:endParaRPr/>
          </a:p>
          <a:p>
            <a:pPr indent="-304800" lvl="0" marL="304800" marR="0" rtl="0" algn="l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accent2"/>
              </a:buClr>
              <a:buSzPts val="2392"/>
              <a:buFont typeface="Noto Sans Symbols"/>
              <a:buChar char="◼"/>
            </a:pP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P</a:t>
            </a:r>
            <a:r>
              <a:rPr b="0" baseline="-2500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P</a:t>
            </a:r>
            <a:r>
              <a:rPr b="0" baseline="-2500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are on E, we can define </a:t>
            </a:r>
            <a:endParaRPr/>
          </a:p>
          <a:p>
            <a:pPr indent="-304800" lvl="0" marL="304800" marR="0" rtl="0" algn="l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accent2"/>
              </a:buClr>
              <a:buSzPts val="2392"/>
              <a:buFont typeface="Noto Sans Symbols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b="0" i="0" lang="en-US" sz="26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="0" baseline="-25000" i="0" lang="en-US" sz="26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b="0" i="0" lang="en-US" sz="26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P</a:t>
            </a:r>
            <a:r>
              <a:rPr b="0" baseline="-25000" i="0" lang="en-US" sz="26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en-US" sz="26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P</a:t>
            </a:r>
            <a:r>
              <a:rPr b="0" baseline="-25000" i="0" lang="en-US" sz="26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n-US" sz="26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-304800" lvl="0" marL="304800" marR="0" rtl="0" algn="l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accent2"/>
              </a:buClr>
              <a:buSzPts val="2392"/>
              <a:buFont typeface="Noto Sans Symbols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as shown in picture</a:t>
            </a:r>
            <a:endParaRPr/>
          </a:p>
          <a:p>
            <a:pPr indent="-304800" lvl="0" marL="304800" marR="0" rtl="0" algn="l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accent2"/>
              </a:buClr>
              <a:buSzPts val="2392"/>
              <a:buFont typeface="Noto Sans Symbols"/>
              <a:buChar char="◼"/>
            </a:pPr>
            <a:r>
              <a:rPr b="1" i="0" lang="en-US" sz="26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Addition is all we need</a:t>
            </a:r>
            <a:endParaRPr/>
          </a:p>
          <a:p>
            <a:pPr indent="-304800" lvl="0" marL="304800" marR="0" rtl="0" algn="l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accent2"/>
              </a:buClr>
              <a:buSzPts val="2392"/>
              <a:buFont typeface="Noto Sans Symbols"/>
              <a:buChar char="◼"/>
            </a:pP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discrete points, we add “mod p” to the EC</a:t>
            </a:r>
            <a:endParaRPr/>
          </a:p>
        </p:txBody>
      </p:sp>
      <p:sp>
        <p:nvSpPr>
          <p:cNvPr id="385" name="Google Shape;385;p15"/>
          <p:cNvSpPr txBox="1"/>
          <p:nvPr/>
        </p:nvSpPr>
        <p:spPr>
          <a:xfrm>
            <a:off x="581025" y="6321425"/>
            <a:ext cx="48704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</a:pPr>
            <a:r>
              <a:rPr b="0" i="0" lang="en-US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rPr>
              <a:t>CHAPTER 3   SYMMETRIC KEY CRYPTO.        DR. MUHAMMAD IQBAL HOSSAIN</a:t>
            </a:r>
            <a:endParaRPr/>
          </a:p>
        </p:txBody>
      </p:sp>
      <p:sp>
        <p:nvSpPr>
          <p:cNvPr id="386" name="Google Shape;386;p15"/>
          <p:cNvSpPr txBox="1"/>
          <p:nvPr/>
        </p:nvSpPr>
        <p:spPr>
          <a:xfrm>
            <a:off x="7823200" y="6307137"/>
            <a:ext cx="7699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</a:pPr>
            <a:fld id="{00000000-1234-1234-1234-123412341234}" type="slidenum">
              <a:rPr b="0" i="0" lang="en-US" sz="9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‹#›</a:t>
            </a:fld>
            <a:endParaRPr/>
          </a:p>
        </p:txBody>
      </p:sp>
      <p:cxnSp>
        <p:nvCxnSpPr>
          <p:cNvPr id="387" name="Google Shape;387;p15"/>
          <p:cNvCxnSpPr/>
          <p:nvPr/>
        </p:nvCxnSpPr>
        <p:spPr>
          <a:xfrm flipH="1" rot="10800000">
            <a:off x="828675" y="3081337"/>
            <a:ext cx="29718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388" name="Google Shape;388;p15"/>
          <p:cNvSpPr/>
          <p:nvPr/>
        </p:nvSpPr>
        <p:spPr>
          <a:xfrm>
            <a:off x="919162" y="3478212"/>
            <a:ext cx="109537" cy="109537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389" name="Google Shape;389;p15"/>
          <p:cNvSpPr/>
          <p:nvPr/>
        </p:nvSpPr>
        <p:spPr>
          <a:xfrm>
            <a:off x="2198687" y="3276600"/>
            <a:ext cx="109537" cy="109537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390" name="Google Shape;390;p15"/>
          <p:cNvSpPr/>
          <p:nvPr/>
        </p:nvSpPr>
        <p:spPr>
          <a:xfrm>
            <a:off x="3005137" y="3157537"/>
            <a:ext cx="109537" cy="109537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cxnSp>
        <p:nvCxnSpPr>
          <p:cNvPr id="391" name="Google Shape;391;p15"/>
          <p:cNvCxnSpPr/>
          <p:nvPr/>
        </p:nvCxnSpPr>
        <p:spPr>
          <a:xfrm>
            <a:off x="3057525" y="2166937"/>
            <a:ext cx="0" cy="3200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392" name="Google Shape;392;p15"/>
          <p:cNvSpPr/>
          <p:nvPr/>
        </p:nvSpPr>
        <p:spPr>
          <a:xfrm>
            <a:off x="3005137" y="4376737"/>
            <a:ext cx="109537" cy="109537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393" name="Google Shape;393;p15"/>
          <p:cNvSpPr txBox="1"/>
          <p:nvPr/>
        </p:nvSpPr>
        <p:spPr>
          <a:xfrm>
            <a:off x="600075" y="3081337"/>
            <a:ext cx="446087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"/>
              <a:buNone/>
            </a:pPr>
            <a:r>
              <a:rPr b="0" i="0" lang="en-US" sz="200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P</a:t>
            </a:r>
            <a:r>
              <a:rPr b="0" baseline="-25000" i="0" lang="en-US" sz="200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1</a:t>
            </a:r>
            <a:endParaRPr/>
          </a:p>
        </p:txBody>
      </p:sp>
      <p:sp>
        <p:nvSpPr>
          <p:cNvPr id="394" name="Google Shape;394;p15"/>
          <p:cNvSpPr txBox="1"/>
          <p:nvPr/>
        </p:nvSpPr>
        <p:spPr>
          <a:xfrm>
            <a:off x="2124075" y="2852737"/>
            <a:ext cx="446087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"/>
              <a:buNone/>
            </a:pPr>
            <a:r>
              <a:rPr b="0" i="0" lang="en-US" sz="200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P</a:t>
            </a:r>
            <a:r>
              <a:rPr b="0" baseline="-25000" i="0" lang="en-US" sz="200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2</a:t>
            </a:r>
            <a:endParaRPr/>
          </a:p>
        </p:txBody>
      </p:sp>
      <p:sp>
        <p:nvSpPr>
          <p:cNvPr id="395" name="Google Shape;395;p15"/>
          <p:cNvSpPr txBox="1"/>
          <p:nvPr/>
        </p:nvSpPr>
        <p:spPr>
          <a:xfrm>
            <a:off x="3038475" y="4071937"/>
            <a:ext cx="446087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"/>
              <a:buNone/>
            </a:pPr>
            <a:r>
              <a:rPr b="0" i="0" lang="en-US" sz="200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P</a:t>
            </a:r>
            <a:r>
              <a:rPr b="0" baseline="-25000" i="0" lang="en-US" sz="200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3</a:t>
            </a:r>
            <a:endParaRPr/>
          </a:p>
        </p:txBody>
      </p:sp>
      <p:cxnSp>
        <p:nvCxnSpPr>
          <p:cNvPr id="396" name="Google Shape;396;p15"/>
          <p:cNvCxnSpPr/>
          <p:nvPr/>
        </p:nvCxnSpPr>
        <p:spPr>
          <a:xfrm flipH="1" rot="10800000">
            <a:off x="676275" y="3789362"/>
            <a:ext cx="3352800" cy="444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97" name="Google Shape;397;p15"/>
          <p:cNvCxnSpPr/>
          <p:nvPr/>
        </p:nvCxnSpPr>
        <p:spPr>
          <a:xfrm>
            <a:off x="1514475" y="2166937"/>
            <a:ext cx="0" cy="3200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398" name="Google Shape;398;p15"/>
          <p:cNvSpPr txBox="1"/>
          <p:nvPr/>
        </p:nvSpPr>
        <p:spPr>
          <a:xfrm>
            <a:off x="3397250" y="3746500"/>
            <a:ext cx="3365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"/>
              <a:buNone/>
            </a:pPr>
            <a:r>
              <a:rPr b="0" i="0" lang="en-US" sz="200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x</a:t>
            </a:r>
            <a:endParaRPr/>
          </a:p>
        </p:txBody>
      </p:sp>
      <p:sp>
        <p:nvSpPr>
          <p:cNvPr id="399" name="Google Shape;399;p15"/>
          <p:cNvSpPr txBox="1"/>
          <p:nvPr/>
        </p:nvSpPr>
        <p:spPr>
          <a:xfrm>
            <a:off x="1362075" y="1785937"/>
            <a:ext cx="3111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"/>
              <a:buNone/>
            </a:pPr>
            <a:r>
              <a:rPr b="0" i="0" lang="en-US" sz="200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y</a:t>
            </a:r>
            <a:endParaRPr/>
          </a:p>
        </p:txBody>
      </p:sp>
      <p:sp>
        <p:nvSpPr>
          <p:cNvPr id="400" name="Google Shape;400;p15"/>
          <p:cNvSpPr txBox="1"/>
          <p:nvPr/>
        </p:nvSpPr>
        <p:spPr>
          <a:xfrm>
            <a:off x="5559425" y="630713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6"/>
          <p:cNvSpPr txBox="1"/>
          <p:nvPr/>
        </p:nvSpPr>
        <p:spPr>
          <a:xfrm>
            <a:off x="5559425" y="630713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406" name="Google Shape;406;p16"/>
          <p:cNvSpPr txBox="1"/>
          <p:nvPr/>
        </p:nvSpPr>
        <p:spPr>
          <a:xfrm>
            <a:off x="581025" y="6321425"/>
            <a:ext cx="48704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</a:pPr>
            <a:r>
              <a:rPr b="0" i="0" lang="en-US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rPr>
              <a:t>CHAPTER 3   SYMMETRIC KEY CRYPTO.        DR. MUHAMMAD IQBAL HOSSAIN</a:t>
            </a:r>
            <a:endParaRPr/>
          </a:p>
        </p:txBody>
      </p:sp>
      <p:sp>
        <p:nvSpPr>
          <p:cNvPr id="407" name="Google Shape;407;p16"/>
          <p:cNvSpPr txBox="1"/>
          <p:nvPr/>
        </p:nvSpPr>
        <p:spPr>
          <a:xfrm>
            <a:off x="7823200" y="6307137"/>
            <a:ext cx="7699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</a:pPr>
            <a:fld id="{00000000-1234-1234-1234-123412341234}" type="slidenum">
              <a:rPr b="0" i="0" lang="en-US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rPr>
              <a:t>‹#›</a:t>
            </a:fld>
            <a:endParaRPr/>
          </a:p>
        </p:txBody>
      </p:sp>
      <p:graphicFrame>
        <p:nvGraphicFramePr>
          <p:cNvPr id="408" name="Google Shape;408;p16"/>
          <p:cNvGraphicFramePr/>
          <p:nvPr/>
        </p:nvGraphicFramePr>
        <p:xfrm>
          <a:off x="725487" y="19891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{2C198481-A974-40F2-9E6A-14EA53DCA851}</a:tableStyleId>
              </a:tblPr>
              <a:tblGrid>
                <a:gridCol w="1589075"/>
                <a:gridCol w="1179500"/>
                <a:gridCol w="1411275"/>
                <a:gridCol w="3513125"/>
              </a:tblGrid>
              <a:tr h="488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r>
                        <a:rPr b="0" i="1" lang="en-US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Symmetric</a:t>
                      </a:r>
                      <a:endParaRPr/>
                    </a:p>
                  </a:txBody>
                  <a:tcPr marT="47200" marB="47200" marR="91425" marL="91425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0E1">
                        <a:alpha val="4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r>
                        <a:rPr b="0" i="1" lang="en-US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ECC</a:t>
                      </a:r>
                      <a:endParaRPr/>
                    </a:p>
                  </a:txBody>
                  <a:tcPr marT="47200" marB="4720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0E1">
                        <a:alpha val="4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r>
                        <a:rPr b="0" i="1" lang="en-US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RSA, DL</a:t>
                      </a:r>
                      <a:endParaRPr/>
                    </a:p>
                  </a:txBody>
                  <a:tcPr marT="47200" marB="4720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0E1">
                        <a:alpha val="4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r>
                        <a:rPr b="0" i="1" lang="en-US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Remark</a:t>
                      </a:r>
                      <a:endParaRPr/>
                    </a:p>
                  </a:txBody>
                  <a:tcPr marT="47200" marB="4720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0E1">
                        <a:alpha val="49803"/>
                      </a:srgbClr>
                    </a:solidFill>
                  </a:tcPr>
                </a:tc>
              </a:tr>
              <a:tr h="812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r>
                        <a:rPr b="0" i="0" lang="en-US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64 Bit</a:t>
                      </a:r>
                      <a:endParaRPr/>
                    </a:p>
                  </a:txBody>
                  <a:tcPr marT="47200" marB="47200" marR="91425" marL="91425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0E1">
                        <a:alpha val="4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r>
                        <a:rPr b="0" i="0" lang="en-US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128 Bit</a:t>
                      </a:r>
                      <a:endParaRPr/>
                    </a:p>
                  </a:txBody>
                  <a:tcPr marT="47200" marB="4720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0E1">
                        <a:alpha val="4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r>
                        <a:rPr b="0" i="0" lang="en-US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≈ 700 Bit</a:t>
                      </a:r>
                      <a:endParaRPr/>
                    </a:p>
                  </a:txBody>
                  <a:tcPr marT="47200" marB="4720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0E1">
                        <a:alpha val="4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r>
                        <a:rPr b="0" i="0" lang="en-US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Only short term security </a:t>
                      </a:r>
                      <a:br>
                        <a:rPr b="0" i="0" lang="en-US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0" i="0" lang="en-US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(a few hours or days)</a:t>
                      </a:r>
                      <a:endParaRPr/>
                    </a:p>
                  </a:txBody>
                  <a:tcPr marT="47200" marB="4720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0E1">
                        <a:alpha val="49803"/>
                      </a:srgbClr>
                    </a:solidFill>
                  </a:tcPr>
                </a:tc>
              </a:tr>
              <a:tr h="1628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r>
                        <a:rPr b="0" i="0" lang="en-US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80 Bit</a:t>
                      </a:r>
                      <a:endParaRPr/>
                    </a:p>
                  </a:txBody>
                  <a:tcPr marT="47200" marB="47200" marR="91425" marL="91425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0E1">
                        <a:alpha val="4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r>
                        <a:rPr b="0" i="0" lang="en-US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160 Bit</a:t>
                      </a:r>
                      <a:endParaRPr/>
                    </a:p>
                  </a:txBody>
                  <a:tcPr marT="47200" marB="4720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0E1">
                        <a:alpha val="4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r>
                        <a:rPr b="0" i="0" lang="en-US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≈ 1024 Bit</a:t>
                      </a:r>
                      <a:endParaRPr/>
                    </a:p>
                  </a:txBody>
                  <a:tcPr marT="47200" marB="4720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0E1">
                        <a:alpha val="4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r>
                        <a:rPr b="0" i="0" lang="en-US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Medium security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25000"/>
                        </a:lnSpc>
                        <a:spcBef>
                          <a:spcPts val="425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r>
                        <a:rPr b="0" i="0" lang="en-US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(except attacks from big governmental institutions etc.)</a:t>
                      </a:r>
                      <a:endParaRPr/>
                    </a:p>
                  </a:txBody>
                  <a:tcPr marT="47200" marB="4720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0E1">
                        <a:alpha val="49803"/>
                      </a:srgbClr>
                    </a:solidFill>
                  </a:tcPr>
                </a:tc>
              </a:tr>
              <a:tr h="812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r>
                        <a:rPr b="0" i="0" lang="en-US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128 Bit</a:t>
                      </a:r>
                      <a:endParaRPr/>
                    </a:p>
                  </a:txBody>
                  <a:tcPr marT="47200" marB="47200" marR="91425" marL="91425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0E1">
                        <a:alpha val="4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r>
                        <a:rPr b="0" i="0" lang="en-US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256 Bit</a:t>
                      </a:r>
                      <a:endParaRPr/>
                    </a:p>
                  </a:txBody>
                  <a:tcPr marT="47200" marB="4720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0E1">
                        <a:alpha val="4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r>
                        <a:rPr b="0" i="0" lang="en-US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≈  3072 Bit</a:t>
                      </a:r>
                      <a:endParaRPr/>
                    </a:p>
                  </a:txBody>
                  <a:tcPr marT="47200" marB="4720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0E1">
                        <a:alpha val="4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r>
                        <a:rPr b="0" i="0" lang="en-US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Long term security</a:t>
                      </a:r>
                      <a:br>
                        <a:rPr b="0" i="0" lang="en-US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0" i="0" lang="en-US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(without quantum computers)</a:t>
                      </a:r>
                      <a:endParaRPr/>
                    </a:p>
                  </a:txBody>
                  <a:tcPr marT="47200" marB="4720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0E1">
                        <a:alpha val="49803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09" name="Google Shape;409;p16"/>
          <p:cNvSpPr txBox="1"/>
          <p:nvPr>
            <p:ph type="title"/>
          </p:nvPr>
        </p:nvSpPr>
        <p:spPr>
          <a:xfrm>
            <a:off x="785812" y="122237"/>
            <a:ext cx="7143750" cy="12350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b="0" i="0" lang="en-US" sz="28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KEY SIZE COMPARISON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7"/>
          <p:cNvSpPr txBox="1"/>
          <p:nvPr>
            <p:ph type="title"/>
          </p:nvPr>
        </p:nvSpPr>
        <p:spPr>
          <a:xfrm>
            <a:off x="857250" y="2143125"/>
            <a:ext cx="7600950" cy="1562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b="0" i="0" lang="en-US" sz="32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USES FOR PUBLIC KEY CRYPTO</a:t>
            </a:r>
            <a:endParaRPr/>
          </a:p>
        </p:txBody>
      </p:sp>
      <p:sp>
        <p:nvSpPr>
          <p:cNvPr id="415" name="Google Shape;415;p17"/>
          <p:cNvSpPr txBox="1"/>
          <p:nvPr/>
        </p:nvSpPr>
        <p:spPr>
          <a:xfrm>
            <a:off x="581025" y="6321425"/>
            <a:ext cx="48704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</a:pPr>
            <a:r>
              <a:rPr b="0" i="0" lang="en-US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rPr>
              <a:t>CHAPTER 3   SYMMETRIC KEY CRYPTO.        DR. MUHAMMAD IQBAL HOSSAIN</a:t>
            </a:r>
            <a:endParaRPr/>
          </a:p>
        </p:txBody>
      </p:sp>
      <p:sp>
        <p:nvSpPr>
          <p:cNvPr id="416" name="Google Shape;416;p17"/>
          <p:cNvSpPr txBox="1"/>
          <p:nvPr/>
        </p:nvSpPr>
        <p:spPr>
          <a:xfrm>
            <a:off x="7823200" y="6307137"/>
            <a:ext cx="7699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</a:pPr>
            <a:fld id="{00000000-1234-1234-1234-123412341234}" type="slidenum">
              <a:rPr b="0" i="0" lang="en-US" sz="9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‹#›</a:t>
            </a:fld>
            <a:endParaRPr/>
          </a:p>
        </p:txBody>
      </p:sp>
      <p:sp>
        <p:nvSpPr>
          <p:cNvPr id="417" name="Google Shape;417;p17"/>
          <p:cNvSpPr txBox="1"/>
          <p:nvPr/>
        </p:nvSpPr>
        <p:spPr>
          <a:xfrm>
            <a:off x="5559425" y="630713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18"/>
          <p:cNvSpPr txBox="1"/>
          <p:nvPr>
            <p:ph type="title"/>
          </p:nvPr>
        </p:nvSpPr>
        <p:spPr>
          <a:xfrm>
            <a:off x="785812" y="122237"/>
            <a:ext cx="7143750" cy="12350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b="0" i="0" lang="en-US" sz="28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USES FOR PUBLIC KEY CRYPTO</a:t>
            </a:r>
            <a:endParaRPr/>
          </a:p>
        </p:txBody>
      </p:sp>
      <p:sp>
        <p:nvSpPr>
          <p:cNvPr id="424" name="Google Shape;424;p18"/>
          <p:cNvSpPr txBox="1"/>
          <p:nvPr>
            <p:ph idx="1" type="body"/>
          </p:nvPr>
        </p:nvSpPr>
        <p:spPr>
          <a:xfrm>
            <a:off x="779462" y="1717675"/>
            <a:ext cx="7670800" cy="4416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4800" lvl="0" marL="30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Confidentiality</a:t>
            </a:r>
            <a:endParaRPr/>
          </a:p>
          <a:p>
            <a:pPr indent="-304800" lvl="1" marL="62865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Transmitting data over insecure channel</a:t>
            </a:r>
            <a:endParaRPr/>
          </a:p>
          <a:p>
            <a:pPr indent="-304800" lvl="1" marL="62865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Secure storage on insecure media</a:t>
            </a:r>
            <a:endParaRPr/>
          </a:p>
          <a:p>
            <a:pPr indent="-304800" lvl="0" marL="304800" marR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Authentication (later)</a:t>
            </a:r>
            <a:endParaRPr/>
          </a:p>
          <a:p>
            <a:pPr indent="-304800" lvl="0" marL="304800" marR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Digital signature provides integrity and </a:t>
            </a:r>
            <a:r>
              <a:rPr b="1" i="0" lang="en-US" sz="28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non-repudiation</a:t>
            </a:r>
            <a:endParaRPr/>
          </a:p>
          <a:p>
            <a:pPr indent="-304800" lvl="1" marL="62865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1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non-repudiation  with symmetric keys</a:t>
            </a:r>
            <a:endParaRPr/>
          </a:p>
          <a:p>
            <a:pPr indent="-304800" lvl="1" marL="62865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0" i="0" lang="en-US" sz="24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Who has the secret key is the key for non-repudiation.</a:t>
            </a:r>
            <a:endParaRPr/>
          </a:p>
        </p:txBody>
      </p:sp>
      <p:sp>
        <p:nvSpPr>
          <p:cNvPr id="425" name="Google Shape;425;p18"/>
          <p:cNvSpPr txBox="1"/>
          <p:nvPr/>
        </p:nvSpPr>
        <p:spPr>
          <a:xfrm>
            <a:off x="635000" y="6311900"/>
            <a:ext cx="48704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</a:pPr>
            <a:r>
              <a:rPr b="0" i="0" lang="en-US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rPr>
              <a:t>CHAPTER 3   SYMMETRIC KEY CRYPTO.        DR. MUHAMMAD IQBAL HOSSAIN</a:t>
            </a:r>
            <a:endParaRPr/>
          </a:p>
        </p:txBody>
      </p:sp>
      <p:sp>
        <p:nvSpPr>
          <p:cNvPr id="426" name="Google Shape;426;p18"/>
          <p:cNvSpPr txBox="1"/>
          <p:nvPr/>
        </p:nvSpPr>
        <p:spPr>
          <a:xfrm>
            <a:off x="7823200" y="6307137"/>
            <a:ext cx="7699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</a:pPr>
            <a:fld id="{00000000-1234-1234-1234-123412341234}" type="slidenum">
              <a:rPr b="0" i="0" lang="en-US" sz="9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‹#›</a:t>
            </a:fld>
            <a:endParaRPr/>
          </a:p>
        </p:txBody>
      </p:sp>
      <p:sp>
        <p:nvSpPr>
          <p:cNvPr id="427" name="Google Shape;427;p18"/>
          <p:cNvSpPr txBox="1"/>
          <p:nvPr/>
        </p:nvSpPr>
        <p:spPr>
          <a:xfrm>
            <a:off x="5586412" y="63119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19"/>
          <p:cNvSpPr txBox="1"/>
          <p:nvPr>
            <p:ph type="title"/>
          </p:nvPr>
        </p:nvSpPr>
        <p:spPr>
          <a:xfrm>
            <a:off x="785812" y="122237"/>
            <a:ext cx="7143750" cy="12350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b="0" i="0" lang="en-US" sz="28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NON-NON-REPUDIATION</a:t>
            </a:r>
            <a:endParaRPr/>
          </a:p>
        </p:txBody>
      </p:sp>
      <p:sp>
        <p:nvSpPr>
          <p:cNvPr id="434" name="Google Shape;434;p19"/>
          <p:cNvSpPr txBox="1"/>
          <p:nvPr>
            <p:ph idx="1" type="body"/>
          </p:nvPr>
        </p:nvSpPr>
        <p:spPr>
          <a:xfrm>
            <a:off x="785812" y="1897062"/>
            <a:ext cx="7900987" cy="44116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4800" lvl="0" marL="30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Alice orders 100 shares of stock from Bob</a:t>
            </a:r>
            <a:endParaRPr/>
          </a:p>
          <a:p>
            <a:pPr indent="-304800" lvl="0" marL="304800" marR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Alice computes </a:t>
            </a:r>
            <a:r>
              <a:rPr b="1" i="0" lang="en-US" sz="2800" u="none" cap="none" strike="noStrike">
                <a:solidFill>
                  <a:srgbClr val="0000FF"/>
                </a:solidFill>
                <a:latin typeface="Times"/>
                <a:ea typeface="Times"/>
                <a:cs typeface="Times"/>
                <a:sym typeface="Times"/>
              </a:rPr>
              <a:t>MAC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using symmetric key</a:t>
            </a:r>
            <a:endParaRPr/>
          </a:p>
          <a:p>
            <a:pPr indent="-304800" lvl="0" marL="304800" marR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Stock drops, Alice claims she did not order</a:t>
            </a:r>
            <a:endParaRPr/>
          </a:p>
          <a:p>
            <a:pPr indent="-304800" lvl="0" marL="304800" marR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Bob prove that Alice placed the order?</a:t>
            </a:r>
            <a:endParaRPr/>
          </a:p>
          <a:p>
            <a:pPr indent="-304800" lvl="0" marL="304800" marR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1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No!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Since Bob also knows symmetric key, he could have forged message</a:t>
            </a:r>
            <a:endParaRPr/>
          </a:p>
          <a:p>
            <a:pPr indent="-304800" lvl="0" marL="304800" marR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1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Problem:</a:t>
            </a:r>
            <a:r>
              <a:rPr b="0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Bob knows Alice placed the order, but he can’t prove it</a:t>
            </a:r>
            <a:endParaRPr/>
          </a:p>
        </p:txBody>
      </p:sp>
      <p:sp>
        <p:nvSpPr>
          <p:cNvPr id="435" name="Google Shape;435;p19"/>
          <p:cNvSpPr txBox="1"/>
          <p:nvPr/>
        </p:nvSpPr>
        <p:spPr>
          <a:xfrm>
            <a:off x="581025" y="6321425"/>
            <a:ext cx="48704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</a:pPr>
            <a:r>
              <a:rPr b="0" i="0" lang="en-US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rPr>
              <a:t>CHAPTER 3   SYMMETRIC KEY CRYPTO.        DR. MUHAMMAD IQBAL HOSSAIN</a:t>
            </a:r>
            <a:endParaRPr/>
          </a:p>
        </p:txBody>
      </p:sp>
      <p:sp>
        <p:nvSpPr>
          <p:cNvPr id="436" name="Google Shape;436;p19"/>
          <p:cNvSpPr txBox="1"/>
          <p:nvPr/>
        </p:nvSpPr>
        <p:spPr>
          <a:xfrm>
            <a:off x="7823200" y="6307137"/>
            <a:ext cx="7699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</a:pPr>
            <a:fld id="{00000000-1234-1234-1234-123412341234}" type="slidenum">
              <a:rPr b="0" i="0" lang="en-US" sz="9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‹#›</a:t>
            </a:fld>
            <a:endParaRPr/>
          </a:p>
        </p:txBody>
      </p:sp>
      <p:sp>
        <p:nvSpPr>
          <p:cNvPr id="437" name="Google Shape;437;p19"/>
          <p:cNvSpPr txBox="1"/>
          <p:nvPr/>
        </p:nvSpPr>
        <p:spPr>
          <a:xfrm>
            <a:off x="5559425" y="630713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20"/>
          <p:cNvSpPr txBox="1"/>
          <p:nvPr>
            <p:ph type="title"/>
          </p:nvPr>
        </p:nvSpPr>
        <p:spPr>
          <a:xfrm>
            <a:off x="785812" y="122237"/>
            <a:ext cx="7143750" cy="12350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b="0" i="0" lang="en-US" sz="28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NON-REPUDIATION</a:t>
            </a:r>
            <a:endParaRPr/>
          </a:p>
        </p:txBody>
      </p:sp>
      <p:sp>
        <p:nvSpPr>
          <p:cNvPr id="444" name="Google Shape;444;p20"/>
          <p:cNvSpPr txBox="1"/>
          <p:nvPr>
            <p:ph idx="1" type="body"/>
          </p:nvPr>
        </p:nvSpPr>
        <p:spPr>
          <a:xfrm>
            <a:off x="785812" y="1719262"/>
            <a:ext cx="7900987" cy="44116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4800" lvl="0" marL="30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Alice orders 100 shares of stock from Bob</a:t>
            </a:r>
            <a:endParaRPr/>
          </a:p>
          <a:p>
            <a:pPr indent="-304800" lvl="0" marL="304800" marR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Alice </a:t>
            </a:r>
            <a:r>
              <a:rPr b="1" i="0" lang="en-US" sz="28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signs</a:t>
            </a:r>
            <a:r>
              <a:rPr b="0" i="0" lang="en-US" sz="28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order with her private key</a:t>
            </a:r>
            <a:endParaRPr/>
          </a:p>
          <a:p>
            <a:pPr indent="-304800" lvl="0" marL="304800" marR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Stock drops, Alice claims she did not order</a:t>
            </a:r>
            <a:endParaRPr/>
          </a:p>
          <a:p>
            <a:pPr indent="-304800" lvl="0" marL="304800" marR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Bob prove that Alice placed the order?</a:t>
            </a:r>
            <a:endParaRPr/>
          </a:p>
          <a:p>
            <a:pPr indent="-304800" lvl="0" marL="304800" marR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1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Yes!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Only someone with Alice’s private key could have signed the order</a:t>
            </a:r>
            <a:endParaRPr/>
          </a:p>
          <a:p>
            <a:pPr indent="-304800" lvl="0" marL="304800" marR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assumes Alice’s private key is not stolen (revocation problem)</a:t>
            </a:r>
            <a:endParaRPr/>
          </a:p>
        </p:txBody>
      </p:sp>
      <p:sp>
        <p:nvSpPr>
          <p:cNvPr id="445" name="Google Shape;445;p20"/>
          <p:cNvSpPr txBox="1"/>
          <p:nvPr/>
        </p:nvSpPr>
        <p:spPr>
          <a:xfrm>
            <a:off x="581025" y="6321425"/>
            <a:ext cx="48704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</a:pPr>
            <a:r>
              <a:rPr b="0" i="0" lang="en-US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rPr>
              <a:t>CHAPTER 3   SYMMETRIC KEY CRYPTO.        DR. MUHAMMAD IQBAL HOSSAIN</a:t>
            </a:r>
            <a:endParaRPr/>
          </a:p>
        </p:txBody>
      </p:sp>
      <p:sp>
        <p:nvSpPr>
          <p:cNvPr id="446" name="Google Shape;446;p20"/>
          <p:cNvSpPr txBox="1"/>
          <p:nvPr/>
        </p:nvSpPr>
        <p:spPr>
          <a:xfrm>
            <a:off x="7823200" y="6307137"/>
            <a:ext cx="7699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</a:pPr>
            <a:fld id="{00000000-1234-1234-1234-123412341234}" type="slidenum">
              <a:rPr b="0" i="0" lang="en-US" sz="9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‹#›</a:t>
            </a:fld>
            <a:endParaRPr/>
          </a:p>
        </p:txBody>
      </p:sp>
      <p:sp>
        <p:nvSpPr>
          <p:cNvPr id="447" name="Google Shape;447;p20"/>
          <p:cNvSpPr txBox="1"/>
          <p:nvPr/>
        </p:nvSpPr>
        <p:spPr>
          <a:xfrm>
            <a:off x="5559425" y="630713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21"/>
          <p:cNvSpPr txBox="1"/>
          <p:nvPr/>
        </p:nvSpPr>
        <p:spPr>
          <a:xfrm>
            <a:off x="5559425" y="630713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</a:pPr>
            <a:r>
              <a:rPr b="0" i="0" lang="en-US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rPr>
              <a:t> Part 1 ⎯ Cryptography                                                                                                     </a:t>
            </a:r>
            <a:fld id="{00000000-1234-1234-1234-123412341234}" type="slidenum">
              <a:rPr b="0" i="0" lang="en-US" sz="900" u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453" name="Google Shape;453;p21"/>
          <p:cNvSpPr txBox="1"/>
          <p:nvPr>
            <p:ph type="title"/>
          </p:nvPr>
        </p:nvSpPr>
        <p:spPr>
          <a:xfrm>
            <a:off x="609600" y="228600"/>
            <a:ext cx="7772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b="0" i="0" lang="en-US" sz="28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PUBLIC KEY NOTATION</a:t>
            </a:r>
            <a:endParaRPr/>
          </a:p>
        </p:txBody>
      </p:sp>
      <p:sp>
        <p:nvSpPr>
          <p:cNvPr id="454" name="Google Shape;454;p21"/>
          <p:cNvSpPr txBox="1"/>
          <p:nvPr>
            <p:ph idx="1" type="body"/>
          </p:nvPr>
        </p:nvSpPr>
        <p:spPr>
          <a:xfrm>
            <a:off x="685800" y="1676400"/>
            <a:ext cx="7239000" cy="46307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4800" lvl="0" marL="304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944"/>
              <a:buFont typeface="Noto Sans Symbols"/>
              <a:buChar char="◼"/>
            </a:pPr>
            <a:r>
              <a:rPr b="1" i="0" lang="en-US" sz="32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</a:t>
            </a: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message </a:t>
            </a: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M</a:t>
            </a: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with Alice’s </a:t>
            </a:r>
            <a:r>
              <a:rPr b="1" i="0" lang="en-US" sz="32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private key: </a:t>
            </a: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[M]</a:t>
            </a:r>
            <a:r>
              <a:rPr b="0" baseline="-2500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Alice</a:t>
            </a:r>
            <a:endParaRPr b="0" i="0" sz="32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30480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Clr>
                <a:schemeClr val="accent2"/>
              </a:buClr>
              <a:buSzPts val="2944"/>
              <a:buFont typeface="Noto Sans Symbols"/>
              <a:buChar char="◼"/>
            </a:pPr>
            <a:r>
              <a:rPr b="1" i="0" lang="en-US" sz="32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Encrypt</a:t>
            </a: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message </a:t>
            </a: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M</a:t>
            </a: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with Alice’s </a:t>
            </a:r>
            <a:r>
              <a:rPr b="1" i="0" lang="en-US" sz="32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key: </a:t>
            </a: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{M}</a:t>
            </a:r>
            <a:r>
              <a:rPr b="0" baseline="-2500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Alice</a:t>
            </a: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-304800" lvl="0" marL="30480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Clr>
                <a:schemeClr val="accent2"/>
              </a:buClr>
              <a:buSzPts val="2944"/>
              <a:buFont typeface="Noto Sans Symbols"/>
              <a:buChar char="◼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Then</a:t>
            </a:r>
            <a:endParaRPr/>
          </a:p>
          <a:p>
            <a:pPr indent="-304800" lvl="1" marL="6286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2576"/>
              <a:buNone/>
            </a:pPr>
            <a:r>
              <a:rPr b="0" i="0" lang="en-US" sz="28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{[M]</a:t>
            </a:r>
            <a:r>
              <a:rPr b="0" baseline="-25000" i="0" lang="en-US" sz="28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Alice</a:t>
            </a:r>
            <a:r>
              <a:rPr b="0" i="0" lang="en-US" sz="28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}</a:t>
            </a:r>
            <a:r>
              <a:rPr b="0" baseline="-25000" i="0" lang="en-US" sz="28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Alice </a:t>
            </a:r>
            <a:r>
              <a:rPr b="0" i="0" lang="en-US" sz="28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= M</a:t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6286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2576"/>
              <a:buNone/>
            </a:pPr>
            <a:r>
              <a:rPr b="0" i="0" lang="en-US" sz="28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[{M}</a:t>
            </a:r>
            <a:r>
              <a:rPr b="0" baseline="-25000" i="0" lang="en-US" sz="28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Alice</a:t>
            </a:r>
            <a:r>
              <a:rPr b="0" i="0" lang="en-US" sz="28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]</a:t>
            </a:r>
            <a:r>
              <a:rPr b="0" baseline="-25000" i="0" lang="en-US" sz="28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Alice </a:t>
            </a:r>
            <a:r>
              <a:rPr b="0" i="0" lang="en-US" sz="28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= M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22"/>
          <p:cNvSpPr txBox="1"/>
          <p:nvPr/>
        </p:nvSpPr>
        <p:spPr>
          <a:xfrm>
            <a:off x="5559425" y="630713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</a:pPr>
            <a:r>
              <a:rPr b="0" i="0" lang="en-US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rPr>
              <a:t> Part 1 ⎯ Cryptography                                                                                                     </a:t>
            </a:r>
            <a:fld id="{00000000-1234-1234-1234-123412341234}" type="slidenum">
              <a:rPr b="0" i="0" lang="en-US" sz="900" u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460" name="Google Shape;460;p22"/>
          <p:cNvSpPr txBox="1"/>
          <p:nvPr>
            <p:ph type="title"/>
          </p:nvPr>
        </p:nvSpPr>
        <p:spPr>
          <a:xfrm>
            <a:off x="609600" y="228600"/>
            <a:ext cx="7772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b="0" i="0" lang="en-US" sz="28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CONFIDENTIALITY AND</a:t>
            </a:r>
            <a:br>
              <a:rPr b="0" i="0" lang="en-US" sz="28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</a:br>
            <a:r>
              <a:rPr b="0" i="0" lang="en-US" sz="28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 NON-REPUDIATION?</a:t>
            </a:r>
            <a:endParaRPr/>
          </a:p>
        </p:txBody>
      </p:sp>
      <p:sp>
        <p:nvSpPr>
          <p:cNvPr id="461" name="Google Shape;461;p22"/>
          <p:cNvSpPr txBox="1"/>
          <p:nvPr>
            <p:ph idx="1" type="body"/>
          </p:nvPr>
        </p:nvSpPr>
        <p:spPr>
          <a:xfrm>
            <a:off x="611187" y="1887537"/>
            <a:ext cx="77724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4800" lvl="0" marL="30480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944"/>
              <a:buFont typeface="Noto Sans Symbols"/>
              <a:buChar char="◼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Suppose that we want confidentiality and integrity/non-repudiation</a:t>
            </a:r>
            <a:endParaRPr/>
          </a:p>
          <a:p>
            <a:pPr indent="-304800" lvl="0" marL="30480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Clr>
                <a:schemeClr val="accent2"/>
              </a:buClr>
              <a:buSzPts val="2944"/>
              <a:buFont typeface="Noto Sans Symbols"/>
              <a:buChar char="◼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public key crypto achieve both?</a:t>
            </a:r>
            <a:endParaRPr/>
          </a:p>
          <a:p>
            <a:pPr indent="-304800" lvl="0" marL="30480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Clr>
                <a:schemeClr val="accent2"/>
              </a:buClr>
              <a:buSzPts val="2944"/>
              <a:buFont typeface="Noto Sans Symbols"/>
              <a:buChar char="◼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Alice sends message to Bob</a:t>
            </a:r>
            <a:endParaRPr/>
          </a:p>
          <a:p>
            <a:pPr indent="-304800" lvl="1" marL="6286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1" i="0" lang="en-US" sz="28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 and encrypt: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{[M]</a:t>
            </a:r>
            <a:r>
              <a:rPr b="0" baseline="-25000" i="0" lang="en-US" sz="28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Alice</a:t>
            </a:r>
            <a:r>
              <a:rPr b="0" i="0" lang="en-US" sz="28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}</a:t>
            </a:r>
            <a:r>
              <a:rPr b="0" baseline="-25000" i="0" lang="en-US" sz="28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Bob</a:t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6286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1" i="0" lang="en-US" sz="28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Encrypt and sign: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[{M}</a:t>
            </a:r>
            <a:r>
              <a:rPr b="0" baseline="-25000" i="0" lang="en-US" sz="28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Bob</a:t>
            </a:r>
            <a:r>
              <a:rPr b="0" i="0" lang="en-US" sz="28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]</a:t>
            </a:r>
            <a:r>
              <a:rPr b="0" baseline="-25000" i="0" lang="en-US" sz="28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Alice</a:t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30480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Clr>
                <a:schemeClr val="accent2"/>
              </a:buClr>
              <a:buSzPts val="2944"/>
              <a:buFont typeface="Noto Sans Symbols"/>
              <a:buChar char="◼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the order possibly matter?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3"/>
          <p:cNvSpPr txBox="1"/>
          <p:nvPr/>
        </p:nvSpPr>
        <p:spPr>
          <a:xfrm>
            <a:off x="5559425" y="630713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</a:pPr>
            <a:r>
              <a:rPr b="0" i="0" lang="en-US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rPr>
              <a:t> Part 1 ⎯ Cryptography                                                                                                     </a:t>
            </a:r>
            <a:fld id="{00000000-1234-1234-1234-123412341234}" type="slidenum">
              <a:rPr b="0" i="0" lang="en-US" sz="900" u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467" name="Google Shape;467;p23"/>
          <p:cNvSpPr txBox="1"/>
          <p:nvPr>
            <p:ph type="title"/>
          </p:nvPr>
        </p:nvSpPr>
        <p:spPr>
          <a:xfrm>
            <a:off x="685800" y="3048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b="0" i="0" lang="en-US" sz="28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SIGN AND ENCRYPT</a:t>
            </a:r>
            <a:endParaRPr/>
          </a:p>
        </p:txBody>
      </p:sp>
      <p:sp>
        <p:nvSpPr>
          <p:cNvPr id="468" name="Google Shape;468;p23"/>
          <p:cNvSpPr txBox="1"/>
          <p:nvPr/>
        </p:nvSpPr>
        <p:spPr>
          <a:xfrm>
            <a:off x="455612" y="4094162"/>
            <a:ext cx="900112" cy="517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</a:pPr>
            <a:r>
              <a:rPr b="0" i="0" lang="en-US" sz="18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Alice</a:t>
            </a:r>
            <a:endParaRPr/>
          </a:p>
        </p:txBody>
      </p:sp>
      <p:sp>
        <p:nvSpPr>
          <p:cNvPr id="469" name="Google Shape;469;p23"/>
          <p:cNvSpPr txBox="1"/>
          <p:nvPr/>
        </p:nvSpPr>
        <p:spPr>
          <a:xfrm>
            <a:off x="4114800" y="4054475"/>
            <a:ext cx="717550" cy="517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</a:pPr>
            <a:r>
              <a:rPr b="0" i="0" lang="en-US" sz="18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Bob</a:t>
            </a:r>
            <a:endParaRPr/>
          </a:p>
        </p:txBody>
      </p:sp>
      <p:sp>
        <p:nvSpPr>
          <p:cNvPr id="470" name="Google Shape;470;p23"/>
          <p:cNvSpPr txBox="1"/>
          <p:nvPr/>
        </p:nvSpPr>
        <p:spPr>
          <a:xfrm>
            <a:off x="1676400" y="2819400"/>
            <a:ext cx="1612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None/>
            </a:pPr>
            <a:r>
              <a:rPr b="0" i="0" lang="en-US" sz="18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{[M]</a:t>
            </a:r>
            <a:r>
              <a:rPr b="0" baseline="-25000" i="0" lang="en-US" sz="18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Alice</a:t>
            </a:r>
            <a:r>
              <a:rPr b="0" i="0" lang="en-US" sz="18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}</a:t>
            </a:r>
            <a:r>
              <a:rPr b="0" baseline="-25000" i="0" lang="en-US" sz="18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Bob</a:t>
            </a:r>
            <a:endParaRPr/>
          </a:p>
        </p:txBody>
      </p:sp>
      <p:sp>
        <p:nvSpPr>
          <p:cNvPr id="471" name="Google Shape;471;p23"/>
          <p:cNvSpPr txBox="1"/>
          <p:nvPr/>
        </p:nvSpPr>
        <p:spPr>
          <a:xfrm>
            <a:off x="1219200" y="4800600"/>
            <a:ext cx="7086600" cy="1030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333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Noto Sans Symbols"/>
              <a:buChar char="❑"/>
            </a:pPr>
            <a:r>
              <a:rPr b="0" i="0" lang="en-US" sz="28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</a:t>
            </a:r>
            <a:r>
              <a:rPr b="1" i="0" lang="en-US" sz="2800" u="none">
                <a:solidFill>
                  <a:srgbClr val="FF0000"/>
                </a:solidFill>
                <a:latin typeface="Gulim"/>
                <a:ea typeface="Gulim"/>
                <a:cs typeface="Gulim"/>
                <a:sym typeface="Gulim"/>
              </a:rPr>
              <a:t>Q:</a:t>
            </a:r>
            <a:r>
              <a:rPr b="0" i="0" lang="en-US" sz="28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What’s the problem?</a:t>
            </a:r>
            <a:endParaRPr/>
          </a:p>
          <a:p>
            <a:pPr indent="-13335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Noto Sans Symbols"/>
              <a:buChar char="❑"/>
            </a:pPr>
            <a:r>
              <a:rPr b="0" i="0" lang="en-US" sz="28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</a:t>
            </a:r>
            <a:r>
              <a:rPr b="1" i="0" lang="en-US" sz="2800" u="none">
                <a:solidFill>
                  <a:srgbClr val="FF0000"/>
                </a:solidFill>
                <a:latin typeface="Gulim"/>
                <a:ea typeface="Gulim"/>
                <a:cs typeface="Gulim"/>
                <a:sym typeface="Gulim"/>
              </a:rPr>
              <a:t>A:</a:t>
            </a:r>
            <a:r>
              <a:rPr b="0" i="0" lang="en-US" sz="28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No problem ⎯ public key is public</a:t>
            </a:r>
            <a:endParaRPr/>
          </a:p>
        </p:txBody>
      </p:sp>
      <p:sp>
        <p:nvSpPr>
          <p:cNvPr id="472" name="Google Shape;472;p23"/>
          <p:cNvSpPr txBox="1"/>
          <p:nvPr/>
        </p:nvSpPr>
        <p:spPr>
          <a:xfrm>
            <a:off x="7504112" y="4054475"/>
            <a:ext cx="1182687" cy="517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</a:pPr>
            <a:r>
              <a:rPr b="0" i="0" lang="en-US" sz="18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Charlie</a:t>
            </a:r>
            <a:endParaRPr/>
          </a:p>
        </p:txBody>
      </p:sp>
      <p:sp>
        <p:nvSpPr>
          <p:cNvPr id="473" name="Google Shape;473;p23"/>
          <p:cNvSpPr txBox="1"/>
          <p:nvPr/>
        </p:nvSpPr>
        <p:spPr>
          <a:xfrm>
            <a:off x="5105400" y="2819400"/>
            <a:ext cx="18954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None/>
            </a:pPr>
            <a:r>
              <a:rPr b="0" i="0" lang="en-US" sz="18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{[M]</a:t>
            </a:r>
            <a:r>
              <a:rPr b="0" baseline="-25000" i="0" lang="en-US" sz="18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Alice</a:t>
            </a:r>
            <a:r>
              <a:rPr b="0" i="0" lang="en-US" sz="18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}</a:t>
            </a:r>
            <a:r>
              <a:rPr b="0" baseline="-25000" i="0" lang="en-US" sz="18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Charlie</a:t>
            </a:r>
            <a:endParaRPr/>
          </a:p>
        </p:txBody>
      </p:sp>
      <p:sp>
        <p:nvSpPr>
          <p:cNvPr id="474" name="Google Shape;474;p23"/>
          <p:cNvSpPr txBox="1"/>
          <p:nvPr/>
        </p:nvSpPr>
        <p:spPr>
          <a:xfrm>
            <a:off x="1143000" y="1887537"/>
            <a:ext cx="6172200" cy="587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333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Noto Sans Symbols"/>
              <a:buChar char="❑"/>
            </a:pPr>
            <a:r>
              <a:rPr b="0" i="0" lang="en-US" sz="28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M</a:t>
            </a:r>
            <a:r>
              <a:rPr b="0" i="0" lang="en-US" sz="28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= “I love you”</a:t>
            </a:r>
            <a:endParaRPr/>
          </a:p>
        </p:txBody>
      </p:sp>
      <p:cxnSp>
        <p:nvCxnSpPr>
          <p:cNvPr id="475" name="Google Shape;475;p23"/>
          <p:cNvCxnSpPr/>
          <p:nvPr/>
        </p:nvCxnSpPr>
        <p:spPr>
          <a:xfrm>
            <a:off x="1447800" y="3352800"/>
            <a:ext cx="2362200" cy="0"/>
          </a:xfrm>
          <a:prstGeom prst="straightConnector1">
            <a:avLst/>
          </a:prstGeom>
          <a:noFill/>
          <a:ln cap="flat" cmpd="sng" w="508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476" name="Google Shape;476;p23"/>
          <p:cNvCxnSpPr/>
          <p:nvPr/>
        </p:nvCxnSpPr>
        <p:spPr>
          <a:xfrm>
            <a:off x="5105400" y="3352800"/>
            <a:ext cx="2209800" cy="0"/>
          </a:xfrm>
          <a:prstGeom prst="straightConnector1">
            <a:avLst/>
          </a:prstGeom>
          <a:noFill/>
          <a:ln cap="flat" cmpd="sng" w="508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pic>
        <p:nvPicPr>
          <p:cNvPr descr="alice3Rev.tiff                                                 0010273EMacintosh HD                   BC93A1CC:" id="477" name="Google Shape;47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5450" y="2514600"/>
            <a:ext cx="946150" cy="16240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abbit3.tiff                                                   0010273EMacintosh HD                   BC93A1CC:" id="478" name="Google Shape;47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52875" y="2438400"/>
            <a:ext cx="1076325" cy="16652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atter2.tif                                                    000675D6Macintosh HD                   BC93A1CC:" id="479" name="Google Shape;479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67600" y="2514600"/>
            <a:ext cx="1323975" cy="149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24"/>
          <p:cNvSpPr txBox="1"/>
          <p:nvPr/>
        </p:nvSpPr>
        <p:spPr>
          <a:xfrm>
            <a:off x="5559425" y="630713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</a:pPr>
            <a:r>
              <a:rPr b="0" i="0" lang="en-US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rPr>
              <a:t> Part 1 ⎯ Cryptography                                                                                                     </a:t>
            </a:r>
            <a:fld id="{00000000-1234-1234-1234-123412341234}" type="slidenum">
              <a:rPr b="0" i="0" lang="en-US" sz="900" u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485" name="Google Shape;485;p24"/>
          <p:cNvSpPr txBox="1"/>
          <p:nvPr>
            <p:ph type="title"/>
          </p:nvPr>
        </p:nvSpPr>
        <p:spPr>
          <a:xfrm>
            <a:off x="685800" y="3048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b="0" i="0" lang="en-US" sz="28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ENCRYPT AND SIGN</a:t>
            </a:r>
            <a:endParaRPr/>
          </a:p>
        </p:txBody>
      </p:sp>
      <p:sp>
        <p:nvSpPr>
          <p:cNvPr id="486" name="Google Shape;486;p24"/>
          <p:cNvSpPr txBox="1"/>
          <p:nvPr/>
        </p:nvSpPr>
        <p:spPr>
          <a:xfrm>
            <a:off x="471487" y="4117975"/>
            <a:ext cx="900112" cy="517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</a:pPr>
            <a:r>
              <a:rPr b="0" i="0" lang="en-US" sz="18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Alice</a:t>
            </a:r>
            <a:endParaRPr/>
          </a:p>
        </p:txBody>
      </p:sp>
      <p:sp>
        <p:nvSpPr>
          <p:cNvPr id="487" name="Google Shape;487;p24"/>
          <p:cNvSpPr txBox="1"/>
          <p:nvPr/>
        </p:nvSpPr>
        <p:spPr>
          <a:xfrm>
            <a:off x="7924800" y="4097337"/>
            <a:ext cx="717550" cy="517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</a:pPr>
            <a:r>
              <a:rPr b="0" i="0" lang="en-US" sz="18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Bob</a:t>
            </a:r>
            <a:endParaRPr/>
          </a:p>
        </p:txBody>
      </p:sp>
      <p:sp>
        <p:nvSpPr>
          <p:cNvPr id="488" name="Google Shape;488;p24"/>
          <p:cNvSpPr txBox="1"/>
          <p:nvPr/>
        </p:nvSpPr>
        <p:spPr>
          <a:xfrm>
            <a:off x="1752600" y="2898775"/>
            <a:ext cx="1612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None/>
            </a:pPr>
            <a:r>
              <a:rPr b="0" i="0" lang="en-US" sz="18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[{M}</a:t>
            </a:r>
            <a:r>
              <a:rPr b="0" baseline="-25000" i="0" lang="en-US" sz="18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Bob</a:t>
            </a:r>
            <a:r>
              <a:rPr b="0" i="0" lang="en-US" sz="18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]</a:t>
            </a:r>
            <a:r>
              <a:rPr b="0" baseline="-25000" i="0" lang="en-US" sz="18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Alice</a:t>
            </a:r>
            <a:endParaRPr/>
          </a:p>
        </p:txBody>
      </p:sp>
      <p:sp>
        <p:nvSpPr>
          <p:cNvPr id="489" name="Google Shape;489;p24"/>
          <p:cNvSpPr txBox="1"/>
          <p:nvPr/>
        </p:nvSpPr>
        <p:spPr>
          <a:xfrm>
            <a:off x="1219200" y="4803775"/>
            <a:ext cx="7086600" cy="157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333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Noto Sans Symbols"/>
              <a:buChar char="❑"/>
            </a:pPr>
            <a:r>
              <a:rPr b="0" i="0" lang="en-US" sz="28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</a:t>
            </a:r>
            <a:r>
              <a:rPr b="1" i="0" lang="en-US" sz="2800" u="none">
                <a:solidFill>
                  <a:schemeClr val="hlink"/>
                </a:solidFill>
                <a:latin typeface="Gulim"/>
                <a:ea typeface="Gulim"/>
                <a:cs typeface="Gulim"/>
                <a:sym typeface="Gulim"/>
              </a:rPr>
              <a:t>Note</a:t>
            </a:r>
            <a:r>
              <a:rPr b="0" i="0" lang="en-US" sz="28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that Charlie cannot decrypt </a:t>
            </a:r>
            <a:r>
              <a:rPr b="0" i="0" lang="en-US" sz="28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M</a:t>
            </a:r>
            <a:r>
              <a:rPr b="0" i="0" lang="en-US" sz="28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</a:t>
            </a:r>
            <a:endParaRPr/>
          </a:p>
          <a:p>
            <a:pPr indent="-13335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Noto Sans Symbols"/>
              <a:buChar char="❑"/>
            </a:pPr>
            <a:r>
              <a:rPr b="1" i="0" lang="en-US" sz="28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</a:t>
            </a:r>
            <a:r>
              <a:rPr b="1" i="0" lang="en-US" sz="2800" u="none">
                <a:solidFill>
                  <a:srgbClr val="FF0000"/>
                </a:solidFill>
                <a:latin typeface="Gulim"/>
                <a:ea typeface="Gulim"/>
                <a:cs typeface="Gulim"/>
                <a:sym typeface="Gulim"/>
              </a:rPr>
              <a:t>Q:</a:t>
            </a:r>
            <a:r>
              <a:rPr b="0" i="0" lang="en-US" sz="28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What is the problem?</a:t>
            </a:r>
            <a:endParaRPr/>
          </a:p>
          <a:p>
            <a:pPr indent="-13335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Noto Sans Symbols"/>
              <a:buChar char="❑"/>
            </a:pPr>
            <a:r>
              <a:rPr b="0" i="0" lang="en-US" sz="28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</a:t>
            </a:r>
            <a:r>
              <a:rPr b="1" i="0" lang="en-US" sz="2800" u="none">
                <a:solidFill>
                  <a:srgbClr val="FF0000"/>
                </a:solidFill>
                <a:latin typeface="Gulim"/>
                <a:ea typeface="Gulim"/>
                <a:cs typeface="Gulim"/>
                <a:sym typeface="Gulim"/>
              </a:rPr>
              <a:t>A:</a:t>
            </a:r>
            <a:r>
              <a:rPr b="0" i="0" lang="en-US" sz="28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No problem ⎯ public key is public</a:t>
            </a:r>
            <a:endParaRPr/>
          </a:p>
        </p:txBody>
      </p:sp>
      <p:sp>
        <p:nvSpPr>
          <p:cNvPr id="490" name="Google Shape;490;p24"/>
          <p:cNvSpPr txBox="1"/>
          <p:nvPr/>
        </p:nvSpPr>
        <p:spPr>
          <a:xfrm>
            <a:off x="3998912" y="4117975"/>
            <a:ext cx="1182687" cy="517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</a:pPr>
            <a:r>
              <a:rPr b="0" i="0" lang="en-US" sz="18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Charlie</a:t>
            </a:r>
            <a:endParaRPr/>
          </a:p>
        </p:txBody>
      </p:sp>
      <p:sp>
        <p:nvSpPr>
          <p:cNvPr id="491" name="Google Shape;491;p24"/>
          <p:cNvSpPr txBox="1"/>
          <p:nvPr/>
        </p:nvSpPr>
        <p:spPr>
          <a:xfrm>
            <a:off x="5562600" y="2898775"/>
            <a:ext cx="18176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None/>
            </a:pPr>
            <a:r>
              <a:rPr b="0" i="0" lang="en-US" sz="18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[{M}</a:t>
            </a:r>
            <a:r>
              <a:rPr b="0" baseline="-25000" i="0" lang="en-US" sz="18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Bob</a:t>
            </a:r>
            <a:r>
              <a:rPr b="0" i="0" lang="en-US" sz="18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]</a:t>
            </a:r>
            <a:r>
              <a:rPr b="0" baseline="-25000" i="0" lang="en-US" sz="18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Charlie</a:t>
            </a:r>
            <a:endParaRPr/>
          </a:p>
        </p:txBody>
      </p:sp>
      <p:sp>
        <p:nvSpPr>
          <p:cNvPr id="492" name="Google Shape;492;p24"/>
          <p:cNvSpPr txBox="1"/>
          <p:nvPr/>
        </p:nvSpPr>
        <p:spPr>
          <a:xfrm>
            <a:off x="471487" y="1844675"/>
            <a:ext cx="6919912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333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Noto Sans Symbols"/>
              <a:buChar char="❑"/>
            </a:pPr>
            <a:r>
              <a:rPr b="0" i="0" lang="en-US" sz="28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M</a:t>
            </a:r>
            <a:r>
              <a:rPr b="0" i="0" lang="en-US" sz="28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= “My theory, which is mine….”</a:t>
            </a:r>
            <a:endParaRPr/>
          </a:p>
        </p:txBody>
      </p:sp>
      <p:cxnSp>
        <p:nvCxnSpPr>
          <p:cNvPr id="493" name="Google Shape;493;p24"/>
          <p:cNvCxnSpPr/>
          <p:nvPr/>
        </p:nvCxnSpPr>
        <p:spPr>
          <a:xfrm>
            <a:off x="1524000" y="3432175"/>
            <a:ext cx="2209800" cy="0"/>
          </a:xfrm>
          <a:prstGeom prst="straightConnector1">
            <a:avLst/>
          </a:prstGeom>
          <a:noFill/>
          <a:ln cap="flat" cmpd="sng" w="508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494" name="Google Shape;494;p24"/>
          <p:cNvCxnSpPr/>
          <p:nvPr/>
        </p:nvCxnSpPr>
        <p:spPr>
          <a:xfrm>
            <a:off x="5486400" y="3432175"/>
            <a:ext cx="2209800" cy="0"/>
          </a:xfrm>
          <a:prstGeom prst="straightConnector1">
            <a:avLst/>
          </a:prstGeom>
          <a:noFill/>
          <a:ln cap="flat" cmpd="sng" w="508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pic>
        <p:nvPicPr>
          <p:cNvPr descr="alice3Rev.tiff                                                 0010273EMacintosh HD                   BC93A1CC:" id="495" name="Google Shape;49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5450" y="2593975"/>
            <a:ext cx="946150" cy="16240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abbit3.tiff                                                   0010273EMacintosh HD                   BC93A1CC:" id="496" name="Google Shape;496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72400" y="2441575"/>
            <a:ext cx="1076325" cy="16652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atter2.tif                                                    000675D6Macintosh HD                   BC93A1CC:" id="497" name="Google Shape;497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33825" y="2625725"/>
            <a:ext cx="1323975" cy="149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25"/>
          <p:cNvSpPr txBox="1"/>
          <p:nvPr/>
        </p:nvSpPr>
        <p:spPr>
          <a:xfrm>
            <a:off x="5559425" y="6307137"/>
            <a:ext cx="2973387" cy="2905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</a:pPr>
            <a:r>
              <a:rPr b="0" i="0" lang="en-US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rPr>
              <a:t> Part 1 ⎯ Cryptography                                                                                                     </a:t>
            </a:r>
            <a:fld id="{00000000-1234-1234-1234-123412341234}" type="slidenum">
              <a:rPr b="0" i="0" lang="en-US" sz="900" u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503" name="Google Shape;503;p25"/>
          <p:cNvSpPr txBox="1"/>
          <p:nvPr>
            <p:ph type="title"/>
          </p:nvPr>
        </p:nvSpPr>
        <p:spPr>
          <a:xfrm>
            <a:off x="685800" y="4572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b="0" i="0" lang="en-US" sz="28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PUBLIC KEY CERTIFICATE</a:t>
            </a:r>
            <a:endParaRPr/>
          </a:p>
        </p:txBody>
      </p:sp>
      <p:sp>
        <p:nvSpPr>
          <p:cNvPr id="504" name="Google Shape;504;p25"/>
          <p:cNvSpPr txBox="1"/>
          <p:nvPr>
            <p:ph idx="1" type="body"/>
          </p:nvPr>
        </p:nvSpPr>
        <p:spPr>
          <a:xfrm>
            <a:off x="611187" y="1873250"/>
            <a:ext cx="80010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4800" lvl="0" marL="304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Digital </a:t>
            </a:r>
            <a:r>
              <a:rPr b="1" i="0" lang="en-US" sz="28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certificate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contains name of user and user’s public key (possibly other info too)</a:t>
            </a:r>
            <a:endParaRPr/>
          </a:p>
          <a:p>
            <a:pPr indent="-304800" lvl="0" marL="304800" rtl="0" algn="l">
              <a:lnSpc>
                <a:spcPct val="9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is </a:t>
            </a:r>
            <a:r>
              <a:rPr b="1" i="1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signed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by the issuer, a </a:t>
            </a:r>
            <a:r>
              <a:rPr b="1" i="1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Certificate Authority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(CA), such as VeriSign</a:t>
            </a:r>
            <a:endParaRPr/>
          </a:p>
          <a:p>
            <a:pPr indent="-304800" lvl="1" marL="628650" rtl="0" algn="l">
              <a:lnSpc>
                <a:spcPct val="90000"/>
              </a:lnSpc>
              <a:spcBef>
                <a:spcPts val="1160"/>
              </a:spcBef>
              <a:spcAft>
                <a:spcPts val="0"/>
              </a:spcAft>
              <a:buSzPts val="1840"/>
              <a:buNone/>
            </a:pPr>
            <a:r>
              <a:rPr b="0" i="0" lang="en-US" sz="20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	</a:t>
            </a:r>
            <a:r>
              <a:rPr b="0" i="0" lang="en-US" sz="28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M = (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Alice, Alice’s public key</a:t>
            </a:r>
            <a:r>
              <a:rPr b="0" i="0" lang="en-US" sz="28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0" i="0" lang="en-US" sz="28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S = [M]</a:t>
            </a:r>
            <a:r>
              <a:rPr b="0" baseline="-25000" i="0" lang="en-US" sz="28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CA</a:t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628650" rtl="0" algn="l">
              <a:lnSpc>
                <a:spcPct val="90000"/>
              </a:lnSpc>
              <a:spcBef>
                <a:spcPts val="1160"/>
              </a:spcBef>
              <a:spcAft>
                <a:spcPts val="0"/>
              </a:spcAft>
              <a:buSzPts val="2576"/>
              <a:buNone/>
            </a:pPr>
            <a:r>
              <a:rPr b="1" i="0" lang="en-US" sz="28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Alice’s Certificate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= (M, S)</a:t>
            </a:r>
            <a:endParaRPr/>
          </a:p>
          <a:p>
            <a:pPr indent="-304800" lvl="0" marL="304800" rtl="0" algn="l">
              <a:lnSpc>
                <a:spcPct val="9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 on certificate is verified using CA’s public key</a:t>
            </a:r>
            <a:endParaRPr/>
          </a:p>
          <a:p>
            <a:pPr indent="-304800" lvl="1" marL="62865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680"/>
              <a:buNone/>
            </a:pPr>
            <a:r>
              <a:rPr b="0" i="0" lang="en-US" sz="4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Must verify that </a:t>
            </a:r>
            <a:r>
              <a:rPr b="0" i="0" lang="en-US" sz="28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M = {S}</a:t>
            </a:r>
            <a:r>
              <a:rPr b="0" baseline="-25000" i="0" lang="en-US" sz="28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CA</a:t>
            </a:r>
            <a:r>
              <a:rPr b="0" baseline="-2500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26"/>
          <p:cNvSpPr txBox="1"/>
          <p:nvPr/>
        </p:nvSpPr>
        <p:spPr>
          <a:xfrm>
            <a:off x="5559425" y="630713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</a:pPr>
            <a:r>
              <a:rPr b="0" i="0" lang="en-US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rPr>
              <a:t> Part 1 ⎯ Cryptography                                                                                                     </a:t>
            </a:r>
            <a:fld id="{00000000-1234-1234-1234-123412341234}" type="slidenum">
              <a:rPr b="0" i="0" lang="en-US" sz="900" u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510" name="Google Shape;510;p26"/>
          <p:cNvSpPr txBox="1"/>
          <p:nvPr>
            <p:ph type="title"/>
          </p:nvPr>
        </p:nvSpPr>
        <p:spPr>
          <a:xfrm>
            <a:off x="685800" y="381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b="0" i="0" lang="en-US" sz="28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CERTIFICATE AUTHORITY</a:t>
            </a:r>
            <a:endParaRPr/>
          </a:p>
        </p:txBody>
      </p:sp>
      <p:sp>
        <p:nvSpPr>
          <p:cNvPr id="511" name="Google Shape;511;p26"/>
          <p:cNvSpPr txBox="1"/>
          <p:nvPr>
            <p:ph idx="1" type="body"/>
          </p:nvPr>
        </p:nvSpPr>
        <p:spPr>
          <a:xfrm>
            <a:off x="457200" y="2070100"/>
            <a:ext cx="82296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4800" lvl="0" marL="304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Certificate authority (CA) is a trusted 3rd party (TTP) ⎯ creates and signs certificates</a:t>
            </a:r>
            <a:endParaRPr/>
          </a:p>
          <a:p>
            <a:pPr indent="-304800" lvl="0" marL="30480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Verify signature to verify </a:t>
            </a:r>
            <a:r>
              <a:rPr b="1" i="0" lang="en-US" sz="2800" u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integrity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&amp; identity of </a:t>
            </a:r>
            <a:r>
              <a:rPr b="1" i="0" lang="en-US" sz="28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owner of corresponding private key</a:t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6286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Does </a:t>
            </a:r>
            <a:r>
              <a:rPr b="1" i="0" lang="en-US" sz="24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verify the identity of the </a:t>
            </a: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sender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certificate ⎯ certificates are public!</a:t>
            </a:r>
            <a:endParaRPr/>
          </a:p>
          <a:p>
            <a:pPr indent="-304800" lvl="0" marL="30480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Big problem if CA makes a mistake</a:t>
            </a:r>
            <a:endParaRPr/>
          </a:p>
          <a:p>
            <a:pPr indent="-304800" lvl="1" marL="6286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 once issued Microsoft cert. to someone else</a:t>
            </a:r>
            <a:endParaRPr/>
          </a:p>
          <a:p>
            <a:pPr indent="-304800" lvl="0" marL="30480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common format for certificates is X.509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27"/>
          <p:cNvSpPr txBox="1"/>
          <p:nvPr>
            <p:ph type="title"/>
          </p:nvPr>
        </p:nvSpPr>
        <p:spPr>
          <a:xfrm>
            <a:off x="785812" y="122237"/>
            <a:ext cx="7715250" cy="12350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b="0" i="0" lang="en-US" sz="28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INFORMATION HIDING </a:t>
            </a:r>
            <a:r>
              <a:rPr b="0" i="0" lang="en-US" sz="24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DIGITAL WATERMARK</a:t>
            </a:r>
            <a:endParaRPr/>
          </a:p>
        </p:txBody>
      </p:sp>
      <p:sp>
        <p:nvSpPr>
          <p:cNvPr id="517" name="Google Shape;517;p27"/>
          <p:cNvSpPr txBox="1"/>
          <p:nvPr>
            <p:ph idx="1" type="body"/>
          </p:nvPr>
        </p:nvSpPr>
        <p:spPr>
          <a:xfrm>
            <a:off x="611187" y="1773237"/>
            <a:ext cx="8353425" cy="44751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04800" lvl="0" marL="30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Digital Watermarks</a:t>
            </a:r>
            <a:endParaRPr/>
          </a:p>
          <a:p>
            <a:pPr indent="-304800" lvl="1" marL="62865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b="0" i="0" lang="en-US" sz="24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“Digital Watermarking”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</a:t>
            </a:r>
            <a:r>
              <a:rPr b="0" i="0" lang="en-US" sz="24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from watermarking of paper or money as a security measure</a:t>
            </a:r>
            <a:endParaRPr/>
          </a:p>
          <a:p>
            <a:pPr indent="-304800" lvl="1" marL="62865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technique which allows an individual to add hidden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copyright notices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digital audio, video, or image signals and documents</a:t>
            </a:r>
            <a:endParaRPr/>
          </a:p>
          <a:p>
            <a:pPr indent="-304800" lvl="1" marL="62865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Defense against music or software piracy</a:t>
            </a:r>
            <a:endParaRPr/>
          </a:p>
          <a:p>
            <a:pPr indent="-304800" lvl="1" marL="62865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0" i="0" lang="en-US" sz="24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Add “invisible” identifier to data</a:t>
            </a:r>
            <a:endParaRPr/>
          </a:p>
          <a:p>
            <a:pPr indent="-304800" lvl="1" marL="62865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Digital watermarking can be a form of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steganography</a:t>
            </a:r>
            <a:endParaRPr/>
          </a:p>
        </p:txBody>
      </p:sp>
      <p:sp>
        <p:nvSpPr>
          <p:cNvPr id="518" name="Google Shape;518;p27"/>
          <p:cNvSpPr txBox="1"/>
          <p:nvPr/>
        </p:nvSpPr>
        <p:spPr>
          <a:xfrm>
            <a:off x="3124200" y="6286500"/>
            <a:ext cx="28956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</a:pPr>
            <a:r>
              <a:rPr b="0" i="0" lang="en-US" sz="9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CHAPTER 5 OTHER TOPICS</a:t>
            </a:r>
            <a:endParaRPr/>
          </a:p>
        </p:txBody>
      </p:sp>
      <p:sp>
        <p:nvSpPr>
          <p:cNvPr id="519" name="Google Shape;519;p27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228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mic Sans MS"/>
              <a:buNone/>
            </a:pPr>
            <a:fld id="{00000000-1234-1234-1234-123412341234}" type="slidenum">
              <a:rPr b="0" i="0" lang="en-US" sz="9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28"/>
          <p:cNvSpPr txBox="1"/>
          <p:nvPr>
            <p:ph type="title"/>
          </p:nvPr>
        </p:nvSpPr>
        <p:spPr>
          <a:xfrm>
            <a:off x="785812" y="122237"/>
            <a:ext cx="7715250" cy="12350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b="0" i="0" lang="en-US" sz="28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INFORMATION HIDING </a:t>
            </a:r>
            <a:r>
              <a:rPr b="0" i="0" lang="en-US" sz="24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DIGITAL WATERMARK</a:t>
            </a:r>
            <a:endParaRPr/>
          </a:p>
        </p:txBody>
      </p:sp>
      <p:sp>
        <p:nvSpPr>
          <p:cNvPr id="525" name="Google Shape;525;p28"/>
          <p:cNvSpPr txBox="1"/>
          <p:nvPr>
            <p:ph idx="1" type="body"/>
          </p:nvPr>
        </p:nvSpPr>
        <p:spPr>
          <a:xfrm>
            <a:off x="581025" y="1844675"/>
            <a:ext cx="7989887" cy="4441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04800" lvl="0" marL="304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 a </a:t>
            </a:r>
            <a:r>
              <a:rPr b="0" i="0" lang="en-US" sz="28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“mark” 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data</a:t>
            </a:r>
            <a:endParaRPr/>
          </a:p>
          <a:p>
            <a:pPr indent="-304800" lvl="0" marL="304800" marR="0" rtl="0" algn="l">
              <a:lnSpc>
                <a:spcPct val="9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Several types of watermarks</a:t>
            </a:r>
            <a:endParaRPr/>
          </a:p>
          <a:p>
            <a:pPr indent="-304800" lvl="0" marL="304800" marR="0" rtl="0" algn="l">
              <a:lnSpc>
                <a:spcPct val="9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 1</a:t>
            </a:r>
            <a:endParaRPr/>
          </a:p>
          <a:p>
            <a:pPr indent="-304800" lvl="1" marL="628650" marR="0" rtl="0" algn="l">
              <a:lnSpc>
                <a:spcPct val="9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Invisible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⎯ Not obvious the mark exists</a:t>
            </a:r>
            <a:endParaRPr/>
          </a:p>
          <a:p>
            <a:pPr indent="-304800" lvl="1" marL="628650" marR="0" rtl="0" algn="l">
              <a:lnSpc>
                <a:spcPct val="9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Visible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⎯ Such as </a:t>
            </a:r>
            <a:r>
              <a:rPr b="1" i="0" lang="en-US" sz="2800" u="none" cap="none" strike="noStrike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TOP SECRET 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stamp</a:t>
            </a:r>
            <a:endParaRPr/>
          </a:p>
          <a:p>
            <a:pPr indent="-304800" lvl="0" marL="304800" marR="0" rtl="0" algn="l">
              <a:lnSpc>
                <a:spcPct val="9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 2</a:t>
            </a:r>
            <a:endParaRPr/>
          </a:p>
          <a:p>
            <a:pPr indent="-304800" lvl="1" marL="628650" marR="0" rtl="0" algn="l">
              <a:lnSpc>
                <a:spcPct val="9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Robust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⎯ Readable even if attacked</a:t>
            </a:r>
            <a:endParaRPr/>
          </a:p>
          <a:p>
            <a:pPr indent="-304800" lvl="1" marL="628650" marR="0" rtl="0" algn="l">
              <a:lnSpc>
                <a:spcPct val="9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Fragile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⎯ Mark destroyed if attacked</a:t>
            </a:r>
            <a:endParaRPr/>
          </a:p>
        </p:txBody>
      </p:sp>
      <p:sp>
        <p:nvSpPr>
          <p:cNvPr id="526" name="Google Shape;526;p28"/>
          <p:cNvSpPr txBox="1"/>
          <p:nvPr/>
        </p:nvSpPr>
        <p:spPr>
          <a:xfrm>
            <a:off x="3124200" y="6286500"/>
            <a:ext cx="28956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</a:pPr>
            <a:r>
              <a:rPr b="0" i="0" lang="en-US" sz="9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CHAPTER 5 OTHER TOPICS</a:t>
            </a:r>
            <a:endParaRPr/>
          </a:p>
        </p:txBody>
      </p:sp>
      <p:sp>
        <p:nvSpPr>
          <p:cNvPr id="527" name="Google Shape;527;p28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228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mic Sans MS"/>
              <a:buNone/>
            </a:pPr>
            <a:fld id="{00000000-1234-1234-1234-123412341234}" type="slidenum">
              <a:rPr b="0" i="0" lang="en-US" sz="9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29"/>
          <p:cNvSpPr txBox="1"/>
          <p:nvPr>
            <p:ph type="title"/>
          </p:nvPr>
        </p:nvSpPr>
        <p:spPr>
          <a:xfrm>
            <a:off x="785812" y="122237"/>
            <a:ext cx="7715250" cy="12350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b="0" i="0" lang="en-US" sz="28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INFORMATION HIDING </a:t>
            </a:r>
            <a:r>
              <a:rPr b="0" i="0" lang="en-US" sz="24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DIGITAL WATERMARK</a:t>
            </a:r>
            <a:endParaRPr/>
          </a:p>
        </p:txBody>
      </p:sp>
      <p:sp>
        <p:nvSpPr>
          <p:cNvPr id="533" name="Google Shape;533;p29"/>
          <p:cNvSpPr txBox="1"/>
          <p:nvPr>
            <p:ph idx="1" type="body"/>
          </p:nvPr>
        </p:nvSpPr>
        <p:spPr>
          <a:xfrm>
            <a:off x="468312" y="1889125"/>
            <a:ext cx="8207375" cy="44211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4800" lvl="0" marL="30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 </a:t>
            </a:r>
            <a:r>
              <a:rPr b="0" i="0" lang="en-US" sz="28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robust invisible 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mark to digital music</a:t>
            </a:r>
            <a:endParaRPr/>
          </a:p>
          <a:p>
            <a:pPr indent="-304800" lvl="1" marL="62865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pirated music appears on Internet, can trace it back to original source</a:t>
            </a:r>
            <a:endParaRPr/>
          </a:p>
          <a:p>
            <a:pPr indent="-304800" lvl="0" marL="304800" marR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 </a:t>
            </a:r>
            <a:r>
              <a:rPr b="0" i="0" lang="en-US" sz="28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fragile invisible 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mark to audio file </a:t>
            </a:r>
            <a:endParaRPr/>
          </a:p>
          <a:p>
            <a:pPr indent="-304800" lvl="1" marL="62865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watermark is unreadable, recipient knows that audio has been tampered (integrity)</a:t>
            </a:r>
            <a:endParaRPr/>
          </a:p>
          <a:p>
            <a:pPr indent="-304800" lvl="0" marL="304800" marR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Combinations of several types are sometimes used</a:t>
            </a:r>
            <a:endParaRPr/>
          </a:p>
          <a:p>
            <a:pPr indent="-304800" lvl="1" marL="62865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E.g., visible plus robust invisible watermarks</a:t>
            </a:r>
            <a:endParaRPr/>
          </a:p>
        </p:txBody>
      </p:sp>
      <p:sp>
        <p:nvSpPr>
          <p:cNvPr id="534" name="Google Shape;534;p29"/>
          <p:cNvSpPr txBox="1"/>
          <p:nvPr/>
        </p:nvSpPr>
        <p:spPr>
          <a:xfrm>
            <a:off x="3124200" y="6286500"/>
            <a:ext cx="28956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</a:pPr>
            <a:r>
              <a:rPr b="0" i="0" lang="en-US" sz="9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CHAPTER 5 OTHER TOPICS</a:t>
            </a:r>
            <a:endParaRPr/>
          </a:p>
        </p:txBody>
      </p:sp>
      <p:sp>
        <p:nvSpPr>
          <p:cNvPr id="535" name="Google Shape;535;p29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228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mic Sans MS"/>
              <a:buNone/>
            </a:pPr>
            <a:fld id="{00000000-1234-1234-1234-123412341234}" type="slidenum">
              <a:rPr b="0" i="0" lang="en-US" sz="9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30"/>
          <p:cNvSpPr txBox="1"/>
          <p:nvPr>
            <p:ph type="title"/>
          </p:nvPr>
        </p:nvSpPr>
        <p:spPr>
          <a:xfrm>
            <a:off x="785812" y="122237"/>
            <a:ext cx="7143750" cy="12350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b="0" i="0" lang="en-US" sz="28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INFORMATION HIDING </a:t>
            </a:r>
            <a:r>
              <a:rPr b="0" i="0" lang="en-US" sz="24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STEGANOGRAPHY</a:t>
            </a:r>
            <a:endParaRPr/>
          </a:p>
        </p:txBody>
      </p:sp>
      <p:sp>
        <p:nvSpPr>
          <p:cNvPr id="541" name="Google Shape;541;p30"/>
          <p:cNvSpPr txBox="1"/>
          <p:nvPr>
            <p:ph idx="1" type="body"/>
          </p:nvPr>
        </p:nvSpPr>
        <p:spPr>
          <a:xfrm>
            <a:off x="581025" y="1916112"/>
            <a:ext cx="8312150" cy="43322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4800" lvl="0" marL="30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Steganography </a:t>
            </a:r>
            <a:r>
              <a:rPr b="0" i="0" lang="en-US" sz="2800" u="none" cap="none" strike="noStrike">
                <a:solidFill>
                  <a:srgbClr val="FF0000"/>
                </a:solidFill>
                <a:latin typeface="Batang"/>
                <a:ea typeface="Batang"/>
                <a:cs typeface="Batang"/>
                <a:sym typeface="Batang"/>
              </a:rPr>
              <a:t>− </a:t>
            </a:r>
            <a:r>
              <a:rPr b="0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“Hidden writing”</a:t>
            </a:r>
            <a:endParaRPr b="0" i="0" sz="28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62865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0" i="0" lang="en-US" sz="24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art and science of writing hidden messages</a:t>
            </a:r>
            <a:endParaRPr/>
          </a:p>
          <a:p>
            <a:pPr indent="-269875" lvl="2" marL="898525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40"/>
              <a:buFont typeface="Noto Sans Symbols"/>
              <a:buChar char="◼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recipient does not know of the existence of the mssg</a:t>
            </a:r>
            <a:endParaRPr/>
          </a:p>
          <a:p>
            <a:pPr indent="-304800" lvl="1" marL="62865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Hide the fact that information is being transmitted − a kind of </a:t>
            </a:r>
            <a:r>
              <a:rPr b="0" i="0" lang="en-US" sz="24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covert channel (Ch8)</a:t>
            </a:r>
            <a:endParaRPr b="0" i="0" sz="24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9875" lvl="2" marL="898525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40"/>
              <a:buFont typeface="Noto Sans Symbols"/>
              <a:buChar char="◼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Secret communication channel</a:t>
            </a:r>
            <a:endParaRPr/>
          </a:p>
          <a:p>
            <a:pPr indent="-269875" lvl="2" marL="898525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40"/>
              <a:buFont typeface="Noto Sans Symbols"/>
              <a:buChar char="◼"/>
            </a:pPr>
            <a:r>
              <a:rPr b="0" i="0" lang="en-US" sz="20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Cryptography, where the existence of the message itself is not disguised, but the content is obscured.</a:t>
            </a:r>
            <a:endParaRPr/>
          </a:p>
          <a:p>
            <a:pPr indent="-304800" lvl="1" marL="62865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Hide data in image or music file</a:t>
            </a:r>
            <a:r>
              <a:rPr b="0" i="0" lang="en-US" sz="24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542" name="Google Shape;542;p30"/>
          <p:cNvSpPr txBox="1"/>
          <p:nvPr/>
        </p:nvSpPr>
        <p:spPr>
          <a:xfrm>
            <a:off x="3124200" y="6286500"/>
            <a:ext cx="28956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</a:pPr>
            <a:r>
              <a:rPr b="0" i="0" lang="en-US" sz="9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CHAPTER 5 OTHER TOPICS</a:t>
            </a:r>
            <a:endParaRPr/>
          </a:p>
        </p:txBody>
      </p:sp>
      <p:sp>
        <p:nvSpPr>
          <p:cNvPr id="543" name="Google Shape;543;p30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228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mic Sans MS"/>
              <a:buNone/>
            </a:pPr>
            <a:fld id="{00000000-1234-1234-1234-123412341234}" type="slidenum">
              <a:rPr b="0" i="0" lang="en-US" sz="9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31"/>
          <p:cNvSpPr txBox="1"/>
          <p:nvPr>
            <p:ph type="title"/>
          </p:nvPr>
        </p:nvSpPr>
        <p:spPr>
          <a:xfrm>
            <a:off x="785812" y="122237"/>
            <a:ext cx="7143750" cy="12350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b="0" i="0" lang="en-US" sz="28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INFORMATION HIDING </a:t>
            </a:r>
            <a:r>
              <a:rPr b="0" i="0" lang="en-US" sz="24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STEGANOGRAPHY</a:t>
            </a:r>
            <a:endParaRPr/>
          </a:p>
        </p:txBody>
      </p:sp>
      <p:sp>
        <p:nvSpPr>
          <p:cNvPr id="549" name="Google Shape;549;p31"/>
          <p:cNvSpPr txBox="1"/>
          <p:nvPr>
            <p:ph idx="1" type="body"/>
          </p:nvPr>
        </p:nvSpPr>
        <p:spPr>
          <a:xfrm>
            <a:off x="582612" y="1847850"/>
            <a:ext cx="7977187" cy="438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4800" lvl="0" marL="304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According to </a:t>
            </a:r>
            <a:r>
              <a:rPr b="0" i="0" lang="en-US" sz="28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Herodotus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(Greece 440BC)</a:t>
            </a:r>
            <a:endParaRPr/>
          </a:p>
          <a:p>
            <a:pPr indent="-304800" lvl="1" marL="628650" marR="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Shaved slave’s head</a:t>
            </a:r>
            <a:endParaRPr/>
          </a:p>
          <a:p>
            <a:pPr indent="-304800" lvl="1" marL="628650" marR="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Wrote message on head</a:t>
            </a:r>
            <a:endParaRPr/>
          </a:p>
          <a:p>
            <a:pPr indent="-304800" lvl="1" marL="628650" marR="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Let hair grow back</a:t>
            </a:r>
            <a:endParaRPr/>
          </a:p>
          <a:p>
            <a:pPr indent="-304800" lvl="1" marL="628650" marR="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Send slave to deliver message</a:t>
            </a:r>
            <a:endParaRPr/>
          </a:p>
          <a:p>
            <a:pPr indent="-304800" lvl="1" marL="628650" marR="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Shave slave’s head to expose message (warning of Persian invasion)</a:t>
            </a:r>
            <a:endParaRPr/>
          </a:p>
          <a:p>
            <a:pPr indent="-304800" lvl="0" marL="304800" marR="0" rtl="0" algn="l">
              <a:lnSpc>
                <a:spcPct val="9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Historically, Steganography has been used more than cryptography!</a:t>
            </a:r>
            <a:endParaRPr/>
          </a:p>
        </p:txBody>
      </p:sp>
      <p:sp>
        <p:nvSpPr>
          <p:cNvPr id="550" name="Google Shape;550;p31"/>
          <p:cNvSpPr txBox="1"/>
          <p:nvPr/>
        </p:nvSpPr>
        <p:spPr>
          <a:xfrm>
            <a:off x="3124200" y="6286500"/>
            <a:ext cx="28956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</a:pPr>
            <a:r>
              <a:rPr b="0" i="0" lang="en-US" sz="9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CHAPTER 5 OTHER TOPICS</a:t>
            </a:r>
            <a:endParaRPr/>
          </a:p>
        </p:txBody>
      </p:sp>
      <p:sp>
        <p:nvSpPr>
          <p:cNvPr id="551" name="Google Shape;551;p31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228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mic Sans MS"/>
              <a:buNone/>
            </a:pPr>
            <a:fld id="{00000000-1234-1234-1234-123412341234}" type="slidenum">
              <a:rPr b="0" i="0" lang="en-US" sz="9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34d8702162e_0_9"/>
          <p:cNvSpPr txBox="1"/>
          <p:nvPr>
            <p:ph type="title"/>
          </p:nvPr>
        </p:nvSpPr>
        <p:spPr>
          <a:xfrm>
            <a:off x="581025" y="687389"/>
            <a:ext cx="7989900" cy="725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Techniques of Steganography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58" name="Google Shape;558;g34d8702162e_0_9"/>
          <p:cNvSpPr txBox="1"/>
          <p:nvPr>
            <p:ph idx="1" type="body"/>
          </p:nvPr>
        </p:nvSpPr>
        <p:spPr>
          <a:xfrm>
            <a:off x="581192" y="2228003"/>
            <a:ext cx="7989900" cy="3630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60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g34d8702162e_0_9"/>
          <p:cNvSpPr txBox="1"/>
          <p:nvPr>
            <p:ph idx="12" type="sldNum"/>
          </p:nvPr>
        </p:nvSpPr>
        <p:spPr>
          <a:xfrm>
            <a:off x="7823200" y="6307137"/>
            <a:ext cx="7698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60" name="Google Shape;560;g34d8702162e_0_9" title="Understanding Steganography_ The Art of Concealed Communication - visual selection.png"/>
          <p:cNvPicPr preferRelativeResize="0"/>
          <p:nvPr/>
        </p:nvPicPr>
        <p:blipFill rotWithShape="1">
          <a:blip r:embed="rId3">
            <a:alphaModFix/>
          </a:blip>
          <a:srcRect b="7172" l="-4270" r="4270" t="13392"/>
          <a:stretch/>
        </p:blipFill>
        <p:spPr>
          <a:xfrm>
            <a:off x="304800" y="1896575"/>
            <a:ext cx="8153201" cy="485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32"/>
          <p:cNvSpPr txBox="1"/>
          <p:nvPr>
            <p:ph type="title"/>
          </p:nvPr>
        </p:nvSpPr>
        <p:spPr>
          <a:xfrm>
            <a:off x="785812" y="304800"/>
            <a:ext cx="7358062" cy="10525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b="0" i="0" lang="en-US" sz="28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INFORMATION HIDING </a:t>
            </a:r>
            <a:r>
              <a:rPr b="0" i="0" lang="en-US" sz="24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STEG EXAMPLE</a:t>
            </a:r>
            <a:endParaRPr/>
          </a:p>
        </p:txBody>
      </p:sp>
      <p:sp>
        <p:nvSpPr>
          <p:cNvPr id="566" name="Google Shape;566;p32"/>
          <p:cNvSpPr txBox="1"/>
          <p:nvPr>
            <p:ph idx="1" type="body"/>
          </p:nvPr>
        </p:nvSpPr>
        <p:spPr>
          <a:xfrm>
            <a:off x="785812" y="1714500"/>
            <a:ext cx="7672387" cy="44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4800" lvl="0" marL="3048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Images use 24 bits for color: </a:t>
            </a:r>
            <a:r>
              <a:rPr b="1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="1" i="0" lang="en-US" sz="2800" u="none" cap="none" strike="noStrike">
                <a:solidFill>
                  <a:srgbClr val="06FF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b="1" i="0" lang="en-US" sz="28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b="0" i="0" sz="28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628650" marR="0" rtl="0" algn="l">
              <a:lnSpc>
                <a:spcPct val="80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 bits for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8 for </a:t>
            </a:r>
            <a:r>
              <a:rPr b="0" i="0" lang="en-US" sz="2400" u="none" cap="none" strike="noStrike">
                <a:solidFill>
                  <a:srgbClr val="06FF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green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8 for </a:t>
            </a:r>
            <a:r>
              <a:rPr b="0" i="0" lang="en-US" sz="24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blue</a:t>
            </a:r>
            <a:endParaRPr/>
          </a:p>
          <a:p>
            <a:pPr indent="-304800" lvl="0" marL="304800" marR="0" rtl="0" algn="l">
              <a:lnSpc>
                <a:spcPct val="8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example </a:t>
            </a:r>
            <a:endParaRPr/>
          </a:p>
          <a:p>
            <a:pPr indent="-304800" lvl="1" marL="628650" marR="0" rtl="0" algn="l">
              <a:lnSpc>
                <a:spcPct val="80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1" i="0" lang="en-US" sz="2400" u="none" cap="none" strike="noStrike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0x7E </a:t>
            </a:r>
            <a:r>
              <a:rPr b="1" i="0" lang="en-US" sz="2400" u="none" cap="none" strike="noStrike">
                <a:solidFill>
                  <a:srgbClr val="06FF0E"/>
                </a:solidFill>
                <a:latin typeface="Times"/>
                <a:ea typeface="Times"/>
                <a:cs typeface="Times"/>
                <a:sym typeface="Times"/>
              </a:rPr>
              <a:t>0x52</a:t>
            </a:r>
            <a:r>
              <a:rPr b="1" i="0" lang="en-US" sz="2400" u="none" cap="none" strike="noStrike">
                <a:solidFill>
                  <a:schemeClr val="accent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b="1" i="0" lang="en-US" sz="2400" u="none" cap="none" strike="noStrike">
                <a:solidFill>
                  <a:srgbClr val="0000FF"/>
                </a:solidFill>
                <a:latin typeface="Times"/>
                <a:ea typeface="Times"/>
                <a:cs typeface="Times"/>
                <a:sym typeface="Times"/>
              </a:rPr>
              <a:t>0x90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</a:t>
            </a:r>
            <a:r>
              <a:rPr b="0" i="0" lang="en-US" sz="2400" u="none" cap="none" strike="noStrike">
                <a:solidFill>
                  <a:srgbClr val="7E529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color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628650" marR="0" rtl="0" algn="l">
              <a:lnSpc>
                <a:spcPct val="80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1" i="0" lang="en-US" sz="2400" u="none" cap="none" strike="noStrike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0xFE </a:t>
            </a:r>
            <a:r>
              <a:rPr b="1" i="0" lang="en-US" sz="2400" u="none" cap="none" strike="noStrike">
                <a:solidFill>
                  <a:srgbClr val="06FF0E"/>
                </a:solidFill>
                <a:latin typeface="Times"/>
                <a:ea typeface="Times"/>
                <a:cs typeface="Times"/>
                <a:sym typeface="Times"/>
              </a:rPr>
              <a:t>0x52</a:t>
            </a:r>
            <a:r>
              <a:rPr b="1" i="0" lang="en-US" sz="2400" u="none" cap="none" strike="noStrike">
                <a:solidFill>
                  <a:schemeClr val="accent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b="1" i="0" lang="en-US" sz="2400" u="none" cap="none" strike="noStrike">
                <a:solidFill>
                  <a:srgbClr val="0000FF"/>
                </a:solidFill>
                <a:latin typeface="Times"/>
                <a:ea typeface="Times"/>
                <a:cs typeface="Times"/>
                <a:sym typeface="Times"/>
              </a:rPr>
              <a:t>0x90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</a:t>
            </a:r>
            <a:r>
              <a:rPr b="0" i="0" lang="en-US" sz="2400" u="none" cap="none" strike="noStrike">
                <a:solidFill>
                  <a:srgbClr val="FE529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color</a:t>
            </a:r>
            <a:r>
              <a:rPr b="0" i="0" lang="en-US" sz="2400" u="none" cap="none" strike="noStrike">
                <a:solidFill>
                  <a:srgbClr val="FE529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/>
          </a:p>
          <a:p>
            <a:pPr indent="-304800" lvl="0" marL="304800" marR="0" rtl="0" algn="l">
              <a:lnSpc>
                <a:spcPct val="8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While</a:t>
            </a:r>
            <a:endParaRPr/>
          </a:p>
          <a:p>
            <a:pPr indent="-304800" lvl="1" marL="628650" marR="0" rtl="0" algn="l">
              <a:lnSpc>
                <a:spcPct val="80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1" i="0" lang="en-US" sz="2400" u="none" cap="none" strike="noStrike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0xAB </a:t>
            </a:r>
            <a:r>
              <a:rPr b="1" i="0" lang="en-US" sz="2400" u="none" cap="none" strike="noStrike">
                <a:solidFill>
                  <a:srgbClr val="06FF0E"/>
                </a:solidFill>
                <a:latin typeface="Times"/>
                <a:ea typeface="Times"/>
                <a:cs typeface="Times"/>
                <a:sym typeface="Times"/>
              </a:rPr>
              <a:t>0x33</a:t>
            </a:r>
            <a:r>
              <a:rPr b="1" i="0" lang="en-US" sz="2400" u="none" cap="none" strike="noStrike">
                <a:solidFill>
                  <a:schemeClr val="accent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b="1" i="0" lang="en-US" sz="2400" u="none" cap="none" strike="noStrike">
                <a:solidFill>
                  <a:srgbClr val="0000FF"/>
                </a:solidFill>
                <a:latin typeface="Times"/>
                <a:ea typeface="Times"/>
                <a:cs typeface="Times"/>
                <a:sym typeface="Times"/>
              </a:rPr>
              <a:t>0xF0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</a:t>
            </a:r>
            <a:r>
              <a:rPr b="0" i="0" lang="en-US" sz="2400" u="none" cap="none" strike="noStrike">
                <a:solidFill>
                  <a:srgbClr val="AB33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color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628650" marR="0" rtl="0" algn="l">
              <a:lnSpc>
                <a:spcPct val="80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1" i="0" lang="en-US" sz="2400" u="none" cap="none" strike="noStrike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0xAB </a:t>
            </a:r>
            <a:r>
              <a:rPr b="1" i="0" lang="en-US" sz="2400" u="none" cap="none" strike="noStrike">
                <a:solidFill>
                  <a:srgbClr val="06FF0E"/>
                </a:solidFill>
                <a:latin typeface="Times"/>
                <a:ea typeface="Times"/>
                <a:cs typeface="Times"/>
                <a:sym typeface="Times"/>
              </a:rPr>
              <a:t>0x33</a:t>
            </a:r>
            <a:r>
              <a:rPr b="1" i="0" lang="en-US" sz="2400" u="none" cap="none" strike="noStrike">
                <a:solidFill>
                  <a:schemeClr val="accent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b="1" i="0" lang="en-US" sz="2400" u="none" cap="none" strike="noStrike">
                <a:solidFill>
                  <a:srgbClr val="0000FF"/>
                </a:solidFill>
                <a:latin typeface="Times"/>
                <a:ea typeface="Times"/>
                <a:cs typeface="Times"/>
                <a:sym typeface="Times"/>
              </a:rPr>
              <a:t>0xF1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</a:t>
            </a:r>
            <a:r>
              <a:rPr b="0" i="0" lang="en-US" sz="2400" u="none" cap="none" strike="noStrike">
                <a:solidFill>
                  <a:srgbClr val="AB33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color 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304800" marR="0" rtl="0" algn="l">
              <a:lnSpc>
                <a:spcPct val="8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Low-order bits are unimportant! </a:t>
            </a:r>
            <a:endParaRPr/>
          </a:p>
        </p:txBody>
      </p:sp>
      <p:sp>
        <p:nvSpPr>
          <p:cNvPr id="567" name="Google Shape;567;p32"/>
          <p:cNvSpPr txBox="1"/>
          <p:nvPr/>
        </p:nvSpPr>
        <p:spPr>
          <a:xfrm>
            <a:off x="3124200" y="6286500"/>
            <a:ext cx="28956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</a:pPr>
            <a:r>
              <a:rPr b="0" i="0" lang="en-US" sz="9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CHAPTER 5 OTHER TOPICS</a:t>
            </a:r>
            <a:endParaRPr/>
          </a:p>
        </p:txBody>
      </p:sp>
      <p:sp>
        <p:nvSpPr>
          <p:cNvPr id="568" name="Google Shape;568;p32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228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mic Sans MS"/>
              <a:buNone/>
            </a:pPr>
            <a:fld id="{00000000-1234-1234-1234-123412341234}" type="slidenum">
              <a:rPr b="0" i="0" lang="en-US" sz="9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33"/>
          <p:cNvSpPr txBox="1"/>
          <p:nvPr>
            <p:ph type="title"/>
          </p:nvPr>
        </p:nvSpPr>
        <p:spPr>
          <a:xfrm>
            <a:off x="785812" y="214312"/>
            <a:ext cx="7429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b="0" i="0" lang="en-US" sz="28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INFORMATION HIDING </a:t>
            </a:r>
            <a:r>
              <a:rPr b="0" i="0" lang="en-US" sz="24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STEG EXAMPLE</a:t>
            </a:r>
            <a:endParaRPr/>
          </a:p>
        </p:txBody>
      </p:sp>
      <p:sp>
        <p:nvSpPr>
          <p:cNvPr id="574" name="Google Shape;574;p33"/>
          <p:cNvSpPr txBox="1"/>
          <p:nvPr>
            <p:ph idx="1" type="body"/>
          </p:nvPr>
        </p:nvSpPr>
        <p:spPr>
          <a:xfrm>
            <a:off x="785812" y="1714500"/>
            <a:ext cx="7600950" cy="43449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4800" lvl="0" marL="30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Given an uncompressed image file</a:t>
            </a:r>
            <a:endParaRPr/>
          </a:p>
          <a:p>
            <a:pPr indent="-304800" lvl="1" marL="62865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example, BMP format</a:t>
            </a:r>
            <a:endParaRPr/>
          </a:p>
          <a:p>
            <a:pPr indent="-304800" lvl="0" marL="304800" marR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Then we can insert any information into low-order RGB bits</a:t>
            </a:r>
            <a:endParaRPr/>
          </a:p>
          <a:p>
            <a:pPr indent="-304800" lvl="0" marL="304800" marR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Since low-order RGB bits don’t matter, result will be “invisible” to human eye</a:t>
            </a:r>
            <a:endParaRPr/>
          </a:p>
          <a:p>
            <a:pPr indent="-304800" lvl="0" marL="304800" marR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But a computer program can “see” the bits</a:t>
            </a:r>
            <a:endParaRPr/>
          </a:p>
        </p:txBody>
      </p:sp>
      <p:sp>
        <p:nvSpPr>
          <p:cNvPr id="575" name="Google Shape;575;p33"/>
          <p:cNvSpPr txBox="1"/>
          <p:nvPr/>
        </p:nvSpPr>
        <p:spPr>
          <a:xfrm>
            <a:off x="3124200" y="6286500"/>
            <a:ext cx="28956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</a:pPr>
            <a:r>
              <a:rPr b="0" i="0" lang="en-US" sz="9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CHAPTER 5 OTHER TOPICS</a:t>
            </a:r>
            <a:endParaRPr/>
          </a:p>
        </p:txBody>
      </p:sp>
      <p:sp>
        <p:nvSpPr>
          <p:cNvPr id="576" name="Google Shape;576;p33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228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mic Sans MS"/>
              <a:buNone/>
            </a:pPr>
            <a:fld id="{00000000-1234-1234-1234-123412341234}" type="slidenum">
              <a:rPr b="0" i="0" lang="en-US" sz="9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34"/>
          <p:cNvSpPr txBox="1"/>
          <p:nvPr>
            <p:ph type="title"/>
          </p:nvPr>
        </p:nvSpPr>
        <p:spPr>
          <a:xfrm>
            <a:off x="785812" y="285750"/>
            <a:ext cx="7429500" cy="1071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b="0" i="0" lang="en-US" sz="28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INFORMATION HIDING </a:t>
            </a:r>
            <a:r>
              <a:rPr b="0" i="0" lang="en-US" sz="24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STEG EXAMPLE 1</a:t>
            </a:r>
            <a:endParaRPr/>
          </a:p>
        </p:txBody>
      </p:sp>
      <p:sp>
        <p:nvSpPr>
          <p:cNvPr id="582" name="Google Shape;582;p34"/>
          <p:cNvSpPr txBox="1"/>
          <p:nvPr>
            <p:ph idx="1" type="body"/>
          </p:nvPr>
        </p:nvSpPr>
        <p:spPr>
          <a:xfrm>
            <a:off x="785812" y="4648200"/>
            <a:ext cx="7519987" cy="15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4800" lvl="0" marL="304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Left side: plain Alice image</a:t>
            </a:r>
            <a:endParaRPr/>
          </a:p>
          <a:p>
            <a:pPr indent="-304800" lvl="0" marL="304800" marR="0" rtl="0" algn="l">
              <a:lnSpc>
                <a:spcPct val="9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Right side: Alice with entire </a:t>
            </a:r>
            <a:r>
              <a:rPr b="0" i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Alice in Wonderland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(pdf) “hidden” in image</a:t>
            </a:r>
            <a:endParaRPr/>
          </a:p>
        </p:txBody>
      </p:sp>
      <p:sp>
        <p:nvSpPr>
          <p:cNvPr id="583" name="Google Shape;583;p34"/>
          <p:cNvSpPr txBox="1"/>
          <p:nvPr/>
        </p:nvSpPr>
        <p:spPr>
          <a:xfrm>
            <a:off x="3124200" y="6286500"/>
            <a:ext cx="28956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</a:pPr>
            <a:r>
              <a:rPr b="0" i="0" lang="en-US" sz="9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CHAPTER 5 OTHER TOPICS</a:t>
            </a:r>
            <a:endParaRPr/>
          </a:p>
        </p:txBody>
      </p:sp>
      <p:sp>
        <p:nvSpPr>
          <p:cNvPr id="584" name="Google Shape;584;p34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228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mic Sans MS"/>
              <a:buNone/>
            </a:pPr>
            <a:fld id="{00000000-1234-1234-1234-123412341234}" type="slidenum">
              <a:rPr b="0" i="0" lang="en-US" sz="9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‹#›</a:t>
            </a:fld>
            <a:endParaRPr/>
          </a:p>
        </p:txBody>
      </p:sp>
      <p:pic>
        <p:nvPicPr>
          <p:cNvPr id="585" name="Google Shape;585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0" y="1785937"/>
            <a:ext cx="3689350" cy="271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35"/>
          <p:cNvSpPr txBox="1"/>
          <p:nvPr>
            <p:ph type="title"/>
          </p:nvPr>
        </p:nvSpPr>
        <p:spPr>
          <a:xfrm>
            <a:off x="785812" y="500062"/>
            <a:ext cx="7572375" cy="857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b="0" i="0" lang="en-US" sz="28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INFORMATION HIDING </a:t>
            </a:r>
            <a:r>
              <a:rPr b="0" i="0" lang="en-US" sz="24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STEG EXAMPLE 2</a:t>
            </a:r>
            <a:endParaRPr/>
          </a:p>
        </p:txBody>
      </p:sp>
      <p:sp>
        <p:nvSpPr>
          <p:cNvPr id="591" name="Google Shape;591;p35"/>
          <p:cNvSpPr txBox="1"/>
          <p:nvPr>
            <p:ph idx="1" type="body"/>
          </p:nvPr>
        </p:nvSpPr>
        <p:spPr>
          <a:xfrm>
            <a:off x="785812" y="4233862"/>
            <a:ext cx="7672387" cy="623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4800" lvl="0" marL="30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View source</a:t>
            </a:r>
            <a:endParaRPr/>
          </a:p>
        </p:txBody>
      </p:sp>
      <p:sp>
        <p:nvSpPr>
          <p:cNvPr id="592" name="Google Shape;592;p35"/>
          <p:cNvSpPr txBox="1"/>
          <p:nvPr/>
        </p:nvSpPr>
        <p:spPr>
          <a:xfrm>
            <a:off x="3124200" y="6286500"/>
            <a:ext cx="28956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</a:pPr>
            <a:r>
              <a:rPr b="0" i="0" lang="en-US" sz="9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CHAPTER 5 OTHER TOPICS</a:t>
            </a:r>
            <a:endParaRPr/>
          </a:p>
        </p:txBody>
      </p:sp>
      <p:sp>
        <p:nvSpPr>
          <p:cNvPr id="593" name="Google Shape;593;p35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228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mic Sans MS"/>
              <a:buNone/>
            </a:pPr>
            <a:fld id="{00000000-1234-1234-1234-123412341234}" type="slidenum">
              <a:rPr b="0" i="0" lang="en-US" sz="9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‹#›</a:t>
            </a:fld>
            <a:endParaRPr/>
          </a:p>
        </p:txBody>
      </p:sp>
      <p:pic>
        <p:nvPicPr>
          <p:cNvPr id="594" name="Google Shape;594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4750" y="4876800"/>
            <a:ext cx="6597650" cy="1306512"/>
          </a:xfrm>
          <a:prstGeom prst="rect">
            <a:avLst/>
          </a:prstGeom>
          <a:noFill/>
          <a:ln>
            <a:noFill/>
          </a:ln>
        </p:spPr>
      </p:pic>
      <p:sp>
        <p:nvSpPr>
          <p:cNvPr id="595" name="Google Shape;595;p35"/>
          <p:cNvSpPr txBox="1"/>
          <p:nvPr/>
        </p:nvSpPr>
        <p:spPr>
          <a:xfrm>
            <a:off x="785812" y="1714500"/>
            <a:ext cx="7672387" cy="1214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mic Sans MS"/>
              <a:buNone/>
            </a:pPr>
            <a:r>
              <a:rPr b="0" i="0" lang="en-US" sz="32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	</a:t>
            </a:r>
            <a:r>
              <a:rPr b="0" i="0" lang="en-US" sz="2800" u="sng">
                <a:solidFill>
                  <a:srgbClr val="7F7B9A"/>
                </a:solidFill>
                <a:latin typeface="Comic Sans MS"/>
                <a:ea typeface="Comic Sans MS"/>
                <a:cs typeface="Comic Sans MS"/>
                <a:sym typeface="Comic Sans MS"/>
              </a:rPr>
              <a:t>Non-Steganography Example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1760"/>
              </a:spcBef>
              <a:spcAft>
                <a:spcPts val="0"/>
              </a:spcAft>
              <a:buClr>
                <a:schemeClr val="dk1"/>
              </a:buClr>
              <a:buSzPts val="1960"/>
              <a:buFont typeface="Noto Sans Symbols"/>
              <a:buChar char="●"/>
            </a:pPr>
            <a:r>
              <a:rPr b="0" i="0" lang="en-US" sz="28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Walrus.html in web browser</a:t>
            </a:r>
            <a:endParaRPr/>
          </a:p>
        </p:txBody>
      </p:sp>
      <p:pic>
        <p:nvPicPr>
          <p:cNvPr id="596" name="Google Shape;596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14437" y="2857500"/>
            <a:ext cx="3219450" cy="15001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36"/>
          <p:cNvSpPr txBox="1"/>
          <p:nvPr>
            <p:ph type="title"/>
          </p:nvPr>
        </p:nvSpPr>
        <p:spPr>
          <a:xfrm>
            <a:off x="785812" y="428625"/>
            <a:ext cx="7500937" cy="928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b="0" i="0" lang="en-US" sz="28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INFORMATION HIDING </a:t>
            </a:r>
            <a:r>
              <a:rPr b="0" i="0" lang="en-US" sz="24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STEG EXAMPLE 2</a:t>
            </a:r>
            <a:endParaRPr/>
          </a:p>
        </p:txBody>
      </p:sp>
      <p:sp>
        <p:nvSpPr>
          <p:cNvPr id="602" name="Google Shape;602;p36"/>
          <p:cNvSpPr txBox="1"/>
          <p:nvPr>
            <p:ph idx="1" type="body"/>
          </p:nvPr>
        </p:nvSpPr>
        <p:spPr>
          <a:xfrm>
            <a:off x="785812" y="3786187"/>
            <a:ext cx="7672387" cy="500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04800" lvl="0" marL="304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View source</a:t>
            </a:r>
            <a:endParaRPr/>
          </a:p>
        </p:txBody>
      </p:sp>
      <p:sp>
        <p:nvSpPr>
          <p:cNvPr id="603" name="Google Shape;603;p36"/>
          <p:cNvSpPr txBox="1"/>
          <p:nvPr/>
        </p:nvSpPr>
        <p:spPr>
          <a:xfrm>
            <a:off x="3124200" y="6286500"/>
            <a:ext cx="28956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</a:pPr>
            <a:r>
              <a:rPr b="0" i="0" lang="en-US" sz="9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CHAPTER 5 OTHER TOPICS</a:t>
            </a:r>
            <a:endParaRPr/>
          </a:p>
        </p:txBody>
      </p:sp>
      <p:sp>
        <p:nvSpPr>
          <p:cNvPr id="604" name="Google Shape;604;p36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228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mic Sans MS"/>
              <a:buNone/>
            </a:pPr>
            <a:fld id="{00000000-1234-1234-1234-123412341234}" type="slidenum">
              <a:rPr b="0" i="0" lang="en-US" sz="9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‹#›</a:t>
            </a:fld>
            <a:endParaRPr/>
          </a:p>
        </p:txBody>
      </p:sp>
      <p:sp>
        <p:nvSpPr>
          <p:cNvPr id="605" name="Google Shape;605;p36"/>
          <p:cNvSpPr txBox="1"/>
          <p:nvPr/>
        </p:nvSpPr>
        <p:spPr>
          <a:xfrm>
            <a:off x="785812" y="1820862"/>
            <a:ext cx="7672387" cy="501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●"/>
            </a:pPr>
            <a:r>
              <a:rPr b="0" i="0" lang="en-US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stegoWalrus.html in web browser</a:t>
            </a:r>
            <a:endParaRPr/>
          </a:p>
        </p:txBody>
      </p:sp>
      <p:pic>
        <p:nvPicPr>
          <p:cNvPr id="606" name="Google Shape;606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" y="2286000"/>
            <a:ext cx="3098800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7" name="Google Shape;607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3162" y="4267200"/>
            <a:ext cx="6327775" cy="1254125"/>
          </a:xfrm>
          <a:prstGeom prst="rect">
            <a:avLst/>
          </a:prstGeom>
          <a:noFill/>
          <a:ln>
            <a:noFill/>
          </a:ln>
        </p:spPr>
      </p:pic>
      <p:sp>
        <p:nvSpPr>
          <p:cNvPr id="608" name="Google Shape;608;p36"/>
          <p:cNvSpPr txBox="1"/>
          <p:nvPr/>
        </p:nvSpPr>
        <p:spPr>
          <a:xfrm>
            <a:off x="785812" y="5562600"/>
            <a:ext cx="8053387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960"/>
              <a:buFont typeface="Noto Sans Symbols"/>
              <a:buChar char="●"/>
            </a:pPr>
            <a:r>
              <a:rPr b="0" i="0" lang="en-US" sz="2800" u="non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“Hidden” message: </a:t>
            </a:r>
            <a:r>
              <a:rPr b="1" i="0" lang="en-US" sz="2800" u="none">
                <a:solidFill>
                  <a:srgbClr val="0000FF"/>
                </a:solidFill>
                <a:latin typeface="Times"/>
                <a:ea typeface="Times"/>
                <a:cs typeface="Times"/>
                <a:sym typeface="Times"/>
              </a:rPr>
              <a:t>110 010 110 011 000 101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37"/>
          <p:cNvSpPr txBox="1"/>
          <p:nvPr>
            <p:ph type="title"/>
          </p:nvPr>
        </p:nvSpPr>
        <p:spPr>
          <a:xfrm>
            <a:off x="785812" y="533400"/>
            <a:ext cx="714375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b="0" i="0" lang="en-US" sz="28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INFORMATION HIDING </a:t>
            </a:r>
            <a:r>
              <a:rPr b="0" i="0" lang="en-US" sz="24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STEGANOGRAPHY</a:t>
            </a:r>
            <a:endParaRPr/>
          </a:p>
        </p:txBody>
      </p:sp>
      <p:sp>
        <p:nvSpPr>
          <p:cNvPr id="614" name="Google Shape;614;p37"/>
          <p:cNvSpPr txBox="1"/>
          <p:nvPr>
            <p:ph idx="1" type="body"/>
          </p:nvPr>
        </p:nvSpPr>
        <p:spPr>
          <a:xfrm>
            <a:off x="611187" y="1989137"/>
            <a:ext cx="8251825" cy="4146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4800" lvl="0" marL="30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Some formats (jpg, gif, wav, etc.) are more difficult (than html) for humans to read</a:t>
            </a:r>
            <a:endParaRPr/>
          </a:p>
          <a:p>
            <a:pPr indent="-304800" lvl="0" marL="304800" marR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Easy to hide information in </a:t>
            </a:r>
            <a:r>
              <a:rPr b="1" i="0" lang="en-US" sz="28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unimportant bits</a:t>
            </a:r>
            <a:endParaRPr b="0" i="0" sz="28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304800" marR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Easy to </a:t>
            </a:r>
            <a:r>
              <a:rPr b="1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destroy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or remove info stored in unimportant bits!</a:t>
            </a:r>
            <a:endParaRPr/>
          </a:p>
        </p:txBody>
      </p:sp>
      <p:sp>
        <p:nvSpPr>
          <p:cNvPr id="615" name="Google Shape;615;p37"/>
          <p:cNvSpPr txBox="1"/>
          <p:nvPr/>
        </p:nvSpPr>
        <p:spPr>
          <a:xfrm>
            <a:off x="3124200" y="6286500"/>
            <a:ext cx="28956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</a:pPr>
            <a:r>
              <a:rPr b="0" i="0" lang="en-US" sz="9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CHAPTER 5 OTHER TOPICS</a:t>
            </a:r>
            <a:endParaRPr/>
          </a:p>
        </p:txBody>
      </p:sp>
      <p:sp>
        <p:nvSpPr>
          <p:cNvPr id="616" name="Google Shape;616;p37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228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mic Sans MS"/>
              <a:buNone/>
            </a:pPr>
            <a:fld id="{00000000-1234-1234-1234-123412341234}" type="slidenum">
              <a:rPr b="0" i="0" lang="en-US" sz="9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38"/>
          <p:cNvSpPr txBox="1"/>
          <p:nvPr>
            <p:ph type="title"/>
          </p:nvPr>
        </p:nvSpPr>
        <p:spPr>
          <a:xfrm>
            <a:off x="785812" y="533400"/>
            <a:ext cx="714375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b="0" i="0" lang="en-US" sz="28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INFORMATION HIDING </a:t>
            </a:r>
            <a:r>
              <a:rPr b="0" i="0" lang="en-US" sz="24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STEGANOGRAPHY</a:t>
            </a:r>
            <a:endParaRPr/>
          </a:p>
        </p:txBody>
      </p:sp>
      <p:sp>
        <p:nvSpPr>
          <p:cNvPr id="622" name="Google Shape;622;p38"/>
          <p:cNvSpPr txBox="1"/>
          <p:nvPr>
            <p:ph idx="1" type="body"/>
          </p:nvPr>
        </p:nvSpPr>
        <p:spPr>
          <a:xfrm>
            <a:off x="785812" y="1704975"/>
            <a:ext cx="7456487" cy="4430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4800" lvl="0" marL="30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be robust, information must be stored in </a:t>
            </a:r>
            <a:r>
              <a:rPr b="1" i="0" lang="en-US" sz="28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important bits</a:t>
            </a:r>
            <a:endParaRPr b="0" i="0" sz="28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304800" marR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But stored information must not damage data!</a:t>
            </a:r>
            <a:endParaRPr/>
          </a:p>
          <a:p>
            <a:pPr indent="-304800" lvl="0" marL="304800" marR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Collusion attacks 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also a major concern</a:t>
            </a:r>
            <a:endParaRPr/>
          </a:p>
          <a:p>
            <a:pPr indent="-304800" lvl="1" marL="62865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original and watermarked object can be compared</a:t>
            </a:r>
            <a:endParaRPr/>
          </a:p>
          <a:p>
            <a:pPr indent="-304800" lvl="0" marL="304800" marR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Robust steganography is trickier than it seems</a:t>
            </a:r>
            <a:endParaRPr/>
          </a:p>
        </p:txBody>
      </p:sp>
      <p:sp>
        <p:nvSpPr>
          <p:cNvPr id="623" name="Google Shape;623;p38"/>
          <p:cNvSpPr txBox="1"/>
          <p:nvPr/>
        </p:nvSpPr>
        <p:spPr>
          <a:xfrm>
            <a:off x="3124200" y="6286500"/>
            <a:ext cx="28956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</a:pPr>
            <a:r>
              <a:rPr b="0" i="0" lang="en-US" sz="9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CHAPTER 5 OTHER TOPICS</a:t>
            </a:r>
            <a:endParaRPr/>
          </a:p>
        </p:txBody>
      </p:sp>
      <p:sp>
        <p:nvSpPr>
          <p:cNvPr id="624" name="Google Shape;624;p38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228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mic Sans MS"/>
              <a:buNone/>
            </a:pPr>
            <a:fld id="{00000000-1234-1234-1234-123412341234}" type="slidenum">
              <a:rPr b="0" i="0" lang="en-US" sz="9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39"/>
          <p:cNvSpPr txBox="1"/>
          <p:nvPr>
            <p:ph type="title"/>
          </p:nvPr>
        </p:nvSpPr>
        <p:spPr>
          <a:xfrm>
            <a:off x="785812" y="228600"/>
            <a:ext cx="7786687" cy="1128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b="0" i="0" lang="en-US" sz="28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THE BOTTOM LINE OF INF HIDING </a:t>
            </a:r>
            <a:endParaRPr/>
          </a:p>
        </p:txBody>
      </p:sp>
      <p:sp>
        <p:nvSpPr>
          <p:cNvPr id="630" name="Google Shape;630;p39"/>
          <p:cNvSpPr txBox="1"/>
          <p:nvPr>
            <p:ph idx="1" type="body"/>
          </p:nvPr>
        </p:nvSpPr>
        <p:spPr>
          <a:xfrm>
            <a:off x="395287" y="1916112"/>
            <a:ext cx="8569325" cy="42560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4800" lvl="0" marL="30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944"/>
              <a:buFont typeface="Noto Sans Symbols"/>
              <a:buChar char="◼"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information hiding is suspected</a:t>
            </a:r>
            <a:endParaRPr/>
          </a:p>
          <a:p>
            <a:pPr indent="-304800" lvl="1" marL="628650" marR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Attacker can probably make information/watermark unreadable</a:t>
            </a:r>
            <a:endParaRPr/>
          </a:p>
          <a:p>
            <a:pPr indent="-304800" lvl="1" marL="628650" marR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Attacker may be able to read the information, given the original document (image, audio, etc.)</a:t>
            </a:r>
            <a:endParaRPr/>
          </a:p>
        </p:txBody>
      </p:sp>
      <p:sp>
        <p:nvSpPr>
          <p:cNvPr id="631" name="Google Shape;631;p39"/>
          <p:cNvSpPr txBox="1"/>
          <p:nvPr/>
        </p:nvSpPr>
        <p:spPr>
          <a:xfrm>
            <a:off x="3124200" y="6286500"/>
            <a:ext cx="28956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</a:pPr>
            <a:r>
              <a:rPr b="0" i="0" lang="en-US" sz="9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CHAPTER 5 OTHER TOPICS</a:t>
            </a:r>
            <a:endParaRPr/>
          </a:p>
        </p:txBody>
      </p:sp>
      <p:sp>
        <p:nvSpPr>
          <p:cNvPr id="632" name="Google Shape;632;p39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228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mic Sans MS"/>
              <a:buNone/>
            </a:pPr>
            <a:fld id="{00000000-1234-1234-1234-123412341234}" type="slidenum">
              <a:rPr b="0" i="0" lang="en-US" sz="9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40"/>
          <p:cNvSpPr txBox="1"/>
          <p:nvPr>
            <p:ph type="ctrTitle"/>
          </p:nvPr>
        </p:nvSpPr>
        <p:spPr>
          <a:xfrm>
            <a:off x="1122362" y="476250"/>
            <a:ext cx="6899275" cy="2247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</a:pPr>
            <a:r>
              <a:rPr b="0" i="0" lang="en-US" sz="3600" u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rPr>
              <a:t>CHAPTER 5</a:t>
            </a:r>
            <a:br>
              <a:rPr b="0" i="0" lang="en-US" sz="3600" u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rPr>
            </a:br>
            <a:r>
              <a:rPr b="0" i="0" lang="en-US" sz="3600" u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rPr>
              <a:t>HASH FUNCTIONS</a:t>
            </a:r>
            <a:endParaRPr/>
          </a:p>
        </p:txBody>
      </p:sp>
      <p:sp>
        <p:nvSpPr>
          <p:cNvPr id="638" name="Google Shape;638;p40"/>
          <p:cNvSpPr txBox="1"/>
          <p:nvPr>
            <p:ph idx="1" type="subTitle"/>
          </p:nvPr>
        </p:nvSpPr>
        <p:spPr>
          <a:xfrm>
            <a:off x="641350" y="3357562"/>
            <a:ext cx="7891462" cy="2736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76"/>
              <a:buNone/>
            </a:pPr>
            <a:r>
              <a:rPr b="0" i="0" lang="en-US" sz="28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PREPARED BY: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2576"/>
              <a:buNone/>
            </a:pPr>
            <a:r>
              <a:rPr b="0" i="0" lang="en-US" sz="28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DR. MUHAMMAD IQBAL HOSSAIN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2576"/>
              <a:buNone/>
            </a:pPr>
            <a:r>
              <a:rPr b="0" i="0" lang="en-US" sz="28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ASSOCIATE PROFESSOR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2576"/>
              <a:buNone/>
            </a:pPr>
            <a:r>
              <a:rPr b="0" i="0" lang="en-US" sz="28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DEPARTMENT OF CSE, BRAC UNIVERSITY</a:t>
            </a:r>
            <a:endParaRPr/>
          </a:p>
        </p:txBody>
      </p:sp>
      <p:pic>
        <p:nvPicPr>
          <p:cNvPr id="639" name="Google Shape;63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5825" y="620712"/>
            <a:ext cx="1408112" cy="1150937"/>
          </a:xfrm>
          <a:prstGeom prst="rect">
            <a:avLst/>
          </a:prstGeom>
          <a:noFill/>
          <a:ln>
            <a:noFill/>
          </a:ln>
        </p:spPr>
      </p:pic>
      <p:pic>
        <p:nvPicPr>
          <p:cNvPr id="640" name="Google Shape;640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80287" y="692150"/>
            <a:ext cx="1147762" cy="1062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41"/>
          <p:cNvSpPr txBox="1"/>
          <p:nvPr>
            <p:ph type="title"/>
          </p:nvPr>
        </p:nvSpPr>
        <p:spPr>
          <a:xfrm>
            <a:off x="581025" y="687387"/>
            <a:ext cx="7989887" cy="7413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b="0" i="0" lang="en-US" sz="28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HASH FUNCTION?</a:t>
            </a:r>
            <a:endParaRPr/>
          </a:p>
        </p:txBody>
      </p:sp>
      <p:sp>
        <p:nvSpPr>
          <p:cNvPr id="646" name="Google Shape;646;p41"/>
          <p:cNvSpPr txBox="1"/>
          <p:nvPr>
            <p:ph idx="1" type="body"/>
          </p:nvPr>
        </p:nvSpPr>
        <p:spPr>
          <a:xfrm>
            <a:off x="769937" y="1857375"/>
            <a:ext cx="7972425" cy="17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4800" lvl="0" marL="30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392"/>
              <a:buFont typeface="Noto Sans Symbols"/>
              <a:buChar char="◼"/>
            </a:pPr>
            <a:r>
              <a:rPr b="0" i="0" lang="en-US" sz="26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Hash function</a:t>
            </a:r>
            <a:endParaRPr/>
          </a:p>
          <a:p>
            <a:pPr indent="-304800" lvl="1" marL="628650" marR="0" rtl="0" algn="l">
              <a:lnSpc>
                <a:spcPct val="100000"/>
              </a:lnSpc>
              <a:spcBef>
                <a:spcPts val="1040"/>
              </a:spcBef>
              <a:spcAft>
                <a:spcPts val="0"/>
              </a:spcAft>
              <a:buClr>
                <a:schemeClr val="accent2"/>
              </a:buClr>
              <a:buSzPts val="2024"/>
              <a:buFont typeface="Noto Sans Symbols"/>
              <a:buChar char="◼"/>
            </a:pP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reproducible method of turning some kind of data into a (relatively) small number that may serve as a digital </a:t>
            </a:r>
            <a:r>
              <a:rPr b="0" i="0" lang="en-US" sz="2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"fingerprint" </a:t>
            </a: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the data.</a:t>
            </a:r>
            <a:endParaRPr/>
          </a:p>
        </p:txBody>
      </p:sp>
      <p:sp>
        <p:nvSpPr>
          <p:cNvPr id="647" name="Google Shape;647;p41"/>
          <p:cNvSpPr txBox="1"/>
          <p:nvPr/>
        </p:nvSpPr>
        <p:spPr>
          <a:xfrm>
            <a:off x="581025" y="6321425"/>
            <a:ext cx="48704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mic Sans MS"/>
              <a:buNone/>
            </a:pPr>
            <a:r>
              <a:rPr b="0" i="0" lang="en-US" sz="9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CHAPTER 5 HASH FUNCTION</a:t>
            </a:r>
            <a:endParaRPr/>
          </a:p>
        </p:txBody>
      </p:sp>
      <p:sp>
        <p:nvSpPr>
          <p:cNvPr id="648" name="Google Shape;648;p41"/>
          <p:cNvSpPr txBox="1"/>
          <p:nvPr/>
        </p:nvSpPr>
        <p:spPr>
          <a:xfrm>
            <a:off x="7823200" y="6307137"/>
            <a:ext cx="7699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</a:pPr>
            <a:fld id="{00000000-1234-1234-1234-123412341234}" type="slidenum">
              <a:rPr b="0" i="0" lang="en-US" sz="9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‹#›</a:t>
            </a:fld>
            <a:endParaRPr/>
          </a:p>
        </p:txBody>
      </p:sp>
      <p:pic>
        <p:nvPicPr>
          <p:cNvPr descr="C:\Documents and Settings\taenamahn\바탕 화면\x.bmp" id="649" name="Google Shape;64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29250" y="3571875"/>
            <a:ext cx="3495675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1"/>
          <p:cNvSpPr txBox="1"/>
          <p:nvPr/>
        </p:nvSpPr>
        <p:spPr>
          <a:xfrm>
            <a:off x="785812" y="3571875"/>
            <a:ext cx="4786312" cy="257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1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20"/>
              <a:buFont typeface="Noto Sans Symbols"/>
              <a:buChar char="●"/>
            </a:pPr>
            <a:r>
              <a:rPr b="0" i="0" lang="en-US" sz="2600" u="none" cap="none" strike="noStrike">
                <a:solidFill>
                  <a:srgbClr val="0000FF"/>
                </a:solidFill>
                <a:latin typeface="Gill Sans"/>
                <a:ea typeface="Gill Sans"/>
                <a:cs typeface="Gill Sans"/>
                <a:sym typeface="Gill Sans"/>
              </a:rPr>
              <a:t>Crypto Hash function</a:t>
            </a:r>
            <a:endParaRPr/>
          </a:p>
          <a:p>
            <a:pPr indent="-457199" lvl="2" marL="830262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3A8F98"/>
              </a:buClr>
              <a:buSzPts val="1540"/>
              <a:buFont typeface="Noto Sans Symbols"/>
              <a:buChar char="●"/>
            </a:pPr>
            <a:r>
              <a:rPr b="0" i="0" lang="en-US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 hash function</a:t>
            </a:r>
            <a:r>
              <a:rPr b="0" i="0" lang="en-US" sz="2200" u="none" cap="none" strike="noStrike">
                <a:solidFill>
                  <a:srgbClr val="0000FF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b="0" i="0" lang="en-US" sz="2200" u="none" cap="none" strike="noStrike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with certain additional security properties</a:t>
            </a:r>
            <a:r>
              <a:rPr b="0" i="0" lang="en-US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to make it suitable for use as various info security applications</a:t>
            </a:r>
            <a:endParaRPr b="0" i="0" sz="2200" u="none" cap="none" strike="noStrike">
              <a:solidFill>
                <a:srgbClr val="0000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solidFill>
                <a:srgbClr val="0000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42"/>
          <p:cNvSpPr txBox="1"/>
          <p:nvPr>
            <p:ph type="title"/>
          </p:nvPr>
        </p:nvSpPr>
        <p:spPr>
          <a:xfrm>
            <a:off x="785812" y="457200"/>
            <a:ext cx="7143750" cy="9001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b="0" i="0" lang="en-US" sz="28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HASH FUNCTION MOTIVATION</a:t>
            </a:r>
            <a:endParaRPr/>
          </a:p>
        </p:txBody>
      </p:sp>
      <p:sp>
        <p:nvSpPr>
          <p:cNvPr id="657" name="Google Shape;657;p42"/>
          <p:cNvSpPr txBox="1"/>
          <p:nvPr>
            <p:ph idx="1" type="body"/>
          </p:nvPr>
        </p:nvSpPr>
        <p:spPr>
          <a:xfrm>
            <a:off x="785812" y="1719262"/>
            <a:ext cx="7748587" cy="4308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4800" lvl="0" marL="3048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Suppose Alice signs </a:t>
            </a:r>
            <a:r>
              <a:rPr b="1" i="0" lang="en-US" sz="2800" u="none" cap="none" strike="noStrike">
                <a:solidFill>
                  <a:srgbClr val="0000FF"/>
                </a:solidFill>
                <a:latin typeface="Times"/>
                <a:ea typeface="Times"/>
                <a:cs typeface="Times"/>
                <a:sym typeface="Times"/>
              </a:rPr>
              <a:t>M</a:t>
            </a:r>
            <a:endParaRPr b="1" i="0" sz="28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628650" marR="0" rtl="0" algn="l">
              <a:lnSpc>
                <a:spcPct val="80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0" i="0" lang="en-US" sz="24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Alice sends </a:t>
            </a:r>
            <a:r>
              <a:rPr b="0" i="0" lang="en-US" sz="2400" u="none" cap="none" strike="noStrike">
                <a:solidFill>
                  <a:srgbClr val="0000FF"/>
                </a:solidFill>
                <a:latin typeface="Times"/>
                <a:ea typeface="Times"/>
                <a:cs typeface="Times"/>
                <a:sym typeface="Times"/>
              </a:rPr>
              <a:t>M</a:t>
            </a:r>
            <a:r>
              <a:rPr b="0" i="0" lang="en-US" sz="24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b="0" i="0" lang="en-US" sz="2400" u="none" cap="none" strike="noStrike">
                <a:solidFill>
                  <a:srgbClr val="0000FF"/>
                </a:solidFill>
                <a:latin typeface="Times"/>
                <a:ea typeface="Times"/>
                <a:cs typeface="Times"/>
                <a:sym typeface="Times"/>
              </a:rPr>
              <a:t>S = [M]</a:t>
            </a:r>
            <a:r>
              <a:rPr b="0" baseline="-25000" i="0" lang="en-US" sz="2400" u="none" cap="none" strike="noStrike">
                <a:solidFill>
                  <a:srgbClr val="0000FF"/>
                </a:solidFill>
                <a:latin typeface="Times"/>
                <a:ea typeface="Times"/>
                <a:cs typeface="Times"/>
                <a:sym typeface="Times"/>
              </a:rPr>
              <a:t>Alice</a:t>
            </a:r>
            <a:r>
              <a:rPr b="0" i="0" lang="en-US" sz="24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Bob</a:t>
            </a:r>
            <a:endParaRPr/>
          </a:p>
          <a:p>
            <a:pPr indent="-304800" lvl="1" marL="628650" marR="0" rtl="0" algn="l">
              <a:lnSpc>
                <a:spcPct val="80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0" i="0" lang="en-US" sz="24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Bob verifies that </a:t>
            </a:r>
            <a:r>
              <a:rPr b="0" i="0" lang="en-US" sz="2400" u="none" cap="none" strike="noStrike">
                <a:solidFill>
                  <a:srgbClr val="0000FF"/>
                </a:solidFill>
                <a:latin typeface="Times"/>
                <a:ea typeface="Times"/>
                <a:cs typeface="Times"/>
                <a:sym typeface="Times"/>
              </a:rPr>
              <a:t>M = {S}</a:t>
            </a:r>
            <a:r>
              <a:rPr b="0" baseline="-25000" i="0" lang="en-US" sz="2400" u="none" cap="none" strike="noStrike">
                <a:solidFill>
                  <a:srgbClr val="0000FF"/>
                </a:solidFill>
                <a:latin typeface="Times"/>
                <a:ea typeface="Times"/>
                <a:cs typeface="Times"/>
                <a:sym typeface="Times"/>
              </a:rPr>
              <a:t>Alice</a:t>
            </a:r>
            <a:endParaRPr/>
          </a:p>
          <a:p>
            <a:pPr indent="-304800" lvl="1" marL="628650" marR="0" rtl="0" algn="l">
              <a:lnSpc>
                <a:spcPct val="80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0" i="0" lang="en-US" sz="24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Aside: Is it OK to just send </a:t>
            </a:r>
            <a:r>
              <a:rPr b="0" i="0" lang="en-US" sz="2400" u="none" cap="none" strike="noStrike">
                <a:solidFill>
                  <a:srgbClr val="0000FF"/>
                </a:solidFill>
                <a:latin typeface="Times"/>
                <a:ea typeface="Times"/>
                <a:cs typeface="Times"/>
                <a:sym typeface="Times"/>
              </a:rPr>
              <a:t>S</a:t>
            </a:r>
            <a:r>
              <a:rPr b="0" i="0" lang="en-US" sz="24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?</a:t>
            </a:r>
            <a:endParaRPr/>
          </a:p>
          <a:p>
            <a:pPr indent="-304800" lvl="0" marL="304800" marR="0" rtl="0" algn="l">
              <a:lnSpc>
                <a:spcPct val="8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</a:t>
            </a:r>
            <a:r>
              <a:rPr b="0" i="0" lang="en-US" sz="2800" u="none" cap="none" strike="noStrike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M</a:t>
            </a:r>
            <a:r>
              <a:rPr b="0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big, </a:t>
            </a:r>
            <a:r>
              <a:rPr b="0" i="0" lang="en-US" sz="2800" u="none" cap="none" strike="noStrike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[M]</a:t>
            </a:r>
            <a:r>
              <a:rPr b="0" baseline="-25000" i="0" lang="en-US" sz="2800" u="none" cap="none" strike="noStrike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Alice</a:t>
            </a:r>
            <a:r>
              <a:rPr b="0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costly to compute</a:t>
            </a:r>
            <a:endParaRPr/>
          </a:p>
          <a:p>
            <a:pPr indent="-304800" lvl="0" marL="304800" marR="0" rtl="0" algn="l">
              <a:lnSpc>
                <a:spcPct val="8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Suppose instead, Alice signs 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h(M)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where </a:t>
            </a:r>
            <a:r>
              <a:rPr b="0" i="0" lang="en-US" sz="2800" u="none" cap="none" strike="noStrike">
                <a:solidFill>
                  <a:srgbClr val="0000FF"/>
                </a:solidFill>
                <a:latin typeface="Times"/>
                <a:ea typeface="Times"/>
                <a:cs typeface="Times"/>
                <a:sym typeface="Times"/>
              </a:rPr>
              <a:t>h(M)</a:t>
            </a:r>
            <a:r>
              <a:rPr b="0" i="0" lang="en-US" sz="28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much smaller than </a:t>
            </a:r>
            <a:r>
              <a:rPr b="0" i="0" lang="en-US" sz="2800" u="none" cap="none" strike="noStrike">
                <a:solidFill>
                  <a:srgbClr val="0000FF"/>
                </a:solidFill>
                <a:latin typeface="Times"/>
                <a:ea typeface="Times"/>
                <a:cs typeface="Times"/>
                <a:sym typeface="Times"/>
              </a:rPr>
              <a:t>M</a:t>
            </a:r>
            <a:endParaRPr b="0" i="0" sz="28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628650" marR="0" rtl="0" algn="l">
              <a:lnSpc>
                <a:spcPct val="80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Alice sends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M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S = [h(M)]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Alice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Bob</a:t>
            </a:r>
            <a:endParaRPr/>
          </a:p>
          <a:p>
            <a:pPr indent="-304800" lvl="1" marL="628650" marR="0" rtl="0" algn="l">
              <a:lnSpc>
                <a:spcPct val="80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Bob verifies that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h(M) = {S}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Alice</a:t>
            </a:r>
            <a:endParaRPr/>
          </a:p>
        </p:txBody>
      </p:sp>
      <p:sp>
        <p:nvSpPr>
          <p:cNvPr id="658" name="Google Shape;658;p42"/>
          <p:cNvSpPr txBox="1"/>
          <p:nvPr/>
        </p:nvSpPr>
        <p:spPr>
          <a:xfrm>
            <a:off x="581025" y="6321425"/>
            <a:ext cx="48704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mic Sans MS"/>
              <a:buNone/>
            </a:pPr>
            <a:r>
              <a:rPr b="0" i="0" lang="en-US" sz="9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CHAPTER 5 HASH FUNCTION</a:t>
            </a:r>
            <a:endParaRPr/>
          </a:p>
        </p:txBody>
      </p:sp>
      <p:sp>
        <p:nvSpPr>
          <p:cNvPr id="659" name="Google Shape;659;p42"/>
          <p:cNvSpPr txBox="1"/>
          <p:nvPr/>
        </p:nvSpPr>
        <p:spPr>
          <a:xfrm>
            <a:off x="7823200" y="6307137"/>
            <a:ext cx="7699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</a:pPr>
            <a:fld id="{00000000-1234-1234-1234-123412341234}" type="slidenum">
              <a:rPr b="0" i="0" lang="en-US" sz="9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43"/>
          <p:cNvSpPr txBox="1"/>
          <p:nvPr>
            <p:ph type="title"/>
          </p:nvPr>
        </p:nvSpPr>
        <p:spPr>
          <a:xfrm>
            <a:off x="785812" y="381000"/>
            <a:ext cx="7143750" cy="9763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b="0" i="0" lang="en-US" sz="28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CRYPTO HASH FUNCTION</a:t>
            </a:r>
            <a:endParaRPr/>
          </a:p>
        </p:txBody>
      </p:sp>
      <p:sp>
        <p:nvSpPr>
          <p:cNvPr id="666" name="Google Shape;666;p43"/>
          <p:cNvSpPr txBox="1"/>
          <p:nvPr>
            <p:ph idx="1" type="body"/>
          </p:nvPr>
        </p:nvSpPr>
        <p:spPr>
          <a:xfrm>
            <a:off x="654050" y="1928812"/>
            <a:ext cx="8489950" cy="4387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4800" lvl="0" marL="30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Crypto hash function h(x) 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must provide the following properties</a:t>
            </a:r>
            <a:endParaRPr/>
          </a:p>
          <a:p>
            <a:pPr indent="-304800" lvl="0" marL="304800" marR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1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Compression</a:t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62865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 length is small</a:t>
            </a:r>
            <a:endParaRPr/>
          </a:p>
          <a:p>
            <a:pPr indent="-304800" lvl="0" marL="304800" marR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1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Efficiency</a:t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62865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h(x) easy to computer for any x</a:t>
            </a:r>
            <a:endParaRPr/>
          </a:p>
          <a:p>
            <a:pPr indent="-304800" lvl="0" marL="304800" marR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1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One-way</a:t>
            </a:r>
            <a:endParaRPr b="0" i="0" sz="28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62865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given a value y it is infeasible to find an x such that h(x) = y</a:t>
            </a:r>
            <a:endParaRPr/>
          </a:p>
        </p:txBody>
      </p:sp>
      <p:sp>
        <p:nvSpPr>
          <p:cNvPr id="667" name="Google Shape;667;p43"/>
          <p:cNvSpPr txBox="1"/>
          <p:nvPr/>
        </p:nvSpPr>
        <p:spPr>
          <a:xfrm>
            <a:off x="395287" y="6367462"/>
            <a:ext cx="48704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mic Sans MS"/>
              <a:buNone/>
            </a:pPr>
            <a:r>
              <a:rPr b="0" i="0" lang="en-US" sz="9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CHAPTER 5 HASH FUNCTION</a:t>
            </a:r>
            <a:endParaRPr/>
          </a:p>
        </p:txBody>
      </p:sp>
      <p:sp>
        <p:nvSpPr>
          <p:cNvPr id="668" name="Google Shape;668;p43"/>
          <p:cNvSpPr txBox="1"/>
          <p:nvPr/>
        </p:nvSpPr>
        <p:spPr>
          <a:xfrm>
            <a:off x="7897812" y="6367462"/>
            <a:ext cx="7699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</a:pPr>
            <a:fld id="{00000000-1234-1234-1234-123412341234}" type="slidenum">
              <a:rPr b="0" i="0" lang="en-US" sz="9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44"/>
          <p:cNvSpPr txBox="1"/>
          <p:nvPr>
            <p:ph type="title"/>
          </p:nvPr>
        </p:nvSpPr>
        <p:spPr>
          <a:xfrm>
            <a:off x="785812" y="381000"/>
            <a:ext cx="7143750" cy="9763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b="0" i="0" lang="en-US" sz="28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CRYPTO HASH FUNCTION</a:t>
            </a:r>
            <a:endParaRPr/>
          </a:p>
        </p:txBody>
      </p:sp>
      <p:sp>
        <p:nvSpPr>
          <p:cNvPr id="675" name="Google Shape;675;p44"/>
          <p:cNvSpPr txBox="1"/>
          <p:nvPr>
            <p:ph idx="1" type="body"/>
          </p:nvPr>
        </p:nvSpPr>
        <p:spPr>
          <a:xfrm>
            <a:off x="522287" y="1928812"/>
            <a:ext cx="7670800" cy="4387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4800" lvl="0" marL="30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944"/>
              <a:buFont typeface="Noto Sans Symbols"/>
              <a:buChar char="◼"/>
            </a:pPr>
            <a:r>
              <a:rPr b="1" i="0" lang="en-US" sz="3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Weak collision resistance</a:t>
            </a:r>
            <a:r>
              <a:rPr b="0" i="0" lang="en-US" sz="3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628650" marR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given x and h(x), 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infeasible </a:t>
            </a:r>
            <a:r>
              <a:rPr b="1" i="0" lang="en-US" sz="28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find y </a:t>
            </a:r>
            <a:br>
              <a:rPr b="1" i="0" lang="en-US" sz="28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y ≠ x such that h(y) = h(x)</a:t>
            </a:r>
            <a:endParaRPr/>
          </a:p>
          <a:p>
            <a:pPr indent="-304800" lvl="0" marL="304800" marR="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Clr>
                <a:schemeClr val="accent2"/>
              </a:buClr>
              <a:buSzPts val="2944"/>
              <a:buFont typeface="Noto Sans Symbols"/>
              <a:buChar char="◼"/>
            </a:pPr>
            <a:r>
              <a:rPr b="1" i="0" lang="en-US" sz="3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Strong collision resistance</a:t>
            </a:r>
            <a:r>
              <a:rPr b="0" i="0" lang="en-US" sz="3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628650" marR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infeasible </a:t>
            </a:r>
            <a:r>
              <a:rPr b="1" i="0" lang="en-US" sz="28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find any x and y, </a:t>
            </a:r>
            <a:br>
              <a:rPr b="1" i="0" lang="en-US" sz="28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x ≠ y such that h(x) = h(y)</a:t>
            </a:r>
            <a:endParaRPr/>
          </a:p>
          <a:p>
            <a:pPr indent="-304800" lvl="0" marL="304800" marR="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Clr>
                <a:schemeClr val="accent2"/>
              </a:buClr>
              <a:buSzPts val="2944"/>
              <a:buFont typeface="Noto Sans Symbols"/>
              <a:buChar char="◼"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Lots of collisions exist, but hard to find one</a:t>
            </a:r>
            <a:endParaRPr/>
          </a:p>
        </p:txBody>
      </p:sp>
      <p:sp>
        <p:nvSpPr>
          <p:cNvPr id="676" name="Google Shape;676;p44"/>
          <p:cNvSpPr txBox="1"/>
          <p:nvPr/>
        </p:nvSpPr>
        <p:spPr>
          <a:xfrm>
            <a:off x="522287" y="6300787"/>
            <a:ext cx="48704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mic Sans MS"/>
              <a:buNone/>
            </a:pPr>
            <a:r>
              <a:rPr b="0" i="0" lang="en-US" sz="9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CHAPTER 5 HASH FUNCTION</a:t>
            </a:r>
            <a:endParaRPr/>
          </a:p>
        </p:txBody>
      </p:sp>
      <p:sp>
        <p:nvSpPr>
          <p:cNvPr id="677" name="Google Shape;677;p44"/>
          <p:cNvSpPr txBox="1"/>
          <p:nvPr/>
        </p:nvSpPr>
        <p:spPr>
          <a:xfrm>
            <a:off x="7823200" y="6307137"/>
            <a:ext cx="7699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</a:pPr>
            <a:fld id="{00000000-1234-1234-1234-123412341234}" type="slidenum">
              <a:rPr b="0" i="0" lang="en-US" sz="9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45"/>
          <p:cNvSpPr txBox="1"/>
          <p:nvPr>
            <p:ph type="title"/>
          </p:nvPr>
        </p:nvSpPr>
        <p:spPr>
          <a:xfrm>
            <a:off x="785812" y="228600"/>
            <a:ext cx="71437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b="0" i="0" lang="en-US" sz="28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POPULAR CRYPTO HASHES</a:t>
            </a:r>
            <a:endParaRPr/>
          </a:p>
        </p:txBody>
      </p:sp>
      <p:sp>
        <p:nvSpPr>
          <p:cNvPr id="683" name="Google Shape;683;p45"/>
          <p:cNvSpPr txBox="1"/>
          <p:nvPr>
            <p:ph idx="1" type="body"/>
          </p:nvPr>
        </p:nvSpPr>
        <p:spPr>
          <a:xfrm>
            <a:off x="519112" y="1844675"/>
            <a:ext cx="8105775" cy="4467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4800" lvl="0" marL="30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944"/>
              <a:buFont typeface="Noto Sans Symbols"/>
              <a:buChar char="◼"/>
            </a:pPr>
            <a:r>
              <a:rPr b="1" i="0" lang="en-US" sz="32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MD(Message Digest) 5</a:t>
            </a: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4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628650" marR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invented by Rivest</a:t>
            </a:r>
            <a:endParaRPr/>
          </a:p>
          <a:p>
            <a:pPr indent="-304800" lvl="1" marL="628650" marR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128 bit output</a:t>
            </a:r>
            <a:endParaRPr/>
          </a:p>
          <a:p>
            <a:pPr indent="-304800" lvl="1" marL="628650" marR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MD2 → MD4 → MD5 </a:t>
            </a:r>
            <a:endParaRPr/>
          </a:p>
          <a:p>
            <a:pPr indent="-304800" lvl="1" marL="628650" marR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MD2 and MD4 are no longer secure, due to collision found</a:t>
            </a:r>
            <a:endParaRPr/>
          </a:p>
          <a:p>
            <a:pPr indent="-304800" lvl="1" marL="628650" marR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Note: even MD5, collision recently found</a:t>
            </a:r>
            <a:endParaRPr/>
          </a:p>
        </p:txBody>
      </p:sp>
      <p:sp>
        <p:nvSpPr>
          <p:cNvPr id="684" name="Google Shape;684;p45"/>
          <p:cNvSpPr txBox="1"/>
          <p:nvPr/>
        </p:nvSpPr>
        <p:spPr>
          <a:xfrm>
            <a:off x="581025" y="6321425"/>
            <a:ext cx="48704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mic Sans MS"/>
              <a:buNone/>
            </a:pPr>
            <a:r>
              <a:rPr b="0" i="0" lang="en-US" sz="9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CHAPTER 5 HASH FUNCTION</a:t>
            </a:r>
            <a:endParaRPr/>
          </a:p>
        </p:txBody>
      </p:sp>
      <p:sp>
        <p:nvSpPr>
          <p:cNvPr id="685" name="Google Shape;685;p45"/>
          <p:cNvSpPr txBox="1"/>
          <p:nvPr/>
        </p:nvSpPr>
        <p:spPr>
          <a:xfrm>
            <a:off x="7823200" y="6307137"/>
            <a:ext cx="7699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</a:pPr>
            <a:fld id="{00000000-1234-1234-1234-123412341234}" type="slidenum">
              <a:rPr b="0" i="0" lang="en-US" sz="9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46"/>
          <p:cNvSpPr txBox="1"/>
          <p:nvPr>
            <p:ph type="title"/>
          </p:nvPr>
        </p:nvSpPr>
        <p:spPr>
          <a:xfrm>
            <a:off x="785812" y="228600"/>
            <a:ext cx="71437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b="0" i="0" lang="en-US" sz="28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POPULAR CRYPTO HASHES</a:t>
            </a:r>
            <a:endParaRPr/>
          </a:p>
        </p:txBody>
      </p:sp>
      <p:sp>
        <p:nvSpPr>
          <p:cNvPr id="691" name="Google Shape;691;p46"/>
          <p:cNvSpPr txBox="1"/>
          <p:nvPr>
            <p:ph idx="1" type="body"/>
          </p:nvPr>
        </p:nvSpPr>
        <p:spPr>
          <a:xfrm>
            <a:off x="506412" y="1844675"/>
            <a:ext cx="8242300" cy="4467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4800" lvl="0" marL="30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944"/>
              <a:buFont typeface="Noto Sans Symbols"/>
              <a:buChar char="◼"/>
            </a:pPr>
            <a:r>
              <a:rPr b="1" i="0" lang="en-US" sz="32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SHA(Secure Hash Algorithm)-1</a:t>
            </a: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628650" marR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US government standard (similar to MD5)</a:t>
            </a:r>
            <a:endParaRPr/>
          </a:p>
          <a:p>
            <a:pPr indent="-304800" lvl="1" marL="628650" marR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“The world’s most popular hash function”</a:t>
            </a:r>
            <a:endParaRPr/>
          </a:p>
          <a:p>
            <a:pPr indent="-304800" lvl="1" marL="628650" marR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180 bit output</a:t>
            </a:r>
            <a:endParaRPr/>
          </a:p>
          <a:p>
            <a:pPr indent="-304800" lvl="1" marL="628650" marR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SHA-0  → SHA-1</a:t>
            </a:r>
            <a:endParaRPr b="0" i="0" sz="28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304800" marR="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Clr>
                <a:schemeClr val="accent2"/>
              </a:buClr>
              <a:buSzPts val="2944"/>
              <a:buFont typeface="Noto Sans Symbols"/>
              <a:buChar char="◼"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Many others hashes, but MD5 and </a:t>
            </a:r>
            <a:b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SHA-1 most widely used</a:t>
            </a:r>
            <a:endParaRPr/>
          </a:p>
        </p:txBody>
      </p:sp>
      <p:sp>
        <p:nvSpPr>
          <p:cNvPr id="692" name="Google Shape;692;p46"/>
          <p:cNvSpPr txBox="1"/>
          <p:nvPr/>
        </p:nvSpPr>
        <p:spPr>
          <a:xfrm>
            <a:off x="581025" y="6321425"/>
            <a:ext cx="48704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mic Sans MS"/>
              <a:buNone/>
            </a:pPr>
            <a:r>
              <a:rPr b="0" i="0" lang="en-US" sz="9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CHAPTER 5 HASH FUNCTION</a:t>
            </a:r>
            <a:endParaRPr/>
          </a:p>
        </p:txBody>
      </p:sp>
      <p:sp>
        <p:nvSpPr>
          <p:cNvPr id="693" name="Google Shape;693;p46"/>
          <p:cNvSpPr txBox="1"/>
          <p:nvPr/>
        </p:nvSpPr>
        <p:spPr>
          <a:xfrm>
            <a:off x="7823200" y="6307137"/>
            <a:ext cx="7699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</a:pPr>
            <a:fld id="{00000000-1234-1234-1234-123412341234}" type="slidenum">
              <a:rPr b="0" i="0" lang="en-US" sz="9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47"/>
          <p:cNvSpPr txBox="1"/>
          <p:nvPr>
            <p:ph type="title"/>
          </p:nvPr>
        </p:nvSpPr>
        <p:spPr>
          <a:xfrm>
            <a:off x="581025" y="687387"/>
            <a:ext cx="7989887" cy="725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99" name="Google Shape;699;p47"/>
          <p:cNvSpPr txBox="1"/>
          <p:nvPr>
            <p:ph idx="1" type="body"/>
          </p:nvPr>
        </p:nvSpPr>
        <p:spPr>
          <a:xfrm>
            <a:off x="581025" y="1857375"/>
            <a:ext cx="7989887" cy="4487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16"/>
              <a:buFont typeface="Noto Sans Symbols"/>
              <a:buNone/>
            </a:pPr>
            <a:r>
              <a:rPr b="0" i="0" lang="en-US" sz="4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Hash usages </a:t>
            </a:r>
            <a:endParaRPr/>
          </a:p>
        </p:txBody>
      </p:sp>
      <p:sp>
        <p:nvSpPr>
          <p:cNvPr id="700" name="Google Shape;700;p47"/>
          <p:cNvSpPr txBox="1"/>
          <p:nvPr/>
        </p:nvSpPr>
        <p:spPr>
          <a:xfrm>
            <a:off x="581025" y="6321425"/>
            <a:ext cx="48704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</a:pPr>
            <a:r>
              <a:rPr b="0" i="0" lang="en-US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rPr>
              <a:t>CHAPTER 5 HASH FUNCTION</a:t>
            </a:r>
            <a:endParaRPr/>
          </a:p>
        </p:txBody>
      </p:sp>
      <p:sp>
        <p:nvSpPr>
          <p:cNvPr id="701" name="Google Shape;701;p47"/>
          <p:cNvSpPr txBox="1"/>
          <p:nvPr/>
        </p:nvSpPr>
        <p:spPr>
          <a:xfrm>
            <a:off x="7823200" y="6307137"/>
            <a:ext cx="7699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</a:pPr>
            <a:fld id="{00000000-1234-1234-1234-123412341234}" type="slidenum">
              <a:rPr b="0" i="0" lang="en-US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48"/>
          <p:cNvSpPr txBox="1"/>
          <p:nvPr>
            <p:ph type="title"/>
          </p:nvPr>
        </p:nvSpPr>
        <p:spPr>
          <a:xfrm>
            <a:off x="785812" y="122237"/>
            <a:ext cx="7143750" cy="12350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b="0" i="0" lang="en-US" sz="28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HASH USES</a:t>
            </a:r>
            <a:endParaRPr/>
          </a:p>
        </p:txBody>
      </p:sp>
      <p:sp>
        <p:nvSpPr>
          <p:cNvPr id="707" name="Google Shape;707;p48"/>
          <p:cNvSpPr txBox="1"/>
          <p:nvPr>
            <p:ph idx="1" type="body"/>
          </p:nvPr>
        </p:nvSpPr>
        <p:spPr>
          <a:xfrm>
            <a:off x="581025" y="2227262"/>
            <a:ext cx="7989887" cy="36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4800" lvl="0" marL="30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0" i="0" lang="en-US" sz="24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Authentication (</a:t>
            </a:r>
            <a:r>
              <a:rPr b="0" i="0" lang="en-US" sz="2400" u="none" cap="none" strike="noStrike">
                <a:solidFill>
                  <a:srgbClr val="0000FF"/>
                </a:solidFill>
                <a:latin typeface="Times"/>
                <a:ea typeface="Times"/>
                <a:cs typeface="Times"/>
                <a:sym typeface="Times"/>
              </a:rPr>
              <a:t>HMAC</a:t>
            </a:r>
            <a:r>
              <a:rPr b="0" i="0" lang="en-US" sz="24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indent="-304800" lvl="0" marL="30480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0" i="0" lang="en-US" sz="24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Message integrity (</a:t>
            </a:r>
            <a:r>
              <a:rPr b="0" i="0" lang="en-US" sz="2400" u="none" cap="none" strike="noStrike">
                <a:solidFill>
                  <a:srgbClr val="0000FF"/>
                </a:solidFill>
                <a:latin typeface="Times"/>
                <a:ea typeface="Times"/>
                <a:cs typeface="Times"/>
                <a:sym typeface="Times"/>
              </a:rPr>
              <a:t>HMAC</a:t>
            </a:r>
            <a:r>
              <a:rPr b="0" i="0" lang="en-US" sz="24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indent="-304800" lvl="0" marL="30480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0" i="0" lang="en-US" sz="24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Message fingerprint</a:t>
            </a:r>
            <a:endParaRPr/>
          </a:p>
          <a:p>
            <a:pPr indent="-304800" lvl="0" marL="30480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0" i="0" lang="en-US" sz="24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corruption detection</a:t>
            </a:r>
            <a:endParaRPr/>
          </a:p>
          <a:p>
            <a:pPr indent="-304800" lvl="0" marL="30480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0" i="0" lang="en-US" sz="24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Digital signature efficiency</a:t>
            </a:r>
            <a:endParaRPr/>
          </a:p>
          <a:p>
            <a:pPr indent="-304800" lvl="0" marL="30480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Anything you can do with symmetric crypto ???</a:t>
            </a:r>
            <a:endParaRPr/>
          </a:p>
        </p:txBody>
      </p:sp>
      <p:sp>
        <p:nvSpPr>
          <p:cNvPr id="708" name="Google Shape;708;p48"/>
          <p:cNvSpPr txBox="1"/>
          <p:nvPr/>
        </p:nvSpPr>
        <p:spPr>
          <a:xfrm>
            <a:off x="581025" y="6321425"/>
            <a:ext cx="48704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mic Sans MS"/>
              <a:buNone/>
            </a:pPr>
            <a:r>
              <a:rPr b="0" i="0" lang="en-US" sz="9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CHAPTER 5 HASH FUNCTION</a:t>
            </a:r>
            <a:endParaRPr/>
          </a:p>
        </p:txBody>
      </p:sp>
      <p:sp>
        <p:nvSpPr>
          <p:cNvPr id="709" name="Google Shape;709;p48"/>
          <p:cNvSpPr txBox="1"/>
          <p:nvPr/>
        </p:nvSpPr>
        <p:spPr>
          <a:xfrm>
            <a:off x="7823200" y="6307137"/>
            <a:ext cx="7699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</a:pPr>
            <a:fld id="{00000000-1234-1234-1234-123412341234}" type="slidenum">
              <a:rPr b="0" i="0" lang="en-US" sz="9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49"/>
          <p:cNvSpPr txBox="1"/>
          <p:nvPr>
            <p:ph type="title"/>
          </p:nvPr>
        </p:nvSpPr>
        <p:spPr>
          <a:xfrm>
            <a:off x="785812" y="381000"/>
            <a:ext cx="7143750" cy="9763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b="0" i="0" lang="en-US" sz="28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ONLINE AUCTION</a:t>
            </a:r>
            <a:endParaRPr/>
          </a:p>
        </p:txBody>
      </p:sp>
      <p:sp>
        <p:nvSpPr>
          <p:cNvPr id="715" name="Google Shape;715;p49"/>
          <p:cNvSpPr txBox="1"/>
          <p:nvPr>
            <p:ph idx="1" type="body"/>
          </p:nvPr>
        </p:nvSpPr>
        <p:spPr>
          <a:xfrm>
            <a:off x="658812" y="1916112"/>
            <a:ext cx="7824787" cy="4387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4800" lvl="0" marL="30480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Suppose Alice, Bob and Charlie are bidders</a:t>
            </a:r>
            <a:endParaRPr/>
          </a:p>
          <a:p>
            <a:pPr indent="-304800" lvl="0" marL="304800" marR="0" rtl="0" algn="l">
              <a:lnSpc>
                <a:spcPct val="75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Alice plans to bid 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Bob 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Charlie 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C</a:t>
            </a:r>
            <a:endParaRPr/>
          </a:p>
          <a:p>
            <a:pPr indent="-304800" lvl="0" marL="304800" marR="0" rtl="0" algn="l">
              <a:lnSpc>
                <a:spcPct val="75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They don’t trust that bids will stay secret</a:t>
            </a:r>
            <a:endParaRPr/>
          </a:p>
          <a:p>
            <a:pPr indent="-304800" lvl="0" marL="304800" marR="0" rtl="0" algn="l">
              <a:lnSpc>
                <a:spcPct val="75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Solution?</a:t>
            </a:r>
            <a:endParaRPr/>
          </a:p>
          <a:p>
            <a:pPr indent="-304800" lvl="1" marL="628650" marR="0" rtl="0" algn="l">
              <a:lnSpc>
                <a:spcPct val="75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Alice, Bob, Charlie submit </a:t>
            </a:r>
            <a:r>
              <a:rPr b="1" i="0" lang="en-US" sz="24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hashes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h(A)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h(B)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h(C)</a:t>
            </a:r>
            <a:endParaRPr/>
          </a:p>
          <a:p>
            <a:pPr indent="-304800" lvl="1" marL="628650" marR="0" rtl="0" algn="l">
              <a:lnSpc>
                <a:spcPct val="75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hashes received and posted online</a:t>
            </a:r>
            <a:endParaRPr/>
          </a:p>
          <a:p>
            <a:pPr indent="-304800" lvl="1" marL="628650" marR="0" rtl="0" algn="l">
              <a:lnSpc>
                <a:spcPct val="75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Then bids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C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revealed</a:t>
            </a:r>
            <a:endParaRPr/>
          </a:p>
          <a:p>
            <a:pPr indent="-304800" lvl="0" marL="304800" marR="0" rtl="0" algn="l">
              <a:lnSpc>
                <a:spcPct val="75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Hashes don’t reveal bids (one way)</a:t>
            </a:r>
            <a:endParaRPr/>
          </a:p>
          <a:p>
            <a:pPr indent="-304800" lvl="0" marL="304800" marR="0" rtl="0" algn="l">
              <a:lnSpc>
                <a:spcPct val="75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Can’t change bid after hash sent (collision)</a:t>
            </a:r>
            <a:endParaRPr/>
          </a:p>
        </p:txBody>
      </p:sp>
      <p:sp>
        <p:nvSpPr>
          <p:cNvPr id="716" name="Google Shape;716;p49"/>
          <p:cNvSpPr txBox="1"/>
          <p:nvPr/>
        </p:nvSpPr>
        <p:spPr>
          <a:xfrm>
            <a:off x="581025" y="6321425"/>
            <a:ext cx="48704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mic Sans MS"/>
              <a:buNone/>
            </a:pPr>
            <a:r>
              <a:rPr b="0" i="0" lang="en-US" sz="9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CHAPTER 5 HASH FUNCTION</a:t>
            </a:r>
            <a:endParaRPr/>
          </a:p>
        </p:txBody>
      </p:sp>
      <p:sp>
        <p:nvSpPr>
          <p:cNvPr id="717" name="Google Shape;717;p49"/>
          <p:cNvSpPr txBox="1"/>
          <p:nvPr/>
        </p:nvSpPr>
        <p:spPr>
          <a:xfrm>
            <a:off x="7823200" y="6307137"/>
            <a:ext cx="7699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</a:pPr>
            <a:fld id="{00000000-1234-1234-1234-123412341234}" type="slidenum">
              <a:rPr b="0" i="0" lang="en-US" sz="9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1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1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1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1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1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1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1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50"/>
          <p:cNvSpPr txBox="1"/>
          <p:nvPr>
            <p:ph type="title"/>
          </p:nvPr>
        </p:nvSpPr>
        <p:spPr>
          <a:xfrm>
            <a:off x="581025" y="687387"/>
            <a:ext cx="7989887" cy="8699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b="0" i="0" lang="en-US" sz="28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HASH FUNCTION</a:t>
            </a:r>
            <a:endParaRPr/>
          </a:p>
        </p:txBody>
      </p:sp>
      <p:sp>
        <p:nvSpPr>
          <p:cNvPr id="723" name="Google Shape;723;p50"/>
          <p:cNvSpPr txBox="1"/>
          <p:nvPr>
            <p:ph idx="1" type="body"/>
          </p:nvPr>
        </p:nvSpPr>
        <p:spPr>
          <a:xfrm>
            <a:off x="581025" y="1857375"/>
            <a:ext cx="7989887" cy="4487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4800" lvl="0" marL="30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 -Secure Hash Algorithm</a:t>
            </a:r>
            <a:endParaRPr/>
          </a:p>
          <a:p>
            <a:pPr indent="-304800" lvl="0" marL="30480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MD5 – Message Digest</a:t>
            </a:r>
            <a:endParaRPr/>
          </a:p>
          <a:p>
            <a:pPr indent="-304800" lvl="0" marL="30480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process</a:t>
            </a:r>
            <a:endParaRPr/>
          </a:p>
          <a:p>
            <a:pPr indent="-304800" lvl="1" marL="6286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40"/>
              <a:buFont typeface="Noto Sans Symbols"/>
              <a:buChar char="◼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Sender use </a:t>
            </a:r>
            <a:r>
              <a:rPr b="0" i="0" lang="en-US" sz="20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MD5</a:t>
            </a:r>
            <a:endParaRPr/>
          </a:p>
          <a:p>
            <a:pPr indent="-304800" lvl="1" marL="6286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40"/>
              <a:buFont typeface="Noto Sans Symbols"/>
              <a:buChar char="◼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Append Message Digest to plain text</a:t>
            </a:r>
            <a:endParaRPr/>
          </a:p>
          <a:p>
            <a:pPr indent="-304800" lvl="1" marL="6286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40"/>
              <a:buFont typeface="Noto Sans Symbols"/>
              <a:buChar char="◼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Send it to receiver</a:t>
            </a:r>
            <a:endParaRPr/>
          </a:p>
          <a:p>
            <a:pPr indent="-304800" lvl="1" marL="6286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40"/>
              <a:buFont typeface="Noto Sans Symbols"/>
              <a:buChar char="◼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Receiver compute with </a:t>
            </a:r>
            <a:r>
              <a:rPr b="0" i="0" lang="en-US" sz="2000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MD5</a:t>
            </a:r>
            <a:endParaRPr/>
          </a:p>
          <a:p>
            <a:pPr indent="-304800" lvl="1" marL="6286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40"/>
              <a:buFont typeface="Noto Sans Symbols"/>
              <a:buChar char="◼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Receiver compare </a:t>
            </a:r>
            <a:r>
              <a:rPr b="0" i="0" lang="en-US" sz="20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MD5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0" i="0" lang="en-US" sz="2000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MD5</a:t>
            </a:r>
            <a:endParaRPr/>
          </a:p>
        </p:txBody>
      </p:sp>
      <p:sp>
        <p:nvSpPr>
          <p:cNvPr id="724" name="Google Shape;724;p50"/>
          <p:cNvSpPr txBox="1"/>
          <p:nvPr/>
        </p:nvSpPr>
        <p:spPr>
          <a:xfrm>
            <a:off x="581025" y="6321425"/>
            <a:ext cx="48704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</a:pPr>
            <a:r>
              <a:rPr b="0" i="0" lang="en-US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rPr>
              <a:t>CHAPTER 5 HASH FUNCTION</a:t>
            </a:r>
            <a:endParaRPr/>
          </a:p>
        </p:txBody>
      </p:sp>
      <p:sp>
        <p:nvSpPr>
          <p:cNvPr id="725" name="Google Shape;725;p50"/>
          <p:cNvSpPr txBox="1"/>
          <p:nvPr/>
        </p:nvSpPr>
        <p:spPr>
          <a:xfrm>
            <a:off x="7823200" y="6307137"/>
            <a:ext cx="7699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</a:pPr>
            <a:fld id="{00000000-1234-1234-1234-123412341234}" type="slidenum">
              <a:rPr b="0" i="0" lang="en-US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rPr>
              <a:t>‹#›</a:t>
            </a:fld>
            <a:endParaRPr/>
          </a:p>
        </p:txBody>
      </p:sp>
      <p:sp>
        <p:nvSpPr>
          <p:cNvPr id="726" name="Google Shape;726;p50"/>
          <p:cNvSpPr/>
          <p:nvPr/>
        </p:nvSpPr>
        <p:spPr>
          <a:xfrm>
            <a:off x="447675" y="600075"/>
            <a:ext cx="8239125" cy="12588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pic>
        <p:nvPicPr>
          <p:cNvPr id="727" name="Google Shape;727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5825" y="620712"/>
            <a:ext cx="1408112" cy="1150937"/>
          </a:xfrm>
          <a:prstGeom prst="rect">
            <a:avLst/>
          </a:prstGeom>
          <a:noFill/>
          <a:ln>
            <a:noFill/>
          </a:ln>
        </p:spPr>
      </p:pic>
      <p:pic>
        <p:nvPicPr>
          <p:cNvPr id="728" name="Google Shape;728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80287" y="692150"/>
            <a:ext cx="1147762" cy="1062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51"/>
          <p:cNvSpPr txBox="1"/>
          <p:nvPr>
            <p:ph type="title"/>
          </p:nvPr>
        </p:nvSpPr>
        <p:spPr>
          <a:xfrm>
            <a:off x="581025" y="687387"/>
            <a:ext cx="7989887" cy="7969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b="0" i="0" lang="en-US" sz="28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MD5 ALGORITHM (128 BIT)</a:t>
            </a:r>
            <a:endParaRPr/>
          </a:p>
        </p:txBody>
      </p:sp>
      <p:sp>
        <p:nvSpPr>
          <p:cNvPr id="734" name="Google Shape;734;p51"/>
          <p:cNvSpPr txBox="1"/>
          <p:nvPr>
            <p:ph idx="1" type="body"/>
          </p:nvPr>
        </p:nvSpPr>
        <p:spPr>
          <a:xfrm>
            <a:off x="581025" y="1857375"/>
            <a:ext cx="7989887" cy="4487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Gill Sans"/>
              <a:buAutoNum type="arabicPeriod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Message is padded to an exact multiple of 512 bit blocks.</a:t>
            </a:r>
            <a:endParaRPr/>
          </a:p>
          <a:p>
            <a:pPr indent="-514350" lvl="1" marL="838200" marR="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chemeClr val="accent2"/>
              </a:buClr>
              <a:buSzPts val="2392"/>
              <a:buFont typeface="Gill Sans"/>
              <a:buAutoNum type="alphaLcPeriod"/>
            </a:pP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Append 64 bit representation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Gill Sans"/>
              <a:buAutoNum type="arabicPeriod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Initiate the MD buffers (32-bit, 4 buffer, A, B, C, D)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Gill Sans"/>
              <a:buAutoNum type="arabicPeriod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Process the each block (512)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Gill Sans"/>
              <a:buAutoNum type="arabicPeriod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 (message digest in buffers)</a:t>
            </a:r>
            <a:endParaRPr/>
          </a:p>
          <a:p>
            <a:pPr indent="-141224" lvl="0" marL="304800" marR="0" rtl="0" algn="l"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5" name="Google Shape;735;p51"/>
          <p:cNvSpPr txBox="1"/>
          <p:nvPr/>
        </p:nvSpPr>
        <p:spPr>
          <a:xfrm>
            <a:off x="581025" y="6321425"/>
            <a:ext cx="48704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</a:pPr>
            <a:r>
              <a:rPr b="0" i="0" lang="en-US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rPr>
              <a:t>CHAPTER 5 HASH FUNCTION</a:t>
            </a:r>
            <a:endParaRPr/>
          </a:p>
        </p:txBody>
      </p:sp>
      <p:sp>
        <p:nvSpPr>
          <p:cNvPr id="736" name="Google Shape;736;p51"/>
          <p:cNvSpPr txBox="1"/>
          <p:nvPr/>
        </p:nvSpPr>
        <p:spPr>
          <a:xfrm>
            <a:off x="7823200" y="6307137"/>
            <a:ext cx="7699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</a:pPr>
            <a:fld id="{00000000-1234-1234-1234-123412341234}" type="slidenum">
              <a:rPr b="0" i="0" lang="en-US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rPr>
              <a:t>‹#›</a:t>
            </a:fld>
            <a:endParaRPr/>
          </a:p>
        </p:txBody>
      </p:sp>
      <p:pic>
        <p:nvPicPr>
          <p:cNvPr id="737" name="Google Shape;73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5825" y="620712"/>
            <a:ext cx="1408112" cy="1150937"/>
          </a:xfrm>
          <a:prstGeom prst="rect">
            <a:avLst/>
          </a:prstGeom>
          <a:noFill/>
          <a:ln>
            <a:noFill/>
          </a:ln>
        </p:spPr>
      </p:pic>
      <p:pic>
        <p:nvPicPr>
          <p:cNvPr id="738" name="Google Shape;738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80287" y="692150"/>
            <a:ext cx="1147762" cy="1062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52"/>
          <p:cNvSpPr txBox="1"/>
          <p:nvPr/>
        </p:nvSpPr>
        <p:spPr>
          <a:xfrm>
            <a:off x="581025" y="6321425"/>
            <a:ext cx="48704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</a:pPr>
            <a:r>
              <a:rPr b="0" i="0" lang="en-US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rPr>
              <a:t>CHAPTER 5 HASH FUNCTION</a:t>
            </a:r>
            <a:endParaRPr/>
          </a:p>
        </p:txBody>
      </p:sp>
      <p:sp>
        <p:nvSpPr>
          <p:cNvPr id="744" name="Google Shape;744;p52"/>
          <p:cNvSpPr txBox="1"/>
          <p:nvPr/>
        </p:nvSpPr>
        <p:spPr>
          <a:xfrm>
            <a:off x="7823200" y="6307137"/>
            <a:ext cx="7699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</a:pPr>
            <a:fld id="{00000000-1234-1234-1234-123412341234}" type="slidenum">
              <a:rPr b="0" i="0" lang="en-US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rPr>
              <a:t>‹#›</a:t>
            </a:fld>
            <a:endParaRPr/>
          </a:p>
        </p:txBody>
      </p:sp>
      <p:sp>
        <p:nvSpPr>
          <p:cNvPr id="745" name="Google Shape;745;p52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b="0" i="0" lang="en-US" sz="28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MAIN MD5 LOOP</a:t>
            </a:r>
            <a:endParaRPr/>
          </a:p>
        </p:txBody>
      </p:sp>
      <p:sp>
        <p:nvSpPr>
          <p:cNvPr id="746" name="Google Shape;746;p52"/>
          <p:cNvSpPr txBox="1"/>
          <p:nvPr/>
        </p:nvSpPr>
        <p:spPr>
          <a:xfrm>
            <a:off x="420687" y="2755900"/>
            <a:ext cx="622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IVs</a:t>
            </a:r>
            <a:endParaRPr/>
          </a:p>
        </p:txBody>
      </p:sp>
      <p:pic>
        <p:nvPicPr>
          <p:cNvPr descr="C:\Documents and Settings\Admin\My Documents\Crypto-2007\MD5\Overview.jpg" id="747" name="Google Shape;747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" y="1866900"/>
            <a:ext cx="7904162" cy="38655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Documents and Settings\Admin\My Documents\Crypto-2007\MD5\IV.jpg" id="748" name="Google Shape;748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637" y="3429000"/>
            <a:ext cx="914400" cy="74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9" name="Google Shape;749;p5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35825" y="620712"/>
            <a:ext cx="1408112" cy="1150937"/>
          </a:xfrm>
          <a:prstGeom prst="rect">
            <a:avLst/>
          </a:prstGeom>
          <a:noFill/>
          <a:ln>
            <a:noFill/>
          </a:ln>
        </p:spPr>
      </p:pic>
      <p:pic>
        <p:nvPicPr>
          <p:cNvPr id="750" name="Google Shape;750;p5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380287" y="692150"/>
            <a:ext cx="1147762" cy="1062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53"/>
          <p:cNvSpPr txBox="1"/>
          <p:nvPr/>
        </p:nvSpPr>
        <p:spPr>
          <a:xfrm>
            <a:off x="581025" y="6321425"/>
            <a:ext cx="48704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</a:pPr>
            <a:r>
              <a:rPr b="0" i="0" lang="en-US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rPr>
              <a:t>CHAPTER 5 HASH FUNCTION</a:t>
            </a:r>
            <a:endParaRPr/>
          </a:p>
        </p:txBody>
      </p:sp>
      <p:sp>
        <p:nvSpPr>
          <p:cNvPr id="757" name="Google Shape;757;p53"/>
          <p:cNvSpPr txBox="1"/>
          <p:nvPr/>
        </p:nvSpPr>
        <p:spPr>
          <a:xfrm>
            <a:off x="7823200" y="6307137"/>
            <a:ext cx="7699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</a:pPr>
            <a:fld id="{00000000-1234-1234-1234-123412341234}" type="slidenum">
              <a:rPr b="0" i="0" lang="en-US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rPr>
              <a:t>‹#›</a:t>
            </a:fld>
            <a:endParaRPr/>
          </a:p>
        </p:txBody>
      </p:sp>
      <p:sp>
        <p:nvSpPr>
          <p:cNvPr id="758" name="Google Shape;758;p53"/>
          <p:cNvSpPr txBox="1"/>
          <p:nvPr/>
        </p:nvSpPr>
        <p:spPr>
          <a:xfrm>
            <a:off x="2098675" y="1412875"/>
            <a:ext cx="2879725" cy="365125"/>
          </a:xfrm>
          <a:prstGeom prst="rect">
            <a:avLst/>
          </a:prstGeom>
          <a:solidFill>
            <a:schemeClr val="lt1"/>
          </a:solidFill>
          <a:ln cap="rnd" cmpd="sng" w="222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ill Sans"/>
              <a:buNone/>
            </a:pPr>
            <a:r>
              <a:rPr b="0" i="0" lang="en-US" sz="1800" u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F,     T[1-16],     X[ ]</a:t>
            </a:r>
            <a:endParaRPr/>
          </a:p>
        </p:txBody>
      </p:sp>
      <p:sp>
        <p:nvSpPr>
          <p:cNvPr id="759" name="Google Shape;759;p53"/>
          <p:cNvSpPr txBox="1"/>
          <p:nvPr/>
        </p:nvSpPr>
        <p:spPr>
          <a:xfrm>
            <a:off x="2124075" y="188912"/>
            <a:ext cx="2879725" cy="365125"/>
          </a:xfrm>
          <a:prstGeom prst="rect">
            <a:avLst/>
          </a:prstGeom>
          <a:solidFill>
            <a:schemeClr val="lt1"/>
          </a:solidFill>
          <a:ln cap="rnd" cmpd="sng" w="222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ill Sans"/>
              <a:buNone/>
            </a:pPr>
            <a:r>
              <a:rPr b="0" i="0" lang="en-US" sz="1800" u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Initializing Vector</a:t>
            </a:r>
            <a:endParaRPr/>
          </a:p>
        </p:txBody>
      </p:sp>
      <p:cxnSp>
        <p:nvCxnSpPr>
          <p:cNvPr id="760" name="Google Shape;760;p53"/>
          <p:cNvCxnSpPr/>
          <p:nvPr/>
        </p:nvCxnSpPr>
        <p:spPr>
          <a:xfrm>
            <a:off x="2343150" y="554037"/>
            <a:ext cx="0" cy="858837"/>
          </a:xfrm>
          <a:prstGeom prst="straightConnector1">
            <a:avLst/>
          </a:prstGeom>
          <a:noFill/>
          <a:ln cap="rnd" cmpd="sng" w="12700">
            <a:solidFill>
              <a:srgbClr val="2F85A7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761" name="Google Shape;761;p53"/>
          <p:cNvCxnSpPr/>
          <p:nvPr/>
        </p:nvCxnSpPr>
        <p:spPr>
          <a:xfrm>
            <a:off x="3035300" y="554037"/>
            <a:ext cx="0" cy="858837"/>
          </a:xfrm>
          <a:prstGeom prst="straightConnector1">
            <a:avLst/>
          </a:prstGeom>
          <a:noFill/>
          <a:ln cap="rnd" cmpd="sng" w="12700">
            <a:solidFill>
              <a:srgbClr val="2F85A7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762" name="Google Shape;762;p53"/>
          <p:cNvCxnSpPr/>
          <p:nvPr/>
        </p:nvCxnSpPr>
        <p:spPr>
          <a:xfrm>
            <a:off x="3863975" y="554037"/>
            <a:ext cx="0" cy="858837"/>
          </a:xfrm>
          <a:prstGeom prst="straightConnector1">
            <a:avLst/>
          </a:prstGeom>
          <a:noFill/>
          <a:ln cap="rnd" cmpd="sng" w="12700">
            <a:solidFill>
              <a:srgbClr val="2F85A7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763" name="Google Shape;763;p53"/>
          <p:cNvCxnSpPr/>
          <p:nvPr/>
        </p:nvCxnSpPr>
        <p:spPr>
          <a:xfrm>
            <a:off x="4522787" y="554037"/>
            <a:ext cx="0" cy="858837"/>
          </a:xfrm>
          <a:prstGeom prst="straightConnector1">
            <a:avLst/>
          </a:prstGeom>
          <a:noFill/>
          <a:ln cap="rnd" cmpd="sng" w="12700">
            <a:solidFill>
              <a:srgbClr val="2F85A7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764" name="Google Shape;764;p53"/>
          <p:cNvSpPr txBox="1"/>
          <p:nvPr/>
        </p:nvSpPr>
        <p:spPr>
          <a:xfrm>
            <a:off x="2124075" y="2632075"/>
            <a:ext cx="2879725" cy="365125"/>
          </a:xfrm>
          <a:prstGeom prst="rect">
            <a:avLst/>
          </a:prstGeom>
          <a:solidFill>
            <a:schemeClr val="lt1"/>
          </a:solidFill>
          <a:ln cap="rnd" cmpd="sng" w="222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ill Sans"/>
              <a:buNone/>
            </a:pPr>
            <a:r>
              <a:rPr b="0" i="0" lang="en-US" sz="1800" u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G,     T[17-34],     X[ ]</a:t>
            </a:r>
            <a:endParaRPr/>
          </a:p>
        </p:txBody>
      </p:sp>
      <p:cxnSp>
        <p:nvCxnSpPr>
          <p:cNvPr id="765" name="Google Shape;765;p53"/>
          <p:cNvCxnSpPr/>
          <p:nvPr/>
        </p:nvCxnSpPr>
        <p:spPr>
          <a:xfrm>
            <a:off x="2368550" y="1773237"/>
            <a:ext cx="0" cy="858837"/>
          </a:xfrm>
          <a:prstGeom prst="straightConnector1">
            <a:avLst/>
          </a:prstGeom>
          <a:noFill/>
          <a:ln cap="rnd" cmpd="sng" w="12700">
            <a:solidFill>
              <a:srgbClr val="2F85A7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766" name="Google Shape;766;p53"/>
          <p:cNvCxnSpPr/>
          <p:nvPr/>
        </p:nvCxnSpPr>
        <p:spPr>
          <a:xfrm>
            <a:off x="3059112" y="1773237"/>
            <a:ext cx="0" cy="858837"/>
          </a:xfrm>
          <a:prstGeom prst="straightConnector1">
            <a:avLst/>
          </a:prstGeom>
          <a:noFill/>
          <a:ln cap="rnd" cmpd="sng" w="12700">
            <a:solidFill>
              <a:srgbClr val="2F85A7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767" name="Google Shape;767;p53"/>
          <p:cNvCxnSpPr/>
          <p:nvPr/>
        </p:nvCxnSpPr>
        <p:spPr>
          <a:xfrm>
            <a:off x="3889375" y="1773237"/>
            <a:ext cx="0" cy="858837"/>
          </a:xfrm>
          <a:prstGeom prst="straightConnector1">
            <a:avLst/>
          </a:prstGeom>
          <a:noFill/>
          <a:ln cap="rnd" cmpd="sng" w="12700">
            <a:solidFill>
              <a:srgbClr val="2F85A7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768" name="Google Shape;768;p53"/>
          <p:cNvCxnSpPr/>
          <p:nvPr/>
        </p:nvCxnSpPr>
        <p:spPr>
          <a:xfrm>
            <a:off x="4594225" y="1773237"/>
            <a:ext cx="0" cy="858837"/>
          </a:xfrm>
          <a:prstGeom prst="straightConnector1">
            <a:avLst/>
          </a:prstGeom>
          <a:noFill/>
          <a:ln cap="rnd" cmpd="sng" w="12700">
            <a:solidFill>
              <a:srgbClr val="2F85A7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769" name="Google Shape;769;p53"/>
          <p:cNvSpPr txBox="1"/>
          <p:nvPr/>
        </p:nvSpPr>
        <p:spPr>
          <a:xfrm>
            <a:off x="2124075" y="3859212"/>
            <a:ext cx="2879725" cy="365125"/>
          </a:xfrm>
          <a:prstGeom prst="rect">
            <a:avLst/>
          </a:prstGeom>
          <a:solidFill>
            <a:schemeClr val="lt1"/>
          </a:solidFill>
          <a:ln cap="rnd" cmpd="sng" w="222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ill Sans"/>
              <a:buNone/>
            </a:pPr>
            <a:r>
              <a:rPr b="0" i="0" lang="en-US" sz="1800" u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H,     T[35-48],     X[ ]</a:t>
            </a:r>
            <a:endParaRPr/>
          </a:p>
        </p:txBody>
      </p:sp>
      <p:cxnSp>
        <p:nvCxnSpPr>
          <p:cNvPr id="770" name="Google Shape;770;p53"/>
          <p:cNvCxnSpPr/>
          <p:nvPr/>
        </p:nvCxnSpPr>
        <p:spPr>
          <a:xfrm>
            <a:off x="2368550" y="3000375"/>
            <a:ext cx="0" cy="858837"/>
          </a:xfrm>
          <a:prstGeom prst="straightConnector1">
            <a:avLst/>
          </a:prstGeom>
          <a:noFill/>
          <a:ln cap="rnd" cmpd="sng" w="12700">
            <a:solidFill>
              <a:srgbClr val="2F85A7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771" name="Google Shape;771;p53"/>
          <p:cNvCxnSpPr/>
          <p:nvPr/>
        </p:nvCxnSpPr>
        <p:spPr>
          <a:xfrm>
            <a:off x="3059112" y="3000375"/>
            <a:ext cx="0" cy="858837"/>
          </a:xfrm>
          <a:prstGeom prst="straightConnector1">
            <a:avLst/>
          </a:prstGeom>
          <a:noFill/>
          <a:ln cap="rnd" cmpd="sng" w="12700">
            <a:solidFill>
              <a:srgbClr val="2F85A7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772" name="Google Shape;772;p53"/>
          <p:cNvCxnSpPr/>
          <p:nvPr/>
        </p:nvCxnSpPr>
        <p:spPr>
          <a:xfrm>
            <a:off x="3889375" y="3000375"/>
            <a:ext cx="0" cy="858837"/>
          </a:xfrm>
          <a:prstGeom prst="straightConnector1">
            <a:avLst/>
          </a:prstGeom>
          <a:noFill/>
          <a:ln cap="rnd" cmpd="sng" w="12700">
            <a:solidFill>
              <a:srgbClr val="2F85A7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773" name="Google Shape;773;p53"/>
          <p:cNvCxnSpPr/>
          <p:nvPr/>
        </p:nvCxnSpPr>
        <p:spPr>
          <a:xfrm>
            <a:off x="4667250" y="3000375"/>
            <a:ext cx="0" cy="858837"/>
          </a:xfrm>
          <a:prstGeom prst="straightConnector1">
            <a:avLst/>
          </a:prstGeom>
          <a:noFill/>
          <a:ln cap="rnd" cmpd="sng" w="12700">
            <a:solidFill>
              <a:srgbClr val="2F85A7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774" name="Google Shape;774;p53"/>
          <p:cNvSpPr txBox="1"/>
          <p:nvPr/>
        </p:nvSpPr>
        <p:spPr>
          <a:xfrm>
            <a:off x="2146300" y="5083175"/>
            <a:ext cx="2881312" cy="365125"/>
          </a:xfrm>
          <a:prstGeom prst="rect">
            <a:avLst/>
          </a:prstGeom>
          <a:solidFill>
            <a:schemeClr val="lt1"/>
          </a:solidFill>
          <a:ln cap="rnd" cmpd="sng" w="222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ill Sans"/>
              <a:buNone/>
            </a:pPr>
            <a:r>
              <a:rPr b="0" i="0" lang="en-US" sz="1800" u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I,     T[49-64],     X[ ]</a:t>
            </a:r>
            <a:endParaRPr/>
          </a:p>
        </p:txBody>
      </p:sp>
      <p:cxnSp>
        <p:nvCxnSpPr>
          <p:cNvPr id="775" name="Google Shape;775;p53"/>
          <p:cNvCxnSpPr/>
          <p:nvPr/>
        </p:nvCxnSpPr>
        <p:spPr>
          <a:xfrm>
            <a:off x="2343150" y="4224337"/>
            <a:ext cx="0" cy="858837"/>
          </a:xfrm>
          <a:prstGeom prst="straightConnector1">
            <a:avLst/>
          </a:prstGeom>
          <a:noFill/>
          <a:ln cap="rnd" cmpd="sng" w="12700">
            <a:solidFill>
              <a:srgbClr val="2F85A7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776" name="Google Shape;776;p53"/>
          <p:cNvCxnSpPr/>
          <p:nvPr/>
        </p:nvCxnSpPr>
        <p:spPr>
          <a:xfrm>
            <a:off x="3035300" y="4224337"/>
            <a:ext cx="0" cy="858837"/>
          </a:xfrm>
          <a:prstGeom prst="straightConnector1">
            <a:avLst/>
          </a:prstGeom>
          <a:noFill/>
          <a:ln cap="rnd" cmpd="sng" w="12700">
            <a:solidFill>
              <a:srgbClr val="2F85A7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777" name="Google Shape;777;p53"/>
          <p:cNvCxnSpPr/>
          <p:nvPr/>
        </p:nvCxnSpPr>
        <p:spPr>
          <a:xfrm>
            <a:off x="3863975" y="4224337"/>
            <a:ext cx="0" cy="858837"/>
          </a:xfrm>
          <a:prstGeom prst="straightConnector1">
            <a:avLst/>
          </a:prstGeom>
          <a:noFill/>
          <a:ln cap="rnd" cmpd="sng" w="12700">
            <a:solidFill>
              <a:srgbClr val="2F85A7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778" name="Google Shape;778;p53"/>
          <p:cNvCxnSpPr/>
          <p:nvPr/>
        </p:nvCxnSpPr>
        <p:spPr>
          <a:xfrm>
            <a:off x="4667250" y="4224337"/>
            <a:ext cx="0" cy="858837"/>
          </a:xfrm>
          <a:prstGeom prst="straightConnector1">
            <a:avLst/>
          </a:prstGeom>
          <a:noFill/>
          <a:ln cap="rnd" cmpd="sng" w="12700">
            <a:solidFill>
              <a:srgbClr val="2F85A7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779" name="Google Shape;779;p53"/>
          <p:cNvSpPr txBox="1"/>
          <p:nvPr/>
        </p:nvSpPr>
        <p:spPr>
          <a:xfrm>
            <a:off x="1979612" y="1031875"/>
            <a:ext cx="333375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</a:pPr>
            <a:r>
              <a:rPr b="0" i="0" lang="en-US" sz="18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A</a:t>
            </a:r>
            <a:endParaRPr/>
          </a:p>
        </p:txBody>
      </p:sp>
      <p:sp>
        <p:nvSpPr>
          <p:cNvPr id="780" name="Google Shape;780;p53"/>
          <p:cNvSpPr txBox="1"/>
          <p:nvPr/>
        </p:nvSpPr>
        <p:spPr>
          <a:xfrm>
            <a:off x="2678112" y="1031875"/>
            <a:ext cx="339725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</a:pPr>
            <a:r>
              <a:rPr b="0" i="0" lang="en-US" sz="18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B</a:t>
            </a:r>
            <a:endParaRPr/>
          </a:p>
        </p:txBody>
      </p:sp>
      <p:sp>
        <p:nvSpPr>
          <p:cNvPr id="781" name="Google Shape;781;p53"/>
          <p:cNvSpPr txBox="1"/>
          <p:nvPr/>
        </p:nvSpPr>
        <p:spPr>
          <a:xfrm>
            <a:off x="3489325" y="1031875"/>
            <a:ext cx="34925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</a:pPr>
            <a:r>
              <a:rPr b="0" i="0" lang="en-US" sz="18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C</a:t>
            </a:r>
            <a:endParaRPr/>
          </a:p>
        </p:txBody>
      </p:sp>
      <p:sp>
        <p:nvSpPr>
          <p:cNvPr id="782" name="Google Shape;782;p53"/>
          <p:cNvSpPr txBox="1"/>
          <p:nvPr/>
        </p:nvSpPr>
        <p:spPr>
          <a:xfrm>
            <a:off x="4162425" y="982662"/>
            <a:ext cx="350837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</a:pPr>
            <a:r>
              <a:rPr b="0" i="0" lang="en-US" sz="18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D</a:t>
            </a:r>
            <a:endParaRPr/>
          </a:p>
        </p:txBody>
      </p:sp>
      <p:sp>
        <p:nvSpPr>
          <p:cNvPr id="783" name="Google Shape;783;p53"/>
          <p:cNvSpPr txBox="1"/>
          <p:nvPr/>
        </p:nvSpPr>
        <p:spPr>
          <a:xfrm>
            <a:off x="2028825" y="2214562"/>
            <a:ext cx="333375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</a:pPr>
            <a:r>
              <a:rPr b="0" i="0" lang="en-US" sz="18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A</a:t>
            </a:r>
            <a:endParaRPr/>
          </a:p>
        </p:txBody>
      </p:sp>
      <p:sp>
        <p:nvSpPr>
          <p:cNvPr id="784" name="Google Shape;784;p53"/>
          <p:cNvSpPr txBox="1"/>
          <p:nvPr/>
        </p:nvSpPr>
        <p:spPr>
          <a:xfrm>
            <a:off x="2727325" y="2214562"/>
            <a:ext cx="339725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</a:pPr>
            <a:r>
              <a:rPr b="0" i="0" lang="en-US" sz="18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B</a:t>
            </a:r>
            <a:endParaRPr/>
          </a:p>
        </p:txBody>
      </p:sp>
      <p:sp>
        <p:nvSpPr>
          <p:cNvPr id="785" name="Google Shape;785;p53"/>
          <p:cNvSpPr txBox="1"/>
          <p:nvPr/>
        </p:nvSpPr>
        <p:spPr>
          <a:xfrm>
            <a:off x="3538537" y="2214562"/>
            <a:ext cx="34925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</a:pPr>
            <a:r>
              <a:rPr b="0" i="0" lang="en-US" sz="18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C</a:t>
            </a:r>
            <a:endParaRPr/>
          </a:p>
        </p:txBody>
      </p:sp>
      <p:sp>
        <p:nvSpPr>
          <p:cNvPr id="786" name="Google Shape;786;p53"/>
          <p:cNvSpPr txBox="1"/>
          <p:nvPr/>
        </p:nvSpPr>
        <p:spPr>
          <a:xfrm>
            <a:off x="4211637" y="2166937"/>
            <a:ext cx="350837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</a:pPr>
            <a:r>
              <a:rPr b="0" i="0" lang="en-US" sz="18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D</a:t>
            </a:r>
            <a:endParaRPr/>
          </a:p>
        </p:txBody>
      </p:sp>
      <p:sp>
        <p:nvSpPr>
          <p:cNvPr id="787" name="Google Shape;787;p53"/>
          <p:cNvSpPr txBox="1"/>
          <p:nvPr/>
        </p:nvSpPr>
        <p:spPr>
          <a:xfrm>
            <a:off x="2028825" y="3497262"/>
            <a:ext cx="333375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</a:pPr>
            <a:r>
              <a:rPr b="0" i="0" lang="en-US" sz="18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A</a:t>
            </a:r>
            <a:endParaRPr/>
          </a:p>
        </p:txBody>
      </p:sp>
      <p:sp>
        <p:nvSpPr>
          <p:cNvPr id="788" name="Google Shape;788;p53"/>
          <p:cNvSpPr txBox="1"/>
          <p:nvPr/>
        </p:nvSpPr>
        <p:spPr>
          <a:xfrm>
            <a:off x="2727325" y="3497262"/>
            <a:ext cx="339725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</a:pPr>
            <a:r>
              <a:rPr b="0" i="0" lang="en-US" sz="18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B</a:t>
            </a:r>
            <a:endParaRPr/>
          </a:p>
        </p:txBody>
      </p:sp>
      <p:sp>
        <p:nvSpPr>
          <p:cNvPr id="789" name="Google Shape;789;p53"/>
          <p:cNvSpPr txBox="1"/>
          <p:nvPr/>
        </p:nvSpPr>
        <p:spPr>
          <a:xfrm>
            <a:off x="3538537" y="3497262"/>
            <a:ext cx="34925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</a:pPr>
            <a:r>
              <a:rPr b="0" i="0" lang="en-US" sz="18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C</a:t>
            </a:r>
            <a:endParaRPr/>
          </a:p>
        </p:txBody>
      </p:sp>
      <p:sp>
        <p:nvSpPr>
          <p:cNvPr id="790" name="Google Shape;790;p53"/>
          <p:cNvSpPr txBox="1"/>
          <p:nvPr/>
        </p:nvSpPr>
        <p:spPr>
          <a:xfrm>
            <a:off x="4211637" y="3449637"/>
            <a:ext cx="350837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</a:pPr>
            <a:r>
              <a:rPr b="0" i="0" lang="en-US" sz="18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D</a:t>
            </a:r>
            <a:endParaRPr/>
          </a:p>
        </p:txBody>
      </p:sp>
      <p:sp>
        <p:nvSpPr>
          <p:cNvPr id="791" name="Google Shape;791;p53"/>
          <p:cNvSpPr txBox="1"/>
          <p:nvPr/>
        </p:nvSpPr>
        <p:spPr>
          <a:xfrm>
            <a:off x="1998662" y="4681537"/>
            <a:ext cx="333375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</a:pPr>
            <a:r>
              <a:rPr b="0" i="0" lang="en-US" sz="18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A</a:t>
            </a:r>
            <a:endParaRPr/>
          </a:p>
        </p:txBody>
      </p:sp>
      <p:sp>
        <p:nvSpPr>
          <p:cNvPr id="792" name="Google Shape;792;p53"/>
          <p:cNvSpPr txBox="1"/>
          <p:nvPr/>
        </p:nvSpPr>
        <p:spPr>
          <a:xfrm>
            <a:off x="2697162" y="4681537"/>
            <a:ext cx="339725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</a:pPr>
            <a:r>
              <a:rPr b="0" i="0" lang="en-US" sz="18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B</a:t>
            </a:r>
            <a:endParaRPr/>
          </a:p>
        </p:txBody>
      </p:sp>
      <p:sp>
        <p:nvSpPr>
          <p:cNvPr id="793" name="Google Shape;793;p53"/>
          <p:cNvSpPr txBox="1"/>
          <p:nvPr/>
        </p:nvSpPr>
        <p:spPr>
          <a:xfrm>
            <a:off x="3508375" y="4681537"/>
            <a:ext cx="34925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</a:pPr>
            <a:r>
              <a:rPr b="0" i="0" lang="en-US" sz="18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C</a:t>
            </a:r>
            <a:endParaRPr/>
          </a:p>
        </p:txBody>
      </p:sp>
      <p:sp>
        <p:nvSpPr>
          <p:cNvPr id="794" name="Google Shape;794;p53"/>
          <p:cNvSpPr txBox="1"/>
          <p:nvPr/>
        </p:nvSpPr>
        <p:spPr>
          <a:xfrm>
            <a:off x="4179887" y="4632325"/>
            <a:ext cx="352425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</a:pPr>
            <a:r>
              <a:rPr b="0" i="0" lang="en-US" sz="18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D</a:t>
            </a:r>
            <a:endParaRPr/>
          </a:p>
        </p:txBody>
      </p:sp>
      <p:cxnSp>
        <p:nvCxnSpPr>
          <p:cNvPr id="795" name="Google Shape;795;p53"/>
          <p:cNvCxnSpPr/>
          <p:nvPr/>
        </p:nvCxnSpPr>
        <p:spPr>
          <a:xfrm flipH="1" rot="-5400000">
            <a:off x="-778599" y="2340700"/>
            <a:ext cx="4491000" cy="1359000"/>
          </a:xfrm>
          <a:prstGeom prst="bentConnector2">
            <a:avLst/>
          </a:prstGeom>
          <a:noFill/>
          <a:ln cap="rnd" cmpd="sng" w="12700">
            <a:solidFill>
              <a:srgbClr val="2F85A7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796" name="Google Shape;796;p53"/>
          <p:cNvSpPr txBox="1"/>
          <p:nvPr/>
        </p:nvSpPr>
        <p:spPr>
          <a:xfrm>
            <a:off x="50800" y="404812"/>
            <a:ext cx="147320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</a:pPr>
            <a:r>
              <a:rPr b="0" i="0" lang="en-US" sz="18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Plain text, X</a:t>
            </a:r>
            <a:endParaRPr/>
          </a:p>
        </p:txBody>
      </p:sp>
      <p:cxnSp>
        <p:nvCxnSpPr>
          <p:cNvPr id="797" name="Google Shape;797;p53"/>
          <p:cNvCxnSpPr/>
          <p:nvPr/>
        </p:nvCxnSpPr>
        <p:spPr>
          <a:xfrm rot="10800000">
            <a:off x="787400" y="1595437"/>
            <a:ext cx="1311275" cy="0"/>
          </a:xfrm>
          <a:prstGeom prst="straightConnector1">
            <a:avLst/>
          </a:prstGeom>
          <a:noFill/>
          <a:ln cap="rnd" cmpd="sng" w="12700">
            <a:solidFill>
              <a:srgbClr val="2F85A7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798" name="Google Shape;798;p53"/>
          <p:cNvCxnSpPr/>
          <p:nvPr/>
        </p:nvCxnSpPr>
        <p:spPr>
          <a:xfrm flipH="1">
            <a:off x="755650" y="2814637"/>
            <a:ext cx="1368425" cy="19050"/>
          </a:xfrm>
          <a:prstGeom prst="straightConnector1">
            <a:avLst/>
          </a:prstGeom>
          <a:noFill/>
          <a:ln cap="rnd" cmpd="sng" w="12700">
            <a:solidFill>
              <a:srgbClr val="2F85A7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799" name="Google Shape;799;p53"/>
          <p:cNvCxnSpPr/>
          <p:nvPr/>
        </p:nvCxnSpPr>
        <p:spPr>
          <a:xfrm rot="10800000">
            <a:off x="755650" y="4024312"/>
            <a:ext cx="1368425" cy="17462"/>
          </a:xfrm>
          <a:prstGeom prst="straightConnector1">
            <a:avLst/>
          </a:prstGeom>
          <a:noFill/>
          <a:ln cap="rnd" cmpd="sng" w="12700">
            <a:solidFill>
              <a:srgbClr val="2F85A7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800" name="Google Shape;800;p53"/>
          <p:cNvSpPr txBox="1"/>
          <p:nvPr/>
        </p:nvSpPr>
        <p:spPr>
          <a:xfrm>
            <a:off x="2124075" y="6388100"/>
            <a:ext cx="2879725" cy="365125"/>
          </a:xfrm>
          <a:prstGeom prst="rect">
            <a:avLst/>
          </a:prstGeom>
          <a:solidFill>
            <a:schemeClr val="lt1"/>
          </a:solidFill>
          <a:ln cap="rnd" cmpd="sng" w="222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ill Sans"/>
              <a:buNone/>
            </a:pPr>
            <a:r>
              <a:rPr b="0" i="0" lang="en-US" sz="1800" u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MD</a:t>
            </a:r>
            <a:endParaRPr/>
          </a:p>
        </p:txBody>
      </p:sp>
      <p:sp>
        <p:nvSpPr>
          <p:cNvPr id="801" name="Google Shape;801;p53"/>
          <p:cNvSpPr txBox="1"/>
          <p:nvPr/>
        </p:nvSpPr>
        <p:spPr>
          <a:xfrm>
            <a:off x="3354387" y="5797550"/>
            <a:ext cx="336550" cy="365125"/>
          </a:xfrm>
          <a:prstGeom prst="rect">
            <a:avLst/>
          </a:prstGeom>
          <a:solidFill>
            <a:schemeClr val="lt1"/>
          </a:solidFill>
          <a:ln cap="rnd" cmpd="sng" w="222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ill Sans"/>
              <a:buNone/>
            </a:pPr>
            <a:r>
              <a:rPr b="0" i="0" lang="en-US" sz="1800" u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+</a:t>
            </a:r>
            <a:endParaRPr/>
          </a:p>
        </p:txBody>
      </p:sp>
      <p:cxnSp>
        <p:nvCxnSpPr>
          <p:cNvPr id="802" name="Google Shape;802;p53"/>
          <p:cNvCxnSpPr/>
          <p:nvPr/>
        </p:nvCxnSpPr>
        <p:spPr>
          <a:xfrm rot="10800000">
            <a:off x="2535237" y="5448300"/>
            <a:ext cx="819150" cy="531812"/>
          </a:xfrm>
          <a:prstGeom prst="straightConnector1">
            <a:avLst/>
          </a:prstGeom>
          <a:noFill/>
          <a:ln cap="rnd" cmpd="sng" w="12700">
            <a:solidFill>
              <a:srgbClr val="2F85A7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803" name="Google Shape;803;p53"/>
          <p:cNvCxnSpPr/>
          <p:nvPr/>
        </p:nvCxnSpPr>
        <p:spPr>
          <a:xfrm rot="10800000">
            <a:off x="3067050" y="5448300"/>
            <a:ext cx="455612" cy="349250"/>
          </a:xfrm>
          <a:prstGeom prst="straightConnector1">
            <a:avLst/>
          </a:prstGeom>
          <a:noFill/>
          <a:ln cap="rnd" cmpd="sng" w="12700">
            <a:solidFill>
              <a:srgbClr val="2F85A7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804" name="Google Shape;804;p53"/>
          <p:cNvCxnSpPr/>
          <p:nvPr/>
        </p:nvCxnSpPr>
        <p:spPr>
          <a:xfrm flipH="1" rot="10800000">
            <a:off x="3522662" y="5448300"/>
            <a:ext cx="365125" cy="349250"/>
          </a:xfrm>
          <a:prstGeom prst="straightConnector1">
            <a:avLst/>
          </a:prstGeom>
          <a:noFill/>
          <a:ln cap="rnd" cmpd="sng" w="12700">
            <a:solidFill>
              <a:srgbClr val="2F85A7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805" name="Google Shape;805;p53"/>
          <p:cNvCxnSpPr/>
          <p:nvPr/>
        </p:nvCxnSpPr>
        <p:spPr>
          <a:xfrm flipH="1" rot="10800000">
            <a:off x="3690937" y="5448300"/>
            <a:ext cx="520700" cy="531812"/>
          </a:xfrm>
          <a:prstGeom prst="straightConnector1">
            <a:avLst/>
          </a:prstGeom>
          <a:noFill/>
          <a:ln cap="rnd" cmpd="sng" w="12700">
            <a:solidFill>
              <a:srgbClr val="2F85A7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806" name="Google Shape;806;p53"/>
          <p:cNvCxnSpPr/>
          <p:nvPr/>
        </p:nvCxnSpPr>
        <p:spPr>
          <a:xfrm rot="5400000">
            <a:off x="1543149" y="2519325"/>
            <a:ext cx="5608500" cy="1312800"/>
          </a:xfrm>
          <a:prstGeom prst="bentConnector3">
            <a:avLst>
              <a:gd fmla="val 0" name="adj1"/>
            </a:avLst>
          </a:prstGeom>
          <a:noFill/>
          <a:ln cap="rnd" cmpd="sng" w="12700">
            <a:solidFill>
              <a:srgbClr val="2F85A7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807" name="Google Shape;807;p53"/>
          <p:cNvCxnSpPr/>
          <p:nvPr/>
        </p:nvCxnSpPr>
        <p:spPr>
          <a:xfrm>
            <a:off x="3522662" y="6162675"/>
            <a:ext cx="41275" cy="225425"/>
          </a:xfrm>
          <a:prstGeom prst="straightConnector1">
            <a:avLst/>
          </a:prstGeom>
          <a:noFill/>
          <a:ln cap="rnd" cmpd="sng" w="12700">
            <a:solidFill>
              <a:srgbClr val="2F85A7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808" name="Google Shape;808;p53"/>
          <p:cNvCxnSpPr/>
          <p:nvPr/>
        </p:nvCxnSpPr>
        <p:spPr>
          <a:xfrm flipH="1" rot="10800000">
            <a:off x="4375150" y="742950"/>
            <a:ext cx="288925" cy="242887"/>
          </a:xfrm>
          <a:prstGeom prst="straightConnector1">
            <a:avLst/>
          </a:prstGeom>
          <a:noFill/>
          <a:ln cap="rnd" cmpd="sng" w="12700">
            <a:solidFill>
              <a:srgbClr val="2F85A7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809" name="Google Shape;809;p53"/>
          <p:cNvSpPr txBox="1"/>
          <p:nvPr/>
        </p:nvSpPr>
        <p:spPr>
          <a:xfrm>
            <a:off x="4718050" y="693737"/>
            <a:ext cx="450850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</a:pPr>
            <a:r>
              <a:rPr b="0" i="0" lang="en-US" sz="18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32</a:t>
            </a:r>
            <a:endParaRPr/>
          </a:p>
        </p:txBody>
      </p:sp>
      <p:cxnSp>
        <p:nvCxnSpPr>
          <p:cNvPr id="810" name="Google Shape;810;p53"/>
          <p:cNvCxnSpPr/>
          <p:nvPr/>
        </p:nvCxnSpPr>
        <p:spPr>
          <a:xfrm flipH="1" rot="10800000">
            <a:off x="606425" y="911225"/>
            <a:ext cx="287337" cy="242887"/>
          </a:xfrm>
          <a:prstGeom prst="straightConnector1">
            <a:avLst/>
          </a:prstGeom>
          <a:noFill/>
          <a:ln cap="rnd" cmpd="sng" w="12700">
            <a:solidFill>
              <a:srgbClr val="2F85A7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811" name="Google Shape;811;p53"/>
          <p:cNvSpPr txBox="1"/>
          <p:nvPr/>
        </p:nvSpPr>
        <p:spPr>
          <a:xfrm>
            <a:off x="947737" y="862012"/>
            <a:ext cx="584200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</a:pPr>
            <a:r>
              <a:rPr b="0" i="0" lang="en-US" sz="18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512</a:t>
            </a:r>
            <a:endParaRPr/>
          </a:p>
        </p:txBody>
      </p:sp>
      <p:sp>
        <p:nvSpPr>
          <p:cNvPr id="812" name="Google Shape;812;p53"/>
          <p:cNvSpPr txBox="1"/>
          <p:nvPr/>
        </p:nvSpPr>
        <p:spPr>
          <a:xfrm>
            <a:off x="5695950" y="4251325"/>
            <a:ext cx="3365500" cy="2030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</a:pPr>
            <a:r>
              <a:rPr b="0" i="0" lang="en-US" sz="18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Uses 4   32-bit inputs: </a:t>
            </a:r>
            <a:r>
              <a:rPr b="0" i="1" lang="en-US" sz="18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a, b, c, 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</a:pPr>
            <a:r>
              <a:rPr b="0" i="0" lang="en-US" sz="18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Also uses a 32-bit sub-block of the message block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</a:pPr>
            <a:r>
              <a:rPr b="0" i="0" lang="en-US" sz="18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Generates 4  32-bit outputs for the next round step or the next round</a:t>
            </a:r>
            <a:endParaRPr/>
          </a:p>
        </p:txBody>
      </p:sp>
      <p:sp>
        <p:nvSpPr>
          <p:cNvPr id="813" name="Google Shape;813;p53"/>
          <p:cNvSpPr txBox="1"/>
          <p:nvPr/>
        </p:nvSpPr>
        <p:spPr>
          <a:xfrm>
            <a:off x="5708650" y="2233612"/>
            <a:ext cx="3365500" cy="12017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</a:pPr>
            <a:r>
              <a:rPr b="0" i="0" lang="en-US" sz="18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Each round have 16 constraints and 16 steps.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</a:pPr>
            <a:r>
              <a:rPr b="0" i="0" lang="en-US" sz="18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Each constraint will use in each step.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54"/>
          <p:cNvSpPr txBox="1"/>
          <p:nvPr>
            <p:ph type="title"/>
          </p:nvPr>
        </p:nvSpPr>
        <p:spPr>
          <a:xfrm>
            <a:off x="581025" y="687387"/>
            <a:ext cx="7989887" cy="725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b="0" i="0" lang="en-US" sz="28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DIFFICULTY IN CRACKING</a:t>
            </a:r>
            <a:endParaRPr/>
          </a:p>
        </p:txBody>
      </p:sp>
      <p:sp>
        <p:nvSpPr>
          <p:cNvPr id="819" name="Google Shape;819;p54"/>
          <p:cNvSpPr txBox="1"/>
          <p:nvPr>
            <p:ph idx="1" type="body"/>
          </p:nvPr>
        </p:nvSpPr>
        <p:spPr>
          <a:xfrm>
            <a:off x="503237" y="2155825"/>
            <a:ext cx="7989887" cy="4487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4800" lvl="0" marL="30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Md5, with its 128bit encryption algorithm has 1,280,000,000,000,000,000 possible combinations.</a:t>
            </a:r>
            <a:endParaRPr/>
          </a:p>
          <a:p>
            <a:pPr indent="-304800" lvl="0" marL="304800" marR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Even if the exact same hash value found, possible other string combination could have created it.</a:t>
            </a:r>
            <a:endParaRPr/>
          </a:p>
          <a:p>
            <a:pPr indent="-304800" lvl="0" marL="304800" marR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is considered that the md5 message digest would take an unrealistic time to crack via brute force attack.</a:t>
            </a:r>
            <a:endParaRPr/>
          </a:p>
          <a:p>
            <a:pPr indent="-141224" lvl="0" marL="304800" marR="0" rtl="0" algn="l"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0" name="Google Shape;820;p54"/>
          <p:cNvSpPr txBox="1"/>
          <p:nvPr/>
        </p:nvSpPr>
        <p:spPr>
          <a:xfrm>
            <a:off x="581025" y="6321425"/>
            <a:ext cx="48704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</a:pPr>
            <a:r>
              <a:rPr b="0" i="0" lang="en-US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rPr>
              <a:t>CHAPTER 5 HASH FUNCTION</a:t>
            </a:r>
            <a:endParaRPr/>
          </a:p>
        </p:txBody>
      </p:sp>
      <p:sp>
        <p:nvSpPr>
          <p:cNvPr id="821" name="Google Shape;821;p54"/>
          <p:cNvSpPr txBox="1"/>
          <p:nvPr/>
        </p:nvSpPr>
        <p:spPr>
          <a:xfrm>
            <a:off x="7823200" y="6307137"/>
            <a:ext cx="7699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</a:pPr>
            <a:fld id="{00000000-1234-1234-1234-123412341234}" type="slidenum">
              <a:rPr b="0" i="0" lang="en-US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rPr>
              <a:t>‹#›</a:t>
            </a:fld>
            <a:endParaRPr/>
          </a:p>
        </p:txBody>
      </p:sp>
      <p:pic>
        <p:nvPicPr>
          <p:cNvPr id="822" name="Google Shape;822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5825" y="620712"/>
            <a:ext cx="1408112" cy="1150937"/>
          </a:xfrm>
          <a:prstGeom prst="rect">
            <a:avLst/>
          </a:prstGeom>
          <a:noFill/>
          <a:ln>
            <a:noFill/>
          </a:ln>
        </p:spPr>
      </p:pic>
      <p:pic>
        <p:nvPicPr>
          <p:cNvPr id="823" name="Google Shape;823;p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80287" y="692150"/>
            <a:ext cx="1147762" cy="1062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55"/>
          <p:cNvSpPr txBox="1"/>
          <p:nvPr>
            <p:ph type="title"/>
          </p:nvPr>
        </p:nvSpPr>
        <p:spPr>
          <a:xfrm>
            <a:off x="581025" y="687387"/>
            <a:ext cx="7989887" cy="725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b="0" i="0" lang="en-US" sz="28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PROS/CONS MD5</a:t>
            </a:r>
            <a:endParaRPr/>
          </a:p>
        </p:txBody>
      </p:sp>
      <p:sp>
        <p:nvSpPr>
          <p:cNvPr id="829" name="Google Shape;829;p55"/>
          <p:cNvSpPr txBox="1"/>
          <p:nvPr/>
        </p:nvSpPr>
        <p:spPr>
          <a:xfrm>
            <a:off x="581025" y="6321425"/>
            <a:ext cx="48704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</a:pPr>
            <a:r>
              <a:rPr b="0" i="0" lang="en-US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rPr>
              <a:t>CHAPTER 5 HASH FUNCTION</a:t>
            </a:r>
            <a:endParaRPr/>
          </a:p>
        </p:txBody>
      </p:sp>
      <p:sp>
        <p:nvSpPr>
          <p:cNvPr id="830" name="Google Shape;830;p55"/>
          <p:cNvSpPr txBox="1"/>
          <p:nvPr/>
        </p:nvSpPr>
        <p:spPr>
          <a:xfrm>
            <a:off x="7823200" y="6307137"/>
            <a:ext cx="7699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</a:pPr>
            <a:fld id="{00000000-1234-1234-1234-123412341234}" type="slidenum">
              <a:rPr b="0" i="0" lang="en-US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rPr>
              <a:t>‹#›</a:t>
            </a:fld>
            <a:endParaRPr/>
          </a:p>
        </p:txBody>
      </p:sp>
      <p:sp>
        <p:nvSpPr>
          <p:cNvPr id="831" name="Google Shape;831;p55"/>
          <p:cNvSpPr txBox="1"/>
          <p:nvPr/>
        </p:nvSpPr>
        <p:spPr>
          <a:xfrm>
            <a:off x="768350" y="1412875"/>
            <a:ext cx="38100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4800" lvl="0" marL="30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Easy to use</a:t>
            </a:r>
            <a:endParaRPr/>
          </a:p>
          <a:p>
            <a:pPr indent="-304800" lvl="0" marL="304800" marR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Widely used</a:t>
            </a:r>
            <a:endParaRPr/>
          </a:p>
          <a:p>
            <a:pPr indent="-304800" lvl="0" marL="304800" marR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Considered secure</a:t>
            </a:r>
            <a:endParaRPr/>
          </a:p>
          <a:p>
            <a:pPr indent="-304800" lvl="0" marL="304800" marR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Difficult to crack</a:t>
            </a:r>
            <a:endParaRPr/>
          </a:p>
        </p:txBody>
      </p:sp>
      <p:sp>
        <p:nvSpPr>
          <p:cNvPr id="832" name="Google Shape;832;p55"/>
          <p:cNvSpPr txBox="1"/>
          <p:nvPr/>
        </p:nvSpPr>
        <p:spPr>
          <a:xfrm>
            <a:off x="5021262" y="2089150"/>
            <a:ext cx="38100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04800" lvl="0" marL="30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Is susceptible to brute force attacks</a:t>
            </a:r>
            <a:endParaRPr/>
          </a:p>
          <a:p>
            <a:pPr indent="-304800" lvl="0" marL="304800" marR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Hash collisions is a known flaw</a:t>
            </a:r>
            <a:endParaRPr/>
          </a:p>
          <a:p>
            <a:pPr indent="-304800" lvl="0" marL="304800" marR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Quantum computers would make such an algorithm worthless</a:t>
            </a:r>
            <a:endParaRPr/>
          </a:p>
        </p:txBody>
      </p:sp>
      <p:pic>
        <p:nvPicPr>
          <p:cNvPr id="833" name="Google Shape;833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5825" y="620712"/>
            <a:ext cx="1408112" cy="1150937"/>
          </a:xfrm>
          <a:prstGeom prst="rect">
            <a:avLst/>
          </a:prstGeom>
          <a:noFill/>
          <a:ln>
            <a:noFill/>
          </a:ln>
        </p:spPr>
      </p:pic>
      <p:pic>
        <p:nvPicPr>
          <p:cNvPr id="834" name="Google Shape;834;p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80287" y="692150"/>
            <a:ext cx="1147762" cy="1062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6_Dividend">
  <a:themeElements>
    <a:clrScheme name="Blue Green">
      <a:dk1>
        <a:srgbClr val="000000"/>
      </a:dk1>
      <a:lt1>
        <a:srgbClr val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2_Dividend">
  <a:themeElements>
    <a:clrScheme name="Blue Green">
      <a:dk1>
        <a:srgbClr val="000000"/>
      </a:dk1>
      <a:lt1>
        <a:srgbClr val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4_Dividend">
  <a:themeElements>
    <a:clrScheme name="Blue Green">
      <a:dk1>
        <a:srgbClr val="000000"/>
      </a:dk1>
      <a:lt1>
        <a:srgbClr val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8_Dividend">
  <a:themeElements>
    <a:clrScheme name="Blue Green">
      <a:dk1>
        <a:srgbClr val="000000"/>
      </a:dk1>
      <a:lt1>
        <a:srgbClr val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5_Dividend">
  <a:themeElements>
    <a:clrScheme name="Blue Green">
      <a:dk1>
        <a:srgbClr val="000000"/>
      </a:dk1>
      <a:lt1>
        <a:srgbClr val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7_Dividend">
  <a:themeElements>
    <a:clrScheme name="Blue Green">
      <a:dk1>
        <a:srgbClr val="000000"/>
      </a:dk1>
      <a:lt1>
        <a:srgbClr val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1_Dividend">
  <a:themeElements>
    <a:clrScheme name="Blue Green">
      <a:dk1>
        <a:srgbClr val="000000"/>
      </a:dk1>
      <a:lt1>
        <a:srgbClr val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Dividend">
  <a:themeElements>
    <a:clrScheme name="Blue Green">
      <a:dk1>
        <a:srgbClr val="000000"/>
      </a:dk1>
      <a:lt1>
        <a:srgbClr val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3_Dividend">
  <a:themeElements>
    <a:clrScheme name="Blue Green">
      <a:dk1>
        <a:srgbClr val="000000"/>
      </a:dk1>
      <a:lt1>
        <a:srgbClr val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10_Dividend">
  <a:themeElements>
    <a:clrScheme name="Blue Green">
      <a:dk1>
        <a:srgbClr val="000000"/>
      </a:dk1>
      <a:lt1>
        <a:srgbClr val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9_Dividend">
  <a:themeElements>
    <a:clrScheme name="Blue Green">
      <a:dk1>
        <a:srgbClr val="000000"/>
      </a:dk1>
      <a:lt1>
        <a:srgbClr val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2006-02-20T14:29:07Z</dcterms:created>
  <dc:creator>MIH</dc:creator>
</cp:coreProperties>
</file>