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17"/>
  </p:notesMasterIdLst>
  <p:sldIdLst>
    <p:sldId id="256" r:id="rId2"/>
    <p:sldId id="257" r:id="rId3"/>
    <p:sldId id="275" r:id="rId4"/>
    <p:sldId id="258" r:id="rId5"/>
    <p:sldId id="259" r:id="rId6"/>
    <p:sldId id="260" r:id="rId7"/>
    <p:sldId id="261" r:id="rId8"/>
    <p:sldId id="262" r:id="rId9"/>
    <p:sldId id="263" r:id="rId10"/>
    <p:sldId id="264" r:id="rId11"/>
    <p:sldId id="265" r:id="rId12"/>
    <p:sldId id="266" r:id="rId13"/>
    <p:sldId id="267" r:id="rId14"/>
    <p:sldId id="268" r:id="rId15"/>
    <p:sldId id="270" r:id="rId16"/>
  </p:sldIdLst>
  <p:sldSz cx="9144000" cy="6858000" type="screen4x3"/>
  <p:notesSz cx="6858000" cy="9144000"/>
  <p:embeddedFontLst>
    <p:embeddedFont>
      <p:font typeface="Calibri" panose="020F0502020204030204" pitchFamily="34" charset="0"/>
      <p:regular r:id="rId18"/>
      <p:bold r:id="rId19"/>
      <p:italic r:id="rId20"/>
      <p:boldItalic r:id="rId21"/>
    </p:embeddedFont>
    <p:embeddedFont>
      <p:font typeface="Corbel" panose="020B0503020204020204" pitchFamily="34" charset="0"/>
      <p:regular r:id="rId22"/>
      <p:bold r:id="rId23"/>
      <p:italic r:id="rId24"/>
      <p:boldItalic r:id="rId25"/>
    </p:embeddedFont>
    <p:embeddedFont>
      <p:font typeface="Comic Sans MS" panose="030F0702030302020204" pitchFamily="66" charset="0"/>
      <p:regular r:id="rId26"/>
      <p:bold r:id="rId27"/>
      <p:italic r:id="rId28"/>
      <p:boldItalic r:id="rId29"/>
    </p:embeddedFont>
    <p:embeddedFont>
      <p:font typeface="Calibri Light" panose="020F0302020204030204" pitchFamily="34" charset="0"/>
      <p:regular r:id="rId30"/>
      <p: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25">
          <p15:clr>
            <a:srgbClr val="A4A3A4"/>
          </p15:clr>
        </p15:guide>
        <p15:guide id="2" pos="2928">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l6Ghw8xN+hGwni1UyDctf7h2dd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74" autoAdjust="0"/>
  </p:normalViewPr>
  <p:slideViewPr>
    <p:cSldViewPr snapToGrid="0">
      <p:cViewPr varScale="1">
        <p:scale>
          <a:sx n="68" d="100"/>
          <a:sy n="68" d="100"/>
        </p:scale>
        <p:origin x="1446" y="66"/>
      </p:cViewPr>
      <p:guideLst>
        <p:guide orient="horz" pos="725"/>
        <p:guide pos="29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10677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crypto-it.net/eng/simple/enigma.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crypto-it.net/eng/asymmetric/rsa.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3027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861211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176247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89960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164791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662233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405168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During </a:t>
            </a:r>
            <a:r>
              <a:rPr lang="en-US" dirty="0" err="1"/>
              <a:t>ciphertext</a:t>
            </a:r>
            <a:r>
              <a:rPr lang="en-US" dirty="0"/>
              <a:t>-only attacks, the attacker has access only to a number of encrypted messages. He has no idea what the plaintext data or the secret key may be. The goal is to recover as much plaintext messages as possible or (preferably) to guess the secret key. After discovering the encryption key, it will be possible to break all the other messages which have been encrypted by this key.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While designing encryption algorithms, it is particularly important to secure them against </a:t>
            </a:r>
            <a:r>
              <a:rPr lang="en-US" dirty="0" err="1"/>
              <a:t>ciphertext</a:t>
            </a:r>
            <a:r>
              <a:rPr lang="en-US" dirty="0"/>
              <a:t>-only attacks, as they are the most obvious starting point for every cryptanalysis. That is why well prepared and reviewed ciphers are usually not very vulnerable to these kinds of attacks. However, one may still find examples of protocols that have been broken by various attacks based on </a:t>
            </a:r>
            <a:r>
              <a:rPr lang="en-US" dirty="0" err="1"/>
              <a:t>ciphertext</a:t>
            </a:r>
            <a:r>
              <a:rPr lang="en-US" dirty="0"/>
              <a:t>-only approach.</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There are a few techniques which proved to be very effective even when targeting modern ciphers and which are based only on the knowledge of the </a:t>
            </a:r>
            <a:r>
              <a:rPr lang="en-US" dirty="0" err="1"/>
              <a:t>ciphertext</a:t>
            </a:r>
            <a:r>
              <a:rPr lang="en-US" dirty="0"/>
              <a:t> messages. The most important methods are: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    Attack on Two-Time Pad</a:t>
            </a:r>
            <a:endParaRPr dirty="0"/>
          </a:p>
          <a:p>
            <a:pPr marL="0" lvl="0" indent="0" algn="l" rtl="0">
              <a:spcBef>
                <a:spcPts val="0"/>
              </a:spcBef>
              <a:spcAft>
                <a:spcPts val="0"/>
              </a:spcAft>
              <a:buNone/>
            </a:pPr>
            <a:r>
              <a:rPr lang="en-US" dirty="0"/>
              <a:t>    Frequency Analysis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96" name="Google Shape;196;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848211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Knows some plaintext and corresponding cipher text.</a:t>
            </a:r>
            <a:br>
              <a:rPr lang="en-US"/>
            </a:br>
            <a:r>
              <a:rPr lang="en-US"/>
              <a:t>Old communication</a:t>
            </a:r>
            <a:endParaRPr/>
          </a:p>
          <a:p>
            <a:pPr marL="0" lvl="0" indent="0" algn="l" rtl="0">
              <a:spcBef>
                <a:spcPts val="0"/>
              </a:spcBef>
              <a:spcAft>
                <a:spcPts val="0"/>
              </a:spcAft>
              <a:buNone/>
            </a:pPr>
            <a:r>
              <a:rPr lang="en-US"/>
              <a:t>Goal is to find the key</a:t>
            </a:r>
            <a:endParaRPr/>
          </a:p>
          <a:p>
            <a:pPr marL="0" lvl="0" indent="0" algn="l" rtl="0">
              <a:spcBef>
                <a:spcPts val="0"/>
              </a:spcBef>
              <a:spcAft>
                <a:spcPts val="0"/>
              </a:spcAft>
              <a:buNone/>
            </a:pPr>
            <a:endParaRPr/>
          </a:p>
          <a:p>
            <a:pPr marL="0" lvl="0" indent="0" algn="l" rtl="0">
              <a:spcBef>
                <a:spcPts val="0"/>
              </a:spcBef>
              <a:spcAft>
                <a:spcPts val="0"/>
              </a:spcAft>
              <a:buNone/>
            </a:pPr>
            <a:r>
              <a:rPr lang="en-US"/>
              <a:t>During known-plaintext attacks, the attacker has an access to the ciphertext and its corresponding plaintext. His goal is to guess the secret key (or a number of secret keys) or to develop an algorithm which would allow him to decrypt any further messages.</a:t>
            </a:r>
            <a:endParaRPr/>
          </a:p>
        </p:txBody>
      </p:sp>
      <p:sp>
        <p:nvSpPr>
          <p:cNvPr id="215" name="Google Shape;215;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399045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Oscar can choose plaintext and get ciphertext</a:t>
            </a:r>
            <a:endParaRPr/>
          </a:p>
          <a:p>
            <a:pPr marL="0" lvl="0" indent="0" algn="l" rtl="0">
              <a:spcBef>
                <a:spcPts val="0"/>
              </a:spcBef>
              <a:spcAft>
                <a:spcPts val="0"/>
              </a:spcAft>
              <a:buNone/>
            </a:pPr>
            <a:r>
              <a:rPr lang="en-US"/>
              <a:t>Key builtin</a:t>
            </a:r>
            <a:endParaRPr/>
          </a:p>
          <a:p>
            <a:pPr marL="0" lvl="0" indent="0" algn="l" rtl="0">
              <a:lnSpc>
                <a:spcPct val="115000"/>
              </a:lnSpc>
              <a:spcBef>
                <a:spcPts val="1200"/>
              </a:spcBef>
              <a:spcAft>
                <a:spcPts val="0"/>
              </a:spcAft>
              <a:buSzPts val="1100"/>
              <a:buNone/>
            </a:pPr>
            <a:r>
              <a:rPr lang="en-US" sz="1100">
                <a:latin typeface="Arial"/>
                <a:ea typeface="Arial"/>
                <a:cs typeface="Arial"/>
                <a:sym typeface="Arial"/>
              </a:rPr>
              <a:t>During the chosen-plaintext attack, a cryptanalyst can choose arbitrary plaintext data to be encrypted and then he receives the corresponding ciphertext. He tries to acquire the secret encryption key or alternatively to create an algorithm which would allow him to decrypt any ciphertext messages encrypted using this key (but without actually knowing the secret key).</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a rather comfortable situation for the attacker. He can obtain more information about the secret key and about the whole attacked system, because he is able to choose any text to be processed by the cipher. He can analyse the system behaviour and output ciphertext, based on any kind of input data. During breaking deterministic ciphers with the public key, the intruder can easily create a database with popular ciphertexts, for example with popular queries to the server. After that he will be able to find the meaning of many intercepted encrypted messages, by simply comparing them with his own database entries. The most known chosen-plaintext attacks were performed by the Allied cryptanalysts during World War II against the German</a:t>
            </a:r>
            <a:r>
              <a:rPr lang="en-US" sz="1100">
                <a:uFill>
                  <a:noFill/>
                </a:uFill>
                <a:latin typeface="Arial"/>
                <a:ea typeface="Arial"/>
                <a:cs typeface="Arial"/>
                <a:sym typeface="Arial"/>
                <a:hlinkClick r:id="rId3"/>
              </a:rPr>
              <a:t> </a:t>
            </a:r>
            <a:r>
              <a:rPr lang="en-US" sz="1100" u="sng">
                <a:solidFill>
                  <a:schemeClr val="hlink"/>
                </a:solidFill>
                <a:latin typeface="Arial"/>
                <a:ea typeface="Arial"/>
                <a:cs typeface="Arial"/>
                <a:sym typeface="Arial"/>
                <a:hlinkClick r:id="rId3"/>
              </a:rPr>
              <a:t>Enigma ciphers</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1200"/>
              </a:spcBef>
              <a:spcAft>
                <a:spcPts val="0"/>
              </a:spcAft>
              <a:buNone/>
            </a:pPr>
            <a:endParaRPr/>
          </a:p>
        </p:txBody>
      </p:sp>
      <p:sp>
        <p:nvSpPr>
          <p:cNvPr id="235" name="Google Shape;235;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880504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Oscar can choose ciphertext and get plaintext.</a:t>
            </a:r>
            <a:endParaRPr/>
          </a:p>
          <a:p>
            <a:pPr marL="0" lvl="0" indent="0" algn="l" rtl="0">
              <a:spcBef>
                <a:spcPts val="0"/>
              </a:spcBef>
              <a:spcAft>
                <a:spcPts val="0"/>
              </a:spcAft>
              <a:buNone/>
            </a:pPr>
            <a:r>
              <a:rPr lang="en-US"/>
              <a:t>Key inbuilt</a:t>
            </a:r>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During the chosen-ciphertext attack, a cryptanalyst can analyse any chosen ciphertexts together with their corresponding plaintexts. His goal is to acquire a secret key or to get as many information about the attacked system as possible.					</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attacker has capability to make the victim (who obviously knows the secret key) decrypt any ciphertext and send him back the result. By analysing the chosen ciphertext and the corresponding received plaintext, the intruder tries to guess the secret key which has been used by the victim.						</a:t>
            </a:r>
            <a:endParaRPr sz="1100">
              <a:latin typeface="Arial"/>
              <a:ea typeface="Arial"/>
              <a:cs typeface="Arial"/>
              <a:sym typeface="Arial"/>
            </a:endParaRPr>
          </a:p>
          <a:p>
            <a:pPr marL="0" lvl="0" indent="0" algn="l" rtl="0">
              <a:lnSpc>
                <a:spcPct val="115000"/>
              </a:lnSpc>
              <a:spcBef>
                <a:spcPts val="1200"/>
              </a:spcBef>
              <a:spcAft>
                <a:spcPts val="1200"/>
              </a:spcAft>
              <a:buSzPts val="1100"/>
              <a:buNone/>
            </a:pPr>
            <a:r>
              <a:rPr lang="en-US" sz="1100">
                <a:latin typeface="Arial"/>
                <a:ea typeface="Arial"/>
                <a:cs typeface="Arial"/>
                <a:sym typeface="Arial"/>
              </a:rPr>
              <a:t>Chosen-ciphertext attacks are usually used for breaking systems with public key encryption. For example, early versions of the</a:t>
            </a:r>
            <a:r>
              <a:rPr lang="en-US" sz="1100">
                <a:uFill>
                  <a:noFill/>
                </a:uFill>
                <a:latin typeface="Arial"/>
                <a:ea typeface="Arial"/>
                <a:cs typeface="Arial"/>
                <a:sym typeface="Arial"/>
                <a:hlinkClick r:id="rId3"/>
              </a:rPr>
              <a:t> </a:t>
            </a:r>
            <a:r>
              <a:rPr lang="en-US" sz="1100" u="sng">
                <a:solidFill>
                  <a:schemeClr val="hlink"/>
                </a:solidFill>
                <a:latin typeface="Arial"/>
                <a:ea typeface="Arial"/>
                <a:cs typeface="Arial"/>
                <a:sym typeface="Arial"/>
                <a:hlinkClick r:id="rId3"/>
              </a:rPr>
              <a:t>RSA cipher</a:t>
            </a:r>
            <a:r>
              <a:rPr lang="en-US" sz="1100">
                <a:latin typeface="Arial"/>
                <a:ea typeface="Arial"/>
                <a:cs typeface="Arial"/>
                <a:sym typeface="Arial"/>
              </a:rPr>
              <a:t> were vulnerable to such attacks. They are used less often for attacking systems protected by symmetric ciphers. Some self-synchronizing stream ciphers have been also attacked successfully in that way.</a:t>
            </a:r>
            <a:endParaRPr/>
          </a:p>
        </p:txBody>
      </p:sp>
      <p:sp>
        <p:nvSpPr>
          <p:cNvPr id="256" name="Google Shape;256;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90110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032264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16898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565617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24474eb481_0_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124474eb481_0_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g124474eb481_0_6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132057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27FF40-488F-153B-19EB-877ABF2A363F}"/>
              </a:ext>
            </a:extLst>
          </p:cNvPr>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dirty="0" smtClean="0"/>
              <a:t>Click to edit Master title style</a:t>
            </a:r>
            <a:endParaRPr lang="en-US" dirty="0"/>
          </a:p>
        </p:txBody>
      </p:sp>
      <p:sp>
        <p:nvSpPr>
          <p:cNvPr id="3" name="Subtitle 2">
            <a:extLst>
              <a:ext uri="{FF2B5EF4-FFF2-40B4-BE49-F238E27FC236}">
                <a16:creationId xmlns="" xmlns:a16="http://schemas.microsoft.com/office/drawing/2014/main" id="{C1193D54-04FF-E96B-1A4B-F0630582A08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a:extLst>
              <a:ext uri="{FF2B5EF4-FFF2-40B4-BE49-F238E27FC236}">
                <a16:creationId xmlns="" xmlns:a16="http://schemas.microsoft.com/office/drawing/2014/main" id="{1C37E41D-C95F-1359-E1E6-7968C1C8521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 xmlns:a16="http://schemas.microsoft.com/office/drawing/2014/main" id="{4C9F7D58-677A-1439-B08D-FD962F3C3B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3112794-6744-3C1D-22CE-6F3302DFBF7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a:extLst>
              <a:ext uri="{FF2B5EF4-FFF2-40B4-BE49-F238E27FC236}">
                <a16:creationId xmlns="" xmlns:a16="http://schemas.microsoft.com/office/drawing/2014/main" id="{E2AFAEB3-6993-417E-06AF-308C15B5D0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8" name="Picture 7">
            <a:extLst>
              <a:ext uri="{FF2B5EF4-FFF2-40B4-BE49-F238E27FC236}">
                <a16:creationId xmlns="" xmlns:a16="http://schemas.microsoft.com/office/drawing/2014/main" id="{B060EE7D-53E9-F1D0-BE4E-30C2EB3AAB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9" name="Picture 8">
            <a:extLst>
              <a:ext uri="{FF2B5EF4-FFF2-40B4-BE49-F238E27FC236}">
                <a16:creationId xmlns="" xmlns:a16="http://schemas.microsoft.com/office/drawing/2014/main" id="{96C8557A-C4C0-F65D-58A7-65DD059CB6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788565" cy="864555"/>
          </a:xfrm>
          <a:prstGeom prst="rect">
            <a:avLst/>
          </a:prstGeom>
        </p:spPr>
      </p:pic>
    </p:spTree>
    <p:extLst>
      <p:ext uri="{BB962C8B-B14F-4D97-AF65-F5344CB8AC3E}">
        <p14:creationId xmlns:p14="http://schemas.microsoft.com/office/powerpoint/2010/main" val="87174633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F5A6D1-4A64-F098-608E-B0ADF44A1677}"/>
              </a:ext>
            </a:extLst>
          </p:cNvPr>
          <p:cNvSpPr>
            <a:spLocks noGrp="1"/>
          </p:cNvSpPr>
          <p:nvPr>
            <p:ph type="title"/>
          </p:nvPr>
        </p:nvSpPr>
        <p:spPr>
          <a:xfrm>
            <a:off x="468735" y="302442"/>
            <a:ext cx="7886700" cy="1163894"/>
          </a:xfrm>
          <a:prstGeom prst="rect">
            <a:avLst/>
          </a:prstGeom>
          <a:solidFill>
            <a:schemeClr val="accent1">
              <a:lumMod val="75000"/>
            </a:schemeClr>
          </a:solidFill>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a:extLst>
              <a:ext uri="{FF2B5EF4-FFF2-40B4-BE49-F238E27FC236}">
                <a16:creationId xmlns="" xmlns:a16="http://schemas.microsoft.com/office/drawing/2014/main" id="{1F744CEF-7C88-6832-2FDF-638F6304FCE7}"/>
              </a:ext>
            </a:extLst>
          </p:cNvPr>
          <p:cNvSpPr>
            <a:spLocks noGrp="1"/>
          </p:cNvSpPr>
          <p:nvPr>
            <p:ph idx="1"/>
          </p:nvPr>
        </p:nvSpPr>
        <p:spPr>
          <a:xfrm>
            <a:off x="468735" y="1668110"/>
            <a:ext cx="7886700" cy="4512158"/>
          </a:xfrm>
        </p:spPr>
        <p:txBody>
          <a:bodyPr/>
          <a:lstStyle>
            <a:lvl1pPr>
              <a:defRPr>
                <a:latin typeface="Calibri Light (Headings)"/>
              </a:defRPr>
            </a:lvl1pPr>
            <a:lvl2pPr>
              <a:defRPr>
                <a:latin typeface="Calibri Light (Headings)"/>
              </a:defRPr>
            </a:lvl2pPr>
            <a:lvl3pPr>
              <a:defRPr>
                <a:latin typeface="Calibri Light (Headings)"/>
              </a:defRPr>
            </a:lvl3pPr>
            <a:lvl4pPr>
              <a:defRPr>
                <a:latin typeface="Calibri Light (Headings)"/>
              </a:defRPr>
            </a:lvl4pPr>
            <a:lvl5pPr>
              <a:defRPr>
                <a:latin typeface="Calibri Light (Heading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a:extLst>
              <a:ext uri="{FF2B5EF4-FFF2-40B4-BE49-F238E27FC236}">
                <a16:creationId xmlns="" xmlns:a16="http://schemas.microsoft.com/office/drawing/2014/main" id="{07C7C217-4183-2235-543E-81575046D23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 xmlns:a16="http://schemas.microsoft.com/office/drawing/2014/main" id="{A716CD87-CF89-E787-56FD-C9D107771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4D62148-F355-1632-22ED-4AA8F10A230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a:extLst>
              <a:ext uri="{FF2B5EF4-FFF2-40B4-BE49-F238E27FC236}">
                <a16:creationId xmlns="" xmlns:a16="http://schemas.microsoft.com/office/drawing/2014/main" id="{C4EA166F-D2D5-A36C-F203-FC1FDBD4D6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8" name="Picture 7">
            <a:extLst>
              <a:ext uri="{FF2B5EF4-FFF2-40B4-BE49-F238E27FC236}">
                <a16:creationId xmlns="" xmlns:a16="http://schemas.microsoft.com/office/drawing/2014/main" id="{ED39E2D3-039B-9D84-2243-130A983B74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9" name="Picture 8">
            <a:extLst>
              <a:ext uri="{FF2B5EF4-FFF2-40B4-BE49-F238E27FC236}">
                <a16:creationId xmlns="" xmlns:a16="http://schemas.microsoft.com/office/drawing/2014/main" id="{DB3EA208-2427-962F-5DE3-A5C9A292B4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677411" cy="864555"/>
          </a:xfrm>
          <a:prstGeom prst="rect">
            <a:avLst/>
          </a:prstGeom>
        </p:spPr>
      </p:pic>
    </p:spTree>
    <p:extLst>
      <p:ext uri="{BB962C8B-B14F-4D97-AF65-F5344CB8AC3E}">
        <p14:creationId xmlns:p14="http://schemas.microsoft.com/office/powerpoint/2010/main" val="931421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6C3C30-C583-D454-BFF0-E822BC88D71B}"/>
              </a:ext>
            </a:extLst>
          </p:cNvPr>
          <p:cNvSpPr>
            <a:spLocks noGrp="1"/>
          </p:cNvSpPr>
          <p:nvPr>
            <p:ph type="title"/>
          </p:nvPr>
        </p:nvSpPr>
        <p:spPr>
          <a:xfrm>
            <a:off x="623888" y="1709739"/>
            <a:ext cx="7886700" cy="2852737"/>
          </a:xfrm>
          <a:prstGeom prst="rect">
            <a:avLst/>
          </a:prstGeom>
        </p:spPr>
        <p:txBody>
          <a:bodyPr anchor="b"/>
          <a:lstStyle>
            <a:lvl1pPr>
              <a:defRPr sz="4500"/>
            </a:lvl1pPr>
          </a:lstStyle>
          <a:p>
            <a:r>
              <a:rPr lang="en-US" smtClean="0"/>
              <a:t>Click to edit Master title style</a:t>
            </a:r>
            <a:endParaRPr lang="en-US"/>
          </a:p>
        </p:txBody>
      </p:sp>
      <p:sp>
        <p:nvSpPr>
          <p:cNvPr id="3" name="Text Placeholder 2">
            <a:extLst>
              <a:ext uri="{FF2B5EF4-FFF2-40B4-BE49-F238E27FC236}">
                <a16:creationId xmlns="" xmlns:a16="http://schemas.microsoft.com/office/drawing/2014/main" id="{49FF2424-A14D-339A-85FA-9DAECE61973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 xmlns:a16="http://schemas.microsoft.com/office/drawing/2014/main" id="{CF44AD6C-9468-873D-9DCB-1304B18E2D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 xmlns:a16="http://schemas.microsoft.com/office/drawing/2014/main" id="{E7F24AD8-27D5-6B55-3098-DE576F1B75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3DCB02D-C255-7534-6E72-3B435880FD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a:extLst>
              <a:ext uri="{FF2B5EF4-FFF2-40B4-BE49-F238E27FC236}">
                <a16:creationId xmlns="" xmlns:a16="http://schemas.microsoft.com/office/drawing/2014/main" id="{1BEE7431-5672-AA1E-8A6F-3896B16189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8" name="Picture 7">
            <a:extLst>
              <a:ext uri="{FF2B5EF4-FFF2-40B4-BE49-F238E27FC236}">
                <a16:creationId xmlns="" xmlns:a16="http://schemas.microsoft.com/office/drawing/2014/main" id="{5658ACC7-DE04-E54F-C623-2FB2EDCC6B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9" name="Picture 8">
            <a:extLst>
              <a:ext uri="{FF2B5EF4-FFF2-40B4-BE49-F238E27FC236}">
                <a16:creationId xmlns="" xmlns:a16="http://schemas.microsoft.com/office/drawing/2014/main" id="{51C0E5D9-DD5C-6A60-5F06-DB9471EC97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677411" cy="864555"/>
          </a:xfrm>
          <a:prstGeom prst="rect">
            <a:avLst/>
          </a:prstGeom>
        </p:spPr>
      </p:pic>
    </p:spTree>
    <p:extLst>
      <p:ext uri="{BB962C8B-B14F-4D97-AF65-F5344CB8AC3E}">
        <p14:creationId xmlns:p14="http://schemas.microsoft.com/office/powerpoint/2010/main" val="683832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A9B496B-4917-7259-E010-F4B53CD272B9}"/>
              </a:ext>
            </a:extLst>
          </p:cNvPr>
          <p:cNvSpPr>
            <a:spLocks noGrp="1"/>
          </p:cNvSpPr>
          <p:nvPr>
            <p:ph sz="half" idx="1"/>
          </p:nvPr>
        </p:nvSpPr>
        <p:spPr>
          <a:xfrm>
            <a:off x="468735" y="1796367"/>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a:extLst>
              <a:ext uri="{FF2B5EF4-FFF2-40B4-BE49-F238E27FC236}">
                <a16:creationId xmlns="" xmlns:a16="http://schemas.microsoft.com/office/drawing/2014/main" id="{36062CB1-3AC4-22B1-DCE7-A5893C5C7782}"/>
              </a:ext>
            </a:extLst>
          </p:cNvPr>
          <p:cNvSpPr>
            <a:spLocks noGrp="1"/>
          </p:cNvSpPr>
          <p:nvPr>
            <p:ph sz="half" idx="2"/>
          </p:nvPr>
        </p:nvSpPr>
        <p:spPr>
          <a:xfrm>
            <a:off x="4587467" y="1837137"/>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 xmlns:a16="http://schemas.microsoft.com/office/drawing/2014/main" id="{CCC01C14-06F9-F459-ED47-A434C969E14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 xmlns:a16="http://schemas.microsoft.com/office/drawing/2014/main" id="{78374982-25D1-3E6C-8050-8B8CD53792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FAF0BCB-8C9A-3467-D5E7-2EE6C7ECD5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8" name="Picture 7">
            <a:extLst>
              <a:ext uri="{FF2B5EF4-FFF2-40B4-BE49-F238E27FC236}">
                <a16:creationId xmlns="" xmlns:a16="http://schemas.microsoft.com/office/drawing/2014/main" id="{8D60EAFD-1A01-2480-7D26-DE7E97FF43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9" name="Picture 8">
            <a:extLst>
              <a:ext uri="{FF2B5EF4-FFF2-40B4-BE49-F238E27FC236}">
                <a16:creationId xmlns="" xmlns:a16="http://schemas.microsoft.com/office/drawing/2014/main" id="{F701461B-2F98-2033-8BED-3AA6D5C0AD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10" name="Picture 9">
            <a:extLst>
              <a:ext uri="{FF2B5EF4-FFF2-40B4-BE49-F238E27FC236}">
                <a16:creationId xmlns="" xmlns:a16="http://schemas.microsoft.com/office/drawing/2014/main" id="{66D84F06-D6C0-6410-0CCD-A77C371370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677411" cy="864555"/>
          </a:xfrm>
          <a:prstGeom prst="rect">
            <a:avLst/>
          </a:prstGeom>
        </p:spPr>
      </p:pic>
      <p:sp>
        <p:nvSpPr>
          <p:cNvPr id="11" name="Title 1">
            <a:extLst>
              <a:ext uri="{FF2B5EF4-FFF2-40B4-BE49-F238E27FC236}">
                <a16:creationId xmlns="" xmlns:a16="http://schemas.microsoft.com/office/drawing/2014/main" id="{00F5A6D1-4A64-F098-608E-B0ADF44A1677}"/>
              </a:ext>
            </a:extLst>
          </p:cNvPr>
          <p:cNvSpPr>
            <a:spLocks noGrp="1"/>
          </p:cNvSpPr>
          <p:nvPr>
            <p:ph type="title"/>
          </p:nvPr>
        </p:nvSpPr>
        <p:spPr>
          <a:xfrm>
            <a:off x="468735" y="302442"/>
            <a:ext cx="7886700" cy="1163894"/>
          </a:xfrm>
          <a:prstGeom prst="rect">
            <a:avLst/>
          </a:prstGeom>
          <a:solidFill>
            <a:schemeClr val="accent1">
              <a:lumMod val="75000"/>
            </a:schemeClr>
          </a:solidFill>
        </p:spPr>
        <p:txBody>
          <a:bodyPr/>
          <a:lstStyle>
            <a:lvl1pPr>
              <a:defRPr>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2803782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FC0AB8B0-06F2-DB52-04AB-F02DA7B11DFB}"/>
              </a:ext>
            </a:extLst>
          </p:cNvPr>
          <p:cNvSpPr>
            <a:spLocks noGrp="1"/>
          </p:cNvSpPr>
          <p:nvPr>
            <p:ph type="body" idx="1"/>
          </p:nvPr>
        </p:nvSpPr>
        <p:spPr>
          <a:xfrm>
            <a:off x="468736" y="1668110"/>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a:extLst>
              <a:ext uri="{FF2B5EF4-FFF2-40B4-BE49-F238E27FC236}">
                <a16:creationId xmlns="" xmlns:a16="http://schemas.microsoft.com/office/drawing/2014/main" id="{EC88DEEA-DA8B-FC52-FDD9-8200159A8956}"/>
              </a:ext>
            </a:extLst>
          </p:cNvPr>
          <p:cNvSpPr>
            <a:spLocks noGrp="1"/>
          </p:cNvSpPr>
          <p:nvPr>
            <p:ph sz="half" idx="2"/>
          </p:nvPr>
        </p:nvSpPr>
        <p:spPr>
          <a:xfrm>
            <a:off x="468735"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a:extLst>
              <a:ext uri="{FF2B5EF4-FFF2-40B4-BE49-F238E27FC236}">
                <a16:creationId xmlns="" xmlns:a16="http://schemas.microsoft.com/office/drawing/2014/main" id="{3AE4519B-3D99-83B0-5B61-E8A4427B74E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a:extLst>
              <a:ext uri="{FF2B5EF4-FFF2-40B4-BE49-F238E27FC236}">
                <a16:creationId xmlns="" xmlns:a16="http://schemas.microsoft.com/office/drawing/2014/main" id="{A191CA51-F1D4-6F06-ECEF-B59DFF5638DA}"/>
              </a:ext>
            </a:extLst>
          </p:cNvPr>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 xmlns:a16="http://schemas.microsoft.com/office/drawing/2014/main" id="{95F6BFAF-CFA5-24F2-E8FB-03BC14CEE132}"/>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 xmlns:a16="http://schemas.microsoft.com/office/drawing/2014/main" id="{87304055-AA3A-1F91-6FAB-BD52D736E3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D64AB7D3-B715-9C10-CD4C-35FFF94AC32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r>
              <a:rPr lang="en-US" smtClean="0"/>
              <a:t> </a:t>
            </a:r>
            <a:endParaRPr lang="en-US"/>
          </a:p>
        </p:txBody>
      </p:sp>
      <p:pic>
        <p:nvPicPr>
          <p:cNvPr id="10" name="Picture 9">
            <a:extLst>
              <a:ext uri="{FF2B5EF4-FFF2-40B4-BE49-F238E27FC236}">
                <a16:creationId xmlns="" xmlns:a16="http://schemas.microsoft.com/office/drawing/2014/main" id="{5BCD3CED-3855-7AF7-0B7E-F919A17123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11" name="Picture 10">
            <a:extLst>
              <a:ext uri="{FF2B5EF4-FFF2-40B4-BE49-F238E27FC236}">
                <a16:creationId xmlns="" xmlns:a16="http://schemas.microsoft.com/office/drawing/2014/main" id="{9D68D5EA-20FA-8E15-5EDA-6497BF780C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12" name="Picture 11">
            <a:extLst>
              <a:ext uri="{FF2B5EF4-FFF2-40B4-BE49-F238E27FC236}">
                <a16:creationId xmlns="" xmlns:a16="http://schemas.microsoft.com/office/drawing/2014/main" id="{A55B57C5-1740-C272-7DC5-DC75E71C17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677411" cy="864555"/>
          </a:xfrm>
          <a:prstGeom prst="rect">
            <a:avLst/>
          </a:prstGeom>
        </p:spPr>
      </p:pic>
      <p:sp>
        <p:nvSpPr>
          <p:cNvPr id="13" name="Title 1">
            <a:extLst>
              <a:ext uri="{FF2B5EF4-FFF2-40B4-BE49-F238E27FC236}">
                <a16:creationId xmlns="" xmlns:a16="http://schemas.microsoft.com/office/drawing/2014/main" id="{00F5A6D1-4A64-F098-608E-B0ADF44A1677}"/>
              </a:ext>
            </a:extLst>
          </p:cNvPr>
          <p:cNvSpPr>
            <a:spLocks noGrp="1"/>
          </p:cNvSpPr>
          <p:nvPr>
            <p:ph type="title"/>
          </p:nvPr>
        </p:nvSpPr>
        <p:spPr>
          <a:xfrm>
            <a:off x="468735" y="302442"/>
            <a:ext cx="7886700" cy="1163894"/>
          </a:xfrm>
          <a:prstGeom prst="rect">
            <a:avLst/>
          </a:prstGeom>
          <a:solidFill>
            <a:schemeClr val="accent1">
              <a:lumMod val="75000"/>
            </a:schemeClr>
          </a:solidFill>
        </p:spPr>
        <p:txBody>
          <a:bodyPr/>
          <a:lstStyle>
            <a:lvl1pPr>
              <a:defRPr>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2878187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 xmlns:a16="http://schemas.microsoft.com/office/drawing/2014/main" id="{D1EEC18B-8502-02C1-48EF-636736B320F9}"/>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 xmlns:a16="http://schemas.microsoft.com/office/drawing/2014/main" id="{7EAA7E37-2088-BBDA-86E7-E38ADB2C2F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EB4ADDFA-D259-19DF-D997-370EC0CC05A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6" name="Picture 5">
            <a:extLst>
              <a:ext uri="{FF2B5EF4-FFF2-40B4-BE49-F238E27FC236}">
                <a16:creationId xmlns="" xmlns:a16="http://schemas.microsoft.com/office/drawing/2014/main" id="{87693E5A-E0FC-0F83-9FAB-415FD27BC6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7" name="Picture 6">
            <a:extLst>
              <a:ext uri="{FF2B5EF4-FFF2-40B4-BE49-F238E27FC236}">
                <a16:creationId xmlns="" xmlns:a16="http://schemas.microsoft.com/office/drawing/2014/main" id="{5148B976-C71F-C284-33CC-ABD7FEC62D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sp>
        <p:nvSpPr>
          <p:cNvPr id="9" name="Title 1">
            <a:extLst>
              <a:ext uri="{FF2B5EF4-FFF2-40B4-BE49-F238E27FC236}">
                <a16:creationId xmlns="" xmlns:a16="http://schemas.microsoft.com/office/drawing/2014/main" id="{00F5A6D1-4A64-F098-608E-B0ADF44A1677}"/>
              </a:ext>
            </a:extLst>
          </p:cNvPr>
          <p:cNvSpPr>
            <a:spLocks noGrp="1"/>
          </p:cNvSpPr>
          <p:nvPr>
            <p:ph type="title"/>
          </p:nvPr>
        </p:nvSpPr>
        <p:spPr>
          <a:xfrm>
            <a:off x="444021" y="302442"/>
            <a:ext cx="7886700" cy="1163894"/>
          </a:xfrm>
          <a:prstGeom prst="rect">
            <a:avLst/>
          </a:prstGeom>
          <a:solidFill>
            <a:schemeClr val="accent1">
              <a:lumMod val="75000"/>
            </a:schemeClr>
          </a:solidFill>
        </p:spPr>
        <p:txBody>
          <a:bodyPr/>
          <a:lstStyle>
            <a:lvl1pPr>
              <a:defRPr>
                <a:solidFill>
                  <a:schemeClr val="bg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132797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0FDAFE-F911-F799-0C03-60684C73BA5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 xmlns:a16="http://schemas.microsoft.com/office/drawing/2014/main" id="{D6C69565-0FA3-D759-2D22-E42D3CEA4B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B3A3E60E-B654-02CF-8DCE-24C6BC7098E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5" name="Picture 4">
            <a:extLst>
              <a:ext uri="{FF2B5EF4-FFF2-40B4-BE49-F238E27FC236}">
                <a16:creationId xmlns="" xmlns:a16="http://schemas.microsoft.com/office/drawing/2014/main" id="{0D3CBD71-9EAF-626E-8E00-81EECD2C93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6" name="Picture 5">
            <a:extLst>
              <a:ext uri="{FF2B5EF4-FFF2-40B4-BE49-F238E27FC236}">
                <a16:creationId xmlns="" xmlns:a16="http://schemas.microsoft.com/office/drawing/2014/main" id="{504FAE93-798E-D1BC-3B0C-002151112B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7" name="Picture 6">
            <a:extLst>
              <a:ext uri="{FF2B5EF4-FFF2-40B4-BE49-F238E27FC236}">
                <a16:creationId xmlns="" xmlns:a16="http://schemas.microsoft.com/office/drawing/2014/main" id="{E28D5145-711C-8DDC-0672-56C5FC1FEF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677411" cy="864555"/>
          </a:xfrm>
          <a:prstGeom prst="rect">
            <a:avLst/>
          </a:prstGeom>
        </p:spPr>
      </p:pic>
    </p:spTree>
    <p:extLst>
      <p:ext uri="{BB962C8B-B14F-4D97-AF65-F5344CB8AC3E}">
        <p14:creationId xmlns:p14="http://schemas.microsoft.com/office/powerpoint/2010/main" val="3760534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3C9905-C5A8-2388-9834-0E5D30C5958F}"/>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smtClean="0"/>
              <a:t>Click to edit Master title style</a:t>
            </a:r>
            <a:endParaRPr lang="en-US"/>
          </a:p>
        </p:txBody>
      </p:sp>
      <p:sp>
        <p:nvSpPr>
          <p:cNvPr id="3" name="Content Placeholder 2">
            <a:extLst>
              <a:ext uri="{FF2B5EF4-FFF2-40B4-BE49-F238E27FC236}">
                <a16:creationId xmlns="" xmlns:a16="http://schemas.microsoft.com/office/drawing/2014/main" id="{A893978F-A35A-072F-BC14-58E3399FC3F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 xmlns:a16="http://schemas.microsoft.com/office/drawing/2014/main" id="{35F6A228-1C46-A1C6-8406-23E4CF225B0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59DA2E27-2D20-59E5-2F69-47686E04F79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 xmlns:a16="http://schemas.microsoft.com/office/drawing/2014/main" id="{47176262-E79B-4A6F-8D25-436A931808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59A6A75-194C-3893-FE55-9E25FB15466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8" name="Picture 7">
            <a:extLst>
              <a:ext uri="{FF2B5EF4-FFF2-40B4-BE49-F238E27FC236}">
                <a16:creationId xmlns="" xmlns:a16="http://schemas.microsoft.com/office/drawing/2014/main" id="{E4F7202C-7493-9162-9501-A00659AFA3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9" name="Picture 8">
            <a:extLst>
              <a:ext uri="{FF2B5EF4-FFF2-40B4-BE49-F238E27FC236}">
                <a16:creationId xmlns="" xmlns:a16="http://schemas.microsoft.com/office/drawing/2014/main" id="{7766ED86-2755-EEB0-BD1B-9499D483DB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spTree>
    <p:extLst>
      <p:ext uri="{BB962C8B-B14F-4D97-AF65-F5344CB8AC3E}">
        <p14:creationId xmlns:p14="http://schemas.microsoft.com/office/powerpoint/2010/main" val="176100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DBE144-BCF8-98B5-30B3-4652C9FD7945}"/>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smtClean="0"/>
              <a:t>Click to edit Master title style</a:t>
            </a:r>
            <a:endParaRPr lang="en-US"/>
          </a:p>
        </p:txBody>
      </p:sp>
      <p:sp>
        <p:nvSpPr>
          <p:cNvPr id="3" name="Picture Placeholder 2">
            <a:extLst>
              <a:ext uri="{FF2B5EF4-FFF2-40B4-BE49-F238E27FC236}">
                <a16:creationId xmlns="" xmlns:a16="http://schemas.microsoft.com/office/drawing/2014/main" id="{4C32A319-5759-F04D-144A-D418722C3D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a:extLst>
              <a:ext uri="{FF2B5EF4-FFF2-40B4-BE49-F238E27FC236}">
                <a16:creationId xmlns="" xmlns:a16="http://schemas.microsoft.com/office/drawing/2014/main" id="{C2D92E1D-C028-D38F-77B5-65D5A6BC197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A22E43C1-14C2-9F5A-26BA-7CB79E8939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 xmlns:a16="http://schemas.microsoft.com/office/drawing/2014/main" id="{6E00B85A-BB57-0541-2EBD-4E53FC155D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01FB162D-794F-C3D1-CF87-BAB558CDDC0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8" name="Picture 7">
            <a:extLst>
              <a:ext uri="{FF2B5EF4-FFF2-40B4-BE49-F238E27FC236}">
                <a16:creationId xmlns="" xmlns:a16="http://schemas.microsoft.com/office/drawing/2014/main" id="{DA47C5B4-1E79-2485-3620-5A418952FD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9" name="Picture 8">
            <a:extLst>
              <a:ext uri="{FF2B5EF4-FFF2-40B4-BE49-F238E27FC236}">
                <a16:creationId xmlns="" xmlns:a16="http://schemas.microsoft.com/office/drawing/2014/main" id="{00A9EE8C-6F93-C887-7220-5698DB5255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spTree>
    <p:extLst>
      <p:ext uri="{BB962C8B-B14F-4D97-AF65-F5344CB8AC3E}">
        <p14:creationId xmlns:p14="http://schemas.microsoft.com/office/powerpoint/2010/main" val="3738438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07C2BA-B50E-DF40-BCEF-2C405D8B335D}"/>
              </a:ext>
            </a:extLst>
          </p:cNvPr>
          <p:cNvSpPr>
            <a:spLocks noGrp="1"/>
          </p:cNvSpPr>
          <p:nvPr>
            <p:ph type="title"/>
          </p:nvPr>
        </p:nvSpPr>
        <p:spPr>
          <a:xfrm>
            <a:off x="628650" y="365126"/>
            <a:ext cx="7886700" cy="1325563"/>
          </a:xfrm>
          <a:prstGeom prst="rect">
            <a:avLst/>
          </a:prstGeom>
        </p:spPr>
        <p:txBody>
          <a:bodyPr/>
          <a:lstStyle/>
          <a:p>
            <a:r>
              <a:rPr lang="en-US" smtClean="0"/>
              <a:t>Click to edit Master title style</a:t>
            </a:r>
            <a:endParaRPr lang="en-US"/>
          </a:p>
        </p:txBody>
      </p:sp>
      <p:sp>
        <p:nvSpPr>
          <p:cNvPr id="3" name="Vertical Text Placeholder 2">
            <a:extLst>
              <a:ext uri="{FF2B5EF4-FFF2-40B4-BE49-F238E27FC236}">
                <a16:creationId xmlns="" xmlns:a16="http://schemas.microsoft.com/office/drawing/2014/main" id="{CDEEDE40-0B31-8B91-A055-9495E9D036F8}"/>
              </a:ext>
            </a:extLst>
          </p:cNvPr>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 xmlns:a16="http://schemas.microsoft.com/office/drawing/2014/main" id="{D1B87E89-A9E8-4655-E40F-9AE338D3048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 xmlns:a16="http://schemas.microsoft.com/office/drawing/2014/main" id="{D848540C-DEBA-333D-5BFB-B0503B004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658D7E4-B646-EAD3-3B0C-682D7C2CAAB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a:extLst>
              <a:ext uri="{FF2B5EF4-FFF2-40B4-BE49-F238E27FC236}">
                <a16:creationId xmlns="" xmlns:a16="http://schemas.microsoft.com/office/drawing/2014/main" id="{CC28A771-100D-0DBD-5735-E6CFE6CFF3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8" name="Picture 7">
            <a:extLst>
              <a:ext uri="{FF2B5EF4-FFF2-40B4-BE49-F238E27FC236}">
                <a16:creationId xmlns="" xmlns:a16="http://schemas.microsoft.com/office/drawing/2014/main" id="{AB360BCF-B9A7-C4D6-2FDE-B10227D467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9" name="Picture 8">
            <a:extLst>
              <a:ext uri="{FF2B5EF4-FFF2-40B4-BE49-F238E27FC236}">
                <a16:creationId xmlns="" xmlns:a16="http://schemas.microsoft.com/office/drawing/2014/main" id="{501C9499-BA55-CD71-BF22-C8DD9A624C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677411" cy="864555"/>
          </a:xfrm>
          <a:prstGeom prst="rect">
            <a:avLst/>
          </a:prstGeom>
        </p:spPr>
      </p:pic>
    </p:spTree>
    <p:extLst>
      <p:ext uri="{BB962C8B-B14F-4D97-AF65-F5344CB8AC3E}">
        <p14:creationId xmlns:p14="http://schemas.microsoft.com/office/powerpoint/2010/main" val="381480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3944CCD-A81A-3B41-F73A-690AF399474E}"/>
              </a:ext>
            </a:extLst>
          </p:cNvPr>
          <p:cNvSpPr>
            <a:spLocks noGrp="1"/>
          </p:cNvSpPr>
          <p:nvPr>
            <p:ph type="title" orient="vert"/>
          </p:nvPr>
        </p:nvSpPr>
        <p:spPr>
          <a:xfrm>
            <a:off x="6543675" y="365125"/>
            <a:ext cx="1971675" cy="5811838"/>
          </a:xfrm>
          <a:prstGeom prst="rect">
            <a:avLst/>
          </a:prstGeom>
        </p:spPr>
        <p:txBody>
          <a:bodyPr vert="eaVert"/>
          <a:lstStyle/>
          <a:p>
            <a:r>
              <a:rPr lang="en-US" smtClean="0"/>
              <a:t>Click to edit Master title style</a:t>
            </a:r>
            <a:endParaRPr lang="en-US"/>
          </a:p>
        </p:txBody>
      </p:sp>
      <p:sp>
        <p:nvSpPr>
          <p:cNvPr id="3" name="Vertical Text Placeholder 2">
            <a:extLst>
              <a:ext uri="{FF2B5EF4-FFF2-40B4-BE49-F238E27FC236}">
                <a16:creationId xmlns="" xmlns:a16="http://schemas.microsoft.com/office/drawing/2014/main" id="{BFAABC06-3980-9FF0-27FB-E9A984F5ED93}"/>
              </a:ext>
            </a:extLst>
          </p:cNvPr>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 xmlns:a16="http://schemas.microsoft.com/office/drawing/2014/main" id="{0B4A80E4-5EA5-B25C-781A-34856E0C608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 xmlns:a16="http://schemas.microsoft.com/office/drawing/2014/main" id="{CBC5EEBC-11FC-4EF9-6B8D-FA7D3097B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414E6A1-4720-7B48-8565-15AC9D88552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a:extLst>
              <a:ext uri="{FF2B5EF4-FFF2-40B4-BE49-F238E27FC236}">
                <a16:creationId xmlns="" xmlns:a16="http://schemas.microsoft.com/office/drawing/2014/main" id="{FB9B5DDD-33AE-16F3-0908-9315F286E0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pic>
        <p:nvPicPr>
          <p:cNvPr id="8" name="Picture 7">
            <a:extLst>
              <a:ext uri="{FF2B5EF4-FFF2-40B4-BE49-F238E27FC236}">
                <a16:creationId xmlns="" xmlns:a16="http://schemas.microsoft.com/office/drawing/2014/main" id="{5E966678-650C-5102-97B5-AD230F927A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7" y="6014906"/>
            <a:ext cx="649506" cy="863032"/>
          </a:xfrm>
          <a:prstGeom prst="rect">
            <a:avLst/>
          </a:prstGeom>
        </p:spPr>
      </p:pic>
      <p:pic>
        <p:nvPicPr>
          <p:cNvPr id="9" name="Picture 8">
            <a:extLst>
              <a:ext uri="{FF2B5EF4-FFF2-40B4-BE49-F238E27FC236}">
                <a16:creationId xmlns="" xmlns:a16="http://schemas.microsoft.com/office/drawing/2014/main" id="{83027087-1752-352F-6AC2-50F570BF14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5435" y="100669"/>
            <a:ext cx="677411" cy="864555"/>
          </a:xfrm>
          <a:prstGeom prst="rect">
            <a:avLst/>
          </a:prstGeom>
        </p:spPr>
      </p:pic>
    </p:spTree>
    <p:extLst>
      <p:ext uri="{BB962C8B-B14F-4D97-AF65-F5344CB8AC3E}">
        <p14:creationId xmlns:p14="http://schemas.microsoft.com/office/powerpoint/2010/main" val="421635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1_Two Content">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964122" y="158376"/>
            <a:ext cx="6790267" cy="1371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5" name="Google Shape;25;p17"/>
          <p:cNvSpPr txBox="1">
            <a:spLocks noGrp="1"/>
          </p:cNvSpPr>
          <p:nvPr>
            <p:ph type="body" idx="1"/>
          </p:nvPr>
        </p:nvSpPr>
        <p:spPr>
          <a:xfrm>
            <a:off x="982133" y="1676400"/>
            <a:ext cx="3739896" cy="4359274"/>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26" name="Google Shape;26;p17"/>
          <p:cNvSpPr txBox="1">
            <a:spLocks noGrp="1"/>
          </p:cNvSpPr>
          <p:nvPr>
            <p:ph type="body" idx="2"/>
          </p:nvPr>
        </p:nvSpPr>
        <p:spPr>
          <a:xfrm>
            <a:off x="4946904" y="1676400"/>
            <a:ext cx="3739896" cy="4337424"/>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27" name="Google Shape;27;p17"/>
          <p:cNvSpPr txBox="1">
            <a:spLocks noGrp="1"/>
          </p:cNvSpPr>
          <p:nvPr>
            <p:ph type="dt" idx="10"/>
          </p:nvPr>
        </p:nvSpPr>
        <p:spPr>
          <a:xfrm>
            <a:off x="7385364" y="6479247"/>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7"/>
          <p:cNvSpPr txBox="1">
            <a:spLocks noGrp="1"/>
          </p:cNvSpPr>
          <p:nvPr>
            <p:ph type="ftr" idx="11"/>
          </p:nvPr>
        </p:nvSpPr>
        <p:spPr>
          <a:xfrm>
            <a:off x="1130316" y="6492875"/>
            <a:ext cx="62283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7"/>
          <p:cNvSpPr txBox="1">
            <a:spLocks noGrp="1"/>
          </p:cNvSpPr>
          <p:nvPr>
            <p:ph type="sldNum" idx="12"/>
          </p:nvPr>
        </p:nvSpPr>
        <p:spPr>
          <a:xfrm>
            <a:off x="8245608" y="6479246"/>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24386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D11AA00C-5F55-01DB-743E-662E68F5AC4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 xmlns:a16="http://schemas.microsoft.com/office/drawing/2014/main" id="{3767A045-FF6A-DB99-1731-FC67FE769A7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latin typeface="Calibri Light (Headings)"/>
              </a:defRPr>
            </a:lvl1pPr>
          </a:lstStyle>
          <a:p>
            <a:endParaRPr lang="en-US"/>
          </a:p>
        </p:txBody>
      </p:sp>
      <p:sp>
        <p:nvSpPr>
          <p:cNvPr id="5" name="Footer Placeholder 4">
            <a:extLst>
              <a:ext uri="{FF2B5EF4-FFF2-40B4-BE49-F238E27FC236}">
                <a16:creationId xmlns="" xmlns:a16="http://schemas.microsoft.com/office/drawing/2014/main" id="{466A1143-19AB-3B74-6461-318B9F01771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latin typeface="Calibri Light (Headings)"/>
              </a:defRPr>
            </a:lvl1pPr>
          </a:lstStyle>
          <a:p>
            <a:endParaRPr lang="en-US"/>
          </a:p>
        </p:txBody>
      </p:sp>
      <p:sp>
        <p:nvSpPr>
          <p:cNvPr id="6" name="Slide Number Placeholder 5">
            <a:extLst>
              <a:ext uri="{FF2B5EF4-FFF2-40B4-BE49-F238E27FC236}">
                <a16:creationId xmlns="" xmlns:a16="http://schemas.microsoft.com/office/drawing/2014/main" id="{53AC2373-932A-F0B1-EDA4-BF630CC7357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latin typeface="Calibri Light (Headings)"/>
              </a:defRPr>
            </a:lvl1pPr>
          </a:lstStyle>
          <a:p>
            <a:fld id="{00000000-1234-1234-1234-123412341234}" type="slidenum">
              <a:rPr lang="en-US" smtClean="0"/>
              <a:pPr/>
              <a:t>‹#›</a:t>
            </a:fld>
            <a:endParaRPr lang="en-US"/>
          </a:p>
        </p:txBody>
      </p:sp>
      <p:pic>
        <p:nvPicPr>
          <p:cNvPr id="7" name="Picture 6">
            <a:extLst>
              <a:ext uri="{FF2B5EF4-FFF2-40B4-BE49-F238E27FC236}">
                <a16:creationId xmlns="" xmlns:a16="http://schemas.microsoft.com/office/drawing/2014/main" id="{96C8557A-C4C0-F65D-58A7-65DD059CB69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355435" y="100669"/>
            <a:ext cx="788565" cy="864555"/>
          </a:xfrm>
          <a:prstGeom prst="rect">
            <a:avLst/>
          </a:prstGeom>
        </p:spPr>
      </p:pic>
    </p:spTree>
    <p:extLst>
      <p:ext uri="{BB962C8B-B14F-4D97-AF65-F5344CB8AC3E}">
        <p14:creationId xmlns:p14="http://schemas.microsoft.com/office/powerpoint/2010/main" val="50061756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libri Light (Headings)"/>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libri Light (Headings)"/>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libri Light (Headings)"/>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libri Light (Headings)"/>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libri Light (Headings)"/>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
          <p:cNvSpPr txBox="1">
            <a:spLocks noGrp="1"/>
          </p:cNvSpPr>
          <p:nvPr>
            <p:ph type="title"/>
          </p:nvPr>
        </p:nvSpPr>
        <p:spPr>
          <a:xfrm>
            <a:off x="457200" y="1681055"/>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4400" b="1" dirty="0">
                <a:solidFill>
                  <a:srgbClr val="002060"/>
                </a:solidFill>
                <a:latin typeface="Arial"/>
                <a:ea typeface="Arial"/>
                <a:cs typeface="Arial"/>
                <a:sym typeface="Arial"/>
              </a:rPr>
              <a:t>Cryptanalysis</a:t>
            </a:r>
            <a:endParaRPr dirty="0"/>
          </a:p>
        </p:txBody>
      </p:sp>
      <p:sp>
        <p:nvSpPr>
          <p:cNvPr id="151" name="Google Shape;151;p1"/>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52" name="Google Shape;152;p1"/>
          <p:cNvSpPr/>
          <p:nvPr/>
        </p:nvSpPr>
        <p:spPr>
          <a:xfrm>
            <a:off x="2699393" y="5012371"/>
            <a:ext cx="5019774"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dirty="0">
                <a:solidFill>
                  <a:schemeClr val="dk1"/>
                </a:solidFill>
                <a:latin typeface="Arial"/>
                <a:ea typeface="Arial"/>
                <a:cs typeface="Arial"/>
                <a:sym typeface="Arial"/>
              </a:rPr>
              <a:t>Prepared by:</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Dr. Muhammad Iqbal Hossain</a:t>
            </a:r>
            <a:endParaRPr dirty="0"/>
          </a:p>
          <a:p>
            <a:pPr marL="0" marR="0" lvl="0" indent="0" algn="l" rtl="0">
              <a:spcBef>
                <a:spcPts val="0"/>
              </a:spcBef>
              <a:spcAft>
                <a:spcPts val="0"/>
              </a:spcAft>
              <a:buNone/>
            </a:pPr>
            <a:r>
              <a:rPr lang="en-US" sz="2000" dirty="0" smtClean="0">
                <a:solidFill>
                  <a:schemeClr val="dk1"/>
                </a:solidFill>
                <a:latin typeface="Arial"/>
                <a:ea typeface="Arial"/>
                <a:cs typeface="Arial"/>
                <a:sym typeface="Arial"/>
              </a:rPr>
              <a:t>Associate </a:t>
            </a:r>
            <a:r>
              <a:rPr lang="en-US" sz="2000" dirty="0">
                <a:solidFill>
                  <a:schemeClr val="dk1"/>
                </a:solidFill>
                <a:latin typeface="Arial"/>
                <a:ea typeface="Arial"/>
                <a:cs typeface="Arial"/>
                <a:sym typeface="Arial"/>
              </a:rPr>
              <a:t>Professor</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Department of CSE</a:t>
            </a:r>
            <a:r>
              <a:rPr lang="en-US" sz="2000">
                <a:solidFill>
                  <a:schemeClr val="dk1"/>
                </a:solidFill>
                <a:latin typeface="Arial"/>
                <a:ea typeface="Arial"/>
                <a:cs typeface="Arial"/>
                <a:sym typeface="Arial"/>
              </a:rPr>
              <a:t>, </a:t>
            </a:r>
            <a:r>
              <a:rPr lang="en-US" sz="2000" smtClean="0">
                <a:solidFill>
                  <a:schemeClr val="dk1"/>
                </a:solidFill>
                <a:latin typeface="Arial"/>
                <a:ea typeface="Arial"/>
                <a:cs typeface="Arial"/>
                <a:sym typeface="Arial"/>
              </a:rPr>
              <a:t>BRAC </a:t>
            </a:r>
            <a:r>
              <a:rPr lang="en-US" sz="2000" dirty="0">
                <a:solidFill>
                  <a:schemeClr val="dk1"/>
                </a:solidFill>
                <a:latin typeface="Arial"/>
                <a:ea typeface="Arial"/>
                <a:cs typeface="Arial"/>
                <a:sym typeface="Arial"/>
              </a:rPr>
              <a:t>University</a:t>
            </a:r>
            <a:endParaRPr dirty="0"/>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dirty="0" smtClean="0">
                <a:solidFill>
                  <a:srgbClr val="002060"/>
                </a:solidFill>
                <a:latin typeface="Arial"/>
                <a:ea typeface="Arial"/>
                <a:cs typeface="Arial"/>
                <a:sym typeface="Arial"/>
              </a:rPr>
              <a:t>Cryptanalysis</a:t>
            </a:r>
            <a:endParaRPr dirty="0"/>
          </a:p>
        </p:txBody>
      </p:sp>
      <p:sp>
        <p:nvSpPr>
          <p:cNvPr id="159" name="Google Shape;159;p2"/>
          <p:cNvSpPr txBox="1">
            <a:spLocks noGrp="1"/>
          </p:cNvSpPr>
          <p:nvPr>
            <p:ph type="body" idx="1"/>
          </p:nvPr>
        </p:nvSpPr>
        <p:spPr>
          <a:xfrm>
            <a:off x="774441" y="1155523"/>
            <a:ext cx="7655409" cy="4980233"/>
          </a:xfrm>
          <a:prstGeom prst="rect">
            <a:avLst/>
          </a:prstGeom>
          <a:noFill/>
          <a:ln>
            <a:noFill/>
          </a:ln>
        </p:spPr>
        <p:txBody>
          <a:bodyPr spcFirstLastPara="1" wrap="square" lIns="91425" tIns="45700" rIns="91425" bIns="45700" anchor="ctr" anchorCtr="0">
            <a:noAutofit/>
          </a:bodyPr>
          <a:lstStyle/>
          <a:p>
            <a:pPr marL="285750" lvl="0" indent="-285750" algn="l" rtl="0">
              <a:spcBef>
                <a:spcPts val="0"/>
              </a:spcBef>
              <a:spcAft>
                <a:spcPts val="0"/>
              </a:spcAft>
              <a:buSzPts val="3480"/>
              <a:buChar char="•"/>
            </a:pPr>
            <a:r>
              <a:rPr lang="en-US" sz="2400" dirty="0"/>
              <a:t>Cryptography - study of encryption principles/methods.</a:t>
            </a:r>
            <a:endParaRPr dirty="0"/>
          </a:p>
          <a:p>
            <a:pPr marL="285750" lvl="0" indent="-285750" algn="l" rtl="0">
              <a:spcBef>
                <a:spcPts val="1080"/>
              </a:spcBef>
              <a:spcAft>
                <a:spcPts val="0"/>
              </a:spcAft>
              <a:buSzPts val="3480"/>
              <a:buChar char="•"/>
            </a:pPr>
            <a:r>
              <a:rPr lang="en-US" sz="2400" dirty="0"/>
              <a:t>Cryptanalysis (code breaking) - study of principles/methods of deciphering </a:t>
            </a:r>
            <a:r>
              <a:rPr lang="en-US" sz="2400" dirty="0" err="1"/>
              <a:t>ciphertext</a:t>
            </a:r>
            <a:r>
              <a:rPr lang="en-US" sz="2400" dirty="0"/>
              <a:t> without knowing key.</a:t>
            </a:r>
            <a:endParaRPr dirty="0"/>
          </a:p>
          <a:p>
            <a:pPr marL="285750" lvl="0" indent="-285750" algn="l" rtl="0">
              <a:spcBef>
                <a:spcPts val="1080"/>
              </a:spcBef>
              <a:spcAft>
                <a:spcPts val="0"/>
              </a:spcAft>
              <a:buSzPts val="3480"/>
              <a:buChar char="•"/>
            </a:pPr>
            <a:r>
              <a:rPr lang="en-US" sz="2400" dirty="0"/>
              <a:t>Cryptographic systems are generically classified along three independent dimensions.</a:t>
            </a:r>
            <a:endParaRPr dirty="0"/>
          </a:p>
          <a:p>
            <a:pPr marL="285750" lvl="0" indent="-120015" algn="l" rtl="0">
              <a:spcBef>
                <a:spcPts val="960"/>
              </a:spcBef>
              <a:spcAft>
                <a:spcPts val="0"/>
              </a:spcAft>
              <a:buSzPts val="2610"/>
              <a:buNone/>
            </a:pPr>
            <a:endParaRPr dirty="0"/>
          </a:p>
        </p:txBody>
      </p:sp>
      <p:sp>
        <p:nvSpPr>
          <p:cNvPr id="160" name="Google Shape;160;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dirty="0" smtClean="0">
                <a:solidFill>
                  <a:srgbClr val="002060"/>
                </a:solidFill>
                <a:latin typeface="Arial"/>
                <a:ea typeface="Arial"/>
                <a:cs typeface="Arial"/>
                <a:sym typeface="Arial"/>
              </a:rPr>
              <a:t>How to attack</a:t>
            </a:r>
            <a:endParaRPr dirty="0"/>
          </a:p>
        </p:txBody>
      </p:sp>
      <p:sp>
        <p:nvSpPr>
          <p:cNvPr id="159" name="Google Shape;159;p2"/>
          <p:cNvSpPr txBox="1">
            <a:spLocks noGrp="1"/>
          </p:cNvSpPr>
          <p:nvPr>
            <p:ph type="body" idx="1"/>
          </p:nvPr>
        </p:nvSpPr>
        <p:spPr>
          <a:xfrm>
            <a:off x="774441" y="1155523"/>
            <a:ext cx="7655409" cy="4980233"/>
          </a:xfrm>
          <a:prstGeom prst="rect">
            <a:avLst/>
          </a:prstGeom>
          <a:noFill/>
          <a:ln>
            <a:noFill/>
          </a:ln>
        </p:spPr>
        <p:txBody>
          <a:bodyPr spcFirstLastPara="1" wrap="square" lIns="91425" tIns="45700" rIns="91425" bIns="45700" anchor="ctr" anchorCtr="0">
            <a:noAutofit/>
          </a:bodyPr>
          <a:lstStyle/>
          <a:p>
            <a:pPr marL="285750" lvl="0" indent="-285750" algn="l" rtl="0">
              <a:spcBef>
                <a:spcPts val="0"/>
              </a:spcBef>
              <a:spcAft>
                <a:spcPts val="0"/>
              </a:spcAft>
              <a:buSzPts val="3480"/>
              <a:buChar char="•"/>
            </a:pPr>
            <a:r>
              <a:rPr lang="en-US" sz="2400" dirty="0" smtClean="0"/>
              <a:t>Brute force attack</a:t>
            </a:r>
            <a:endParaRPr dirty="0"/>
          </a:p>
          <a:p>
            <a:pPr marL="285750" lvl="0" indent="-285750" algn="l" rtl="0">
              <a:spcBef>
                <a:spcPts val="1080"/>
              </a:spcBef>
              <a:spcAft>
                <a:spcPts val="0"/>
              </a:spcAft>
              <a:buSzPts val="3480"/>
              <a:buChar char="•"/>
            </a:pPr>
            <a:r>
              <a:rPr lang="en-US" sz="2400" dirty="0" smtClean="0"/>
              <a:t>Cryptanalysis</a:t>
            </a:r>
          </a:p>
          <a:p>
            <a:pPr marL="285750" lvl="0" indent="-285750" algn="l" rtl="0">
              <a:spcBef>
                <a:spcPts val="1080"/>
              </a:spcBef>
              <a:spcAft>
                <a:spcPts val="0"/>
              </a:spcAft>
              <a:buSzPts val="3480"/>
              <a:buChar char="•"/>
            </a:pPr>
            <a:r>
              <a:rPr lang="en-US" sz="2400" dirty="0" smtClean="0"/>
              <a:t>Side channel analysis</a:t>
            </a:r>
            <a:endParaRPr dirty="0"/>
          </a:p>
        </p:txBody>
      </p:sp>
      <p:sp>
        <p:nvSpPr>
          <p:cNvPr id="160" name="Google Shape;160;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extLst>
      <p:ext uri="{BB962C8B-B14F-4D97-AF65-F5344CB8AC3E}">
        <p14:creationId xmlns:p14="http://schemas.microsoft.com/office/powerpoint/2010/main" val="13822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167" name="Google Shape;167;p3"/>
          <p:cNvSpPr txBox="1">
            <a:spLocks noGrp="1"/>
          </p:cNvSpPr>
          <p:nvPr>
            <p:ph type="body" idx="1"/>
          </p:nvPr>
        </p:nvSpPr>
        <p:spPr>
          <a:xfrm>
            <a:off x="457200" y="1219288"/>
            <a:ext cx="8121489" cy="49803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5B0505"/>
              </a:buClr>
              <a:buSzPts val="2400"/>
              <a:buNone/>
            </a:pPr>
            <a:r>
              <a:rPr lang="en-US" sz="2400" b="1" dirty="0">
                <a:solidFill>
                  <a:srgbClr val="5B0505"/>
                </a:solidFill>
              </a:rPr>
              <a:t>The type of operations used for transforming plaintext to </a:t>
            </a:r>
            <a:r>
              <a:rPr lang="en-US" sz="2400" b="1" dirty="0" err="1">
                <a:solidFill>
                  <a:srgbClr val="5B0505"/>
                </a:solidFill>
              </a:rPr>
              <a:t>ciphertext</a:t>
            </a:r>
            <a:r>
              <a:rPr lang="en-US" sz="2400" b="1" dirty="0" smtClean="0">
                <a:solidFill>
                  <a:srgbClr val="5B0505"/>
                </a:solidFill>
              </a:rPr>
              <a:t>.</a:t>
            </a:r>
          </a:p>
          <a:p>
            <a:pPr marL="0" lvl="0" indent="0" algn="l" rtl="0">
              <a:spcBef>
                <a:spcPts val="0"/>
              </a:spcBef>
              <a:spcAft>
                <a:spcPts val="0"/>
              </a:spcAft>
              <a:buClr>
                <a:srgbClr val="5B0505"/>
              </a:buClr>
              <a:buSzPts val="2400"/>
              <a:buNone/>
            </a:pPr>
            <a:endParaRPr dirty="0"/>
          </a:p>
          <a:p>
            <a:pPr marL="0" lvl="0" indent="0" algn="l" rtl="0">
              <a:spcBef>
                <a:spcPts val="1080"/>
              </a:spcBef>
              <a:spcAft>
                <a:spcPts val="0"/>
              </a:spcAft>
              <a:buSzPts val="3480"/>
              <a:buNone/>
            </a:pPr>
            <a:r>
              <a:rPr lang="en-US" sz="2400" b="1" dirty="0">
                <a:solidFill>
                  <a:srgbClr val="5B0505"/>
                </a:solidFill>
              </a:rPr>
              <a:t> </a:t>
            </a:r>
            <a:r>
              <a:rPr lang="en-US" sz="2400" b="1" dirty="0" smtClean="0">
                <a:solidFill>
                  <a:srgbClr val="5B0505"/>
                </a:solidFill>
              </a:rPr>
              <a:t>     </a:t>
            </a:r>
            <a:r>
              <a:rPr lang="en-US" sz="2200" b="1" dirty="0" smtClean="0">
                <a:solidFill>
                  <a:srgbClr val="5B0505"/>
                </a:solidFill>
              </a:rPr>
              <a:t>1.1 </a:t>
            </a:r>
            <a:r>
              <a:rPr lang="en-US" sz="2200" b="1" dirty="0">
                <a:solidFill>
                  <a:srgbClr val="5B0505"/>
                </a:solidFill>
              </a:rPr>
              <a:t>Substitution:</a:t>
            </a:r>
            <a:endParaRPr dirty="0"/>
          </a:p>
          <a:p>
            <a:pPr marL="742950" lvl="1" indent="-285750" algn="l" rtl="0">
              <a:spcBef>
                <a:spcPts val="920"/>
              </a:spcBef>
              <a:spcAft>
                <a:spcPts val="0"/>
              </a:spcAft>
              <a:buSzPts val="2320"/>
              <a:buChar char="•"/>
            </a:pPr>
            <a:r>
              <a:rPr lang="en-US" dirty="0"/>
              <a:t>Each element (bit, letter, group of bits or letters) in the plaintext is mapped into another element.</a:t>
            </a:r>
            <a:endParaRPr dirty="0"/>
          </a:p>
          <a:p>
            <a:pPr marL="457200" lvl="1" indent="0" algn="l" rtl="0">
              <a:spcBef>
                <a:spcPts val="1040"/>
              </a:spcBef>
              <a:spcAft>
                <a:spcPts val="0"/>
              </a:spcAft>
              <a:buSzPts val="3190"/>
              <a:buNone/>
            </a:pPr>
            <a:r>
              <a:rPr lang="en-US" sz="2200" b="1" dirty="0">
                <a:solidFill>
                  <a:srgbClr val="5B0505"/>
                </a:solidFill>
              </a:rPr>
              <a:t>1.2 Transposition:</a:t>
            </a:r>
            <a:endParaRPr dirty="0"/>
          </a:p>
          <a:p>
            <a:pPr marL="742950" lvl="1" indent="-285750" algn="l" rtl="0">
              <a:spcBef>
                <a:spcPts val="920"/>
              </a:spcBef>
              <a:spcAft>
                <a:spcPts val="0"/>
              </a:spcAft>
              <a:buSzPts val="2320"/>
              <a:buChar char="•"/>
            </a:pPr>
            <a:r>
              <a:rPr lang="en-US" dirty="0"/>
              <a:t>Elements in the plaintext are rearranged.</a:t>
            </a:r>
            <a:endParaRPr dirty="0"/>
          </a:p>
          <a:p>
            <a:pPr marL="742950" lvl="1" indent="-285750" algn="l" rtl="0">
              <a:spcBef>
                <a:spcPts val="920"/>
              </a:spcBef>
              <a:spcAft>
                <a:spcPts val="0"/>
              </a:spcAft>
              <a:buSzPts val="2320"/>
              <a:buChar char="•"/>
            </a:pPr>
            <a:r>
              <a:rPr lang="en-US" dirty="0"/>
              <a:t>Fundamental requirement is that no information be lost.</a:t>
            </a:r>
            <a:endParaRPr dirty="0"/>
          </a:p>
          <a:p>
            <a:pPr marL="742950" lvl="1" indent="-285750" algn="l" rtl="0">
              <a:spcBef>
                <a:spcPts val="920"/>
              </a:spcBef>
              <a:spcAft>
                <a:spcPts val="0"/>
              </a:spcAft>
              <a:buSzPts val="2320"/>
              <a:buChar char="•"/>
            </a:pPr>
            <a:r>
              <a:rPr lang="en-US" dirty="0"/>
              <a:t>Product systems involve multiple stages of substitutions and transpositions.</a:t>
            </a:r>
            <a:endParaRPr dirty="0"/>
          </a:p>
          <a:p>
            <a:pPr marL="0" lvl="0" indent="0" algn="l" rtl="0">
              <a:spcBef>
                <a:spcPts val="1080"/>
              </a:spcBef>
              <a:spcAft>
                <a:spcPts val="0"/>
              </a:spcAft>
              <a:buSzPts val="3480"/>
              <a:buNone/>
            </a:pPr>
            <a:endParaRPr sz="2400" dirty="0"/>
          </a:p>
        </p:txBody>
      </p:sp>
      <p:sp>
        <p:nvSpPr>
          <p:cNvPr id="168" name="Google Shape;168;p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4"/>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175" name="Google Shape;175;p4"/>
          <p:cNvSpPr txBox="1">
            <a:spLocks noGrp="1"/>
          </p:cNvSpPr>
          <p:nvPr>
            <p:ph type="body" idx="1"/>
          </p:nvPr>
        </p:nvSpPr>
        <p:spPr>
          <a:xfrm>
            <a:off x="905069" y="1838227"/>
            <a:ext cx="7524781" cy="4297529"/>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4640"/>
              <a:buNone/>
            </a:pPr>
            <a:r>
              <a:rPr lang="en-US" sz="3200" b="1">
                <a:solidFill>
                  <a:srgbClr val="5B0505"/>
                </a:solidFill>
              </a:rPr>
              <a:t>2. The number of keys used.</a:t>
            </a:r>
            <a:endParaRPr/>
          </a:p>
          <a:p>
            <a:pPr marL="285750" lvl="0" indent="-285750" algn="l" rtl="0">
              <a:spcBef>
                <a:spcPts val="1000"/>
              </a:spcBef>
              <a:spcAft>
                <a:spcPts val="0"/>
              </a:spcAft>
              <a:buSzPts val="2900"/>
              <a:buChar char="•"/>
            </a:pPr>
            <a:r>
              <a:rPr lang="en-US" sz="2000"/>
              <a:t>Referred to as symmetric, single-key, secret-key, or conventional encryption if both sender and receiver use the same key.</a:t>
            </a:r>
            <a:endParaRPr/>
          </a:p>
          <a:p>
            <a:pPr marL="285750" lvl="0" indent="-101600" algn="l" rtl="0">
              <a:spcBef>
                <a:spcPts val="1000"/>
              </a:spcBef>
              <a:spcAft>
                <a:spcPts val="0"/>
              </a:spcAft>
              <a:buSzPts val="2900"/>
              <a:buNone/>
            </a:pPr>
            <a:endParaRPr sz="2000">
              <a:solidFill>
                <a:srgbClr val="000000"/>
              </a:solidFill>
            </a:endParaRPr>
          </a:p>
          <a:p>
            <a:pPr marL="285750" lvl="0" indent="-285750" algn="l" rtl="0">
              <a:spcBef>
                <a:spcPts val="1000"/>
              </a:spcBef>
              <a:spcAft>
                <a:spcPts val="0"/>
              </a:spcAft>
              <a:buSzPts val="2900"/>
              <a:buChar char="•"/>
            </a:pPr>
            <a:r>
              <a:rPr lang="en-US" sz="2000"/>
              <a:t>Referred to as asymmetric, two-key, or public-key encryption if the sender and receiver each use a different key.</a:t>
            </a:r>
            <a:endParaRPr/>
          </a:p>
          <a:p>
            <a:pPr marL="285750" lvl="0" indent="-120015" algn="l" rtl="0">
              <a:spcBef>
                <a:spcPts val="960"/>
              </a:spcBef>
              <a:spcAft>
                <a:spcPts val="0"/>
              </a:spcAft>
              <a:buSzPts val="2610"/>
              <a:buNone/>
            </a:pPr>
            <a:endParaRPr>
              <a:solidFill>
                <a:srgbClr val="000000"/>
              </a:solidFill>
            </a:endParaRPr>
          </a:p>
          <a:p>
            <a:pPr marL="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a:p>
        </p:txBody>
      </p:sp>
      <p:sp>
        <p:nvSpPr>
          <p:cNvPr id="176" name="Google Shape;176;p4"/>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5"/>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183" name="Google Shape;183;p5"/>
          <p:cNvSpPr txBox="1">
            <a:spLocks noGrp="1"/>
          </p:cNvSpPr>
          <p:nvPr>
            <p:ph type="body" idx="1"/>
          </p:nvPr>
        </p:nvSpPr>
        <p:spPr>
          <a:xfrm>
            <a:off x="830424" y="1155523"/>
            <a:ext cx="7599426" cy="49802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4640"/>
              <a:buNone/>
            </a:pPr>
            <a:r>
              <a:rPr lang="en-US" sz="3200">
                <a:solidFill>
                  <a:srgbClr val="5B0505"/>
                </a:solidFill>
              </a:rPr>
              <a:t>3. The way in which the plaintext is processed.</a:t>
            </a:r>
            <a:endParaRPr/>
          </a:p>
          <a:p>
            <a:pPr marL="0" lvl="0" indent="0" algn="l" rtl="0">
              <a:spcBef>
                <a:spcPts val="1240"/>
              </a:spcBef>
              <a:spcAft>
                <a:spcPts val="0"/>
              </a:spcAft>
              <a:buSzPts val="4640"/>
              <a:buNone/>
            </a:pPr>
            <a:endParaRPr sz="3200">
              <a:solidFill>
                <a:srgbClr val="5B0505"/>
              </a:solidFill>
            </a:endParaRPr>
          </a:p>
          <a:p>
            <a:pPr marL="285750" lvl="0" indent="-298450" algn="l" rtl="0">
              <a:spcBef>
                <a:spcPts val="960"/>
              </a:spcBef>
              <a:spcAft>
                <a:spcPts val="0"/>
              </a:spcAft>
              <a:buSzPts val="2810"/>
              <a:buChar char="•"/>
            </a:pPr>
            <a:r>
              <a:rPr lang="en-US" sz="2000"/>
              <a:t>A block cipher processes the input one block of elements at a time, producing an output block for each input block.</a:t>
            </a:r>
            <a:endParaRPr sz="2000"/>
          </a:p>
          <a:p>
            <a:pPr marL="285750" lvl="0" indent="-298450" algn="l" rtl="0">
              <a:spcBef>
                <a:spcPts val="960"/>
              </a:spcBef>
              <a:spcAft>
                <a:spcPts val="0"/>
              </a:spcAft>
              <a:buSzPts val="2810"/>
              <a:buChar char="•"/>
            </a:pPr>
            <a:r>
              <a:rPr lang="en-US" sz="2000"/>
              <a:t>A stream cipher processes the input elements continuously, producing output one element at a time, as it goes along.</a:t>
            </a:r>
            <a:endParaRPr sz="2000"/>
          </a:p>
          <a:p>
            <a:pPr marL="28575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a:p>
        </p:txBody>
      </p:sp>
      <p:sp>
        <p:nvSpPr>
          <p:cNvPr id="184" name="Google Shape;184;p5"/>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6"/>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191" name="Google Shape;191;p6"/>
          <p:cNvSpPr txBox="1">
            <a:spLocks noGrp="1"/>
          </p:cNvSpPr>
          <p:nvPr>
            <p:ph type="body" idx="1"/>
          </p:nvPr>
        </p:nvSpPr>
        <p:spPr>
          <a:xfrm>
            <a:off x="821094" y="1155523"/>
            <a:ext cx="7608756" cy="4980233"/>
          </a:xfrm>
          <a:prstGeom prst="rect">
            <a:avLst/>
          </a:prstGeom>
          <a:noFill/>
          <a:ln>
            <a:noFill/>
          </a:ln>
        </p:spPr>
        <p:txBody>
          <a:bodyPr spcFirstLastPara="1" wrap="square" lIns="91425" tIns="45700" rIns="91425" bIns="45700" anchor="ctr" anchorCtr="0">
            <a:noAutofit/>
          </a:bodyPr>
          <a:lstStyle/>
          <a:p>
            <a:pPr marL="0" lvl="0" indent="0" algn="l" rtl="0">
              <a:spcBef>
                <a:spcPts val="960"/>
              </a:spcBef>
              <a:spcAft>
                <a:spcPts val="0"/>
              </a:spcAft>
              <a:buSzPts val="2610"/>
              <a:buNone/>
            </a:pPr>
            <a:r>
              <a:rPr lang="en-US" dirty="0" smtClean="0"/>
              <a:t>The </a:t>
            </a:r>
            <a:r>
              <a:rPr lang="en-US" dirty="0"/>
              <a:t>strategy used by the cryptanalyst depends on the nature of the encryption scheme and the information available to the cryptanalyst</a:t>
            </a:r>
            <a:r>
              <a:rPr lang="en-US" dirty="0" smtClean="0"/>
              <a:t>.</a:t>
            </a:r>
          </a:p>
          <a:p>
            <a:pPr marL="0" lvl="0" indent="0" algn="l" rtl="0">
              <a:spcBef>
                <a:spcPts val="960"/>
              </a:spcBef>
              <a:spcAft>
                <a:spcPts val="0"/>
              </a:spcAft>
              <a:buSzPts val="2610"/>
              <a:buNone/>
            </a:pPr>
            <a:endParaRPr dirty="0"/>
          </a:p>
          <a:p>
            <a:pPr marL="742950" lvl="1" indent="-285750" algn="l" rtl="0">
              <a:spcBef>
                <a:spcPts val="1000"/>
              </a:spcBef>
              <a:spcAft>
                <a:spcPts val="0"/>
              </a:spcAft>
              <a:buSzPts val="2900"/>
              <a:buChar char="•"/>
            </a:pPr>
            <a:r>
              <a:rPr lang="en-US" sz="2000" b="1" dirty="0">
                <a:solidFill>
                  <a:srgbClr val="5B0505"/>
                </a:solidFill>
              </a:rPr>
              <a:t>Cipher text Only</a:t>
            </a:r>
            <a:endParaRPr dirty="0"/>
          </a:p>
          <a:p>
            <a:pPr marL="742950" lvl="1" indent="-285750" algn="l" rtl="0">
              <a:spcBef>
                <a:spcPts val="1000"/>
              </a:spcBef>
              <a:spcAft>
                <a:spcPts val="0"/>
              </a:spcAft>
              <a:buSzPts val="2900"/>
              <a:buChar char="•"/>
            </a:pPr>
            <a:r>
              <a:rPr lang="en-US" sz="2000" b="1" dirty="0">
                <a:solidFill>
                  <a:srgbClr val="5B0505"/>
                </a:solidFill>
              </a:rPr>
              <a:t>Known Plaintext</a:t>
            </a:r>
            <a:endParaRPr dirty="0"/>
          </a:p>
          <a:p>
            <a:pPr marL="742950" lvl="1" indent="-285750" algn="l" rtl="0">
              <a:spcBef>
                <a:spcPts val="1000"/>
              </a:spcBef>
              <a:spcAft>
                <a:spcPts val="0"/>
              </a:spcAft>
              <a:buSzPts val="2900"/>
              <a:buChar char="•"/>
            </a:pPr>
            <a:r>
              <a:rPr lang="en-US" sz="2000" b="1" dirty="0">
                <a:solidFill>
                  <a:srgbClr val="5B0505"/>
                </a:solidFill>
              </a:rPr>
              <a:t>Chosen-plaintext</a:t>
            </a:r>
            <a:endParaRPr dirty="0"/>
          </a:p>
          <a:p>
            <a:pPr marL="742950" lvl="1" indent="-285750" algn="l" rtl="0">
              <a:spcBef>
                <a:spcPts val="1000"/>
              </a:spcBef>
              <a:spcAft>
                <a:spcPts val="0"/>
              </a:spcAft>
              <a:buSzPts val="2900"/>
              <a:buChar char="•"/>
            </a:pPr>
            <a:r>
              <a:rPr lang="en-US" sz="2000" b="1" dirty="0">
                <a:solidFill>
                  <a:srgbClr val="5B0505"/>
                </a:solidFill>
              </a:rPr>
              <a:t>Chosen-Cipher text</a:t>
            </a:r>
            <a:endParaRPr dirty="0"/>
          </a:p>
          <a:p>
            <a:pPr marL="742950" lvl="1" indent="-9525" algn="l" rtl="0">
              <a:spcBef>
                <a:spcPts val="1200"/>
              </a:spcBef>
              <a:spcAft>
                <a:spcPts val="0"/>
              </a:spcAft>
              <a:buSzPts val="4350"/>
              <a:buNone/>
            </a:pPr>
            <a:endParaRPr sz="3000" b="1" dirty="0">
              <a:solidFill>
                <a:srgbClr val="5B0505"/>
              </a:solidFill>
            </a:endParaRPr>
          </a:p>
          <a:p>
            <a:pPr marL="0" lvl="0" indent="0" algn="l" rtl="0">
              <a:spcBef>
                <a:spcPts val="1240"/>
              </a:spcBef>
              <a:spcAft>
                <a:spcPts val="0"/>
              </a:spcAft>
              <a:buSzPts val="4640"/>
              <a:buNone/>
            </a:pPr>
            <a:endParaRPr sz="3200" dirty="0"/>
          </a:p>
        </p:txBody>
      </p:sp>
      <p:sp>
        <p:nvSpPr>
          <p:cNvPr id="192" name="Google Shape;192;p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199" name="Google Shape;199;p7"/>
          <p:cNvSpPr txBox="1">
            <a:spLocks noGrp="1"/>
          </p:cNvSpPr>
          <p:nvPr>
            <p:ph type="body" idx="1"/>
          </p:nvPr>
        </p:nvSpPr>
        <p:spPr>
          <a:xfrm>
            <a:off x="886408" y="1155523"/>
            <a:ext cx="7543442" cy="49802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4640"/>
              <a:buNone/>
            </a:pPr>
            <a:r>
              <a:rPr lang="en-US" sz="3200" b="1">
                <a:solidFill>
                  <a:srgbClr val="5B0505"/>
                </a:solidFill>
              </a:rPr>
              <a:t>1. Ciphertext Only:</a:t>
            </a:r>
            <a:endParaRPr sz="3200" b="1" i="1"/>
          </a:p>
          <a:p>
            <a:pPr marL="742950" lvl="1" indent="-285750" algn="l" rtl="0">
              <a:spcBef>
                <a:spcPts val="1120"/>
              </a:spcBef>
              <a:spcAft>
                <a:spcPts val="0"/>
              </a:spcAft>
              <a:buSzPts val="3770"/>
              <a:buChar char="•"/>
            </a:pPr>
            <a:r>
              <a:rPr lang="en-US" sz="2600"/>
              <a:t>The cryptanalyst knows ciphertext only.</a:t>
            </a:r>
            <a:endParaRPr/>
          </a:p>
          <a:p>
            <a:pPr marL="742950" lvl="1" indent="-285750" algn="l" rtl="0">
              <a:spcBef>
                <a:spcPts val="1120"/>
              </a:spcBef>
              <a:spcAft>
                <a:spcPts val="0"/>
              </a:spcAft>
              <a:buSzPts val="3770"/>
              <a:buChar char="•"/>
            </a:pPr>
            <a:r>
              <a:rPr lang="en-US" sz="2600"/>
              <a:t>Uses brute-force approach - try all possible keys.</a:t>
            </a:r>
            <a:endParaRPr/>
          </a:p>
          <a:p>
            <a:pPr marL="742950" lvl="1" indent="-285750" algn="l" rtl="0">
              <a:spcBef>
                <a:spcPts val="1120"/>
              </a:spcBef>
              <a:spcAft>
                <a:spcPts val="0"/>
              </a:spcAft>
              <a:buSzPts val="3770"/>
              <a:buChar char="•"/>
            </a:pPr>
            <a:r>
              <a:rPr lang="en-US" sz="2600"/>
              <a:t>Make the key space very large so it becomes impractical.</a:t>
            </a:r>
            <a:endParaRPr/>
          </a:p>
          <a:p>
            <a:pPr marL="742950" lvl="1" indent="-285750" algn="l" rtl="0">
              <a:spcBef>
                <a:spcPts val="1120"/>
              </a:spcBef>
              <a:spcAft>
                <a:spcPts val="0"/>
              </a:spcAft>
              <a:buSzPts val="3770"/>
              <a:buChar char="•"/>
            </a:pPr>
            <a:r>
              <a:rPr lang="en-US" sz="2600"/>
              <a:t>Easiest to defend</a:t>
            </a:r>
            <a:endParaRPr/>
          </a:p>
          <a:p>
            <a:pPr marL="28575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a:p>
        </p:txBody>
      </p:sp>
      <p:sp>
        <p:nvSpPr>
          <p:cNvPr id="200" name="Google Shape;200;p7"/>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201" name="Google Shape;201;p7"/>
          <p:cNvSpPr txBox="1"/>
          <p:nvPr/>
        </p:nvSpPr>
        <p:spPr>
          <a:xfrm>
            <a:off x="1720475" y="5722975"/>
            <a:ext cx="1398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Plaintext</a:t>
            </a:r>
            <a:endParaRPr sz="2100" b="1">
              <a:solidFill>
                <a:srgbClr val="FF0000"/>
              </a:solidFill>
              <a:latin typeface="Corbel"/>
              <a:ea typeface="Corbel"/>
              <a:cs typeface="Corbel"/>
              <a:sym typeface="Corbel"/>
            </a:endParaRPr>
          </a:p>
        </p:txBody>
      </p:sp>
      <p:sp>
        <p:nvSpPr>
          <p:cNvPr id="202" name="Google Shape;202;p7"/>
          <p:cNvSpPr txBox="1"/>
          <p:nvPr/>
        </p:nvSpPr>
        <p:spPr>
          <a:xfrm>
            <a:off x="6795400" y="5722975"/>
            <a:ext cx="14502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Ciphertext</a:t>
            </a:r>
            <a:endParaRPr sz="2100" b="1">
              <a:solidFill>
                <a:srgbClr val="6AA84F"/>
              </a:solidFill>
              <a:latin typeface="Corbel"/>
              <a:ea typeface="Corbel"/>
              <a:cs typeface="Corbel"/>
              <a:sym typeface="Corbel"/>
            </a:endParaRPr>
          </a:p>
        </p:txBody>
      </p:sp>
      <p:sp>
        <p:nvSpPr>
          <p:cNvPr id="203" name="Google Shape;203;p7"/>
          <p:cNvSpPr txBox="1"/>
          <p:nvPr/>
        </p:nvSpPr>
        <p:spPr>
          <a:xfrm>
            <a:off x="3366325"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Encryption</a:t>
            </a:r>
            <a:endParaRPr sz="1900" b="1">
              <a:solidFill>
                <a:srgbClr val="6AA84F"/>
              </a:solidFill>
              <a:latin typeface="Corbel"/>
              <a:ea typeface="Corbel"/>
              <a:cs typeface="Corbel"/>
              <a:sym typeface="Corbel"/>
            </a:endParaRPr>
          </a:p>
        </p:txBody>
      </p:sp>
      <p:sp>
        <p:nvSpPr>
          <p:cNvPr id="204" name="Google Shape;204;p7"/>
          <p:cNvSpPr txBox="1"/>
          <p:nvPr/>
        </p:nvSpPr>
        <p:spPr>
          <a:xfrm>
            <a:off x="5080874"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Decryption</a:t>
            </a:r>
            <a:endParaRPr sz="1900" b="1">
              <a:solidFill>
                <a:srgbClr val="6AA84F"/>
              </a:solidFill>
              <a:latin typeface="Corbel"/>
              <a:ea typeface="Corbel"/>
              <a:cs typeface="Corbel"/>
              <a:sym typeface="Corbel"/>
            </a:endParaRPr>
          </a:p>
        </p:txBody>
      </p:sp>
      <p:cxnSp>
        <p:nvCxnSpPr>
          <p:cNvPr id="205" name="Google Shape;205;p7"/>
          <p:cNvCxnSpPr>
            <a:stCxn id="201" idx="0"/>
            <a:endCxn id="203" idx="1"/>
          </p:cNvCxnSpPr>
          <p:nvPr/>
        </p:nvCxnSpPr>
        <p:spPr>
          <a:xfrm rot="10800000" flipH="1">
            <a:off x="2419475" y="5504875"/>
            <a:ext cx="946800" cy="218100"/>
          </a:xfrm>
          <a:prstGeom prst="straightConnector1">
            <a:avLst/>
          </a:prstGeom>
          <a:noFill/>
          <a:ln w="9525" cap="flat" cmpd="sng">
            <a:solidFill>
              <a:schemeClr val="dk2"/>
            </a:solidFill>
            <a:prstDash val="solid"/>
            <a:round/>
            <a:headEnd type="none" w="med" len="med"/>
            <a:tailEnd type="triangle" w="med" len="med"/>
          </a:ln>
        </p:spPr>
      </p:cxnSp>
      <p:cxnSp>
        <p:nvCxnSpPr>
          <p:cNvPr id="206" name="Google Shape;206;p7"/>
          <p:cNvCxnSpPr>
            <a:stCxn id="203" idx="3"/>
            <a:endCxn id="204" idx="1"/>
          </p:cNvCxnSpPr>
          <p:nvPr/>
        </p:nvCxnSpPr>
        <p:spPr>
          <a:xfrm>
            <a:off x="4764325" y="5504925"/>
            <a:ext cx="316500" cy="0"/>
          </a:xfrm>
          <a:prstGeom prst="straightConnector1">
            <a:avLst/>
          </a:prstGeom>
          <a:noFill/>
          <a:ln w="9525" cap="flat" cmpd="sng">
            <a:solidFill>
              <a:schemeClr val="dk2"/>
            </a:solidFill>
            <a:prstDash val="solid"/>
            <a:round/>
            <a:headEnd type="none" w="med" len="med"/>
            <a:tailEnd type="triangle" w="med" len="med"/>
          </a:ln>
        </p:spPr>
      </p:cxnSp>
      <p:cxnSp>
        <p:nvCxnSpPr>
          <p:cNvPr id="207" name="Google Shape;207;p7"/>
          <p:cNvCxnSpPr>
            <a:stCxn id="204" idx="3"/>
            <a:endCxn id="202" idx="0"/>
          </p:cNvCxnSpPr>
          <p:nvPr/>
        </p:nvCxnSpPr>
        <p:spPr>
          <a:xfrm>
            <a:off x="6478874" y="5504925"/>
            <a:ext cx="1041600" cy="218100"/>
          </a:xfrm>
          <a:prstGeom prst="straightConnector1">
            <a:avLst/>
          </a:prstGeom>
          <a:noFill/>
          <a:ln w="9525" cap="flat" cmpd="sng">
            <a:solidFill>
              <a:schemeClr val="dk2"/>
            </a:solidFill>
            <a:prstDash val="solid"/>
            <a:round/>
            <a:headEnd type="none" w="med" len="med"/>
            <a:tailEnd type="triangle" w="med" len="med"/>
          </a:ln>
        </p:spPr>
      </p:cxnSp>
      <p:sp>
        <p:nvSpPr>
          <p:cNvPr id="208" name="Google Shape;208;p7"/>
          <p:cNvSpPr txBox="1"/>
          <p:nvPr/>
        </p:nvSpPr>
        <p:spPr>
          <a:xfrm>
            <a:off x="3747175" y="61326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sp>
        <p:nvSpPr>
          <p:cNvPr id="209" name="Google Shape;209;p7"/>
          <p:cNvSpPr txBox="1"/>
          <p:nvPr/>
        </p:nvSpPr>
        <p:spPr>
          <a:xfrm>
            <a:off x="5458575" y="61357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cxnSp>
        <p:nvCxnSpPr>
          <p:cNvPr id="210" name="Google Shape;210;p7"/>
          <p:cNvCxnSpPr>
            <a:stCxn id="208" idx="0"/>
            <a:endCxn id="203" idx="2"/>
          </p:cNvCxnSpPr>
          <p:nvPr/>
        </p:nvCxnSpPr>
        <p:spPr>
          <a:xfrm rot="10800000">
            <a:off x="4065325" y="5743550"/>
            <a:ext cx="0" cy="389100"/>
          </a:xfrm>
          <a:prstGeom prst="straightConnector1">
            <a:avLst/>
          </a:prstGeom>
          <a:noFill/>
          <a:ln w="9525" cap="flat" cmpd="sng">
            <a:solidFill>
              <a:schemeClr val="dk2"/>
            </a:solidFill>
            <a:prstDash val="solid"/>
            <a:round/>
            <a:headEnd type="none" w="med" len="med"/>
            <a:tailEnd type="none" w="med" len="med"/>
          </a:ln>
        </p:spPr>
      </p:cxnSp>
      <p:cxnSp>
        <p:nvCxnSpPr>
          <p:cNvPr id="211" name="Google Shape;211;p7"/>
          <p:cNvCxnSpPr>
            <a:stCxn id="209" idx="0"/>
            <a:endCxn id="204" idx="2"/>
          </p:cNvCxnSpPr>
          <p:nvPr/>
        </p:nvCxnSpPr>
        <p:spPr>
          <a:xfrm rot="10800000" flipH="1">
            <a:off x="5776725" y="5743350"/>
            <a:ext cx="3000" cy="392400"/>
          </a:xfrm>
          <a:prstGeom prst="straightConnector1">
            <a:avLst/>
          </a:prstGeom>
          <a:noFill/>
          <a:ln w="9525" cap="flat" cmpd="sng">
            <a:solidFill>
              <a:schemeClr val="dk2"/>
            </a:solidFill>
            <a:prstDash val="solid"/>
            <a:round/>
            <a:headEnd type="none" w="med" len="med"/>
            <a:tailEnd type="none" w="med" len="med"/>
          </a:ln>
        </p:spPr>
      </p:cxnSp>
      <p:pic>
        <p:nvPicPr>
          <p:cNvPr id="16" name="Picture 15">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8"/>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218" name="Google Shape;218;p8"/>
          <p:cNvSpPr txBox="1">
            <a:spLocks noGrp="1"/>
          </p:cNvSpPr>
          <p:nvPr>
            <p:ph type="body" idx="1"/>
          </p:nvPr>
        </p:nvSpPr>
        <p:spPr>
          <a:xfrm>
            <a:off x="905069" y="1155523"/>
            <a:ext cx="7524781" cy="49802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4640"/>
              <a:buNone/>
            </a:pPr>
            <a:r>
              <a:rPr lang="en-US" sz="3200" b="1">
                <a:solidFill>
                  <a:srgbClr val="5B0505"/>
                </a:solidFill>
              </a:rPr>
              <a:t>2. Known plaintext:</a:t>
            </a:r>
            <a:endParaRPr sz="3200" b="1" i="1"/>
          </a:p>
          <a:p>
            <a:pPr marL="742950" lvl="1" indent="-285750" algn="l" rtl="0">
              <a:spcBef>
                <a:spcPts val="1120"/>
              </a:spcBef>
              <a:spcAft>
                <a:spcPts val="0"/>
              </a:spcAft>
              <a:buSzPts val="3770"/>
              <a:buChar char="•"/>
            </a:pPr>
            <a:r>
              <a:rPr lang="en-US" sz="2600"/>
              <a:t>The analyst may be able to capture one or more plaintext messages as well as their encryptions.</a:t>
            </a:r>
            <a:endParaRPr/>
          </a:p>
          <a:p>
            <a:pPr marL="742950" lvl="1" indent="-285750" algn="l" rtl="0">
              <a:spcBef>
                <a:spcPts val="1120"/>
              </a:spcBef>
              <a:spcAft>
                <a:spcPts val="0"/>
              </a:spcAft>
              <a:buSzPts val="3770"/>
              <a:buChar char="•"/>
            </a:pPr>
            <a:r>
              <a:rPr lang="en-US" sz="2600"/>
              <a:t>Or he may know that certain plaintext patterns will appear in a message.</a:t>
            </a:r>
            <a:endParaRPr/>
          </a:p>
          <a:p>
            <a:pPr marL="742950" lvl="1" indent="-285750" algn="l" rtl="0">
              <a:spcBef>
                <a:spcPts val="1120"/>
              </a:spcBef>
              <a:spcAft>
                <a:spcPts val="0"/>
              </a:spcAft>
              <a:buSzPts val="3770"/>
              <a:buChar char="•"/>
            </a:pPr>
            <a:r>
              <a:rPr lang="en-US" sz="2600"/>
              <a:t>May deduce the key.</a:t>
            </a:r>
            <a:endParaRPr/>
          </a:p>
          <a:p>
            <a:pPr marL="28575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a:p>
        </p:txBody>
      </p:sp>
      <p:sp>
        <p:nvSpPr>
          <p:cNvPr id="219" name="Google Shape;219;p8"/>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20" name="Google Shape;220;p8"/>
          <p:cNvSpPr txBox="1">
            <a:spLocks noGrp="1"/>
          </p:cNvSpPr>
          <p:nvPr>
            <p:ph type="sldNum" idx="4294967295"/>
          </p:nvPr>
        </p:nvSpPr>
        <p:spPr>
          <a:xfrm>
            <a:off x="8731250" y="6478588"/>
            <a:ext cx="4127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21" name="Google Shape;221;p8"/>
          <p:cNvSpPr txBox="1"/>
          <p:nvPr/>
        </p:nvSpPr>
        <p:spPr>
          <a:xfrm>
            <a:off x="1720475" y="5722975"/>
            <a:ext cx="1398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Plaintext</a:t>
            </a:r>
            <a:endParaRPr sz="2100" b="1">
              <a:solidFill>
                <a:srgbClr val="6AA84F"/>
              </a:solidFill>
              <a:latin typeface="Corbel"/>
              <a:ea typeface="Corbel"/>
              <a:cs typeface="Corbel"/>
              <a:sym typeface="Corbel"/>
            </a:endParaRPr>
          </a:p>
        </p:txBody>
      </p:sp>
      <p:sp>
        <p:nvSpPr>
          <p:cNvPr id="222" name="Google Shape;222;p8"/>
          <p:cNvSpPr txBox="1"/>
          <p:nvPr/>
        </p:nvSpPr>
        <p:spPr>
          <a:xfrm>
            <a:off x="6795400" y="5722975"/>
            <a:ext cx="14502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Ciphertext</a:t>
            </a:r>
            <a:endParaRPr sz="2100" b="1">
              <a:solidFill>
                <a:srgbClr val="6AA84F"/>
              </a:solidFill>
              <a:latin typeface="Corbel"/>
              <a:ea typeface="Corbel"/>
              <a:cs typeface="Corbel"/>
              <a:sym typeface="Corbel"/>
            </a:endParaRPr>
          </a:p>
        </p:txBody>
      </p:sp>
      <p:sp>
        <p:nvSpPr>
          <p:cNvPr id="223" name="Google Shape;223;p8"/>
          <p:cNvSpPr txBox="1"/>
          <p:nvPr/>
        </p:nvSpPr>
        <p:spPr>
          <a:xfrm>
            <a:off x="3366325"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Encryption</a:t>
            </a:r>
            <a:endParaRPr sz="1900" b="1">
              <a:solidFill>
                <a:srgbClr val="6AA84F"/>
              </a:solidFill>
              <a:latin typeface="Corbel"/>
              <a:ea typeface="Corbel"/>
              <a:cs typeface="Corbel"/>
              <a:sym typeface="Corbel"/>
            </a:endParaRPr>
          </a:p>
        </p:txBody>
      </p:sp>
      <p:sp>
        <p:nvSpPr>
          <p:cNvPr id="224" name="Google Shape;224;p8"/>
          <p:cNvSpPr txBox="1"/>
          <p:nvPr/>
        </p:nvSpPr>
        <p:spPr>
          <a:xfrm>
            <a:off x="5080874"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Decryption</a:t>
            </a:r>
            <a:endParaRPr sz="1900" b="1">
              <a:solidFill>
                <a:srgbClr val="6AA84F"/>
              </a:solidFill>
              <a:latin typeface="Corbel"/>
              <a:ea typeface="Corbel"/>
              <a:cs typeface="Corbel"/>
              <a:sym typeface="Corbel"/>
            </a:endParaRPr>
          </a:p>
        </p:txBody>
      </p:sp>
      <p:cxnSp>
        <p:nvCxnSpPr>
          <p:cNvPr id="225" name="Google Shape;225;p8"/>
          <p:cNvCxnSpPr>
            <a:stCxn id="221" idx="0"/>
            <a:endCxn id="223" idx="1"/>
          </p:cNvCxnSpPr>
          <p:nvPr/>
        </p:nvCxnSpPr>
        <p:spPr>
          <a:xfrm rot="10800000" flipH="1">
            <a:off x="2419475" y="5504875"/>
            <a:ext cx="946800" cy="218100"/>
          </a:xfrm>
          <a:prstGeom prst="straightConnector1">
            <a:avLst/>
          </a:prstGeom>
          <a:noFill/>
          <a:ln w="9525" cap="flat" cmpd="sng">
            <a:solidFill>
              <a:schemeClr val="dk2"/>
            </a:solidFill>
            <a:prstDash val="solid"/>
            <a:round/>
            <a:headEnd type="none" w="med" len="med"/>
            <a:tailEnd type="triangle" w="med" len="med"/>
          </a:ln>
        </p:spPr>
      </p:cxnSp>
      <p:cxnSp>
        <p:nvCxnSpPr>
          <p:cNvPr id="226" name="Google Shape;226;p8"/>
          <p:cNvCxnSpPr>
            <a:stCxn id="223" idx="3"/>
            <a:endCxn id="224" idx="1"/>
          </p:cNvCxnSpPr>
          <p:nvPr/>
        </p:nvCxnSpPr>
        <p:spPr>
          <a:xfrm>
            <a:off x="4764325" y="5504925"/>
            <a:ext cx="316500" cy="0"/>
          </a:xfrm>
          <a:prstGeom prst="straightConnector1">
            <a:avLst/>
          </a:prstGeom>
          <a:noFill/>
          <a:ln w="9525" cap="flat" cmpd="sng">
            <a:solidFill>
              <a:schemeClr val="dk2"/>
            </a:solidFill>
            <a:prstDash val="solid"/>
            <a:round/>
            <a:headEnd type="none" w="med" len="med"/>
            <a:tailEnd type="triangle" w="med" len="med"/>
          </a:ln>
        </p:spPr>
      </p:cxnSp>
      <p:cxnSp>
        <p:nvCxnSpPr>
          <p:cNvPr id="227" name="Google Shape;227;p8"/>
          <p:cNvCxnSpPr>
            <a:stCxn id="224" idx="3"/>
            <a:endCxn id="222" idx="0"/>
          </p:cNvCxnSpPr>
          <p:nvPr/>
        </p:nvCxnSpPr>
        <p:spPr>
          <a:xfrm>
            <a:off x="6478874" y="5504925"/>
            <a:ext cx="1041600" cy="218100"/>
          </a:xfrm>
          <a:prstGeom prst="straightConnector1">
            <a:avLst/>
          </a:prstGeom>
          <a:noFill/>
          <a:ln w="9525" cap="flat" cmpd="sng">
            <a:solidFill>
              <a:schemeClr val="dk2"/>
            </a:solidFill>
            <a:prstDash val="solid"/>
            <a:round/>
            <a:headEnd type="none" w="med" len="med"/>
            <a:tailEnd type="triangle" w="med" len="med"/>
          </a:ln>
        </p:spPr>
      </p:cxnSp>
      <p:sp>
        <p:nvSpPr>
          <p:cNvPr id="228" name="Google Shape;228;p8"/>
          <p:cNvSpPr txBox="1"/>
          <p:nvPr/>
        </p:nvSpPr>
        <p:spPr>
          <a:xfrm>
            <a:off x="3747175" y="61326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sp>
        <p:nvSpPr>
          <p:cNvPr id="229" name="Google Shape;229;p8"/>
          <p:cNvSpPr txBox="1"/>
          <p:nvPr/>
        </p:nvSpPr>
        <p:spPr>
          <a:xfrm>
            <a:off x="5458575" y="61357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cxnSp>
        <p:nvCxnSpPr>
          <p:cNvPr id="230" name="Google Shape;230;p8"/>
          <p:cNvCxnSpPr>
            <a:stCxn id="228" idx="0"/>
            <a:endCxn id="223" idx="2"/>
          </p:cNvCxnSpPr>
          <p:nvPr/>
        </p:nvCxnSpPr>
        <p:spPr>
          <a:xfrm rot="10800000">
            <a:off x="4065325" y="5743550"/>
            <a:ext cx="0" cy="389100"/>
          </a:xfrm>
          <a:prstGeom prst="straightConnector1">
            <a:avLst/>
          </a:prstGeom>
          <a:noFill/>
          <a:ln w="9525" cap="flat" cmpd="sng">
            <a:solidFill>
              <a:schemeClr val="dk2"/>
            </a:solidFill>
            <a:prstDash val="solid"/>
            <a:round/>
            <a:headEnd type="none" w="med" len="med"/>
            <a:tailEnd type="none" w="med" len="med"/>
          </a:ln>
        </p:spPr>
      </p:cxnSp>
      <p:cxnSp>
        <p:nvCxnSpPr>
          <p:cNvPr id="231" name="Google Shape;231;p8"/>
          <p:cNvCxnSpPr>
            <a:stCxn id="229" idx="0"/>
            <a:endCxn id="224" idx="2"/>
          </p:cNvCxnSpPr>
          <p:nvPr/>
        </p:nvCxnSpPr>
        <p:spPr>
          <a:xfrm rot="10800000" flipH="1">
            <a:off x="5776725" y="5743350"/>
            <a:ext cx="3000" cy="392400"/>
          </a:xfrm>
          <a:prstGeom prst="straightConnector1">
            <a:avLst/>
          </a:prstGeom>
          <a:noFill/>
          <a:ln w="9525" cap="flat" cmpd="sng">
            <a:solidFill>
              <a:schemeClr val="dk2"/>
            </a:solidFill>
            <a:prstDash val="solid"/>
            <a:round/>
            <a:headEnd type="none" w="med" len="med"/>
            <a:tailEnd type="none" w="med" len="med"/>
          </a:ln>
        </p:spPr>
      </p:cxnSp>
      <p:pic>
        <p:nvPicPr>
          <p:cNvPr id="17" name="Picture 16">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9"/>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238" name="Google Shape;238;p9"/>
          <p:cNvSpPr txBox="1">
            <a:spLocks noGrp="1"/>
          </p:cNvSpPr>
          <p:nvPr>
            <p:ph type="body" idx="1"/>
          </p:nvPr>
        </p:nvSpPr>
        <p:spPr>
          <a:xfrm>
            <a:off x="839150" y="1499023"/>
            <a:ext cx="7618200" cy="49803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4640"/>
              <a:buNone/>
            </a:pPr>
            <a:r>
              <a:rPr lang="en-US" sz="3000" b="1">
                <a:solidFill>
                  <a:srgbClr val="5B0505"/>
                </a:solidFill>
              </a:rPr>
              <a:t>3. Chosen-plaintext:</a:t>
            </a:r>
            <a:endParaRPr sz="3000" b="1" i="1"/>
          </a:p>
          <a:p>
            <a:pPr marL="742950" lvl="1" indent="-273050" algn="l" rtl="0">
              <a:spcBef>
                <a:spcPts val="1120"/>
              </a:spcBef>
              <a:spcAft>
                <a:spcPts val="0"/>
              </a:spcAft>
              <a:buSzPts val="3570"/>
              <a:buChar char="•"/>
            </a:pPr>
            <a:r>
              <a:rPr lang="en-US" sz="2400"/>
              <a:t>A cryptanalyst can choose arbitrary plaintext data to be encrypted and then he receives the corresponding ciphertext.</a:t>
            </a:r>
            <a:endParaRPr sz="2400"/>
          </a:p>
          <a:p>
            <a:pPr marL="742950" lvl="1" indent="-273050" algn="l" rtl="0">
              <a:spcBef>
                <a:spcPts val="1120"/>
              </a:spcBef>
              <a:spcAft>
                <a:spcPts val="0"/>
              </a:spcAft>
              <a:buSzPts val="3570"/>
              <a:buChar char="•"/>
            </a:pPr>
            <a:r>
              <a:rPr lang="en-US" sz="2400"/>
              <a:t>If the analyst is able to choose the messages to encrypt, the analyst may deliberately pick patterns that can be expected to reveal the structure of the key.</a:t>
            </a:r>
            <a:endParaRPr sz="1400"/>
          </a:p>
          <a:p>
            <a:pPr marL="285750" lvl="0" indent="-120015" algn="l" rtl="0">
              <a:spcBef>
                <a:spcPts val="960"/>
              </a:spcBef>
              <a:spcAft>
                <a:spcPts val="0"/>
              </a:spcAft>
              <a:buSzPts val="2610"/>
              <a:buNone/>
            </a:pPr>
            <a:endParaRPr/>
          </a:p>
          <a:p>
            <a:pPr marL="28575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a:p>
        </p:txBody>
      </p:sp>
      <p:sp>
        <p:nvSpPr>
          <p:cNvPr id="239" name="Google Shape;239;p9"/>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40" name="Google Shape;240;p9"/>
          <p:cNvSpPr txBox="1">
            <a:spLocks noGrp="1"/>
          </p:cNvSpPr>
          <p:nvPr>
            <p:ph type="sldNum" idx="4294967295"/>
          </p:nvPr>
        </p:nvSpPr>
        <p:spPr>
          <a:xfrm>
            <a:off x="8731250" y="6478588"/>
            <a:ext cx="4127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41" name="Google Shape;241;p9"/>
          <p:cNvSpPr txBox="1"/>
          <p:nvPr/>
        </p:nvSpPr>
        <p:spPr>
          <a:xfrm>
            <a:off x="1720475" y="5722975"/>
            <a:ext cx="1398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Plaintext</a:t>
            </a:r>
            <a:endParaRPr sz="2100" b="1">
              <a:solidFill>
                <a:srgbClr val="6AA84F"/>
              </a:solidFill>
              <a:latin typeface="Corbel"/>
              <a:ea typeface="Corbel"/>
              <a:cs typeface="Corbel"/>
              <a:sym typeface="Corbel"/>
            </a:endParaRPr>
          </a:p>
        </p:txBody>
      </p:sp>
      <p:sp>
        <p:nvSpPr>
          <p:cNvPr id="242" name="Google Shape;242;p9"/>
          <p:cNvSpPr txBox="1"/>
          <p:nvPr/>
        </p:nvSpPr>
        <p:spPr>
          <a:xfrm>
            <a:off x="6795400" y="5722975"/>
            <a:ext cx="14502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Ciphertext</a:t>
            </a:r>
            <a:endParaRPr sz="2100" b="1">
              <a:solidFill>
                <a:srgbClr val="6AA84F"/>
              </a:solidFill>
              <a:latin typeface="Corbel"/>
              <a:ea typeface="Corbel"/>
              <a:cs typeface="Corbel"/>
              <a:sym typeface="Corbel"/>
            </a:endParaRPr>
          </a:p>
        </p:txBody>
      </p:sp>
      <p:sp>
        <p:nvSpPr>
          <p:cNvPr id="243" name="Google Shape;243;p9"/>
          <p:cNvSpPr txBox="1"/>
          <p:nvPr/>
        </p:nvSpPr>
        <p:spPr>
          <a:xfrm>
            <a:off x="3366325"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Encryption</a:t>
            </a:r>
            <a:endParaRPr sz="1900" b="1">
              <a:solidFill>
                <a:srgbClr val="6AA84F"/>
              </a:solidFill>
              <a:latin typeface="Corbel"/>
              <a:ea typeface="Corbel"/>
              <a:cs typeface="Corbel"/>
              <a:sym typeface="Corbel"/>
            </a:endParaRPr>
          </a:p>
        </p:txBody>
      </p:sp>
      <p:sp>
        <p:nvSpPr>
          <p:cNvPr id="244" name="Google Shape;244;p9"/>
          <p:cNvSpPr txBox="1"/>
          <p:nvPr/>
        </p:nvSpPr>
        <p:spPr>
          <a:xfrm>
            <a:off x="5080874"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Decryption</a:t>
            </a:r>
            <a:endParaRPr sz="1900" b="1">
              <a:solidFill>
                <a:srgbClr val="6AA84F"/>
              </a:solidFill>
              <a:latin typeface="Corbel"/>
              <a:ea typeface="Corbel"/>
              <a:cs typeface="Corbel"/>
              <a:sym typeface="Corbel"/>
            </a:endParaRPr>
          </a:p>
        </p:txBody>
      </p:sp>
      <p:cxnSp>
        <p:nvCxnSpPr>
          <p:cNvPr id="245" name="Google Shape;245;p9"/>
          <p:cNvCxnSpPr>
            <a:stCxn id="241" idx="0"/>
            <a:endCxn id="243" idx="1"/>
          </p:cNvCxnSpPr>
          <p:nvPr/>
        </p:nvCxnSpPr>
        <p:spPr>
          <a:xfrm rot="10800000" flipH="1">
            <a:off x="2419475" y="5504875"/>
            <a:ext cx="946800" cy="218100"/>
          </a:xfrm>
          <a:prstGeom prst="straightConnector1">
            <a:avLst/>
          </a:prstGeom>
          <a:noFill/>
          <a:ln w="9525" cap="flat" cmpd="sng">
            <a:solidFill>
              <a:schemeClr val="dk2"/>
            </a:solidFill>
            <a:prstDash val="solid"/>
            <a:round/>
            <a:headEnd type="none" w="med" len="med"/>
            <a:tailEnd type="triangle" w="med" len="med"/>
          </a:ln>
        </p:spPr>
      </p:cxnSp>
      <p:cxnSp>
        <p:nvCxnSpPr>
          <p:cNvPr id="246" name="Google Shape;246;p9"/>
          <p:cNvCxnSpPr>
            <a:stCxn id="243" idx="3"/>
            <a:endCxn id="244" idx="1"/>
          </p:cNvCxnSpPr>
          <p:nvPr/>
        </p:nvCxnSpPr>
        <p:spPr>
          <a:xfrm>
            <a:off x="4764325" y="5504925"/>
            <a:ext cx="316500" cy="0"/>
          </a:xfrm>
          <a:prstGeom prst="straightConnector1">
            <a:avLst/>
          </a:prstGeom>
          <a:noFill/>
          <a:ln w="9525" cap="flat" cmpd="sng">
            <a:solidFill>
              <a:schemeClr val="dk2"/>
            </a:solidFill>
            <a:prstDash val="solid"/>
            <a:round/>
            <a:headEnd type="none" w="med" len="med"/>
            <a:tailEnd type="triangle" w="med" len="med"/>
          </a:ln>
        </p:spPr>
      </p:cxnSp>
      <p:cxnSp>
        <p:nvCxnSpPr>
          <p:cNvPr id="247" name="Google Shape;247;p9"/>
          <p:cNvCxnSpPr>
            <a:stCxn id="244" idx="3"/>
            <a:endCxn id="242" idx="0"/>
          </p:cNvCxnSpPr>
          <p:nvPr/>
        </p:nvCxnSpPr>
        <p:spPr>
          <a:xfrm>
            <a:off x="6478874" y="5504925"/>
            <a:ext cx="1041600" cy="218100"/>
          </a:xfrm>
          <a:prstGeom prst="straightConnector1">
            <a:avLst/>
          </a:prstGeom>
          <a:noFill/>
          <a:ln w="9525" cap="flat" cmpd="sng">
            <a:solidFill>
              <a:schemeClr val="dk2"/>
            </a:solidFill>
            <a:prstDash val="solid"/>
            <a:round/>
            <a:headEnd type="none" w="med" len="med"/>
            <a:tailEnd type="triangle" w="med" len="med"/>
          </a:ln>
        </p:spPr>
      </p:cxnSp>
      <p:sp>
        <p:nvSpPr>
          <p:cNvPr id="248" name="Google Shape;248;p9"/>
          <p:cNvSpPr txBox="1"/>
          <p:nvPr/>
        </p:nvSpPr>
        <p:spPr>
          <a:xfrm>
            <a:off x="3747175" y="61326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sp>
        <p:nvSpPr>
          <p:cNvPr id="249" name="Google Shape;249;p9"/>
          <p:cNvSpPr txBox="1"/>
          <p:nvPr/>
        </p:nvSpPr>
        <p:spPr>
          <a:xfrm>
            <a:off x="5458575" y="61357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cxnSp>
        <p:nvCxnSpPr>
          <p:cNvPr id="250" name="Google Shape;250;p9"/>
          <p:cNvCxnSpPr>
            <a:stCxn id="248" idx="0"/>
            <a:endCxn id="243" idx="2"/>
          </p:cNvCxnSpPr>
          <p:nvPr/>
        </p:nvCxnSpPr>
        <p:spPr>
          <a:xfrm rot="10800000">
            <a:off x="4065325" y="5743550"/>
            <a:ext cx="0" cy="389100"/>
          </a:xfrm>
          <a:prstGeom prst="straightConnector1">
            <a:avLst/>
          </a:prstGeom>
          <a:noFill/>
          <a:ln w="9525" cap="flat" cmpd="sng">
            <a:solidFill>
              <a:schemeClr val="dk2"/>
            </a:solidFill>
            <a:prstDash val="solid"/>
            <a:round/>
            <a:headEnd type="none" w="med" len="med"/>
            <a:tailEnd type="none" w="med" len="med"/>
          </a:ln>
        </p:spPr>
      </p:cxnSp>
      <p:cxnSp>
        <p:nvCxnSpPr>
          <p:cNvPr id="251" name="Google Shape;251;p9"/>
          <p:cNvCxnSpPr>
            <a:stCxn id="249" idx="0"/>
            <a:endCxn id="244" idx="2"/>
          </p:cNvCxnSpPr>
          <p:nvPr/>
        </p:nvCxnSpPr>
        <p:spPr>
          <a:xfrm rot="10800000" flipH="1">
            <a:off x="5776725" y="5743350"/>
            <a:ext cx="3000" cy="392400"/>
          </a:xfrm>
          <a:prstGeom prst="straightConnector1">
            <a:avLst/>
          </a:prstGeom>
          <a:noFill/>
          <a:ln w="9525" cap="flat" cmpd="sng">
            <a:solidFill>
              <a:schemeClr val="dk2"/>
            </a:solidFill>
            <a:prstDash val="solid"/>
            <a:round/>
            <a:headEnd type="none" w="med" len="med"/>
            <a:tailEnd type="none" w="med" len="med"/>
          </a:ln>
        </p:spPr>
      </p:cxnSp>
      <p:sp>
        <p:nvSpPr>
          <p:cNvPr id="252" name="Google Shape;252;p9"/>
          <p:cNvSpPr txBox="1"/>
          <p:nvPr/>
        </p:nvSpPr>
        <p:spPr>
          <a:xfrm>
            <a:off x="4197475" y="4758525"/>
            <a:ext cx="14502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Generator</a:t>
            </a:r>
            <a:endParaRPr sz="2100" b="1">
              <a:solidFill>
                <a:srgbClr val="6AA84F"/>
              </a:solidFill>
              <a:latin typeface="Corbel"/>
              <a:ea typeface="Corbel"/>
              <a:cs typeface="Corbel"/>
              <a:sym typeface="Corbel"/>
            </a:endParaRPr>
          </a:p>
        </p:txBody>
      </p:sp>
      <p:pic>
        <p:nvPicPr>
          <p:cNvPr id="18" name="Picture 17">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0"/>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259" name="Google Shape;259;p10"/>
          <p:cNvSpPr txBox="1">
            <a:spLocks noGrp="1"/>
          </p:cNvSpPr>
          <p:nvPr>
            <p:ph type="body" idx="1"/>
          </p:nvPr>
        </p:nvSpPr>
        <p:spPr>
          <a:xfrm>
            <a:off x="811763" y="1155523"/>
            <a:ext cx="7618087" cy="49802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4640"/>
              <a:buNone/>
            </a:pPr>
            <a:r>
              <a:rPr lang="en-US" sz="3200" b="1">
                <a:solidFill>
                  <a:srgbClr val="5B0505"/>
                </a:solidFill>
              </a:rPr>
              <a:t>4.</a:t>
            </a:r>
            <a:r>
              <a:rPr lang="en-US" sz="2900" b="1">
                <a:solidFill>
                  <a:srgbClr val="5B0505"/>
                </a:solidFill>
              </a:rPr>
              <a:t> Chosen-Ciphertext:</a:t>
            </a:r>
            <a:endParaRPr sz="2900" b="1" i="1"/>
          </a:p>
          <a:p>
            <a:pPr marL="742950" lvl="1" indent="-266700" algn="l" rtl="0">
              <a:spcBef>
                <a:spcPts val="1120"/>
              </a:spcBef>
              <a:spcAft>
                <a:spcPts val="0"/>
              </a:spcAft>
              <a:buSzPts val="3470"/>
              <a:buChar char="•"/>
            </a:pPr>
            <a:r>
              <a:rPr lang="en-US" sz="2300"/>
              <a:t> a cryptanalyst can analyse any chosen ciphertexts together with their corresponding plaintexts</a:t>
            </a:r>
            <a:endParaRPr sz="2300"/>
          </a:p>
          <a:p>
            <a:pPr marL="742950" lvl="1" indent="-266700" algn="l" rtl="0">
              <a:spcBef>
                <a:spcPts val="1120"/>
              </a:spcBef>
              <a:spcAft>
                <a:spcPts val="0"/>
              </a:spcAft>
              <a:buSzPts val="3470"/>
              <a:buChar char="•"/>
            </a:pPr>
            <a:r>
              <a:rPr lang="en-US" sz="2300"/>
              <a:t>If the analyst is able to choose the messages to decrypt, the analyst may deliberately pick patterns that can be expected to reveal the structure of the key.</a:t>
            </a:r>
            <a:endParaRPr sz="2300"/>
          </a:p>
          <a:p>
            <a:pPr marL="742950" lvl="1" indent="-192405" algn="l" rtl="0">
              <a:spcBef>
                <a:spcPts val="1120"/>
              </a:spcBef>
              <a:spcAft>
                <a:spcPts val="0"/>
              </a:spcAft>
              <a:buSzPts val="2300"/>
              <a:buChar char="•"/>
            </a:pPr>
            <a:r>
              <a:rPr lang="en-US" sz="2300"/>
              <a:t>used for breaking systems with public key encryption</a:t>
            </a:r>
            <a:endParaRPr sz="2300"/>
          </a:p>
          <a:p>
            <a:pPr marL="285750" lvl="0" indent="-120015" algn="l" rtl="0">
              <a:spcBef>
                <a:spcPts val="960"/>
              </a:spcBef>
              <a:spcAft>
                <a:spcPts val="0"/>
              </a:spcAft>
              <a:buSzPts val="2610"/>
              <a:buNone/>
            </a:pPr>
            <a:endParaRPr/>
          </a:p>
          <a:p>
            <a:pPr marL="285750" lvl="0" indent="0" algn="l" rtl="0">
              <a:spcBef>
                <a:spcPts val="1240"/>
              </a:spcBef>
              <a:spcAft>
                <a:spcPts val="0"/>
              </a:spcAft>
              <a:buSzPts val="4640"/>
              <a:buNone/>
            </a:pPr>
            <a:endParaRPr sz="3200" b="1">
              <a:solidFill>
                <a:srgbClr val="5B0505"/>
              </a:solidFill>
            </a:endParaRPr>
          </a:p>
          <a:p>
            <a:pPr marL="0" lvl="0" indent="0" algn="l" rtl="0">
              <a:spcBef>
                <a:spcPts val="1240"/>
              </a:spcBef>
              <a:spcAft>
                <a:spcPts val="0"/>
              </a:spcAft>
              <a:buSzPts val="4640"/>
              <a:buNone/>
            </a:pPr>
            <a:endParaRPr sz="3200"/>
          </a:p>
        </p:txBody>
      </p:sp>
      <p:sp>
        <p:nvSpPr>
          <p:cNvPr id="260" name="Google Shape;260;p10"/>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61" name="Google Shape;261;p10"/>
          <p:cNvSpPr txBox="1">
            <a:spLocks noGrp="1"/>
          </p:cNvSpPr>
          <p:nvPr>
            <p:ph type="sldNum" idx="4294967295"/>
          </p:nvPr>
        </p:nvSpPr>
        <p:spPr>
          <a:xfrm>
            <a:off x="8731250" y="6478588"/>
            <a:ext cx="4127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62" name="Google Shape;262;p10"/>
          <p:cNvSpPr txBox="1"/>
          <p:nvPr/>
        </p:nvSpPr>
        <p:spPr>
          <a:xfrm>
            <a:off x="1720475" y="5722975"/>
            <a:ext cx="1398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Plaintext</a:t>
            </a:r>
            <a:endParaRPr sz="2100" b="1">
              <a:solidFill>
                <a:srgbClr val="6AA84F"/>
              </a:solidFill>
              <a:latin typeface="Corbel"/>
              <a:ea typeface="Corbel"/>
              <a:cs typeface="Corbel"/>
              <a:sym typeface="Corbel"/>
            </a:endParaRPr>
          </a:p>
        </p:txBody>
      </p:sp>
      <p:sp>
        <p:nvSpPr>
          <p:cNvPr id="263" name="Google Shape;263;p10"/>
          <p:cNvSpPr txBox="1"/>
          <p:nvPr/>
        </p:nvSpPr>
        <p:spPr>
          <a:xfrm>
            <a:off x="6795400" y="5722975"/>
            <a:ext cx="14502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Ciphertext</a:t>
            </a:r>
            <a:endParaRPr sz="2100" b="1">
              <a:solidFill>
                <a:srgbClr val="6AA84F"/>
              </a:solidFill>
              <a:latin typeface="Corbel"/>
              <a:ea typeface="Corbel"/>
              <a:cs typeface="Corbel"/>
              <a:sym typeface="Corbel"/>
            </a:endParaRPr>
          </a:p>
        </p:txBody>
      </p:sp>
      <p:sp>
        <p:nvSpPr>
          <p:cNvPr id="264" name="Google Shape;264;p10"/>
          <p:cNvSpPr txBox="1"/>
          <p:nvPr/>
        </p:nvSpPr>
        <p:spPr>
          <a:xfrm>
            <a:off x="3366325"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Encryption</a:t>
            </a:r>
            <a:endParaRPr sz="1900" b="1">
              <a:solidFill>
                <a:srgbClr val="6AA84F"/>
              </a:solidFill>
              <a:latin typeface="Corbel"/>
              <a:ea typeface="Corbel"/>
              <a:cs typeface="Corbel"/>
              <a:sym typeface="Corbel"/>
            </a:endParaRPr>
          </a:p>
        </p:txBody>
      </p:sp>
      <p:sp>
        <p:nvSpPr>
          <p:cNvPr id="265" name="Google Shape;265;p10"/>
          <p:cNvSpPr txBox="1"/>
          <p:nvPr/>
        </p:nvSpPr>
        <p:spPr>
          <a:xfrm>
            <a:off x="5080874" y="5266425"/>
            <a:ext cx="13980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rgbClr val="6AA84F"/>
                </a:solidFill>
                <a:latin typeface="Corbel"/>
                <a:ea typeface="Corbel"/>
                <a:cs typeface="Corbel"/>
                <a:sym typeface="Corbel"/>
              </a:rPr>
              <a:t>Decryption</a:t>
            </a:r>
            <a:endParaRPr sz="1900" b="1">
              <a:solidFill>
                <a:srgbClr val="6AA84F"/>
              </a:solidFill>
              <a:latin typeface="Corbel"/>
              <a:ea typeface="Corbel"/>
              <a:cs typeface="Corbel"/>
              <a:sym typeface="Corbel"/>
            </a:endParaRPr>
          </a:p>
        </p:txBody>
      </p:sp>
      <p:cxnSp>
        <p:nvCxnSpPr>
          <p:cNvPr id="266" name="Google Shape;266;p10"/>
          <p:cNvCxnSpPr>
            <a:stCxn id="262" idx="0"/>
            <a:endCxn id="264" idx="1"/>
          </p:cNvCxnSpPr>
          <p:nvPr/>
        </p:nvCxnSpPr>
        <p:spPr>
          <a:xfrm rot="10800000" flipH="1">
            <a:off x="2419475" y="5504875"/>
            <a:ext cx="946800" cy="218100"/>
          </a:xfrm>
          <a:prstGeom prst="straightConnector1">
            <a:avLst/>
          </a:prstGeom>
          <a:noFill/>
          <a:ln w="9525" cap="flat" cmpd="sng">
            <a:solidFill>
              <a:schemeClr val="dk2"/>
            </a:solidFill>
            <a:prstDash val="solid"/>
            <a:round/>
            <a:headEnd type="none" w="med" len="med"/>
            <a:tailEnd type="triangle" w="med" len="med"/>
          </a:ln>
        </p:spPr>
      </p:cxnSp>
      <p:cxnSp>
        <p:nvCxnSpPr>
          <p:cNvPr id="267" name="Google Shape;267;p10"/>
          <p:cNvCxnSpPr>
            <a:stCxn id="264" idx="3"/>
            <a:endCxn id="265" idx="1"/>
          </p:cNvCxnSpPr>
          <p:nvPr/>
        </p:nvCxnSpPr>
        <p:spPr>
          <a:xfrm>
            <a:off x="4764325" y="5504925"/>
            <a:ext cx="316500" cy="0"/>
          </a:xfrm>
          <a:prstGeom prst="straightConnector1">
            <a:avLst/>
          </a:prstGeom>
          <a:noFill/>
          <a:ln w="9525" cap="flat" cmpd="sng">
            <a:solidFill>
              <a:schemeClr val="dk2"/>
            </a:solidFill>
            <a:prstDash val="solid"/>
            <a:round/>
            <a:headEnd type="none" w="med" len="med"/>
            <a:tailEnd type="triangle" w="med" len="med"/>
          </a:ln>
        </p:spPr>
      </p:cxnSp>
      <p:cxnSp>
        <p:nvCxnSpPr>
          <p:cNvPr id="268" name="Google Shape;268;p10"/>
          <p:cNvCxnSpPr>
            <a:stCxn id="265" idx="3"/>
            <a:endCxn id="263" idx="0"/>
          </p:cNvCxnSpPr>
          <p:nvPr/>
        </p:nvCxnSpPr>
        <p:spPr>
          <a:xfrm>
            <a:off x="6478874" y="5504925"/>
            <a:ext cx="1041600" cy="218100"/>
          </a:xfrm>
          <a:prstGeom prst="straightConnector1">
            <a:avLst/>
          </a:prstGeom>
          <a:noFill/>
          <a:ln w="9525" cap="flat" cmpd="sng">
            <a:solidFill>
              <a:schemeClr val="dk2"/>
            </a:solidFill>
            <a:prstDash val="solid"/>
            <a:round/>
            <a:headEnd type="none" w="med" len="med"/>
            <a:tailEnd type="triangle" w="med" len="med"/>
          </a:ln>
        </p:spPr>
      </p:cxnSp>
      <p:sp>
        <p:nvSpPr>
          <p:cNvPr id="269" name="Google Shape;269;p10"/>
          <p:cNvSpPr txBox="1"/>
          <p:nvPr/>
        </p:nvSpPr>
        <p:spPr>
          <a:xfrm>
            <a:off x="3747175" y="61326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sp>
        <p:nvSpPr>
          <p:cNvPr id="270" name="Google Shape;270;p10"/>
          <p:cNvSpPr txBox="1"/>
          <p:nvPr/>
        </p:nvSpPr>
        <p:spPr>
          <a:xfrm>
            <a:off x="5458575" y="6135750"/>
            <a:ext cx="636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FF0000"/>
                </a:solidFill>
                <a:latin typeface="Corbel"/>
                <a:ea typeface="Corbel"/>
                <a:cs typeface="Corbel"/>
                <a:sym typeface="Corbel"/>
              </a:rPr>
              <a:t>key</a:t>
            </a:r>
            <a:endParaRPr sz="2100" b="1">
              <a:solidFill>
                <a:srgbClr val="FF0000"/>
              </a:solidFill>
              <a:latin typeface="Corbel"/>
              <a:ea typeface="Corbel"/>
              <a:cs typeface="Corbel"/>
              <a:sym typeface="Corbel"/>
            </a:endParaRPr>
          </a:p>
        </p:txBody>
      </p:sp>
      <p:cxnSp>
        <p:nvCxnSpPr>
          <p:cNvPr id="271" name="Google Shape;271;p10"/>
          <p:cNvCxnSpPr>
            <a:stCxn id="269" idx="0"/>
            <a:endCxn id="264" idx="2"/>
          </p:cNvCxnSpPr>
          <p:nvPr/>
        </p:nvCxnSpPr>
        <p:spPr>
          <a:xfrm rot="10800000">
            <a:off x="4065325" y="5743550"/>
            <a:ext cx="0" cy="389100"/>
          </a:xfrm>
          <a:prstGeom prst="straightConnector1">
            <a:avLst/>
          </a:prstGeom>
          <a:noFill/>
          <a:ln w="9525" cap="flat" cmpd="sng">
            <a:solidFill>
              <a:schemeClr val="dk2"/>
            </a:solidFill>
            <a:prstDash val="solid"/>
            <a:round/>
            <a:headEnd type="none" w="med" len="med"/>
            <a:tailEnd type="none" w="med" len="med"/>
          </a:ln>
        </p:spPr>
      </p:cxnSp>
      <p:cxnSp>
        <p:nvCxnSpPr>
          <p:cNvPr id="272" name="Google Shape;272;p10"/>
          <p:cNvCxnSpPr>
            <a:stCxn id="270" idx="0"/>
            <a:endCxn id="265" idx="2"/>
          </p:cNvCxnSpPr>
          <p:nvPr/>
        </p:nvCxnSpPr>
        <p:spPr>
          <a:xfrm rot="10800000" flipH="1">
            <a:off x="5776725" y="5743350"/>
            <a:ext cx="3000" cy="392400"/>
          </a:xfrm>
          <a:prstGeom prst="straightConnector1">
            <a:avLst/>
          </a:prstGeom>
          <a:noFill/>
          <a:ln w="9525" cap="flat" cmpd="sng">
            <a:solidFill>
              <a:schemeClr val="dk2"/>
            </a:solidFill>
            <a:prstDash val="solid"/>
            <a:round/>
            <a:headEnd type="none" w="med" len="med"/>
            <a:tailEnd type="none" w="med" len="med"/>
          </a:ln>
        </p:spPr>
      </p:cxnSp>
      <p:sp>
        <p:nvSpPr>
          <p:cNvPr id="273" name="Google Shape;273;p10"/>
          <p:cNvSpPr txBox="1"/>
          <p:nvPr/>
        </p:nvSpPr>
        <p:spPr>
          <a:xfrm>
            <a:off x="4197475" y="4758525"/>
            <a:ext cx="14502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6AA84F"/>
                </a:solidFill>
                <a:latin typeface="Corbel"/>
                <a:ea typeface="Corbel"/>
                <a:cs typeface="Corbel"/>
                <a:sym typeface="Corbel"/>
              </a:rPr>
              <a:t>Generator</a:t>
            </a:r>
            <a:endParaRPr sz="2100" b="1">
              <a:solidFill>
                <a:srgbClr val="6AA84F"/>
              </a:solidFill>
              <a:latin typeface="Corbel"/>
              <a:ea typeface="Corbel"/>
              <a:cs typeface="Corbel"/>
              <a:sym typeface="Corbel"/>
            </a:endParaRPr>
          </a:p>
        </p:txBody>
      </p:sp>
      <p:pic>
        <p:nvPicPr>
          <p:cNvPr id="18" name="Picture 17">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2"/>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280" name="Google Shape;280;p1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281" name="Google Shape;281;p12"/>
          <p:cNvPicPr preferRelativeResize="0"/>
          <p:nvPr/>
        </p:nvPicPr>
        <p:blipFill rotWithShape="1">
          <a:blip r:embed="rId3">
            <a:alphaModFix/>
          </a:blip>
          <a:srcRect r="7114" b="1787"/>
          <a:stretch/>
        </p:blipFill>
        <p:spPr>
          <a:xfrm>
            <a:off x="885354" y="1096944"/>
            <a:ext cx="7329352" cy="5259406"/>
          </a:xfrm>
          <a:prstGeom prst="rect">
            <a:avLst/>
          </a:prstGeom>
          <a:noFill/>
          <a:ln>
            <a:noFill/>
          </a:ln>
        </p:spPr>
      </p:pic>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3"/>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288" name="Google Shape;288;p13"/>
          <p:cNvSpPr txBox="1">
            <a:spLocks noGrp="1"/>
          </p:cNvSpPr>
          <p:nvPr>
            <p:ph type="body" idx="1"/>
          </p:nvPr>
        </p:nvSpPr>
        <p:spPr>
          <a:xfrm>
            <a:off x="862254" y="2045539"/>
            <a:ext cx="7590095" cy="4980233"/>
          </a:xfrm>
          <a:prstGeom prst="rect">
            <a:avLst/>
          </a:prstGeom>
          <a:noFill/>
          <a:ln>
            <a:noFill/>
          </a:ln>
        </p:spPr>
        <p:txBody>
          <a:bodyPr spcFirstLastPara="1" wrap="square" lIns="91425" tIns="45700" rIns="91425" bIns="45700" anchor="ctr" anchorCtr="0">
            <a:noAutofit/>
          </a:bodyPr>
          <a:lstStyle/>
          <a:p>
            <a:pPr marL="285750" lvl="0" indent="-285750" algn="l" rtl="0">
              <a:spcBef>
                <a:spcPts val="0"/>
              </a:spcBef>
              <a:spcAft>
                <a:spcPts val="0"/>
              </a:spcAft>
              <a:buSzPts val="2900"/>
              <a:buChar char="•"/>
            </a:pPr>
            <a:r>
              <a:rPr lang="en-US" sz="2000"/>
              <a:t>Chosen ciphertext and chosen text are less commonly employed as cryptanalytic techniques but are nevertheless possible avenues of attack.</a:t>
            </a:r>
            <a:endParaRPr/>
          </a:p>
          <a:p>
            <a:pPr marL="285750" lvl="0" indent="-285750" algn="l" rtl="0">
              <a:spcBef>
                <a:spcPts val="1000"/>
              </a:spcBef>
              <a:spcAft>
                <a:spcPts val="0"/>
              </a:spcAft>
              <a:buSzPts val="2900"/>
              <a:buChar char="•"/>
            </a:pPr>
            <a:r>
              <a:rPr lang="en-US" sz="2000"/>
              <a:t>Only a relatively weak algorithm will fail to withstand a ciphertext-only attack.</a:t>
            </a:r>
            <a:endParaRPr/>
          </a:p>
          <a:p>
            <a:pPr marL="285750" lvl="0" indent="-285750" algn="l" rtl="0">
              <a:spcBef>
                <a:spcPts val="1000"/>
              </a:spcBef>
              <a:spcAft>
                <a:spcPts val="0"/>
              </a:spcAft>
              <a:buSzPts val="2900"/>
              <a:buChar char="•"/>
            </a:pPr>
            <a:r>
              <a:rPr lang="en-US" sz="2000"/>
              <a:t>Generally, an encryption algorithm is designed to withstand a </a:t>
            </a:r>
            <a:r>
              <a:rPr lang="en-US" sz="2000" b="1"/>
              <a:t>known-plaintext attack.</a:t>
            </a:r>
            <a:endParaRPr b="1"/>
          </a:p>
          <a:p>
            <a:pPr marL="285750" lvl="0" indent="-285750" algn="l" rtl="0">
              <a:spcBef>
                <a:spcPts val="1000"/>
              </a:spcBef>
              <a:spcAft>
                <a:spcPts val="0"/>
              </a:spcAft>
              <a:buSzPts val="2900"/>
              <a:buChar char="•"/>
            </a:pPr>
            <a:r>
              <a:rPr lang="en-US" sz="2000"/>
              <a:t>An encryption scheme is </a:t>
            </a:r>
            <a:r>
              <a:rPr lang="en-US" sz="2000" b="1"/>
              <a:t>computationally secure</a:t>
            </a:r>
            <a:r>
              <a:rPr lang="en-US" sz="2000"/>
              <a:t> if ciphertext generated by the scheme meets one or both of the criteria:</a:t>
            </a:r>
            <a:endParaRPr/>
          </a:p>
          <a:p>
            <a:pPr marL="285750" lvl="0" indent="-285750" algn="l" rtl="0">
              <a:spcBef>
                <a:spcPts val="1000"/>
              </a:spcBef>
              <a:spcAft>
                <a:spcPts val="0"/>
              </a:spcAft>
              <a:buSzPts val="2900"/>
              <a:buChar char="•"/>
            </a:pPr>
            <a:r>
              <a:rPr lang="en-US" sz="2000"/>
              <a:t>The cost of breaking the cipher exceeds the value of the encrypted information. </a:t>
            </a:r>
            <a:endParaRPr/>
          </a:p>
          <a:p>
            <a:pPr marL="285750" lvl="0" indent="-285750" algn="l" rtl="0">
              <a:spcBef>
                <a:spcPts val="1000"/>
              </a:spcBef>
              <a:spcAft>
                <a:spcPts val="0"/>
              </a:spcAft>
              <a:buSzPts val="2900"/>
              <a:buChar char="•"/>
            </a:pPr>
            <a:r>
              <a:rPr lang="en-US" sz="2000"/>
              <a:t>The time required to break the cipher exceeds the useful lifetime of the information.</a:t>
            </a:r>
            <a:endParaRPr/>
          </a:p>
          <a:p>
            <a:pPr marL="285750" lvl="0" indent="-101600" algn="l" rtl="0">
              <a:spcBef>
                <a:spcPts val="1000"/>
              </a:spcBef>
              <a:spcAft>
                <a:spcPts val="0"/>
              </a:spcAft>
              <a:buSzPts val="2900"/>
              <a:buNone/>
            </a:pPr>
            <a:endParaRPr sz="2000"/>
          </a:p>
          <a:p>
            <a:pPr marL="285750" lvl="0" indent="-101600" algn="l" rtl="0">
              <a:spcBef>
                <a:spcPts val="1000"/>
              </a:spcBef>
              <a:spcAft>
                <a:spcPts val="0"/>
              </a:spcAft>
              <a:buSzPts val="2900"/>
              <a:buNone/>
            </a:pPr>
            <a:endParaRPr sz="2000"/>
          </a:p>
          <a:p>
            <a:pPr marL="285750" lvl="0" indent="0" algn="l" rtl="0">
              <a:spcBef>
                <a:spcPts val="1240"/>
              </a:spcBef>
              <a:spcAft>
                <a:spcPts val="0"/>
              </a:spcAft>
              <a:buSzPts val="4640"/>
              <a:buNone/>
            </a:pPr>
            <a:endParaRPr sz="3200"/>
          </a:p>
        </p:txBody>
      </p:sp>
      <p:sp>
        <p:nvSpPr>
          <p:cNvPr id="289" name="Google Shape;289;p1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4"/>
          <p:cNvSpPr txBox="1">
            <a:spLocks noGrp="1"/>
          </p:cNvSpPr>
          <p:nvPr>
            <p:ph type="title"/>
          </p:nvPr>
        </p:nvSpPr>
        <p:spPr>
          <a:xfrm>
            <a:off x="457200" y="183198"/>
            <a:ext cx="8229600" cy="89923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200"/>
              <a:buFont typeface="Arial"/>
              <a:buNone/>
            </a:pPr>
            <a:r>
              <a:rPr lang="en-US" sz="3200" b="1">
                <a:solidFill>
                  <a:srgbClr val="002060"/>
                </a:solidFill>
                <a:latin typeface="Arial"/>
                <a:ea typeface="Arial"/>
                <a:cs typeface="Arial"/>
                <a:sym typeface="Arial"/>
              </a:rPr>
              <a:t>Cryptanalysis</a:t>
            </a:r>
            <a:endParaRPr/>
          </a:p>
        </p:txBody>
      </p:sp>
      <p:sp>
        <p:nvSpPr>
          <p:cNvPr id="296" name="Google Shape;296;p14"/>
          <p:cNvSpPr txBox="1">
            <a:spLocks noGrp="1"/>
          </p:cNvSpPr>
          <p:nvPr>
            <p:ph type="body" idx="1"/>
          </p:nvPr>
        </p:nvSpPr>
        <p:spPr>
          <a:xfrm>
            <a:off x="942392" y="1155523"/>
            <a:ext cx="7487458" cy="49802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4640"/>
              <a:buNone/>
            </a:pPr>
            <a:r>
              <a:rPr lang="en-US" sz="3200" b="1">
                <a:solidFill>
                  <a:srgbClr val="5B0505"/>
                </a:solidFill>
              </a:rPr>
              <a:t>Brute Force attack:</a:t>
            </a:r>
            <a:endParaRPr sz="3200" b="1" i="1"/>
          </a:p>
          <a:p>
            <a:pPr marL="285750" lvl="0" indent="-298450" algn="l" rtl="0">
              <a:spcBef>
                <a:spcPts val="960"/>
              </a:spcBef>
              <a:spcAft>
                <a:spcPts val="0"/>
              </a:spcAft>
              <a:buSzPts val="2810"/>
              <a:buChar char="•"/>
            </a:pPr>
            <a:r>
              <a:rPr lang="en-US" sz="2000"/>
              <a:t>Involves trying every possible key until an intelligible translation of the ciphertext into plaintext is obtained</a:t>
            </a:r>
            <a:endParaRPr sz="2000"/>
          </a:p>
          <a:p>
            <a:pPr marL="285750" lvl="0" indent="-298450" algn="l" rtl="0">
              <a:spcBef>
                <a:spcPts val="960"/>
              </a:spcBef>
              <a:spcAft>
                <a:spcPts val="0"/>
              </a:spcAft>
              <a:buSzPts val="2810"/>
              <a:buChar char="•"/>
            </a:pPr>
            <a:r>
              <a:rPr lang="en-US" sz="2000"/>
              <a:t>On average, half of all possible keys must be tried to achieve success.</a:t>
            </a:r>
            <a:endParaRPr sz="2000"/>
          </a:p>
          <a:p>
            <a:pPr marL="285750" lvl="0" indent="-298450" algn="l" rtl="0">
              <a:spcBef>
                <a:spcPts val="960"/>
              </a:spcBef>
              <a:spcAft>
                <a:spcPts val="0"/>
              </a:spcAft>
              <a:buSzPts val="2810"/>
              <a:buChar char="•"/>
            </a:pPr>
            <a:r>
              <a:rPr lang="en-US" sz="2000"/>
              <a:t>Suppose that a cipher has a 100 bit key</a:t>
            </a:r>
            <a:endParaRPr sz="2000"/>
          </a:p>
          <a:p>
            <a:pPr marL="742950" lvl="1" indent="-285750" algn="l" rtl="0">
              <a:spcBef>
                <a:spcPts val="960"/>
              </a:spcBef>
              <a:spcAft>
                <a:spcPts val="0"/>
              </a:spcAft>
              <a:buSzPts val="2320"/>
              <a:buChar char="•"/>
            </a:pPr>
            <a:r>
              <a:rPr lang="en-US" sz="1800"/>
              <a:t>Then keyspace is of size </a:t>
            </a:r>
            <a:r>
              <a:rPr lang="en-US" sz="2000">
                <a:latin typeface="Comic Sans MS"/>
                <a:ea typeface="Comic Sans MS"/>
                <a:cs typeface="Comic Sans MS"/>
                <a:sym typeface="Comic Sans MS"/>
              </a:rPr>
              <a:t>2</a:t>
            </a:r>
            <a:r>
              <a:rPr lang="en-US" sz="2600" baseline="30000">
                <a:latin typeface="Comic Sans MS"/>
                <a:ea typeface="Comic Sans MS"/>
                <a:cs typeface="Comic Sans MS"/>
                <a:sym typeface="Comic Sans MS"/>
              </a:rPr>
              <a:t>100</a:t>
            </a:r>
            <a:endParaRPr sz="1800"/>
          </a:p>
          <a:p>
            <a:pPr marL="285750" lvl="0" indent="-285750" algn="l" rtl="0">
              <a:spcBef>
                <a:spcPts val="960"/>
              </a:spcBef>
              <a:spcAft>
                <a:spcPts val="0"/>
              </a:spcAft>
              <a:buSzPts val="2610"/>
              <a:buChar char="•"/>
            </a:pPr>
            <a:r>
              <a:rPr lang="en-US" sz="2000"/>
              <a:t>On average, for exhaustive search Trudy tests </a:t>
            </a:r>
            <a:r>
              <a:rPr lang="en-US" sz="2000">
                <a:latin typeface="Comic Sans MS"/>
                <a:ea typeface="Comic Sans MS"/>
                <a:cs typeface="Comic Sans MS"/>
                <a:sym typeface="Comic Sans MS"/>
              </a:rPr>
              <a:t>2</a:t>
            </a:r>
            <a:r>
              <a:rPr lang="en-US" sz="2600" baseline="30000">
                <a:latin typeface="Comic Sans MS"/>
                <a:ea typeface="Comic Sans MS"/>
                <a:cs typeface="Comic Sans MS"/>
                <a:sym typeface="Comic Sans MS"/>
              </a:rPr>
              <a:t>100</a:t>
            </a:r>
            <a:r>
              <a:rPr lang="en-US" sz="2000">
                <a:latin typeface="Comic Sans MS"/>
                <a:ea typeface="Comic Sans MS"/>
                <a:cs typeface="Comic Sans MS"/>
                <a:sym typeface="Comic Sans MS"/>
              </a:rPr>
              <a:t>/2 = 2</a:t>
            </a:r>
            <a:r>
              <a:rPr lang="en-US" sz="2600" baseline="30000">
                <a:latin typeface="Comic Sans MS"/>
                <a:ea typeface="Comic Sans MS"/>
                <a:cs typeface="Comic Sans MS"/>
                <a:sym typeface="Comic Sans MS"/>
              </a:rPr>
              <a:t>99</a:t>
            </a:r>
            <a:r>
              <a:rPr lang="en-US" sz="2000">
                <a:latin typeface="Comic Sans MS"/>
                <a:ea typeface="Comic Sans MS"/>
                <a:cs typeface="Comic Sans MS"/>
                <a:sym typeface="Comic Sans MS"/>
              </a:rPr>
              <a:t> </a:t>
            </a:r>
            <a:r>
              <a:rPr lang="en-US" sz="2000"/>
              <a:t> keys</a:t>
            </a:r>
            <a:endParaRPr sz="2000"/>
          </a:p>
          <a:p>
            <a:pPr marL="285750" lvl="0" indent="-285750" algn="l" rtl="0">
              <a:spcBef>
                <a:spcPts val="960"/>
              </a:spcBef>
              <a:spcAft>
                <a:spcPts val="0"/>
              </a:spcAft>
              <a:buSzPts val="2610"/>
              <a:buChar char="•"/>
            </a:pPr>
            <a:r>
              <a:rPr lang="en-US" sz="2000"/>
              <a:t>Suppose Trudy can test </a:t>
            </a:r>
            <a:r>
              <a:rPr lang="en-US" sz="2000">
                <a:latin typeface="Comic Sans MS"/>
                <a:ea typeface="Comic Sans MS"/>
                <a:cs typeface="Comic Sans MS"/>
                <a:sym typeface="Comic Sans MS"/>
              </a:rPr>
              <a:t>2</a:t>
            </a:r>
            <a:r>
              <a:rPr lang="en-US" sz="2600" baseline="30000">
                <a:latin typeface="Comic Sans MS"/>
                <a:ea typeface="Comic Sans MS"/>
                <a:cs typeface="Comic Sans MS"/>
                <a:sym typeface="Comic Sans MS"/>
              </a:rPr>
              <a:t>30</a:t>
            </a:r>
            <a:r>
              <a:rPr lang="en-US" sz="2000"/>
              <a:t> keys/second</a:t>
            </a:r>
            <a:endParaRPr sz="2000"/>
          </a:p>
          <a:p>
            <a:pPr marL="742950" lvl="1" indent="-298450" algn="l" rtl="0">
              <a:spcBef>
                <a:spcPts val="960"/>
              </a:spcBef>
              <a:spcAft>
                <a:spcPts val="0"/>
              </a:spcAft>
              <a:buSzPts val="2520"/>
              <a:buChar char="•"/>
            </a:pPr>
            <a:r>
              <a:rPr lang="en-US" sz="1800"/>
              <a:t>Then she can find the key in about </a:t>
            </a:r>
            <a:r>
              <a:rPr lang="en-US" sz="2000" b="1">
                <a:solidFill>
                  <a:srgbClr val="FF0000"/>
                </a:solidFill>
              </a:rPr>
              <a:t>37.4 trillion years</a:t>
            </a:r>
            <a:endParaRPr sz="3600" b="1">
              <a:solidFill>
                <a:srgbClr val="FF0000"/>
              </a:solidFill>
            </a:endParaRPr>
          </a:p>
        </p:txBody>
      </p:sp>
      <p:sp>
        <p:nvSpPr>
          <p:cNvPr id="297" name="Google Shape;297;p14"/>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124474eb481_0_65"/>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200" b="1">
                <a:solidFill>
                  <a:srgbClr val="002060"/>
                </a:solidFill>
                <a:latin typeface="Arial"/>
                <a:ea typeface="Arial"/>
                <a:cs typeface="Arial"/>
                <a:sym typeface="Arial"/>
              </a:rPr>
              <a:t>Why Study Cryptanalysis?</a:t>
            </a:r>
            <a:endParaRPr/>
          </a:p>
        </p:txBody>
      </p:sp>
      <p:sp>
        <p:nvSpPr>
          <p:cNvPr id="312" name="Google Shape;312;g124474eb481_0_65"/>
          <p:cNvSpPr txBox="1">
            <a:spLocks noGrp="1"/>
          </p:cNvSpPr>
          <p:nvPr>
            <p:ph type="body" idx="1"/>
          </p:nvPr>
        </p:nvSpPr>
        <p:spPr>
          <a:xfrm>
            <a:off x="982125" y="1292475"/>
            <a:ext cx="7445400" cy="4743300"/>
          </a:xfrm>
          <a:prstGeom prst="rect">
            <a:avLst/>
          </a:prstGeom>
        </p:spPr>
        <p:txBody>
          <a:bodyPr spcFirstLastPara="1" wrap="square" lIns="91425" tIns="45700" rIns="91425" bIns="45700" anchor="ctr" anchorCtr="0">
            <a:normAutofit/>
          </a:bodyPr>
          <a:lstStyle/>
          <a:p>
            <a:pPr marL="457200" lvl="0" indent="-400050" algn="l" rtl="0">
              <a:spcBef>
                <a:spcPts val="360"/>
              </a:spcBef>
              <a:spcAft>
                <a:spcPts val="0"/>
              </a:spcAft>
              <a:buSzPts val="2700"/>
              <a:buChar char="•"/>
            </a:pPr>
            <a:r>
              <a:rPr lang="en-US" sz="2700"/>
              <a:t>Study of cryptanalysis gives insight into all aspects of crypto</a:t>
            </a:r>
            <a:endParaRPr sz="2700"/>
          </a:p>
          <a:p>
            <a:pPr marL="457200" lvl="0" indent="-400050" algn="l" rtl="0">
              <a:spcBef>
                <a:spcPts val="0"/>
              </a:spcBef>
              <a:spcAft>
                <a:spcPts val="0"/>
              </a:spcAft>
              <a:buSzPts val="2700"/>
              <a:buChar char="•"/>
            </a:pPr>
            <a:r>
              <a:rPr lang="en-US" sz="2700"/>
              <a:t>Also gain insight into attacker’s mindset</a:t>
            </a:r>
            <a:endParaRPr sz="2700"/>
          </a:p>
          <a:p>
            <a:pPr marL="914400" lvl="1" indent="-400050" algn="l" rtl="0">
              <a:spcBef>
                <a:spcPts val="0"/>
              </a:spcBef>
              <a:spcAft>
                <a:spcPts val="0"/>
              </a:spcAft>
              <a:buSzPts val="2700"/>
              <a:buChar char="•"/>
            </a:pPr>
            <a:r>
              <a:rPr lang="en-US" sz="2700"/>
              <a:t>“black hat” vs “white hat” mentality</a:t>
            </a:r>
            <a:endParaRPr sz="2700"/>
          </a:p>
          <a:p>
            <a:pPr marL="457200" lvl="0" indent="-400050" algn="l" rtl="0">
              <a:spcBef>
                <a:spcPts val="0"/>
              </a:spcBef>
              <a:spcAft>
                <a:spcPts val="0"/>
              </a:spcAft>
              <a:buSzPts val="2700"/>
              <a:buChar char="•"/>
            </a:pPr>
            <a:r>
              <a:rPr lang="en-US" sz="2700"/>
              <a:t>Cryptanalysis is more fun than cryptography</a:t>
            </a:r>
            <a:endParaRPr sz="2700"/>
          </a:p>
          <a:p>
            <a:pPr marL="914400" lvl="1" indent="-400050" algn="l" rtl="0">
              <a:spcBef>
                <a:spcPts val="0"/>
              </a:spcBef>
              <a:spcAft>
                <a:spcPts val="0"/>
              </a:spcAft>
              <a:buSzPts val="2700"/>
              <a:buChar char="•"/>
            </a:pPr>
            <a:r>
              <a:rPr lang="en-US" sz="2700"/>
              <a:t>Cryptographers are boring</a:t>
            </a:r>
            <a:endParaRPr sz="2700"/>
          </a:p>
          <a:p>
            <a:pPr marL="914400" lvl="1" indent="-400050" algn="l" rtl="0">
              <a:spcBef>
                <a:spcPts val="0"/>
              </a:spcBef>
              <a:spcAft>
                <a:spcPts val="0"/>
              </a:spcAft>
              <a:buSzPts val="2700"/>
              <a:buChar char="•"/>
            </a:pPr>
            <a:r>
              <a:rPr lang="en-US" sz="2700"/>
              <a:t>Cryptanalysts are cool</a:t>
            </a:r>
            <a:endParaRPr sz="2700"/>
          </a:p>
          <a:p>
            <a:pPr marL="457200" lvl="0" indent="-400050" algn="l" rtl="0">
              <a:spcBef>
                <a:spcPts val="0"/>
              </a:spcBef>
              <a:spcAft>
                <a:spcPts val="0"/>
              </a:spcAft>
              <a:buSzPts val="2700"/>
              <a:buChar char="•"/>
            </a:pPr>
            <a:r>
              <a:rPr lang="en-US" sz="2700"/>
              <a:t>But cryptanalysis is hard</a:t>
            </a:r>
            <a:endParaRPr sz="2700"/>
          </a:p>
        </p:txBody>
      </p:sp>
      <p:sp>
        <p:nvSpPr>
          <p:cNvPr id="313" name="Google Shape;313;g124474eb481_0_65"/>
          <p:cNvSpPr txBox="1">
            <a:spLocks noGrp="1"/>
          </p:cNvSpPr>
          <p:nvPr>
            <p:ph type="sldNum" idx="12"/>
          </p:nvPr>
        </p:nvSpPr>
        <p:spPr>
          <a:xfrm>
            <a:off x="8245608" y="6479246"/>
            <a:ext cx="413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pic>
        <p:nvPicPr>
          <p:cNvPr id="5" name="Picture 4">
            <a:extLst>
              <a:ext uri="{FF2B5EF4-FFF2-40B4-BE49-F238E27FC236}">
                <a16:creationId xmlns="" xmlns:a16="http://schemas.microsoft.com/office/drawing/2014/main" id="{E2AFAEB3-6993-417E-06AF-308C15B5D0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6084" y="4128139"/>
            <a:ext cx="2200013" cy="2749799"/>
          </a:xfrm>
          <a:prstGeom prst="rect">
            <a:avLst/>
          </a:prstGeom>
        </p:spPr>
      </p:pic>
    </p:spTree>
  </p:cSld>
  <p:clrMapOvr>
    <a:masterClrMapping/>
  </p:clrMapOvr>
</p:sld>
</file>

<file path=ppt/theme/theme1.xml><?xml version="1.0" encoding="utf-8"?>
<a:theme xmlns:a="http://schemas.openxmlformats.org/drawingml/2006/main" name="BRAC University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BRAC University Template</Template>
  <TotalTime>241</TotalTime>
  <Words>1183</Words>
  <Application>Microsoft Office PowerPoint</Application>
  <PresentationFormat>On-screen Show (4:3)</PresentationFormat>
  <Paragraphs>169</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Calibri</vt:lpstr>
      <vt:lpstr>Corbel</vt:lpstr>
      <vt:lpstr>Calibri Light (Headings)</vt:lpstr>
      <vt:lpstr>Comic Sans MS</vt:lpstr>
      <vt:lpstr>Arial</vt:lpstr>
      <vt:lpstr>Calibri Light</vt:lpstr>
      <vt:lpstr>BRAC University Template</vt:lpstr>
      <vt:lpstr>Cryptanalysis</vt:lpstr>
      <vt:lpstr>Cryptanalysis</vt:lpstr>
      <vt:lpstr>How to attack</vt:lpstr>
      <vt:lpstr>Cryptanalysis</vt:lpstr>
      <vt:lpstr>Cryptanalysis</vt:lpstr>
      <vt:lpstr>Cryptanalysis</vt:lpstr>
      <vt:lpstr>Cryptanalysis</vt:lpstr>
      <vt:lpstr>Cryptanalysis</vt:lpstr>
      <vt:lpstr>Cryptanalysis</vt:lpstr>
      <vt:lpstr>Cryptanalysis</vt:lpstr>
      <vt:lpstr>Cryptanalysis</vt:lpstr>
      <vt:lpstr>Cryptanalysis</vt:lpstr>
      <vt:lpstr>Cryptanalysis</vt:lpstr>
      <vt:lpstr>Cryptanalysis</vt:lpstr>
      <vt:lpstr>Why Study Cryptanalysis?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Cryptanalysis</dc:title>
  <dc:creator>Seemi</dc:creator>
  <cp:lastModifiedBy>Muhammad Iqbal Hossain</cp:lastModifiedBy>
  <cp:revision>9</cp:revision>
  <dcterms:created xsi:type="dcterms:W3CDTF">2015-04-10T12:56:27Z</dcterms:created>
  <dcterms:modified xsi:type="dcterms:W3CDTF">2025-01-28T09:13:07Z</dcterms:modified>
</cp:coreProperties>
</file>