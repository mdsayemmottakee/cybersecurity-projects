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notesSlides/notesSlide23.xml" ContentType="application/vnd.openxmlformats-officedocument.presentationml.notesSlide+xml"/>
  <Override PartName="/ppt/tags/tag2.xml" ContentType="application/vnd.openxmlformats-officedocument.presentationml.tags+xml"/>
  <Override PartName="/ppt/notesSlides/notesSlide24.xml" ContentType="application/vnd.openxmlformats-officedocument.presentationml.notesSlide+xml"/>
  <Override PartName="/ppt/tags/tag3.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2"/>
  </p:sldMasterIdLst>
  <p:notesMasterIdLst>
    <p:notesMasterId r:id="rId3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336" r:id="rId19"/>
    <p:sldId id="320" r:id="rId20"/>
    <p:sldId id="338" r:id="rId21"/>
    <p:sldId id="321" r:id="rId22"/>
    <p:sldId id="322" r:id="rId23"/>
    <p:sldId id="323" r:id="rId24"/>
    <p:sldId id="324" r:id="rId25"/>
    <p:sldId id="325" r:id="rId26"/>
    <p:sldId id="326" r:id="rId27"/>
    <p:sldId id="328" r:id="rId28"/>
    <p:sldId id="329" r:id="rId29"/>
    <p:sldId id="337" r:id="rId30"/>
    <p:sldId id="330" r:id="rId31"/>
    <p:sldId id="335" r:id="rId32"/>
  </p:sldIdLst>
  <p:sldSz cx="9144000" cy="6858000" type="screen4x3"/>
  <p:notesSz cx="7099300" cy="10234613"/>
  <p:embeddedFontLst>
    <p:embeddedFont>
      <p:font typeface="Times" panose="02020603050405020304" pitchFamily="18" charset="0"/>
      <p:regular r:id="rId34"/>
      <p:bold r:id="rId35"/>
      <p:italic r:id="rId36"/>
      <p:boldItalic r:id="rId37"/>
    </p:embeddedFont>
    <p:embeddedFont>
      <p:font typeface="Gulim" panose="020B0604020202020204" charset="-127"/>
      <p:regular r:id="rId38"/>
    </p:embeddedFont>
    <p:embeddedFont>
      <p:font typeface="Gill Sans" panose="020B0604020202020204" charset="0"/>
      <p:regular r:id="rId39"/>
      <p:bold r:id="rId40"/>
    </p:embeddedFont>
    <p:embeddedFont>
      <p:font typeface="Comic Sans MS" panose="030F0702030302020204" pitchFamily="66"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2D200454-40CA-4A62-9FC3-DE9A4176ACB9}">
      <p15:notesGuideLst xmlns:p15="http://schemas.microsoft.com/office/powerpoint/2012/main">
        <p15:guide id="1" orient="horz" pos="3223">
          <p15:clr>
            <a:srgbClr val="000000"/>
          </p15:clr>
        </p15:guide>
        <p15:guide id="2" pos="2236">
          <p15:clr>
            <a:srgbClr val="000000"/>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6" roundtripDataSignature="AMtx7mgOmUeByXfckTUyFBHW27o/MUeob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50FF958-2D59-45D1-AAC9-D27595FD7730}">
  <a:tblStyle styleId="{A50FF958-2D59-45D1-AAC9-D27595FD773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210" autoAdjust="0"/>
  </p:normalViewPr>
  <p:slideViewPr>
    <p:cSldViewPr snapToGrid="0">
      <p:cViewPr varScale="1">
        <p:scale>
          <a:sx n="91" d="100"/>
          <a:sy n="91" d="100"/>
        </p:scale>
        <p:origin x="2184" y="90"/>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223"/>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6.fntdata"/><Relationship Id="rId21" Type="http://schemas.openxmlformats.org/officeDocument/2006/relationships/slide" Target="slides/slide19.xml"/><Relationship Id="rId34" Type="http://schemas.openxmlformats.org/officeDocument/2006/relationships/font" Target="fonts/font1.fntdata"/><Relationship Id="rId42" Type="http://schemas.openxmlformats.org/officeDocument/2006/relationships/font" Target="fonts/font9.fntdata"/><Relationship Id="rId97"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4.fntdata"/><Relationship Id="rId40"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11.fntdata"/><Relationship Id="rId9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2.fntdata"/><Relationship Id="rId43" Type="http://schemas.openxmlformats.org/officeDocument/2006/relationships/font" Target="fonts/font10.fntdata"/><Relationship Id="rId100" Type="http://schemas.openxmlformats.org/officeDocument/2006/relationships/tableStyles" Target="tableStyles.xml"/><Relationship Id="rId8" Type="http://schemas.openxmlformats.org/officeDocument/2006/relationships/slide" Target="slides/slide6.xml"/><Relationship Id="rId98"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font" Target="fonts/font8.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76575" cy="511175"/>
          </a:xfrm>
          <a:prstGeom prst="rect">
            <a:avLst/>
          </a:prstGeom>
          <a:noFill/>
          <a:ln>
            <a:noFill/>
          </a:ln>
        </p:spPr>
        <p:txBody>
          <a:bodyPr spcFirstLastPara="1" wrap="square" lIns="99025" tIns="49500" rIns="99025" bIns="49500" anchor="t"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1pPr>
            <a:lvl2pPr marR="0" lvl="1"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2pPr>
            <a:lvl3pPr marR="0" lvl="2"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3pPr>
            <a:lvl4pPr marR="0" lvl="3"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4pPr>
            <a:lvl5pPr marR="0" lvl="4"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5pPr>
            <a:lvl6pPr marR="0" lvl="5"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6pPr>
            <a:lvl7pPr marR="0" lvl="6"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7pPr>
            <a:lvl8pPr marR="0" lvl="7"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8pPr>
            <a:lvl9pPr marR="0" lvl="8"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9pPr>
          </a:lstStyle>
          <a:p>
            <a:endParaRPr/>
          </a:p>
        </p:txBody>
      </p:sp>
      <p:sp>
        <p:nvSpPr>
          <p:cNvPr id="4" name="Google Shape;4;n"/>
          <p:cNvSpPr txBox="1">
            <a:spLocks noGrp="1"/>
          </p:cNvSpPr>
          <p:nvPr>
            <p:ph type="dt" idx="10"/>
          </p:nvPr>
        </p:nvSpPr>
        <p:spPr>
          <a:xfrm>
            <a:off x="4021137" y="0"/>
            <a:ext cx="3076575" cy="511175"/>
          </a:xfrm>
          <a:prstGeom prst="rect">
            <a:avLst/>
          </a:prstGeom>
          <a:noFill/>
          <a:ln>
            <a:noFill/>
          </a:ln>
        </p:spPr>
        <p:txBody>
          <a:bodyPr spcFirstLastPara="1" wrap="square" lIns="99025" tIns="49500" rIns="99025" bIns="49500" anchor="t" anchorCtr="0">
            <a:noAutofit/>
          </a:bodyPr>
          <a:lstStyle>
            <a:lvl1pPr marR="0" lvl="0" algn="r" rtl="0">
              <a:lnSpc>
                <a:spcPct val="100000"/>
              </a:lnSpc>
              <a:spcBef>
                <a:spcPts val="0"/>
              </a:spcBef>
              <a:spcAft>
                <a:spcPts val="0"/>
              </a:spcAft>
              <a:buSzPts val="1400"/>
              <a:buNone/>
              <a:defRPr sz="1300" b="0" i="0" u="none" strike="noStrike" cap="none">
                <a:solidFill>
                  <a:srgbClr val="000000"/>
                </a:solidFill>
                <a:latin typeface="Gulim"/>
                <a:ea typeface="Gulim"/>
                <a:cs typeface="Gulim"/>
                <a:sym typeface="Gulim"/>
              </a:defRPr>
            </a:lvl1pPr>
            <a:lvl2pPr marR="0" lvl="1"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2pPr>
            <a:lvl3pPr marR="0" lvl="2"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3pPr>
            <a:lvl4pPr marR="0" lvl="3"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4pPr>
            <a:lvl5pPr marR="0" lvl="4"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5pPr>
            <a:lvl6pPr marR="0" lvl="5"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6pPr>
            <a:lvl7pPr marR="0" lvl="6"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7pPr>
            <a:lvl8pPr marR="0" lvl="7"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8pPr>
            <a:lvl9pPr marR="0" lvl="8"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9pPr>
          </a:lstStyle>
          <a:p>
            <a:endParaRPr/>
          </a:p>
        </p:txBody>
      </p:sp>
      <p:sp>
        <p:nvSpPr>
          <p:cNvPr id="5" name="Google Shape;5;n"/>
          <p:cNvSpPr>
            <a:spLocks noGrp="1" noRot="1" noChangeAspect="1"/>
          </p:cNvSpPr>
          <p:nvPr>
            <p:ph type="sldImg" idx="3"/>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709612" y="4860925"/>
            <a:ext cx="5680075" cy="4605337"/>
          </a:xfrm>
          <a:prstGeom prst="rect">
            <a:avLst/>
          </a:prstGeom>
          <a:noFill/>
          <a:ln>
            <a:noFill/>
          </a:ln>
        </p:spPr>
        <p:txBody>
          <a:bodyPr spcFirstLastPara="1" wrap="square" lIns="99025" tIns="49500" rIns="99025" bIns="49500" anchor="t" anchorCtr="0">
            <a:norm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a:endParaRPr/>
          </a:p>
        </p:txBody>
      </p:sp>
      <p:sp>
        <p:nvSpPr>
          <p:cNvPr id="7" name="Google Shape;7;n"/>
          <p:cNvSpPr txBox="1">
            <a:spLocks noGrp="1"/>
          </p:cNvSpPr>
          <p:nvPr>
            <p:ph type="ftr" idx="11"/>
          </p:nvPr>
        </p:nvSpPr>
        <p:spPr>
          <a:xfrm>
            <a:off x="0" y="9721850"/>
            <a:ext cx="3076575" cy="511175"/>
          </a:xfrm>
          <a:prstGeom prst="rect">
            <a:avLst/>
          </a:prstGeom>
          <a:noFill/>
          <a:ln>
            <a:noFill/>
          </a:ln>
        </p:spPr>
        <p:txBody>
          <a:bodyPr spcFirstLastPara="1" wrap="square" lIns="99025" tIns="49500" rIns="99025" bIns="49500" anchor="b" anchorCtr="0">
            <a:noAutofit/>
          </a:bodyPr>
          <a:lstStyle>
            <a:lvl1pPr marR="0" lvl="0"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1pPr>
            <a:lvl2pPr marR="0" lvl="1"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2pPr>
            <a:lvl3pPr marR="0" lvl="2"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3pPr>
            <a:lvl4pPr marR="0" lvl="3"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4pPr>
            <a:lvl5pPr marR="0" lvl="4"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5pPr>
            <a:lvl6pPr marR="0" lvl="5"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6pPr>
            <a:lvl7pPr marR="0" lvl="6"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7pPr>
            <a:lvl8pPr marR="0" lvl="7"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8pPr>
            <a:lvl9pPr marR="0" lvl="8" algn="l" rtl="0">
              <a:lnSpc>
                <a:spcPct val="100000"/>
              </a:lnSpc>
              <a:spcBef>
                <a:spcPts val="0"/>
              </a:spcBef>
              <a:spcAft>
                <a:spcPts val="0"/>
              </a:spcAft>
              <a:buSzPts val="1400"/>
              <a:buNone/>
              <a:defRPr sz="1800" b="0" i="0" u="none" strike="noStrike" cap="none">
                <a:solidFill>
                  <a:srgbClr val="000000"/>
                </a:solidFill>
                <a:latin typeface="Gulim"/>
                <a:ea typeface="Gulim"/>
                <a:cs typeface="Gulim"/>
                <a:sym typeface="Gulim"/>
              </a:defRPr>
            </a:lvl9pPr>
          </a:lstStyle>
          <a:p>
            <a:endParaRPr/>
          </a:p>
        </p:txBody>
      </p:sp>
      <p:sp>
        <p:nvSpPr>
          <p:cNvPr id="8" name="Google Shape;8;n"/>
          <p:cNvSpPr txBox="1">
            <a:spLocks noGrp="1"/>
          </p:cNvSpPr>
          <p:nvPr>
            <p:ph type="sldNum" idx="12"/>
          </p:nvPr>
        </p:nvSpPr>
        <p:spPr>
          <a:xfrm>
            <a:off x="4021137" y="9721850"/>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Gulim"/>
              <a:buNone/>
            </a:pPr>
            <a:fld id="{00000000-1234-1234-1234-123412341234}" type="slidenum">
              <a:rPr lang="en-US" sz="1300" b="0" i="0" u="none" strike="noStrike" cap="none">
                <a:solidFill>
                  <a:srgbClr val="000000"/>
                </a:solidFill>
                <a:latin typeface="Gulim"/>
                <a:ea typeface="Gulim"/>
                <a:cs typeface="Gulim"/>
                <a:sym typeface="Gulim"/>
              </a:rPr>
              <a:t>‹#›</a:t>
            </a:fld>
            <a:endParaRPr/>
          </a:p>
        </p:txBody>
      </p:sp>
    </p:spTree>
    <p:extLst>
      <p:ext uri="{BB962C8B-B14F-4D97-AF65-F5344CB8AC3E}">
        <p14:creationId xmlns:p14="http://schemas.microsoft.com/office/powerpoint/2010/main" val="300840301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41" name="Google Shape;41;p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8744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51" name="Google Shape;51;p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848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p3: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59" name="Google Shape;59;p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73157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4: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67" name="Google Shape;67;p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9063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lnSpc>
                <a:spcPct val="115000"/>
              </a:lnSpc>
              <a:spcBef>
                <a:spcPts val="0"/>
              </a:spcBef>
              <a:spcAft>
                <a:spcPts val="0"/>
              </a:spcAft>
              <a:buNone/>
            </a:pPr>
            <a:r>
              <a:rPr lang="en-US" sz="1300">
                <a:solidFill>
                  <a:schemeClr val="dk1"/>
                </a:solidFill>
                <a:latin typeface="Times"/>
                <a:ea typeface="Times"/>
                <a:cs typeface="Times"/>
                <a:sym typeface="Times"/>
              </a:rPr>
              <a:t>log into a remote machine over a network. Such a login typically requires a password and rlogin simply sends the password in the clear, which might be observed by a snooping Trudy.</a:t>
            </a:r>
            <a:endParaRPr sz="1300">
              <a:solidFill>
                <a:schemeClr val="dk1"/>
              </a:solidFill>
              <a:latin typeface="Times"/>
              <a:ea typeface="Times"/>
              <a:cs typeface="Times"/>
              <a:sym typeface="Times"/>
            </a:endParaRPr>
          </a:p>
          <a:p>
            <a:pPr marL="0" lvl="0" indent="0" algn="l" rtl="0">
              <a:lnSpc>
                <a:spcPct val="115000"/>
              </a:lnSpc>
              <a:spcBef>
                <a:spcPts val="0"/>
              </a:spcBef>
              <a:spcAft>
                <a:spcPts val="0"/>
              </a:spcAft>
              <a:buNone/>
            </a:pPr>
            <a:r>
              <a:rPr lang="en-US" sz="1300">
                <a:solidFill>
                  <a:schemeClr val="dk1"/>
                </a:solidFill>
                <a:latin typeface="Times"/>
                <a:ea typeface="Times"/>
                <a:cs typeface="Times"/>
                <a:sym typeface="Times"/>
              </a:rPr>
              <a:t>By first establishing an SSH session, any inherently insecure command such as rlogin will be secure. That is, an SSH session provides confidentiality and integrity protection, thereby eliminating Trudy's ability to obtain passwords and other confidential information that would otherwise be sent unprotected.</a:t>
            </a:r>
            <a:endParaRPr sz="2300"/>
          </a:p>
        </p:txBody>
      </p:sp>
      <p:sp>
        <p:nvSpPr>
          <p:cNvPr id="76" name="Google Shape;76;p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8036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6: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84" name="Google Shape;84;p6: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48338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7: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92" name="Google Shape;92;p7:notes"/>
          <p:cNvSpPr txBox="1">
            <a:spLocks noGrp="1"/>
          </p:cNvSpPr>
          <p:nvPr>
            <p:ph type="body" idx="1"/>
          </p:nvPr>
        </p:nvSpPr>
        <p:spPr>
          <a:xfrm>
            <a:off x="709612" y="4860925"/>
            <a:ext cx="5680075" cy="4605337"/>
          </a:xfrm>
          <a:prstGeom prst="rect">
            <a:avLst/>
          </a:prstGeom>
          <a:noFill/>
          <a:ln>
            <a:noFill/>
          </a:ln>
        </p:spPr>
        <p:txBody>
          <a:bodyPr spcFirstLastPara="1" wrap="square" lIns="99025" tIns="49500" rIns="99025" bIns="49500" anchor="t" anchorCtr="0">
            <a:normAutofit/>
          </a:bodyPr>
          <a:lstStyle/>
          <a:p>
            <a:pPr marL="457200" lvl="0" indent="-307975" algn="l" rtl="0">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Alice identifies herself and she sends information regarding the crypto parameters that she prefers (crypto algorithms, key lengths, etc.), along with her nonce, RA.</a:t>
            </a:r>
            <a:endParaRPr sz="1250">
              <a:solidFill>
                <a:schemeClr val="dk1"/>
              </a:solidFill>
              <a:latin typeface="Times"/>
              <a:ea typeface="Times"/>
              <a:cs typeface="Times"/>
              <a:sym typeface="Times"/>
            </a:endParaRPr>
          </a:p>
          <a:p>
            <a:pPr marL="457200" lvl="0" indent="-307975" algn="l" rtl="0">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In message two, Bob selects from Alice's crypto parameters and returns his selections, along with his nonce, RB.</a:t>
            </a:r>
            <a:endParaRPr sz="1250">
              <a:solidFill>
                <a:schemeClr val="dk1"/>
              </a:solidFill>
              <a:latin typeface="Times"/>
              <a:ea typeface="Times"/>
              <a:cs typeface="Times"/>
              <a:sym typeface="Times"/>
            </a:endParaRPr>
          </a:p>
          <a:p>
            <a:pPr marL="457200" lvl="0" indent="-307975" algn="l" rtl="0">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Alice sends her Diffie-Hellman value</a:t>
            </a:r>
            <a:endParaRPr sz="1250">
              <a:solidFill>
                <a:schemeClr val="dk1"/>
              </a:solidFill>
              <a:latin typeface="Times"/>
              <a:ea typeface="Times"/>
              <a:cs typeface="Times"/>
              <a:sym typeface="Times"/>
            </a:endParaRPr>
          </a:p>
          <a:p>
            <a:pPr marL="457200" lvl="0" indent="-307975" algn="l" rtl="0">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Bob responds with his Diffie-Hellman value, his certificate, and SB,  which consists of a signed hash value.</a:t>
            </a:r>
            <a:endParaRPr sz="1250">
              <a:solidFill>
                <a:schemeClr val="dk1"/>
              </a:solidFill>
              <a:latin typeface="Times"/>
              <a:ea typeface="Times"/>
              <a:cs typeface="Times"/>
              <a:sym typeface="Times"/>
            </a:endParaRPr>
          </a:p>
          <a:p>
            <a:pPr marL="457200" lvl="0" indent="-307975" algn="l" rtl="0">
              <a:lnSpc>
                <a:spcPct val="115000"/>
              </a:lnSpc>
              <a:spcBef>
                <a:spcPts val="0"/>
              </a:spcBef>
              <a:spcAft>
                <a:spcPts val="0"/>
              </a:spcAft>
              <a:buClr>
                <a:schemeClr val="dk1"/>
              </a:buClr>
              <a:buSzPts val="1250"/>
              <a:buFont typeface="Times"/>
              <a:buAutoNum type="arabicPeriod"/>
            </a:pPr>
            <a:r>
              <a:rPr lang="en-US" sz="1250">
                <a:solidFill>
                  <a:schemeClr val="dk1"/>
                </a:solidFill>
                <a:latin typeface="Times"/>
                <a:ea typeface="Times"/>
                <a:cs typeface="Times"/>
                <a:sym typeface="Times"/>
              </a:rPr>
              <a:t>At this point, Alice is able to compute the key K,  and in the final message, she sends an encrypted block that contains her identity, her certificate, and her signed value SA</a:t>
            </a:r>
            <a:endParaRPr sz="1250">
              <a:solidFill>
                <a:schemeClr val="dk1"/>
              </a:solidFill>
              <a:latin typeface="Times"/>
              <a:ea typeface="Times"/>
              <a:cs typeface="Times"/>
              <a:sym typeface="Times"/>
            </a:endParaRPr>
          </a:p>
          <a:p>
            <a:pPr marL="0" lvl="0" indent="0" algn="l" rtl="0">
              <a:lnSpc>
                <a:spcPct val="115000"/>
              </a:lnSpc>
              <a:spcBef>
                <a:spcPts val="0"/>
              </a:spcBef>
              <a:spcAft>
                <a:spcPts val="0"/>
              </a:spcAft>
              <a:buNone/>
            </a:pPr>
            <a:endParaRPr sz="1250">
              <a:solidFill>
                <a:schemeClr val="dk1"/>
              </a:solidFill>
              <a:latin typeface="Times"/>
              <a:ea typeface="Times"/>
              <a:cs typeface="Times"/>
              <a:sym typeface="Times"/>
            </a:endParaRPr>
          </a:p>
          <a:p>
            <a:pPr marL="0" lvl="0" indent="0" algn="l" rtl="0">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The signatures are intended to provide mutual authentication. Note that the nonce RA  is Alice's challenge to Bob, and SB  is Bob's response. That is, the nonce RA  provides replay protection, and only Bob can give the correct response since a signature is required (assuming, of course, that his private key has not been compromised). A similar argument shows that Alice is authenticated in the final message. So, SSH provides mutual authentication.</a:t>
            </a:r>
            <a:endParaRPr sz="1400">
              <a:solidFill>
                <a:schemeClr val="dk1"/>
              </a:solidFill>
              <a:latin typeface="Times"/>
              <a:ea typeface="Times"/>
              <a:cs typeface="Times"/>
              <a:sym typeface="Times"/>
            </a:endParaRPr>
          </a:p>
          <a:p>
            <a:pPr marL="0" lvl="0" indent="0" algn="l" rtl="0">
              <a:lnSpc>
                <a:spcPct val="115000"/>
              </a:lnSpc>
              <a:spcBef>
                <a:spcPts val="0"/>
              </a:spcBef>
              <a:spcAft>
                <a:spcPts val="0"/>
              </a:spcAft>
              <a:buNone/>
            </a:pPr>
            <a:endParaRPr sz="1250">
              <a:solidFill>
                <a:schemeClr val="dk1"/>
              </a:solidFill>
              <a:latin typeface="Times"/>
              <a:ea typeface="Times"/>
              <a:cs typeface="Times"/>
              <a:sym typeface="Times"/>
            </a:endParaRPr>
          </a:p>
        </p:txBody>
      </p:sp>
      <p:sp>
        <p:nvSpPr>
          <p:cNvPr id="93" name="Google Shape;93;p7:notes"/>
          <p:cNvSpPr txBox="1"/>
          <p:nvPr/>
        </p:nvSpPr>
        <p:spPr>
          <a:xfrm>
            <a:off x="4021137" y="9721850"/>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Gulim"/>
              <a:buNone/>
            </a:pPr>
            <a:fld id="{00000000-1234-1234-1234-123412341234}" type="slidenum">
              <a:rPr lang="en-US" sz="1300" b="0" i="0" u="none">
                <a:solidFill>
                  <a:srgbClr val="000000"/>
                </a:solidFill>
                <a:latin typeface="Gulim"/>
                <a:ea typeface="Gulim"/>
                <a:cs typeface="Gulim"/>
                <a:sym typeface="Gulim"/>
              </a:rPr>
              <a:t>7</a:t>
            </a:fld>
            <a:endParaRPr/>
          </a:p>
        </p:txBody>
      </p:sp>
    </p:spTree>
    <p:extLst>
      <p:ext uri="{BB962C8B-B14F-4D97-AF65-F5344CB8AC3E}">
        <p14:creationId xmlns:p14="http://schemas.microsoft.com/office/powerpoint/2010/main" val="12116121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8: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a:t>Bob can attack but its of no use. The authentication failed.</a:t>
            </a:r>
            <a:endParaRPr/>
          </a:p>
        </p:txBody>
      </p:sp>
      <p:sp>
        <p:nvSpPr>
          <p:cNvPr id="115" name="Google Shape;115;p8: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6134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9" name="Google Shape;149;p9:notes"/>
          <p:cNvSpPr txBox="1">
            <a:spLocks noGrp="1"/>
          </p:cNvSpPr>
          <p:nvPr>
            <p:ph type="body" idx="1"/>
          </p:nvPr>
        </p:nvSpPr>
        <p:spPr>
          <a:xfrm>
            <a:off x="709612" y="4860925"/>
            <a:ext cx="5680075" cy="4605337"/>
          </a:xfrm>
          <a:prstGeom prst="rect">
            <a:avLst/>
          </a:prstGeom>
          <a:noFill/>
          <a:ln>
            <a:noFill/>
          </a:ln>
        </p:spPr>
        <p:txBody>
          <a:bodyPr spcFirstLastPara="1" wrap="square" lIns="99025" tIns="49500" rIns="99025" bIns="49500" anchor="t" anchorCtr="0">
            <a:noAutofit/>
          </a:bodyPr>
          <a:lstStyle/>
          <a:p>
            <a:pPr marL="0" lvl="0" indent="0" algn="l" rtl="0">
              <a:spcBef>
                <a:spcPts val="0"/>
              </a:spcBef>
              <a:spcAft>
                <a:spcPts val="0"/>
              </a:spcAft>
              <a:buSzPts val="1800"/>
              <a:buNone/>
            </a:pPr>
            <a:r>
              <a:rPr lang="en-US"/>
              <a:t>http</a:t>
            </a:r>
            <a:endParaRPr/>
          </a:p>
          <a:p>
            <a:pPr marL="0" lvl="0" indent="0" algn="l" rtl="0">
              <a:spcBef>
                <a:spcPts val="0"/>
              </a:spcBef>
              <a:spcAft>
                <a:spcPts val="0"/>
              </a:spcAft>
              <a:buSzPts val="1800"/>
              <a:buNone/>
            </a:pPr>
            <a:r>
              <a:rPr lang="en-US"/>
              <a:t>…socket layer</a:t>
            </a:r>
            <a:endParaRPr/>
          </a:p>
          <a:p>
            <a:pPr marL="0" lvl="0" indent="0" algn="l" rtl="0">
              <a:spcBef>
                <a:spcPts val="0"/>
              </a:spcBef>
              <a:spcAft>
                <a:spcPts val="0"/>
              </a:spcAft>
              <a:buSzPts val="1800"/>
              <a:buNone/>
            </a:pPr>
            <a:r>
              <a:rPr lang="en-US"/>
              <a:t>tcp</a:t>
            </a:r>
            <a:endParaRPr/>
          </a:p>
          <a:p>
            <a:pPr marL="0" lvl="0" indent="0" algn="l" rtl="0">
              <a:lnSpc>
                <a:spcPct val="115000"/>
              </a:lnSpc>
              <a:spcBef>
                <a:spcPts val="0"/>
              </a:spcBef>
              <a:spcAft>
                <a:spcPts val="0"/>
              </a:spcAft>
              <a:buSzPts val="1100"/>
              <a:buNone/>
            </a:pPr>
            <a:r>
              <a:rPr lang="en-US" sz="1400">
                <a:solidFill>
                  <a:schemeClr val="dk1"/>
                </a:solidFill>
                <a:latin typeface="Times"/>
                <a:ea typeface="Times"/>
                <a:cs typeface="Times"/>
                <a:sym typeface="Times"/>
              </a:rPr>
              <a:t>"socket layer" lives between the application layer and the transport layer in the Internet protocol stack, as illustrated in Figure 10.2. In practice, </a:t>
            </a:r>
            <a:endParaRPr/>
          </a:p>
        </p:txBody>
      </p:sp>
      <p:sp>
        <p:nvSpPr>
          <p:cNvPr id="150" name="Google Shape;150;p9:notes"/>
          <p:cNvSpPr txBox="1"/>
          <p:nvPr/>
        </p:nvSpPr>
        <p:spPr>
          <a:xfrm>
            <a:off x="4021137" y="9721850"/>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Gulim"/>
              <a:buNone/>
            </a:pPr>
            <a:fld id="{00000000-1234-1234-1234-123412341234}" type="slidenum">
              <a:rPr lang="en-US" sz="1300" b="0" i="0" u="none">
                <a:solidFill>
                  <a:srgbClr val="000000"/>
                </a:solidFill>
                <a:latin typeface="Gulim"/>
                <a:ea typeface="Gulim"/>
                <a:cs typeface="Gulim"/>
                <a:sym typeface="Gulim"/>
              </a:rPr>
              <a:t>9</a:t>
            </a:fld>
            <a:endParaRPr/>
          </a:p>
        </p:txBody>
      </p:sp>
    </p:spTree>
    <p:extLst>
      <p:ext uri="{BB962C8B-B14F-4D97-AF65-F5344CB8AC3E}">
        <p14:creationId xmlns:p14="http://schemas.microsoft.com/office/powerpoint/2010/main" val="624860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524288"/>
            <a:headEnd type="none" w="sm" len="sm"/>
            <a:tailEnd type="none" w="sm" len="sm"/>
          </a:ln>
        </p:spPr>
      </p:sp>
      <p:sp>
        <p:nvSpPr>
          <p:cNvPr id="159" name="Google Shape;159;p10:notes"/>
          <p:cNvSpPr txBox="1">
            <a:spLocks noGrp="1"/>
          </p:cNvSpPr>
          <p:nvPr>
            <p:ph type="body" idx="1"/>
          </p:nvPr>
        </p:nvSpPr>
        <p:spPr>
          <a:xfrm>
            <a:off x="709612" y="4860925"/>
            <a:ext cx="5680075" cy="4605337"/>
          </a:xfrm>
          <a:prstGeom prst="rect">
            <a:avLst/>
          </a:prstGeom>
          <a:noFill/>
          <a:ln>
            <a:noFill/>
          </a:ln>
        </p:spPr>
        <p:txBody>
          <a:bodyPr spcFirstLastPara="1" wrap="square" lIns="99025" tIns="49500" rIns="99025" bIns="495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SSL most often deals with Web browsing, in which case the application layer protocol is HTTP and the transport layer protocol is TCP.</a:t>
            </a:r>
            <a:endParaRPr sz="1400">
              <a:solidFill>
                <a:schemeClr val="dk1"/>
              </a:solidFill>
              <a:latin typeface="Times"/>
              <a:ea typeface="Times"/>
              <a:cs typeface="Times"/>
              <a:sym typeface="Times"/>
            </a:endParaRPr>
          </a:p>
          <a:p>
            <a:pPr marL="0" lvl="0" indent="0" algn="l" rtl="0">
              <a:spcBef>
                <a:spcPts val="0"/>
              </a:spcBef>
              <a:spcAft>
                <a:spcPts val="0"/>
              </a:spcAft>
              <a:buNone/>
            </a:pPr>
            <a:endParaRPr/>
          </a:p>
        </p:txBody>
      </p:sp>
      <p:sp>
        <p:nvSpPr>
          <p:cNvPr id="160" name="Google Shape;160;p10:notes"/>
          <p:cNvSpPr txBox="1"/>
          <p:nvPr/>
        </p:nvSpPr>
        <p:spPr>
          <a:xfrm>
            <a:off x="4021137" y="9721850"/>
            <a:ext cx="3076575" cy="511175"/>
          </a:xfrm>
          <a:prstGeom prst="rect">
            <a:avLst/>
          </a:prstGeom>
          <a:noFill/>
          <a:ln>
            <a:noFill/>
          </a:ln>
        </p:spPr>
        <p:txBody>
          <a:bodyPr spcFirstLastPara="1" wrap="square" lIns="99025" tIns="49500" rIns="99025" bIns="49500" anchor="b" anchorCtr="0">
            <a:noAutofit/>
          </a:bodyPr>
          <a:lstStyle/>
          <a:p>
            <a:pPr marL="0" marR="0" lvl="0" indent="0" algn="r" rtl="0">
              <a:lnSpc>
                <a:spcPct val="100000"/>
              </a:lnSpc>
              <a:spcBef>
                <a:spcPts val="0"/>
              </a:spcBef>
              <a:spcAft>
                <a:spcPts val="0"/>
              </a:spcAft>
              <a:buClr>
                <a:srgbClr val="000000"/>
              </a:buClr>
              <a:buSzPts val="1300"/>
              <a:buFont typeface="Gulim"/>
              <a:buNone/>
            </a:pPr>
            <a:fld id="{00000000-1234-1234-1234-123412341234}" type="slidenum">
              <a:rPr lang="en-US" sz="1300" b="0" i="0" u="none">
                <a:solidFill>
                  <a:srgbClr val="000000"/>
                </a:solidFill>
                <a:latin typeface="Gulim"/>
                <a:ea typeface="Gulim"/>
                <a:cs typeface="Gulim"/>
                <a:sym typeface="Gulim"/>
              </a:rPr>
              <a:t>10</a:t>
            </a:fld>
            <a:endParaRPr/>
          </a:p>
        </p:txBody>
      </p:sp>
    </p:spTree>
    <p:extLst>
      <p:ext uri="{BB962C8B-B14F-4D97-AF65-F5344CB8AC3E}">
        <p14:creationId xmlns:p14="http://schemas.microsoft.com/office/powerpoint/2010/main" val="3062737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1: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188" name="Google Shape;188;p11: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4125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2: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sz="1400" dirty="0"/>
              <a:t>2. Certificate have public key, identity, signed by CA. So Alice trust its bob.</a:t>
            </a:r>
            <a:endParaRPr sz="1400" dirty="0"/>
          </a:p>
          <a:p>
            <a:pPr marL="0" lvl="0" indent="0" algn="l" rtl="0">
              <a:spcBef>
                <a:spcPts val="0"/>
              </a:spcBef>
              <a:spcAft>
                <a:spcPts val="0"/>
              </a:spcAft>
              <a:buNone/>
            </a:pPr>
            <a:endParaRPr sz="1400" dirty="0"/>
          </a:p>
          <a:p>
            <a:pPr marL="0" lvl="0" indent="0" algn="l" rtl="0">
              <a:lnSpc>
                <a:spcPct val="115000"/>
              </a:lnSpc>
              <a:spcBef>
                <a:spcPts val="0"/>
              </a:spcBef>
              <a:spcAft>
                <a:spcPts val="0"/>
              </a:spcAft>
              <a:buClr>
                <a:schemeClr val="dk1"/>
              </a:buClr>
              <a:buSzPts val="1100"/>
              <a:buFont typeface="Arial"/>
              <a:buNone/>
            </a:pPr>
            <a:r>
              <a:rPr lang="en-US" sz="1400" dirty="0">
                <a:solidFill>
                  <a:schemeClr val="dk1"/>
                </a:solidFill>
                <a:latin typeface="Times"/>
                <a:ea typeface="Times"/>
                <a:cs typeface="Times"/>
                <a:sym typeface="Times"/>
              </a:rPr>
              <a:t>3. Then Alice will encrypt a symmetric key KAB with Bob's public key and send the encrypted key to Bob. This symmetric key is used to encrypt and integrity protect subsequent communications.</a:t>
            </a:r>
            <a:endParaRPr sz="1400" dirty="0">
              <a:solidFill>
                <a:schemeClr val="dk1"/>
              </a:solidFill>
              <a:latin typeface="Times"/>
              <a:ea typeface="Times"/>
              <a:cs typeface="Times"/>
              <a:sym typeface="Times"/>
            </a:endParaRPr>
          </a:p>
          <a:p>
            <a:pPr marL="0" lvl="0" indent="0" algn="l" rtl="0">
              <a:spcBef>
                <a:spcPts val="0"/>
              </a:spcBef>
              <a:spcAft>
                <a:spcPts val="0"/>
              </a:spcAft>
              <a:buNone/>
            </a:pPr>
            <a:endParaRPr sz="1400" dirty="0"/>
          </a:p>
          <a:p>
            <a:pPr marL="0" lvl="0" indent="0" algn="l" rtl="0">
              <a:spcBef>
                <a:spcPts val="0"/>
              </a:spcBef>
              <a:spcAft>
                <a:spcPts val="0"/>
              </a:spcAft>
              <a:buNone/>
            </a:pPr>
            <a:r>
              <a:rPr lang="en-US" sz="1400" dirty="0"/>
              <a:t>Here is no authentication.</a:t>
            </a:r>
            <a:endParaRPr sz="1400" dirty="0"/>
          </a:p>
        </p:txBody>
      </p:sp>
      <p:sp>
        <p:nvSpPr>
          <p:cNvPr id="196" name="Google Shape;196;p12: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7230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3: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457200" lvl="0" indent="-317500" algn="l" rtl="0">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Alice informs Bob that she would like to establish an SSL connection, and she passes a list of ciphers that she supports, along with a nonce RA.</a:t>
            </a:r>
            <a:endParaRPr sz="1400">
              <a:solidFill>
                <a:schemeClr val="dk1"/>
              </a:solidFill>
              <a:latin typeface="Times"/>
              <a:ea typeface="Times"/>
              <a:cs typeface="Times"/>
              <a:sym typeface="Times"/>
            </a:endParaRPr>
          </a:p>
          <a:p>
            <a:pPr marL="457200" lvl="0" indent="-317500" algn="l" rtl="0">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responds with his certificate, he selects one of the ciphers from the cipher list that Alice sent in message one, and he sends a nonce RB.</a:t>
            </a:r>
            <a:endParaRPr sz="1400">
              <a:solidFill>
                <a:schemeClr val="dk1"/>
              </a:solidFill>
              <a:latin typeface="Times"/>
              <a:ea typeface="Times"/>
              <a:cs typeface="Times"/>
              <a:sym typeface="Times"/>
            </a:endParaRPr>
          </a:p>
          <a:p>
            <a:pPr marL="457200" lvl="0" indent="-317500" algn="l" rtl="0">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Alice sends the so-called pre-master secret S,  which she randomly generated, along with a hash that is encrypted with the key K. In this hash, "msgs" includes all previous messages and CLNT is a literal string. Why hash is used? Because the hash is used as an integrity check to verify that the previous messages have been received correctly.</a:t>
            </a:r>
            <a:endParaRPr sz="1400">
              <a:solidFill>
                <a:schemeClr val="dk1"/>
              </a:solidFill>
              <a:latin typeface="Times"/>
              <a:ea typeface="Times"/>
              <a:cs typeface="Times"/>
              <a:sym typeface="Times"/>
            </a:endParaRPr>
          </a:p>
          <a:p>
            <a:pPr marL="457200" lvl="0" indent="-317500" algn="l" rtl="0">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responds with a similar hash. By computing this hash herself, Alice can verify that Bob received the messages correctly, and she can authenticate Bob, since only Bob could have decrypted S,  which is required to generate the key K. At this point, Alice has authenticated Bob, and Alice and Bob have established a shared session key K,  which they can use to encrypt and integrity protect subsequent messages.</a:t>
            </a:r>
            <a:endParaRPr sz="1400">
              <a:solidFill>
                <a:schemeClr val="dk1"/>
              </a:solidFill>
              <a:latin typeface="Times"/>
              <a:ea typeface="Times"/>
              <a:cs typeface="Times"/>
              <a:sym typeface="Times"/>
            </a:endParaRPr>
          </a:p>
          <a:p>
            <a:pPr marL="457200" lvl="0" indent="-317500" algn="l" rtl="0">
              <a:lnSpc>
                <a:spcPct val="115000"/>
              </a:lnSpc>
              <a:spcBef>
                <a:spcPts val="0"/>
              </a:spcBef>
              <a:spcAft>
                <a:spcPts val="0"/>
              </a:spcAft>
              <a:buClr>
                <a:schemeClr val="dk1"/>
              </a:buClr>
              <a:buSzPts val="1400"/>
              <a:buFont typeface="Times"/>
              <a:buAutoNum type="arabicPeriod"/>
            </a:pPr>
            <a:r>
              <a:rPr lang="en-US" sz="1400">
                <a:solidFill>
                  <a:schemeClr val="dk1"/>
                </a:solidFill>
                <a:latin typeface="Times"/>
                <a:ea typeface="Times"/>
                <a:cs typeface="Times"/>
                <a:sym typeface="Times"/>
              </a:rPr>
              <a:t>Bob cannot authenticate Alice.</a:t>
            </a:r>
            <a:endParaRPr sz="1400">
              <a:solidFill>
                <a:schemeClr val="dk1"/>
              </a:solidFill>
              <a:latin typeface="Times"/>
              <a:ea typeface="Times"/>
              <a:cs typeface="Times"/>
              <a:sym typeface="Times"/>
            </a:endParaRPr>
          </a:p>
          <a:p>
            <a:pPr marL="0" lvl="0" indent="0" algn="l" rtl="0">
              <a:spcBef>
                <a:spcPts val="0"/>
              </a:spcBef>
              <a:spcAft>
                <a:spcPts val="0"/>
              </a:spcAft>
              <a:buNone/>
            </a:pPr>
            <a:endParaRPr sz="1400"/>
          </a:p>
        </p:txBody>
      </p:sp>
      <p:sp>
        <p:nvSpPr>
          <p:cNvPr id="216" name="Google Shape;216;p13: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08053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4: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400">
                <a:solidFill>
                  <a:schemeClr val="dk1"/>
                </a:solidFill>
                <a:latin typeface="Times"/>
                <a:ea typeface="Times"/>
                <a:cs typeface="Times"/>
                <a:sym typeface="Times"/>
              </a:rPr>
              <a:t>In reality, more than one key is derived from the hash h(S,RA,RB)- In fact, the following six quantities are generated from this hash.</a:t>
            </a:r>
            <a:endParaRPr sz="1400">
              <a:solidFill>
                <a:schemeClr val="dk1"/>
              </a:solidFill>
              <a:latin typeface="Times"/>
              <a:ea typeface="Times"/>
              <a:cs typeface="Times"/>
              <a:sym typeface="Times"/>
            </a:endParaRPr>
          </a:p>
          <a:p>
            <a:pPr marL="0" lvl="0" indent="0" algn="l" rtl="0">
              <a:spcBef>
                <a:spcPts val="0"/>
              </a:spcBef>
              <a:spcAft>
                <a:spcPts val="0"/>
              </a:spcAft>
              <a:buNone/>
            </a:pPr>
            <a:r>
              <a:rPr lang="en-US" sz="1400"/>
              <a:t>Why we need this? Trudy can </a:t>
            </a:r>
            <a:endParaRPr sz="1400"/>
          </a:p>
        </p:txBody>
      </p:sp>
      <p:sp>
        <p:nvSpPr>
          <p:cNvPr id="238" name="Google Shape;238;p14: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5856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5: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a:t>Everybody need CA for client. Why bother?</a:t>
            </a:r>
            <a:endParaRPr/>
          </a:p>
        </p:txBody>
      </p:sp>
      <p:sp>
        <p:nvSpPr>
          <p:cNvPr id="246" name="Google Shape;246;p15:notes"/>
          <p:cNvSpPr>
            <a:spLocks noGrp="1" noRot="1" noChangeAspect="1"/>
          </p:cNvSpPr>
          <p:nvPr>
            <p:ph type="sldImg" idx="2"/>
          </p:nvPr>
        </p:nvSpPr>
        <p:spPr>
          <a:xfrm>
            <a:off x="992187" y="768350"/>
            <a:ext cx="5114925" cy="3836987"/>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5512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16: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dirty="0"/>
              <a:t>Who verify the certificate? does Alice check the certificate by herself? NO, the browser does that.</a:t>
            </a:r>
            <a:endParaRPr dirty="0"/>
          </a:p>
          <a:p>
            <a:pPr marL="0" lvl="0" indent="0" algn="l" rtl="0">
              <a:spcBef>
                <a:spcPts val="0"/>
              </a:spcBef>
              <a:spcAft>
                <a:spcPts val="0"/>
              </a:spcAft>
              <a:buNone/>
            </a:pPr>
            <a:r>
              <a:rPr lang="en-US" dirty="0"/>
              <a:t>What Alice do, she ignore the message and accept the consequences and say </a:t>
            </a:r>
            <a:r>
              <a:rPr lang="en-US" dirty="0" err="1"/>
              <a:t>i</a:t>
            </a:r>
            <a:r>
              <a:rPr lang="en-US" dirty="0"/>
              <a:t> agree. It opens the door for </a:t>
            </a:r>
            <a:r>
              <a:rPr lang="en-US" dirty="0" err="1"/>
              <a:t>trudy</a:t>
            </a:r>
            <a:r>
              <a:rPr lang="en-US" dirty="0"/>
              <a:t>.</a:t>
            </a:r>
            <a:endParaRPr dirty="0"/>
          </a:p>
          <a:p>
            <a:pPr marL="0" lvl="0" indent="0" algn="l" rtl="0">
              <a:spcBef>
                <a:spcPts val="0"/>
              </a:spcBef>
              <a:spcAft>
                <a:spcPts val="0"/>
              </a:spcAft>
              <a:buNone/>
            </a:pPr>
            <a:endParaRPr dirty="0"/>
          </a:p>
        </p:txBody>
      </p:sp>
      <p:sp>
        <p:nvSpPr>
          <p:cNvPr id="254" name="Google Shape;254;p1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67223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p70: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sz="1800" b="0" i="0" u="none" strike="noStrike" cap="none" dirty="0">
                <a:solidFill>
                  <a:srgbClr val="000000"/>
                </a:solidFill>
                <a:effectLst/>
                <a:latin typeface="Arial"/>
                <a:ea typeface="Arial"/>
                <a:cs typeface="Arial"/>
                <a:sym typeface="Arial"/>
              </a:rPr>
              <a:t>Kerberos (/ˈ</a:t>
            </a:r>
            <a:r>
              <a:rPr lang="en-US" sz="1800" b="0" i="0" u="none" strike="noStrike" cap="none" dirty="0" err="1">
                <a:solidFill>
                  <a:srgbClr val="000000"/>
                </a:solidFill>
                <a:effectLst/>
                <a:latin typeface="Arial"/>
                <a:ea typeface="Arial"/>
                <a:cs typeface="Arial"/>
                <a:sym typeface="Arial"/>
              </a:rPr>
              <a:t>kɜːrbərɒs</a:t>
            </a:r>
            <a:r>
              <a:rPr lang="en-US" sz="1800" b="0" i="0" u="none" strike="noStrike" cap="none" dirty="0">
                <a:solidFill>
                  <a:srgbClr val="000000"/>
                </a:solidFill>
                <a:effectLst/>
                <a:latin typeface="Arial"/>
                <a:ea typeface="Arial"/>
                <a:cs typeface="Arial"/>
                <a:sym typeface="Arial"/>
              </a:rPr>
              <a:t>/) is a computer-network authentication protocol that works on the basis of tickets to allow nodes communicating over a non-secure network to prove their identity to one another in a secure manner. The protocol was named after the character Kerberos (or Cerberus) from Greek mythology, the ferocious three-headed guard dog of Hades. Its designers aimed it primarily at a client–server model and it provides mutual authentication—both the user and the server verify each other's identity. Kerberos protocol messages are protected against eavesdropping and replay attacks.</a:t>
            </a:r>
            <a:endParaRPr b="0" dirty="0"/>
          </a:p>
        </p:txBody>
      </p:sp>
      <p:sp>
        <p:nvSpPr>
          <p:cNvPr id="874" name="Google Shape;874;p7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6251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1"/>
        <p:cNvGrpSpPr/>
        <p:nvPr/>
      </p:nvGrpSpPr>
      <p:grpSpPr>
        <a:xfrm>
          <a:off x="0" y="0"/>
          <a:ext cx="0" cy="0"/>
          <a:chOff x="0" y="0"/>
          <a:chExt cx="0" cy="0"/>
        </a:xfrm>
      </p:grpSpPr>
      <p:sp>
        <p:nvSpPr>
          <p:cNvPr id="882" name="Google Shape;882;p71: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dirty="0"/>
              <a:t>Works in local network</a:t>
            </a:r>
          </a:p>
          <a:p>
            <a:pPr marL="0" lvl="0" indent="0" algn="l" rtl="0">
              <a:spcBef>
                <a:spcPts val="0"/>
              </a:spcBef>
              <a:spcAft>
                <a:spcPts val="0"/>
              </a:spcAft>
              <a:buNone/>
            </a:pPr>
            <a:r>
              <a:rPr lang="en-US" dirty="0"/>
              <a:t>Symmetric key and timestamp</a:t>
            </a:r>
          </a:p>
          <a:p>
            <a:pPr marL="0" lvl="0" indent="0" algn="l" rtl="0">
              <a:spcBef>
                <a:spcPts val="0"/>
              </a:spcBef>
              <a:spcAft>
                <a:spcPts val="0"/>
              </a:spcAft>
              <a:buNone/>
            </a:pPr>
            <a:endParaRPr dirty="0"/>
          </a:p>
        </p:txBody>
      </p:sp>
      <p:sp>
        <p:nvSpPr>
          <p:cNvPr id="883" name="Google Shape;883;p71: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63703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p72: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dirty="0"/>
              <a:t>Setup a system with N user. Everybody need to have their own public, private key.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Everybody need to share their key with others.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I want to talk to you, we both go to the TTP for sharing session key and authenticate each other</a:t>
            </a:r>
          </a:p>
          <a:p>
            <a:pPr marL="0" lvl="0" indent="0" algn="l" rtl="0">
              <a:spcBef>
                <a:spcPts val="0"/>
              </a:spcBef>
              <a:spcAft>
                <a:spcPts val="0"/>
              </a:spcAft>
              <a:buNone/>
            </a:pPr>
            <a:endParaRPr dirty="0"/>
          </a:p>
        </p:txBody>
      </p:sp>
      <p:sp>
        <p:nvSpPr>
          <p:cNvPr id="891" name="Google Shape;891;p72: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82998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p73: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899" name="Google Shape;899;p73: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109465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74: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r>
              <a:rPr lang="en-US" dirty="0"/>
              <a:t>Master ticket is TGT</a:t>
            </a:r>
          </a:p>
          <a:p>
            <a:pPr marL="0" lvl="0" indent="0" algn="l" rtl="0">
              <a:spcBef>
                <a:spcPts val="0"/>
              </a:spcBef>
              <a:spcAft>
                <a:spcPts val="0"/>
              </a:spcAft>
              <a:buNone/>
            </a:pPr>
            <a:r>
              <a:rPr lang="en-US" dirty="0"/>
              <a:t>Simple ticket.</a:t>
            </a:r>
          </a:p>
          <a:p>
            <a:pPr marL="0" lvl="0" indent="0" algn="l" rtl="0">
              <a:spcBef>
                <a:spcPts val="0"/>
              </a:spcBef>
              <a:spcAft>
                <a:spcPts val="0"/>
              </a:spcAft>
              <a:buNone/>
            </a:pPr>
            <a:r>
              <a:rPr lang="en-US" dirty="0"/>
              <a:t>TGT-&gt;KDC-&gt;TTP</a:t>
            </a:r>
          </a:p>
          <a:p>
            <a:pPr marL="0" lvl="0" indent="0" algn="l" rtl="0">
              <a:spcBef>
                <a:spcPts val="0"/>
              </a:spcBef>
              <a:spcAft>
                <a:spcPts val="0"/>
              </a:spcAft>
              <a:buNone/>
            </a:pPr>
            <a:r>
              <a:rPr lang="en-US" dirty="0"/>
              <a:t>KDC </a:t>
            </a:r>
            <a:r>
              <a:rPr lang="en-US" dirty="0" err="1"/>
              <a:t>dnt</a:t>
            </a:r>
            <a:r>
              <a:rPr lang="en-US" dirty="0"/>
              <a:t> need to remember. </a:t>
            </a:r>
            <a:endParaRPr dirty="0"/>
          </a:p>
        </p:txBody>
      </p:sp>
      <p:sp>
        <p:nvSpPr>
          <p:cNvPr id="907" name="Google Shape;907;p74: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908238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3"/>
        <p:cNvGrpSpPr/>
        <p:nvPr/>
      </p:nvGrpSpPr>
      <p:grpSpPr>
        <a:xfrm>
          <a:off x="0" y="0"/>
          <a:ext cx="0" cy="0"/>
          <a:chOff x="0" y="0"/>
          <a:chExt cx="0" cy="0"/>
        </a:xfrm>
      </p:grpSpPr>
      <p:sp>
        <p:nvSpPr>
          <p:cNvPr id="914" name="Google Shape;914;p75: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dirty="0"/>
          </a:p>
        </p:txBody>
      </p:sp>
      <p:sp>
        <p:nvSpPr>
          <p:cNvPr id="915" name="Google Shape;915;p75: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77373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p76: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r>
              <a:rPr lang="en-US" sz="1800" b="0" i="0" u="none" strike="noStrike" cap="none" baseline="0" dirty="0">
                <a:solidFill>
                  <a:srgbClr val="000000"/>
                </a:solidFill>
                <a:latin typeface="Arial"/>
                <a:ea typeface="Arial"/>
                <a:cs typeface="Arial"/>
                <a:sym typeface="Arial"/>
              </a:rPr>
              <a:t>As on most systems, Alice first enters her username and password. In Kerberos, Alice's computer then derives the key </a:t>
            </a:r>
            <a:r>
              <a:rPr lang="en-US" sz="1800" b="0" i="1" u="none" strike="noStrike" cap="none" baseline="0" dirty="0">
                <a:solidFill>
                  <a:srgbClr val="000000"/>
                </a:solidFill>
                <a:latin typeface="Arial"/>
                <a:ea typeface="Arial"/>
                <a:cs typeface="Arial"/>
                <a:sym typeface="Arial"/>
              </a:rPr>
              <a:t>KA </a:t>
            </a:r>
            <a:r>
              <a:rPr lang="en-US" sz="1800" b="0" i="0" u="none" strike="noStrike" cap="none" baseline="0" dirty="0">
                <a:solidFill>
                  <a:srgbClr val="000000"/>
                </a:solidFill>
                <a:latin typeface="Arial"/>
                <a:ea typeface="Arial"/>
                <a:cs typeface="Arial"/>
                <a:sym typeface="Arial"/>
              </a:rPr>
              <a:t>from Alice's password, where </a:t>
            </a:r>
            <a:r>
              <a:rPr lang="en-US" sz="1800" b="0" i="1" u="none" strike="noStrike" cap="none" baseline="0" dirty="0">
                <a:solidFill>
                  <a:srgbClr val="000000"/>
                </a:solidFill>
                <a:latin typeface="Arial"/>
                <a:ea typeface="Arial"/>
                <a:cs typeface="Arial"/>
                <a:sym typeface="Arial"/>
              </a:rPr>
              <a:t>KA </a:t>
            </a:r>
            <a:r>
              <a:rPr lang="en-US" sz="1800" b="0" i="0" u="none" strike="noStrike" cap="none" baseline="0" dirty="0">
                <a:solidFill>
                  <a:srgbClr val="000000"/>
                </a:solidFill>
                <a:latin typeface="Arial"/>
                <a:ea typeface="Arial"/>
                <a:cs typeface="Arial"/>
                <a:sym typeface="Arial"/>
              </a:rPr>
              <a:t>is the key that Alice and the KDC share. Alice's computer uses </a:t>
            </a:r>
            <a:r>
              <a:rPr lang="en-US" sz="1800" b="0" i="1" u="none" strike="noStrike" cap="none" baseline="0" dirty="0">
                <a:solidFill>
                  <a:srgbClr val="000000"/>
                </a:solidFill>
                <a:latin typeface="Arial"/>
                <a:ea typeface="Arial"/>
                <a:cs typeface="Arial"/>
                <a:sym typeface="Arial"/>
              </a:rPr>
              <a:t>KA </a:t>
            </a:r>
            <a:r>
              <a:rPr lang="en-US" sz="1800" b="0" i="0" u="none" strike="noStrike" cap="none" baseline="0" dirty="0">
                <a:solidFill>
                  <a:srgbClr val="000000"/>
                </a:solidFill>
                <a:latin typeface="Arial"/>
                <a:ea typeface="Arial"/>
                <a:cs typeface="Arial"/>
                <a:sym typeface="Arial"/>
              </a:rPr>
              <a:t>to obtain Alice's TGT from the KDC.</a:t>
            </a:r>
          </a:p>
          <a:p>
            <a:r>
              <a:rPr lang="en-US" sz="1800" b="0" i="0" u="none" strike="noStrike" cap="none" baseline="0" dirty="0">
                <a:solidFill>
                  <a:srgbClr val="000000"/>
                </a:solidFill>
                <a:latin typeface="Arial"/>
                <a:ea typeface="Arial"/>
                <a:cs typeface="Arial"/>
                <a:sym typeface="Arial"/>
              </a:rPr>
              <a:t>Alice can then use her TGT (i.e., her credentials) to securely access network</a:t>
            </a:r>
          </a:p>
          <a:p>
            <a:r>
              <a:rPr lang="en-US" sz="1800" b="0" i="0" u="none" strike="noStrike" cap="none" baseline="0" dirty="0">
                <a:solidFill>
                  <a:srgbClr val="000000"/>
                </a:solidFill>
                <a:latin typeface="Arial"/>
                <a:ea typeface="Arial"/>
                <a:cs typeface="Arial"/>
                <a:sym typeface="Arial"/>
              </a:rPr>
              <a:t>resources. Once Alice has logged in, all of the security is automatic and takes</a:t>
            </a:r>
          </a:p>
          <a:p>
            <a:r>
              <a:rPr lang="en-US" sz="1800" b="0" i="0" u="none" strike="noStrike" cap="none" baseline="0" dirty="0">
                <a:solidFill>
                  <a:srgbClr val="000000"/>
                </a:solidFill>
                <a:latin typeface="Arial"/>
                <a:ea typeface="Arial"/>
                <a:cs typeface="Arial"/>
                <a:sym typeface="Arial"/>
              </a:rPr>
              <a:t>place behind the scenes, without any additional involvement by Alice.</a:t>
            </a:r>
            <a:endParaRPr dirty="0"/>
          </a:p>
        </p:txBody>
      </p:sp>
      <p:sp>
        <p:nvSpPr>
          <p:cNvPr id="923" name="Google Shape;923;p76: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345959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p78: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r>
              <a:rPr lang="en-US" sz="1800" b="0" i="0" u="none" strike="noStrike" cap="none" baseline="0" dirty="0">
                <a:solidFill>
                  <a:srgbClr val="000000"/>
                </a:solidFill>
                <a:latin typeface="Arial"/>
                <a:ea typeface="Arial"/>
                <a:cs typeface="Arial"/>
                <a:sym typeface="Arial"/>
              </a:rPr>
              <a:t>suppose that Alice wants to talk to Bob. Then Alice's computer presents its TGT to the KDC, along with an authenticator. The authenticator is an encrypted timestamp that serves to avoid a replay. After the KDC verifies Alice's authenticator, it responds with a "ticket to Bob." Alice's computer then uses this ticket to Bob to securely communicate directly with Bob's computer.</a:t>
            </a:r>
            <a:endParaRPr dirty="0"/>
          </a:p>
        </p:txBody>
      </p:sp>
      <p:sp>
        <p:nvSpPr>
          <p:cNvPr id="953" name="Google Shape;953;p78: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454332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2"/>
        <p:cNvGrpSpPr/>
        <p:nvPr/>
      </p:nvGrpSpPr>
      <p:grpSpPr>
        <a:xfrm>
          <a:off x="0" y="0"/>
          <a:ext cx="0" cy="0"/>
          <a:chOff x="0" y="0"/>
          <a:chExt cx="0" cy="0"/>
        </a:xfrm>
      </p:grpSpPr>
      <p:sp>
        <p:nvSpPr>
          <p:cNvPr id="973" name="Google Shape;973;p79: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r>
              <a:rPr lang="en-US" sz="1800" b="0" i="0" u="none" strike="noStrike" cap="none" baseline="0" dirty="0">
                <a:solidFill>
                  <a:srgbClr val="000000"/>
                </a:solidFill>
                <a:latin typeface="Arial"/>
                <a:ea typeface="Arial"/>
                <a:cs typeface="Arial"/>
                <a:sym typeface="Arial"/>
              </a:rPr>
              <a:t>Once Alice has obtained the "ticket to Bob," she can then securely communicate with Bob.</a:t>
            </a:r>
            <a:endParaRPr dirty="0"/>
          </a:p>
        </p:txBody>
      </p:sp>
      <p:sp>
        <p:nvSpPr>
          <p:cNvPr id="974" name="Google Shape;974;p79: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92113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80: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a:p>
        </p:txBody>
      </p:sp>
      <p:sp>
        <p:nvSpPr>
          <p:cNvPr id="990" name="Google Shape;990;p80: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30551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p85:notes"/>
          <p:cNvSpPr txBox="1">
            <a:spLocks noGrp="1"/>
          </p:cNvSpPr>
          <p:nvPr>
            <p:ph type="body" idx="1"/>
          </p:nvPr>
        </p:nvSpPr>
        <p:spPr>
          <a:xfrm>
            <a:off x="709612" y="4860925"/>
            <a:ext cx="5680075" cy="4605337"/>
          </a:xfrm>
          <a:prstGeom prst="rect">
            <a:avLst/>
          </a:prstGeom>
        </p:spPr>
        <p:txBody>
          <a:bodyPr spcFirstLastPara="1" wrap="square" lIns="99025" tIns="49500" rIns="99025" bIns="49500" anchor="t" anchorCtr="0">
            <a:noAutofit/>
          </a:bodyPr>
          <a:lstStyle/>
          <a:p>
            <a:pPr marL="0" lvl="0" indent="0" algn="l" rtl="0">
              <a:spcBef>
                <a:spcPts val="0"/>
              </a:spcBef>
              <a:spcAft>
                <a:spcPts val="0"/>
              </a:spcAft>
              <a:buNone/>
            </a:pPr>
            <a:endParaRPr dirty="0"/>
          </a:p>
        </p:txBody>
      </p:sp>
      <p:sp>
        <p:nvSpPr>
          <p:cNvPr id="1030" name="Google Shape;1030;p85:notes"/>
          <p:cNvSpPr>
            <a:spLocks noGrp="1" noRot="1" noChangeAspect="1"/>
          </p:cNvSpPr>
          <p:nvPr>
            <p:ph type="sldImg" idx="2"/>
          </p:nvPr>
        </p:nvSpPr>
        <p:spPr>
          <a:xfrm>
            <a:off x="992188" y="768350"/>
            <a:ext cx="5114925" cy="38369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599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8"/>
        <p:cNvGrpSpPr/>
        <p:nvPr/>
      </p:nvGrpSpPr>
      <p:grpSpPr>
        <a:xfrm>
          <a:off x="0" y="0"/>
          <a:ext cx="0" cy="0"/>
          <a:chOff x="0" y="0"/>
          <a:chExt cx="0" cy="0"/>
        </a:xfrm>
      </p:grpSpPr>
      <p:sp>
        <p:nvSpPr>
          <p:cNvPr id="19" name="Google Shape;19;p88"/>
          <p:cNvSpPr txBox="1">
            <a:spLocks noGrp="1"/>
          </p:cNvSpPr>
          <p:nvPr>
            <p:ph type="ctrTitle"/>
          </p:nvPr>
        </p:nvSpPr>
        <p:spPr>
          <a:xfrm>
            <a:off x="581192" y="990600"/>
            <a:ext cx="7989752" cy="1504844"/>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sz="36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8"/>
          <p:cNvSpPr txBox="1">
            <a:spLocks noGrp="1"/>
          </p:cNvSpPr>
          <p:nvPr>
            <p:ph type="subTitle" idx="1"/>
          </p:nvPr>
        </p:nvSpPr>
        <p:spPr>
          <a:xfrm>
            <a:off x="581192" y="2495444"/>
            <a:ext cx="7989752" cy="590321"/>
          </a:xfrm>
          <a:prstGeom prst="rect">
            <a:avLst/>
          </a:prstGeom>
          <a:noFill/>
          <a:ln>
            <a:noFill/>
          </a:ln>
        </p:spPr>
        <p:txBody>
          <a:bodyPr spcFirstLastPara="1" wrap="square" lIns="91425" tIns="45700" rIns="91425" bIns="45700" anchor="t" anchorCtr="0">
            <a:normAutofit/>
          </a:bodyPr>
          <a:lstStyle>
            <a:lvl1pPr lvl="0" algn="l">
              <a:spcBef>
                <a:spcPts val="320"/>
              </a:spcBef>
              <a:spcAft>
                <a:spcPts val="0"/>
              </a:spcAft>
              <a:buSzPts val="1472"/>
              <a:buNone/>
              <a:defRPr sz="1600" cap="none">
                <a:solidFill>
                  <a:schemeClr val="accent2"/>
                </a:solidFill>
              </a:defRPr>
            </a:lvl1pPr>
            <a:lvl2pPr lvl="1" algn="ctr">
              <a:spcBef>
                <a:spcPts val="600"/>
              </a:spcBef>
              <a:spcAft>
                <a:spcPts val="0"/>
              </a:spcAft>
              <a:buSzPts val="1472"/>
              <a:buNone/>
              <a:defRPr>
                <a:solidFill>
                  <a:srgbClr val="888888"/>
                </a:solidFill>
              </a:defRPr>
            </a:lvl2pPr>
            <a:lvl3pPr lvl="2" algn="ctr">
              <a:spcBef>
                <a:spcPts val="600"/>
              </a:spcBef>
              <a:spcAft>
                <a:spcPts val="0"/>
              </a:spcAft>
              <a:buSzPts val="1288"/>
              <a:buNone/>
              <a:defRPr>
                <a:solidFill>
                  <a:srgbClr val="888888"/>
                </a:solidFill>
              </a:defRPr>
            </a:lvl3pPr>
            <a:lvl4pPr lvl="3" algn="ctr">
              <a:spcBef>
                <a:spcPts val="600"/>
              </a:spcBef>
              <a:spcAft>
                <a:spcPts val="0"/>
              </a:spcAft>
              <a:buSzPts val="1104"/>
              <a:buNone/>
              <a:defRPr>
                <a:solidFill>
                  <a:srgbClr val="888888"/>
                </a:solidFill>
              </a:defRPr>
            </a:lvl4pPr>
            <a:lvl5pPr lvl="4" algn="ctr">
              <a:spcBef>
                <a:spcPts val="600"/>
              </a:spcBef>
              <a:spcAft>
                <a:spcPts val="0"/>
              </a:spcAft>
              <a:buSzPts val="1104"/>
              <a:buNone/>
              <a:defRPr>
                <a:solidFill>
                  <a:srgbClr val="888888"/>
                </a:solidFill>
              </a:defRPr>
            </a:lvl5pPr>
            <a:lvl6pPr lvl="5" algn="ctr">
              <a:spcBef>
                <a:spcPts val="600"/>
              </a:spcBef>
              <a:spcAft>
                <a:spcPts val="0"/>
              </a:spcAft>
              <a:buSzPts val="1104"/>
              <a:buNone/>
              <a:defRPr>
                <a:solidFill>
                  <a:srgbClr val="888888"/>
                </a:solidFill>
              </a:defRPr>
            </a:lvl6pPr>
            <a:lvl7pPr lvl="6" algn="ctr">
              <a:spcBef>
                <a:spcPts val="600"/>
              </a:spcBef>
              <a:spcAft>
                <a:spcPts val="0"/>
              </a:spcAft>
              <a:buSzPts val="1104"/>
              <a:buNone/>
              <a:defRPr>
                <a:solidFill>
                  <a:srgbClr val="888888"/>
                </a:solidFill>
              </a:defRPr>
            </a:lvl7pPr>
            <a:lvl8pPr lvl="7" algn="ctr">
              <a:spcBef>
                <a:spcPts val="600"/>
              </a:spcBef>
              <a:spcAft>
                <a:spcPts val="0"/>
              </a:spcAft>
              <a:buSzPts val="1104"/>
              <a:buNone/>
              <a:defRPr>
                <a:solidFill>
                  <a:srgbClr val="888888"/>
                </a:solidFill>
              </a:defRPr>
            </a:lvl8pPr>
            <a:lvl9pPr lvl="8" algn="ctr">
              <a:spcBef>
                <a:spcPts val="600"/>
              </a:spcBef>
              <a:spcAft>
                <a:spcPts val="600"/>
              </a:spcAft>
              <a:buSzPts val="1104"/>
              <a:buNone/>
              <a:defRPr>
                <a:solidFill>
                  <a:srgbClr val="888888"/>
                </a:solidFill>
              </a:defRPr>
            </a:lvl9pPr>
          </a:lstStyle>
          <a:p>
            <a:endParaRPr/>
          </a:p>
        </p:txBody>
      </p:sp>
      <p:sp>
        <p:nvSpPr>
          <p:cNvPr id="21" name="Google Shape;21;p88"/>
          <p:cNvSpPr txBox="1">
            <a:spLocks noGrp="1"/>
          </p:cNvSpPr>
          <p:nvPr>
            <p:ph type="ftr" idx="11"/>
          </p:nvPr>
        </p:nvSpPr>
        <p:spPr>
          <a:xfrm>
            <a:off x="581025" y="6486525"/>
            <a:ext cx="665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2F5A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88"/>
          <p:cNvSpPr txBox="1">
            <a:spLocks noGrp="1"/>
          </p:cNvSpPr>
          <p:nvPr>
            <p:ph type="sldNum" idx="12"/>
          </p:nvPr>
        </p:nvSpPr>
        <p:spPr>
          <a:xfrm>
            <a:off x="7800975" y="6486525"/>
            <a:ext cx="76993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1pPr>
            <a:lvl2pPr marL="0" marR="0" lvl="1"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2pPr>
            <a:lvl3pPr marL="0" marR="0" lvl="2"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3pPr>
            <a:lvl4pPr marL="0" marR="0" lvl="3"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4pPr>
            <a:lvl5pPr marL="0" marR="0" lvl="4"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5pPr>
            <a:lvl6pPr marL="0" marR="0" lvl="5"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6pPr>
            <a:lvl7pPr marL="0" marR="0" lvl="6"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7pPr>
            <a:lvl8pPr marL="0" marR="0" lvl="7"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8pPr>
            <a:lvl9pPr marL="0" marR="0" lvl="8"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90"/>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90"/>
          <p:cNvSpPr txBox="1">
            <a:spLocks noGrp="1"/>
          </p:cNvSpPr>
          <p:nvPr>
            <p:ph type="body" idx="1"/>
          </p:nvPr>
        </p:nvSpPr>
        <p:spPr>
          <a:xfrm>
            <a:off x="581192" y="2228003"/>
            <a:ext cx="7989752" cy="3630795"/>
          </a:xfrm>
          <a:prstGeom prst="rect">
            <a:avLst/>
          </a:prstGeom>
          <a:noFill/>
          <a:ln>
            <a:noFill/>
          </a:ln>
        </p:spPr>
        <p:txBody>
          <a:bodyPr spcFirstLastPara="1" wrap="square" lIns="91425" tIns="45700" rIns="91425" bIns="45700" anchor="ctr" anchorCtr="0">
            <a:noAutofit/>
          </a:bodyPr>
          <a:lstStyle>
            <a:lvl1pPr marL="457200" lvl="0" indent="-333756" algn="l">
              <a:spcBef>
                <a:spcPts val="360"/>
              </a:spcBef>
              <a:spcAft>
                <a:spcPts val="0"/>
              </a:spcAft>
              <a:buSzPts val="1656"/>
              <a:buChar char="◼"/>
              <a:defRPr/>
            </a:lvl1pPr>
            <a:lvl2pPr marL="914400" lvl="1" indent="-333756" algn="l">
              <a:spcBef>
                <a:spcPts val="600"/>
              </a:spcBef>
              <a:spcAft>
                <a:spcPts val="0"/>
              </a:spcAft>
              <a:buSzPts val="1656"/>
              <a:buChar char="◼"/>
              <a:defRPr/>
            </a:lvl2pPr>
            <a:lvl3pPr marL="1371600" lvl="2" indent="-333756" algn="l">
              <a:spcBef>
                <a:spcPts val="600"/>
              </a:spcBef>
              <a:spcAft>
                <a:spcPts val="0"/>
              </a:spcAft>
              <a:buSzPts val="1656"/>
              <a:buChar char="◼"/>
              <a:defRPr/>
            </a:lvl3pPr>
            <a:lvl4pPr marL="1828800" lvl="3" indent="-333756" algn="l">
              <a:spcBef>
                <a:spcPts val="600"/>
              </a:spcBef>
              <a:spcAft>
                <a:spcPts val="0"/>
              </a:spcAft>
              <a:buSzPts val="1656"/>
              <a:buChar char="◼"/>
              <a:defRPr/>
            </a:lvl4pPr>
            <a:lvl5pPr marL="2286000" lvl="4" indent="-333756" algn="l">
              <a:spcBef>
                <a:spcPts val="600"/>
              </a:spcBef>
              <a:spcAft>
                <a:spcPts val="0"/>
              </a:spcAft>
              <a:buSzPts val="1656"/>
              <a:buChar char="◼"/>
              <a:defRPr/>
            </a:lvl5pPr>
            <a:lvl6pPr marL="2743200" lvl="5" indent="-333756" algn="l">
              <a:spcBef>
                <a:spcPts val="600"/>
              </a:spcBef>
              <a:spcAft>
                <a:spcPts val="0"/>
              </a:spcAft>
              <a:buSzPts val="1656"/>
              <a:buChar char="◼"/>
              <a:defRPr/>
            </a:lvl6pPr>
            <a:lvl7pPr marL="3200400" lvl="6" indent="-333756" algn="l">
              <a:spcBef>
                <a:spcPts val="600"/>
              </a:spcBef>
              <a:spcAft>
                <a:spcPts val="0"/>
              </a:spcAft>
              <a:buSzPts val="1656"/>
              <a:buChar char="◼"/>
              <a:defRPr/>
            </a:lvl7pPr>
            <a:lvl8pPr marL="3657600" lvl="7" indent="-333756" algn="l">
              <a:spcBef>
                <a:spcPts val="600"/>
              </a:spcBef>
              <a:spcAft>
                <a:spcPts val="0"/>
              </a:spcAft>
              <a:buSzPts val="1656"/>
              <a:buChar char="◼"/>
              <a:defRPr/>
            </a:lvl8pPr>
            <a:lvl9pPr marL="4114800" lvl="8" indent="-333756" algn="l">
              <a:spcBef>
                <a:spcPts val="600"/>
              </a:spcBef>
              <a:spcAft>
                <a:spcPts val="600"/>
              </a:spcAft>
              <a:buSzPts val="1656"/>
              <a:buChar char="◼"/>
              <a:defRPr/>
            </a:lvl9pPr>
          </a:lstStyle>
          <a:p>
            <a:endParaRPr/>
          </a:p>
        </p:txBody>
      </p:sp>
      <p:sp>
        <p:nvSpPr>
          <p:cNvPr id="37" name="Google Shape;37;p90"/>
          <p:cNvSpPr txBox="1">
            <a:spLocks noGrp="1"/>
          </p:cNvSpPr>
          <p:nvPr>
            <p:ph type="ftr" idx="11"/>
          </p:nvPr>
        </p:nvSpPr>
        <p:spPr>
          <a:xfrm>
            <a:off x="581025" y="6486525"/>
            <a:ext cx="6654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sz="900">
                <a:solidFill>
                  <a:srgbClr val="2F5A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0"/>
          <p:cNvSpPr txBox="1">
            <a:spLocks noGrp="1"/>
          </p:cNvSpPr>
          <p:nvPr>
            <p:ph type="sldNum" idx="12"/>
          </p:nvPr>
        </p:nvSpPr>
        <p:spPr>
          <a:xfrm>
            <a:off x="7800975" y="6486525"/>
            <a:ext cx="769937"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1pPr>
            <a:lvl2pPr marL="0" marR="0" lvl="1"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2pPr>
            <a:lvl3pPr marL="0" marR="0" lvl="2"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3pPr>
            <a:lvl4pPr marL="0" marR="0" lvl="3"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4pPr>
            <a:lvl5pPr marL="0" marR="0" lvl="4"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5pPr>
            <a:lvl6pPr marL="0" marR="0" lvl="5"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6pPr>
            <a:lvl7pPr marL="0" marR="0" lvl="6"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7pPr>
            <a:lvl8pPr marL="0" marR="0" lvl="7"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8pPr>
            <a:lvl9pPr marL="0" marR="0" lvl="8" indent="0" algn="r">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87"/>
          <p:cNvSpPr/>
          <p:nvPr/>
        </p:nvSpPr>
        <p:spPr>
          <a:xfrm>
            <a:off x="447675" y="441325"/>
            <a:ext cx="2720975" cy="10795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1" name="Google Shape;11;p87"/>
          <p:cNvSpPr/>
          <p:nvPr/>
        </p:nvSpPr>
        <p:spPr>
          <a:xfrm>
            <a:off x="5975350" y="441325"/>
            <a:ext cx="2711450" cy="107950"/>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2" name="Google Shape;12;p87"/>
          <p:cNvSpPr/>
          <p:nvPr/>
        </p:nvSpPr>
        <p:spPr>
          <a:xfrm>
            <a:off x="3216275" y="441325"/>
            <a:ext cx="2711450" cy="10795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3" name="Google Shape;13;p87"/>
          <p:cNvSpPr/>
          <p:nvPr/>
        </p:nvSpPr>
        <p:spPr>
          <a:xfrm>
            <a:off x="447675" y="3086100"/>
            <a:ext cx="8240712" cy="3305175"/>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4" name="Google Shape;14;p87"/>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5" name="Google Shape;15;p87"/>
          <p:cNvSpPr txBox="1">
            <a:spLocks noGrp="1"/>
          </p:cNvSpPr>
          <p:nvPr>
            <p:ph type="body" idx="1"/>
          </p:nvPr>
        </p:nvSpPr>
        <p:spPr>
          <a:xfrm>
            <a:off x="581025" y="2227262"/>
            <a:ext cx="7989887" cy="3632200"/>
          </a:xfrm>
          <a:prstGeom prst="rect">
            <a:avLst/>
          </a:prstGeom>
          <a:noFill/>
          <a:ln>
            <a:noFill/>
          </a:ln>
        </p:spPr>
        <p:txBody>
          <a:bodyPr spcFirstLastPara="1" wrap="square" lIns="91425" tIns="45700" rIns="91425" bIns="45700" anchor="ctr" anchorCtr="0">
            <a:no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6" name="Google Shape;16;p87"/>
          <p:cNvSpPr txBox="1">
            <a:spLocks noGrp="1"/>
          </p:cNvSpPr>
          <p:nvPr>
            <p:ph type="ftr" idx="11"/>
          </p:nvPr>
        </p:nvSpPr>
        <p:spPr>
          <a:xfrm>
            <a:off x="581025" y="6486525"/>
            <a:ext cx="665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a:solidFill>
                  <a:srgbClr val="2F5AAC"/>
                </a:solidFill>
                <a:latin typeface="Gulim"/>
                <a:ea typeface="Gulim"/>
                <a:cs typeface="Gulim"/>
                <a:sym typeface="Gulim"/>
              </a:defRPr>
            </a:lvl1pPr>
            <a:lvl2pPr marR="0" lvl="1"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2pPr>
            <a:lvl3pPr marR="0" lvl="2"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3pPr>
            <a:lvl4pPr marR="0" lvl="3"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4pPr>
            <a:lvl5pPr marR="0" lvl="4"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5pPr>
            <a:lvl6pPr marR="0" lvl="5"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6pPr>
            <a:lvl7pPr marR="0" lvl="6"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7pPr>
            <a:lvl8pPr marR="0" lvl="7"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8pPr>
            <a:lvl9pPr marR="0" lvl="8"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9pPr>
          </a:lstStyle>
          <a:p>
            <a:endParaRPr/>
          </a:p>
        </p:txBody>
      </p:sp>
      <p:sp>
        <p:nvSpPr>
          <p:cNvPr id="17" name="Google Shape;17;p87"/>
          <p:cNvSpPr txBox="1">
            <a:spLocks noGrp="1"/>
          </p:cNvSpPr>
          <p:nvPr>
            <p:ph type="sldNum" idx="12"/>
          </p:nvPr>
        </p:nvSpPr>
        <p:spPr>
          <a:xfrm>
            <a:off x="7800975" y="6486525"/>
            <a:ext cx="76993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1pPr>
            <a:lvl2pPr marL="0" marR="0" lvl="1"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2pPr>
            <a:lvl3pPr marL="0" marR="0" lvl="2"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3pPr>
            <a:lvl4pPr marL="0" marR="0" lvl="3"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4pPr>
            <a:lvl5pPr marL="0" marR="0" lvl="4"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5pPr>
            <a:lvl6pPr marL="0" marR="0" lvl="5"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6pPr>
            <a:lvl7pPr marL="0" marR="0" lvl="6"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7pPr>
            <a:lvl8pPr marL="0" marR="0" lvl="7"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8pPr>
            <a:lvl9pPr marL="0" marR="0" lvl="8"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
        <p:cNvGrpSpPr/>
        <p:nvPr/>
      </p:nvGrpSpPr>
      <p:grpSpPr>
        <a:xfrm>
          <a:off x="0" y="0"/>
          <a:ext cx="0" cy="0"/>
          <a:chOff x="0" y="0"/>
          <a:chExt cx="0" cy="0"/>
        </a:xfrm>
      </p:grpSpPr>
      <p:sp>
        <p:nvSpPr>
          <p:cNvPr id="24" name="Google Shape;24;p89"/>
          <p:cNvSpPr/>
          <p:nvPr/>
        </p:nvSpPr>
        <p:spPr>
          <a:xfrm>
            <a:off x="447675" y="441325"/>
            <a:ext cx="2720975" cy="107950"/>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5" name="Google Shape;25;p89"/>
          <p:cNvSpPr/>
          <p:nvPr/>
        </p:nvSpPr>
        <p:spPr>
          <a:xfrm>
            <a:off x="5975350" y="441325"/>
            <a:ext cx="2711450" cy="107950"/>
          </a:xfrm>
          <a:prstGeom prst="rect">
            <a:avLst/>
          </a:prstGeom>
          <a:solidFill>
            <a:srgbClr val="969FA7"/>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6" name="Google Shape;26;p89"/>
          <p:cNvSpPr/>
          <p:nvPr/>
        </p:nvSpPr>
        <p:spPr>
          <a:xfrm>
            <a:off x="3216275" y="441325"/>
            <a:ext cx="2711450" cy="107950"/>
          </a:xfrm>
          <a:prstGeom prst="rect">
            <a:avLst/>
          </a:prstGeom>
          <a:solidFill>
            <a:schemeClr val="accent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27" name="Google Shape;27;p89"/>
          <p:cNvSpPr/>
          <p:nvPr/>
        </p:nvSpPr>
        <p:spPr>
          <a:xfrm>
            <a:off x="447675" y="600075"/>
            <a:ext cx="8239125" cy="1258887"/>
          </a:xfrm>
          <a:prstGeom prst="rect">
            <a:avLst/>
          </a:prstGeom>
          <a:solidFill>
            <a:schemeClr val="accent1"/>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pic>
        <p:nvPicPr>
          <p:cNvPr id="28" name="Google Shape;28;p89"/>
          <p:cNvPicPr preferRelativeResize="0"/>
          <p:nvPr/>
        </p:nvPicPr>
        <p:blipFill rotWithShape="1">
          <a:blip r:embed="rId3">
            <a:alphaModFix/>
          </a:blip>
          <a:srcRect/>
          <a:stretch/>
        </p:blipFill>
        <p:spPr>
          <a:xfrm>
            <a:off x="7235825" y="620712"/>
            <a:ext cx="1408112" cy="1150937"/>
          </a:xfrm>
          <a:prstGeom prst="rect">
            <a:avLst/>
          </a:prstGeom>
          <a:noFill/>
          <a:ln>
            <a:noFill/>
          </a:ln>
        </p:spPr>
      </p:pic>
      <p:pic>
        <p:nvPicPr>
          <p:cNvPr id="29" name="Google Shape;29;p89"/>
          <p:cNvPicPr preferRelativeResize="0"/>
          <p:nvPr/>
        </p:nvPicPr>
        <p:blipFill rotWithShape="1">
          <a:blip r:embed="rId4">
            <a:alphaModFix/>
          </a:blip>
          <a:srcRect/>
          <a:stretch/>
        </p:blipFill>
        <p:spPr>
          <a:xfrm>
            <a:off x="7380287" y="692150"/>
            <a:ext cx="1147762" cy="1062037"/>
          </a:xfrm>
          <a:prstGeom prst="rect">
            <a:avLst/>
          </a:prstGeom>
          <a:noFill/>
          <a:ln>
            <a:noFill/>
          </a:ln>
        </p:spPr>
      </p:pic>
      <p:sp>
        <p:nvSpPr>
          <p:cNvPr id="30" name="Google Shape;30;p89"/>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1pPr>
            <a:lvl2pPr marR="0" lvl="1"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2pPr>
            <a:lvl3pPr marR="0" lvl="2"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3pPr>
            <a:lvl4pPr marR="0" lvl="3"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4pPr>
            <a:lvl5pPr marR="0" lvl="4" algn="l" rtl="0">
              <a:spcBef>
                <a:spcPts val="0"/>
              </a:spcBef>
              <a:spcAft>
                <a:spcPts val="0"/>
              </a:spcAft>
              <a:buSzPts val="1400"/>
              <a:buNone/>
              <a:defRPr sz="2800" b="0" i="0" u="none" strike="noStrike" cap="none">
                <a:solidFill>
                  <a:schemeClr val="lt1"/>
                </a:solidFill>
                <a:latin typeface="Gill Sans"/>
                <a:ea typeface="Gill Sans"/>
                <a:cs typeface="Gill Sans"/>
                <a:sym typeface="Gill Sans"/>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31" name="Google Shape;31;p89"/>
          <p:cNvSpPr txBox="1">
            <a:spLocks noGrp="1"/>
          </p:cNvSpPr>
          <p:nvPr>
            <p:ph type="body" idx="1"/>
          </p:nvPr>
        </p:nvSpPr>
        <p:spPr>
          <a:xfrm>
            <a:off x="581025" y="2227262"/>
            <a:ext cx="7989887" cy="3632200"/>
          </a:xfrm>
          <a:prstGeom prst="rect">
            <a:avLst/>
          </a:prstGeom>
          <a:noFill/>
          <a:ln>
            <a:noFill/>
          </a:ln>
        </p:spPr>
        <p:txBody>
          <a:bodyPr spcFirstLastPara="1" wrap="square" lIns="91425" tIns="45700" rIns="91425" bIns="45700" anchor="ctr" anchorCtr="0">
            <a:noAutofit/>
          </a:bodyPr>
          <a:lstStyle>
            <a:lvl1pPr marL="457200" marR="0" lvl="0" indent="-333756" algn="l" rtl="0">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32" name="Google Shape;32;p89"/>
          <p:cNvSpPr txBox="1">
            <a:spLocks noGrp="1"/>
          </p:cNvSpPr>
          <p:nvPr>
            <p:ph type="ftr" idx="11"/>
          </p:nvPr>
        </p:nvSpPr>
        <p:spPr>
          <a:xfrm>
            <a:off x="581025" y="6486525"/>
            <a:ext cx="66548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a:solidFill>
                  <a:srgbClr val="2F5AAC"/>
                </a:solidFill>
                <a:latin typeface="Gulim"/>
                <a:ea typeface="Gulim"/>
                <a:cs typeface="Gulim"/>
                <a:sym typeface="Gulim"/>
              </a:defRPr>
            </a:lvl1pPr>
            <a:lvl2pPr marR="0" lvl="1"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2pPr>
            <a:lvl3pPr marR="0" lvl="2"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3pPr>
            <a:lvl4pPr marR="0" lvl="3"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4pPr>
            <a:lvl5pPr marR="0" lvl="4"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5pPr>
            <a:lvl6pPr marR="0" lvl="5"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6pPr>
            <a:lvl7pPr marR="0" lvl="6"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7pPr>
            <a:lvl8pPr marR="0" lvl="7"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8pPr>
            <a:lvl9pPr marR="0" lvl="8" algn="l" rtl="0">
              <a:lnSpc>
                <a:spcPct val="100000"/>
              </a:lnSpc>
              <a:spcBef>
                <a:spcPts val="0"/>
              </a:spcBef>
              <a:spcAft>
                <a:spcPts val="0"/>
              </a:spcAft>
              <a:buSzPts val="1400"/>
              <a:buNone/>
              <a:defRPr sz="1800" b="0" i="0" u="none" strike="noStrike" cap="none">
                <a:solidFill>
                  <a:schemeClr val="dk1"/>
                </a:solidFill>
                <a:latin typeface="Gulim"/>
                <a:ea typeface="Gulim"/>
                <a:cs typeface="Gulim"/>
                <a:sym typeface="Gulim"/>
              </a:defRPr>
            </a:lvl9pPr>
          </a:lstStyle>
          <a:p>
            <a:endParaRPr/>
          </a:p>
        </p:txBody>
      </p:sp>
      <p:sp>
        <p:nvSpPr>
          <p:cNvPr id="33" name="Google Shape;33;p89"/>
          <p:cNvSpPr txBox="1">
            <a:spLocks noGrp="1"/>
          </p:cNvSpPr>
          <p:nvPr>
            <p:ph type="sldNum" idx="12"/>
          </p:nvPr>
        </p:nvSpPr>
        <p:spPr>
          <a:xfrm>
            <a:off x="7800975" y="6486525"/>
            <a:ext cx="769937"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1pPr>
            <a:lvl2pPr marL="0" marR="0" lvl="1"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2pPr>
            <a:lvl3pPr marL="0" marR="0" lvl="2"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3pPr>
            <a:lvl4pPr marL="0" marR="0" lvl="3"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4pPr>
            <a:lvl5pPr marL="0" marR="0" lvl="4"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5pPr>
            <a:lvl6pPr marL="0" marR="0" lvl="5"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6pPr>
            <a:lvl7pPr marL="0" marR="0" lvl="6"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7pPr>
            <a:lvl8pPr marL="0" marR="0" lvl="7"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8pPr>
            <a:lvl9pPr marL="0" marR="0" lvl="8" indent="0" algn="r" rtl="0">
              <a:lnSpc>
                <a:spcPct val="100000"/>
              </a:lnSpc>
              <a:spcBef>
                <a:spcPts val="0"/>
              </a:spcBef>
              <a:spcAft>
                <a:spcPts val="0"/>
              </a:spcAft>
              <a:buClr>
                <a:srgbClr val="2F5AAC"/>
              </a:buClr>
              <a:buSzPts val="900"/>
              <a:buFont typeface="Gulim"/>
              <a:buNone/>
              <a:defRPr sz="900" b="0" i="0" u="none">
                <a:solidFill>
                  <a:srgbClr val="2F5AAC"/>
                </a:solidFill>
                <a:latin typeface="Gulim"/>
                <a:ea typeface="Gulim"/>
                <a:cs typeface="Gulim"/>
                <a:sym typeface="Gulim"/>
              </a:defRPr>
            </a:lvl9pPr>
          </a:lstStyle>
          <a:p>
            <a:pPr marL="0" lvl="0" indent="0" algn="r" rtl="0">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6.png"/><Relationship Id="rId5" Type="http://schemas.openxmlformats.org/officeDocument/2006/relationships/image" Target="../media/image9.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16.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ctrTitle"/>
          </p:nvPr>
        </p:nvSpPr>
        <p:spPr>
          <a:xfrm>
            <a:off x="581025" y="990600"/>
            <a:ext cx="7989887" cy="150495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accent1"/>
              </a:buClr>
              <a:buSzPts val="3600"/>
              <a:buFont typeface="Gill Sans"/>
              <a:buNone/>
            </a:pPr>
            <a:r>
              <a:rPr lang="en-US" sz="3600" b="0" i="0" u="none">
                <a:solidFill>
                  <a:schemeClr val="accent1"/>
                </a:solidFill>
                <a:latin typeface="Gill Sans"/>
                <a:ea typeface="Gill Sans"/>
                <a:cs typeface="Gill Sans"/>
                <a:sym typeface="Gill Sans"/>
              </a:rPr>
              <a:t>CHAPTER 10</a:t>
            </a:r>
            <a:br>
              <a:rPr lang="en-US" sz="3600" b="0" i="0" u="none">
                <a:solidFill>
                  <a:schemeClr val="accent1"/>
                </a:solidFill>
                <a:latin typeface="Gill Sans"/>
                <a:ea typeface="Gill Sans"/>
                <a:cs typeface="Gill Sans"/>
                <a:sym typeface="Gill Sans"/>
              </a:rPr>
            </a:br>
            <a:r>
              <a:rPr lang="en-US" sz="3600" b="0" i="0" u="none">
                <a:solidFill>
                  <a:schemeClr val="accent1"/>
                </a:solidFill>
                <a:latin typeface="Gill Sans"/>
                <a:ea typeface="Gill Sans"/>
                <a:cs typeface="Gill Sans"/>
                <a:sym typeface="Gill Sans"/>
              </a:rPr>
              <a:t>REAL-WORLD PROTOCOLS</a:t>
            </a:r>
            <a:endParaRPr/>
          </a:p>
        </p:txBody>
      </p:sp>
      <p:sp>
        <p:nvSpPr>
          <p:cNvPr id="44" name="Google Shape;44;p1"/>
          <p:cNvSpPr txBox="1">
            <a:spLocks noGrp="1"/>
          </p:cNvSpPr>
          <p:nvPr>
            <p:ph type="subTitle" idx="1"/>
          </p:nvPr>
        </p:nvSpPr>
        <p:spPr>
          <a:xfrm>
            <a:off x="849312" y="3284537"/>
            <a:ext cx="6365875" cy="30972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2944"/>
              <a:buNone/>
            </a:pPr>
            <a:r>
              <a:rPr lang="en-US" sz="3200" b="0" i="0" u="none">
                <a:solidFill>
                  <a:schemeClr val="accent2"/>
                </a:solidFill>
                <a:latin typeface="Gill Sans"/>
                <a:ea typeface="Gill Sans"/>
                <a:cs typeface="Gill Sans"/>
                <a:sym typeface="Gill Sans"/>
              </a:rPr>
              <a:t>SSH</a:t>
            </a:r>
            <a:endParaRPr/>
          </a:p>
          <a:p>
            <a:pPr marL="0" lvl="0" indent="0" algn="l" rtl="0">
              <a:lnSpc>
                <a:spcPct val="100000"/>
              </a:lnSpc>
              <a:spcBef>
                <a:spcPts val="1240"/>
              </a:spcBef>
              <a:spcAft>
                <a:spcPts val="0"/>
              </a:spcAft>
              <a:buSzPts val="2944"/>
              <a:buNone/>
            </a:pPr>
            <a:r>
              <a:rPr lang="en-US" sz="3200" b="0" i="0" u="none">
                <a:solidFill>
                  <a:schemeClr val="accent2"/>
                </a:solidFill>
                <a:latin typeface="Gill Sans"/>
                <a:ea typeface="Gill Sans"/>
                <a:cs typeface="Gill Sans"/>
                <a:sym typeface="Gill Sans"/>
              </a:rPr>
              <a:t>SECURE SOCKET LAYER</a:t>
            </a:r>
            <a:endParaRPr/>
          </a:p>
          <a:p>
            <a:pPr marL="0" lvl="0" indent="0" algn="l" rtl="0">
              <a:lnSpc>
                <a:spcPct val="100000"/>
              </a:lnSpc>
              <a:spcBef>
                <a:spcPts val="1240"/>
              </a:spcBef>
              <a:spcAft>
                <a:spcPts val="0"/>
              </a:spcAft>
              <a:buSzPts val="2944"/>
              <a:buNone/>
            </a:pPr>
            <a:r>
              <a:rPr lang="en-US" sz="3200" b="0" i="0" u="none">
                <a:solidFill>
                  <a:schemeClr val="accent2"/>
                </a:solidFill>
                <a:latin typeface="Gill Sans"/>
                <a:ea typeface="Gill Sans"/>
                <a:cs typeface="Gill Sans"/>
                <a:sym typeface="Gill Sans"/>
              </a:rPr>
              <a:t>IPSEC</a:t>
            </a:r>
            <a:endParaRPr/>
          </a:p>
          <a:p>
            <a:pPr marL="0" lvl="0" indent="0" algn="l" rtl="0">
              <a:lnSpc>
                <a:spcPct val="100000"/>
              </a:lnSpc>
              <a:spcBef>
                <a:spcPts val="1240"/>
              </a:spcBef>
              <a:spcAft>
                <a:spcPts val="0"/>
              </a:spcAft>
              <a:buSzPts val="2944"/>
              <a:buNone/>
            </a:pPr>
            <a:r>
              <a:rPr lang="en-US" sz="3200" b="0" i="0" u="none">
                <a:solidFill>
                  <a:schemeClr val="accent2"/>
                </a:solidFill>
                <a:latin typeface="Gill Sans"/>
                <a:ea typeface="Gill Sans"/>
                <a:cs typeface="Gill Sans"/>
                <a:sym typeface="Gill Sans"/>
              </a:rPr>
              <a:t>KERBEROS</a:t>
            </a:r>
            <a:endParaRPr/>
          </a:p>
        </p:txBody>
      </p:sp>
      <p:pic>
        <p:nvPicPr>
          <p:cNvPr id="45" name="Google Shape;45;p1"/>
          <p:cNvPicPr preferRelativeResize="0"/>
          <p:nvPr/>
        </p:nvPicPr>
        <p:blipFill rotWithShape="1">
          <a:blip r:embed="rId3">
            <a:alphaModFix/>
          </a:blip>
          <a:srcRect/>
          <a:stretch/>
        </p:blipFill>
        <p:spPr>
          <a:xfrm>
            <a:off x="7235825" y="620712"/>
            <a:ext cx="1408112" cy="1150937"/>
          </a:xfrm>
          <a:prstGeom prst="rect">
            <a:avLst/>
          </a:prstGeom>
          <a:noFill/>
          <a:ln>
            <a:noFill/>
          </a:ln>
        </p:spPr>
      </p:pic>
      <p:pic>
        <p:nvPicPr>
          <p:cNvPr id="46" name="Google Shape;46;p1"/>
          <p:cNvPicPr preferRelativeResize="0"/>
          <p:nvPr/>
        </p:nvPicPr>
        <p:blipFill rotWithShape="1">
          <a:blip r:embed="rId4">
            <a:alphaModFix/>
          </a:blip>
          <a:srcRect/>
          <a:stretch/>
        </p:blipFill>
        <p:spPr>
          <a:xfrm>
            <a:off x="7380287" y="692150"/>
            <a:ext cx="1147762" cy="1062037"/>
          </a:xfrm>
          <a:prstGeom prst="rect">
            <a:avLst/>
          </a:prstGeom>
          <a:noFill/>
          <a:ln>
            <a:noFill/>
          </a:ln>
        </p:spPr>
      </p:pic>
      <p:sp>
        <p:nvSpPr>
          <p:cNvPr id="47" name="Google Shape;47;p1"/>
          <p:cNvSpPr txBox="1"/>
          <p:nvPr/>
        </p:nvSpPr>
        <p:spPr>
          <a:xfrm>
            <a:off x="581025" y="6486525"/>
            <a:ext cx="6654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F5AAC"/>
              </a:buClr>
              <a:buSzPts val="900"/>
              <a:buFont typeface="Gulim"/>
              <a:buNone/>
            </a:pPr>
            <a:r>
              <a:rPr lang="en-US" sz="900" b="0" i="0" u="none">
                <a:solidFill>
                  <a:srgbClr val="2F5AAC"/>
                </a:solidFill>
                <a:latin typeface="Gulim"/>
                <a:ea typeface="Gulim"/>
                <a:cs typeface="Gulim"/>
                <a:sym typeface="Gulim"/>
              </a:rPr>
              <a:t>CHAPTER 10  REAL WORLD SECURITY PROTOCOLS       PREPARED BY: DR. MUHAMMAD IQBAL HOSSAIN</a:t>
            </a:r>
            <a:endParaRPr/>
          </a:p>
        </p:txBody>
      </p:sp>
      <p:sp>
        <p:nvSpPr>
          <p:cNvPr id="48" name="Google Shape;48;p1"/>
          <p:cNvSpPr txBox="1"/>
          <p:nvPr/>
        </p:nvSpPr>
        <p:spPr>
          <a:xfrm>
            <a:off x="7800975" y="6486525"/>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REAL TIME SECURITY COMM	</a:t>
            </a:r>
            <a:endParaRPr/>
          </a:p>
        </p:txBody>
      </p:sp>
      <p:sp>
        <p:nvSpPr>
          <p:cNvPr id="54" name="Google Shape;54;p2"/>
          <p:cNvSpPr txBox="1">
            <a:spLocks noGrp="1"/>
          </p:cNvSpPr>
          <p:nvPr>
            <p:ph type="body" idx="1"/>
          </p:nvPr>
        </p:nvSpPr>
        <p:spPr>
          <a:xfrm>
            <a:off x="581025" y="2049462"/>
            <a:ext cx="7989887" cy="2425700"/>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Real time protocol</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The parties negotiate interactively to authenticate each other and establish a </a:t>
            </a:r>
            <a:r>
              <a:rPr lang="en-US" sz="2400" b="0" i="0" u="none" strike="noStrike" cap="none">
                <a:solidFill>
                  <a:srgbClr val="FF0000"/>
                </a:solidFill>
                <a:latin typeface="Gill Sans"/>
                <a:ea typeface="Gill Sans"/>
                <a:cs typeface="Gill Sans"/>
                <a:sym typeface="Gill Sans"/>
              </a:rPr>
              <a:t>session key</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rgbClr val="0000FF"/>
                </a:solidFill>
                <a:latin typeface="Gill Sans"/>
                <a:ea typeface="Gill Sans"/>
                <a:cs typeface="Gill Sans"/>
                <a:sym typeface="Gill Sans"/>
              </a:rPr>
              <a:t>Security Association (SA)</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The conversation protected with </a:t>
            </a:r>
            <a:r>
              <a:rPr lang="en-US" sz="2400" b="0" i="0" u="none" strike="noStrike" cap="none">
                <a:solidFill>
                  <a:srgbClr val="FF0000"/>
                </a:solidFill>
                <a:latin typeface="Gill Sans"/>
                <a:ea typeface="Gill Sans"/>
                <a:cs typeface="Gill Sans"/>
                <a:sym typeface="Gill Sans"/>
              </a:rPr>
              <a:t>that session key</a:t>
            </a:r>
            <a:endParaRPr/>
          </a:p>
        </p:txBody>
      </p:sp>
      <p:sp>
        <p:nvSpPr>
          <p:cNvPr id="55" name="Google Shape;55;p2"/>
          <p:cNvSpPr txBox="1"/>
          <p:nvPr/>
        </p:nvSpPr>
        <p:spPr>
          <a:xfrm>
            <a:off x="581025" y="6235700"/>
            <a:ext cx="721995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56" name="Google Shape;56;p2"/>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3"/>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REAL-WORLD PROTOCOLS</a:t>
            </a:r>
            <a:endParaRPr/>
          </a:p>
        </p:txBody>
      </p:sp>
      <p:sp>
        <p:nvSpPr>
          <p:cNvPr id="62" name="Google Shape;62;p3"/>
          <p:cNvSpPr txBox="1">
            <a:spLocks noGrp="1"/>
          </p:cNvSpPr>
          <p:nvPr>
            <p:ph type="body" idx="1"/>
          </p:nvPr>
        </p:nvSpPr>
        <p:spPr>
          <a:xfrm>
            <a:off x="714375" y="1801812"/>
            <a:ext cx="7715250" cy="4344987"/>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944"/>
              <a:buFont typeface="Noto Sans Symbols"/>
              <a:buChar char="◼"/>
            </a:pPr>
            <a:r>
              <a:rPr lang="en-US" sz="3200" b="0" i="0" u="none" strike="noStrike" cap="none">
                <a:solidFill>
                  <a:schemeClr val="dk2"/>
                </a:solidFill>
                <a:latin typeface="Gill Sans"/>
                <a:ea typeface="Gill Sans"/>
                <a:cs typeface="Gill Sans"/>
                <a:sym typeface="Gill Sans"/>
              </a:rPr>
              <a:t>Next, we’ll look at specific protocols</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SSH ⎯ a simple &amp; useful security protocol</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SSL ⎯ practical security on the Web</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IPSec ⎯ security at the IP layer</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Kerberos ⎯ symmetric key, single sign-on</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WEP ⎯ “Swiss cheese” of security protocols</a:t>
            </a:r>
            <a:endParaRPr/>
          </a:p>
          <a:p>
            <a:pPr marL="628650" marR="0" lvl="1" indent="-304800" algn="l" rtl="0">
              <a:lnSpc>
                <a:spcPct val="9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GSM ⎯ mobile phone (in)security</a:t>
            </a:r>
            <a:endParaRPr/>
          </a:p>
        </p:txBody>
      </p:sp>
      <p:sp>
        <p:nvSpPr>
          <p:cNvPr id="63" name="Google Shape;63;p3"/>
          <p:cNvSpPr txBox="1"/>
          <p:nvPr/>
        </p:nvSpPr>
        <p:spPr>
          <a:xfrm>
            <a:off x="581025" y="6219825"/>
            <a:ext cx="721995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64" name="Google Shape;64;p3"/>
          <p:cNvSpPr txBox="1"/>
          <p:nvPr/>
        </p:nvSpPr>
        <p:spPr>
          <a:xfrm>
            <a:off x="7788275" y="6170612"/>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4"/>
          <p:cNvSpPr txBox="1">
            <a:spLocks noGrp="1"/>
          </p:cNvSpPr>
          <p:nvPr>
            <p:ph type="title"/>
          </p:nvPr>
        </p:nvSpPr>
        <p:spPr>
          <a:xfrm>
            <a:off x="2205037" y="2420937"/>
            <a:ext cx="5391150" cy="966787"/>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rgbClr val="000099"/>
              </a:buClr>
              <a:buSzPts val="2800"/>
              <a:buFont typeface="Gill Sans"/>
              <a:buNone/>
            </a:pPr>
            <a:r>
              <a:rPr lang="en-US" sz="2800" b="0" i="0" u="none">
                <a:solidFill>
                  <a:srgbClr val="000099"/>
                </a:solidFill>
                <a:latin typeface="Gill Sans"/>
                <a:ea typeface="Gill Sans"/>
                <a:cs typeface="Gill Sans"/>
                <a:sym typeface="Gill Sans"/>
              </a:rPr>
              <a:t>SECURE SHELL (SSH)</a:t>
            </a:r>
            <a:endParaRPr/>
          </a:p>
        </p:txBody>
      </p:sp>
      <p:sp>
        <p:nvSpPr>
          <p:cNvPr id="70" name="Google Shape;70;p4"/>
          <p:cNvSpPr txBox="1"/>
          <p:nvPr/>
        </p:nvSpPr>
        <p:spPr>
          <a:xfrm>
            <a:off x="642937" y="6248400"/>
            <a:ext cx="695325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Gulim"/>
              <a:buNone/>
            </a:pPr>
            <a:r>
              <a:rPr lang="en-US" sz="900" b="0" i="0" u="none">
                <a:solidFill>
                  <a:schemeClr val="dk1"/>
                </a:solidFill>
                <a:latin typeface="Gulim"/>
                <a:ea typeface="Gulim"/>
                <a:cs typeface="Gulim"/>
                <a:sym typeface="Gulim"/>
              </a:rPr>
              <a:t>CHAPTER 10  REAL WORLD SECURITY PROTOCOLS       PREPARED BY: DR. MUHAMMAD IQBAL HOSSAIN</a:t>
            </a:r>
            <a:endParaRPr/>
          </a:p>
        </p:txBody>
      </p:sp>
      <p:pic>
        <p:nvPicPr>
          <p:cNvPr id="71" name="Google Shape;71;p4" descr="shell.gif"/>
          <p:cNvPicPr preferRelativeResize="0"/>
          <p:nvPr/>
        </p:nvPicPr>
        <p:blipFill rotWithShape="1">
          <a:blip r:embed="rId3">
            <a:alphaModFix/>
          </a:blip>
          <a:srcRect/>
          <a:stretch/>
        </p:blipFill>
        <p:spPr>
          <a:xfrm>
            <a:off x="0" y="0"/>
            <a:ext cx="1241425" cy="1447800"/>
          </a:xfrm>
          <a:prstGeom prst="rect">
            <a:avLst/>
          </a:prstGeom>
          <a:noFill/>
          <a:ln>
            <a:noFill/>
          </a:ln>
        </p:spPr>
      </p:pic>
      <p:pic>
        <p:nvPicPr>
          <p:cNvPr id="72" name="Google Shape;72;p4" descr="shell.gif"/>
          <p:cNvPicPr preferRelativeResize="0"/>
          <p:nvPr/>
        </p:nvPicPr>
        <p:blipFill rotWithShape="1">
          <a:blip r:embed="rId3">
            <a:alphaModFix/>
          </a:blip>
          <a:srcRect/>
          <a:stretch/>
        </p:blipFill>
        <p:spPr>
          <a:xfrm>
            <a:off x="7902575" y="0"/>
            <a:ext cx="1241425" cy="1447800"/>
          </a:xfrm>
          <a:prstGeom prst="rect">
            <a:avLst/>
          </a:prstGeom>
          <a:noFill/>
          <a:ln>
            <a:noFill/>
          </a:ln>
        </p:spPr>
      </p:pic>
      <p:sp>
        <p:nvSpPr>
          <p:cNvPr id="73" name="Google Shape;73;p4"/>
          <p:cNvSpPr txBox="1"/>
          <p:nvPr/>
        </p:nvSpPr>
        <p:spPr>
          <a:xfrm>
            <a:off x="7870825" y="6294437"/>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5"/>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SSH</a:t>
            </a:r>
            <a:endParaRPr/>
          </a:p>
        </p:txBody>
      </p:sp>
      <p:sp>
        <p:nvSpPr>
          <p:cNvPr id="79" name="Google Shape;79;p5"/>
          <p:cNvSpPr txBox="1">
            <a:spLocks noGrp="1"/>
          </p:cNvSpPr>
          <p:nvPr>
            <p:ph type="body" idx="1"/>
          </p:nvPr>
        </p:nvSpPr>
        <p:spPr>
          <a:xfrm>
            <a:off x="576262" y="1865312"/>
            <a:ext cx="7991475" cy="4090987"/>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Creates a “secure tunnel”</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Insecure command sent thru SSH tunnel are then secure</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SSH used with things like </a:t>
            </a:r>
            <a:r>
              <a:rPr lang="en-US" sz="2800" b="0" i="0" u="none" strike="noStrike" cap="none">
                <a:solidFill>
                  <a:schemeClr val="dk2"/>
                </a:solidFill>
                <a:latin typeface="Times New Roman"/>
                <a:ea typeface="Times New Roman"/>
                <a:cs typeface="Times New Roman"/>
                <a:sym typeface="Times New Roman"/>
              </a:rPr>
              <a:t>rlogin</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Why is </a:t>
            </a:r>
            <a:r>
              <a:rPr lang="en-US" sz="2400" b="0" i="0" u="none" strike="noStrike" cap="none">
                <a:solidFill>
                  <a:schemeClr val="dk2"/>
                </a:solidFill>
                <a:latin typeface="Times New Roman"/>
                <a:ea typeface="Times New Roman"/>
                <a:cs typeface="Times New Roman"/>
                <a:sym typeface="Times New Roman"/>
              </a:rPr>
              <a:t>rlogin</a:t>
            </a:r>
            <a:r>
              <a:rPr lang="en-US" sz="2400" b="0" i="0" u="none" strike="noStrike" cap="none">
                <a:solidFill>
                  <a:schemeClr val="dk2"/>
                </a:solidFill>
                <a:latin typeface="Gill Sans"/>
                <a:ea typeface="Gill Sans"/>
                <a:cs typeface="Gill Sans"/>
                <a:sym typeface="Gill Sans"/>
              </a:rPr>
              <a:t> insecure without SSH?</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Why is </a:t>
            </a:r>
            <a:r>
              <a:rPr lang="en-US" sz="2400" b="0" i="0" u="none" strike="noStrike" cap="none">
                <a:solidFill>
                  <a:schemeClr val="dk2"/>
                </a:solidFill>
                <a:latin typeface="Times New Roman"/>
                <a:ea typeface="Times New Roman"/>
                <a:cs typeface="Times New Roman"/>
                <a:sym typeface="Times New Roman"/>
              </a:rPr>
              <a:t>rlogin</a:t>
            </a:r>
            <a:r>
              <a:rPr lang="en-US" sz="2400" b="0" i="0" u="none" strike="noStrike" cap="none">
                <a:solidFill>
                  <a:schemeClr val="dk2"/>
                </a:solidFill>
                <a:latin typeface="Gill Sans"/>
                <a:ea typeface="Gill Sans"/>
                <a:cs typeface="Gill Sans"/>
                <a:sym typeface="Gill Sans"/>
              </a:rPr>
              <a:t> secure with SSH?</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SSH is very simple protocol</a:t>
            </a:r>
            <a:endParaRPr/>
          </a:p>
        </p:txBody>
      </p:sp>
      <p:sp>
        <p:nvSpPr>
          <p:cNvPr id="80" name="Google Shape;80;p5"/>
          <p:cNvSpPr txBox="1"/>
          <p:nvPr/>
        </p:nvSpPr>
        <p:spPr>
          <a:xfrm>
            <a:off x="642937" y="6248400"/>
            <a:ext cx="652145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Gulim"/>
              <a:buNone/>
            </a:pPr>
            <a:r>
              <a:rPr lang="en-US" sz="900" b="0" i="0" u="none">
                <a:solidFill>
                  <a:schemeClr val="dk1"/>
                </a:solidFill>
                <a:latin typeface="Gulim"/>
                <a:ea typeface="Gulim"/>
                <a:cs typeface="Gulim"/>
                <a:sym typeface="Gulim"/>
              </a:rPr>
              <a:t>CHAPTER 10  REAL WORLD SECURITY PROTOCOLS       PREPARED BY: DR. MUHAMMAD IQBAL HOSSAIN</a:t>
            </a:r>
            <a:endParaRPr/>
          </a:p>
        </p:txBody>
      </p:sp>
      <p:sp>
        <p:nvSpPr>
          <p:cNvPr id="81" name="Google Shape;81;p5"/>
          <p:cNvSpPr txBox="1"/>
          <p:nvPr/>
        </p:nvSpPr>
        <p:spPr>
          <a:xfrm>
            <a:off x="7796212" y="6248400"/>
            <a:ext cx="771525"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6"/>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SSH</a:t>
            </a:r>
            <a:endParaRPr/>
          </a:p>
        </p:txBody>
      </p:sp>
      <p:sp>
        <p:nvSpPr>
          <p:cNvPr id="87" name="Google Shape;87;p6"/>
          <p:cNvSpPr txBox="1">
            <a:spLocks noGrp="1"/>
          </p:cNvSpPr>
          <p:nvPr>
            <p:ph type="body" idx="1"/>
          </p:nvPr>
        </p:nvSpPr>
        <p:spPr>
          <a:xfrm>
            <a:off x="581025" y="2227262"/>
            <a:ext cx="7989887" cy="3632200"/>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SSH authentication can be based on…</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Public keys, or</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Digital certificates, or</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Passwords</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Here, we consider certificate mode</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Other modes in homework problems</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strike="noStrike" cap="none">
                <a:solidFill>
                  <a:schemeClr val="dk2"/>
                </a:solidFill>
                <a:latin typeface="Gill Sans"/>
                <a:ea typeface="Gill Sans"/>
                <a:cs typeface="Gill Sans"/>
                <a:sym typeface="Gill Sans"/>
              </a:rPr>
              <a:t>We consider slightly simplified SSH…</a:t>
            </a:r>
            <a:endParaRPr/>
          </a:p>
        </p:txBody>
      </p:sp>
      <p:sp>
        <p:nvSpPr>
          <p:cNvPr id="88" name="Google Shape;88;p6"/>
          <p:cNvSpPr txBox="1"/>
          <p:nvPr/>
        </p:nvSpPr>
        <p:spPr>
          <a:xfrm>
            <a:off x="642937" y="6248400"/>
            <a:ext cx="6450012"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Gulim"/>
              <a:buNone/>
            </a:pPr>
            <a:r>
              <a:rPr lang="en-US" sz="900" b="0" i="0" u="none">
                <a:solidFill>
                  <a:schemeClr val="dk1"/>
                </a:solidFill>
                <a:latin typeface="Gulim"/>
                <a:ea typeface="Gulim"/>
                <a:cs typeface="Gulim"/>
                <a:sym typeface="Gulim"/>
              </a:rPr>
              <a:t>CHAPTER 10  REAL WORLD SECURITY PROTOCOLS       PREPARED BY: DR. MUHAMMAD IQBAL HOSSAIN</a:t>
            </a:r>
            <a:endParaRPr/>
          </a:p>
        </p:txBody>
      </p:sp>
      <p:sp>
        <p:nvSpPr>
          <p:cNvPr id="89" name="Google Shape;89;p6"/>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7"/>
          <p:cNvSpPr txBox="1">
            <a:spLocks noGrp="1"/>
          </p:cNvSpPr>
          <p:nvPr>
            <p:ph type="title"/>
          </p:nvPr>
        </p:nvSpPr>
        <p:spPr>
          <a:xfrm>
            <a:off x="685800" y="381000"/>
            <a:ext cx="7772400" cy="8382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SIMPLIFIED SSH</a:t>
            </a:r>
            <a:endParaRPr/>
          </a:p>
        </p:txBody>
      </p:sp>
      <p:sp>
        <p:nvSpPr>
          <p:cNvPr id="96" name="Google Shape;96;p7"/>
          <p:cNvSpPr txBox="1">
            <a:spLocks noGrp="1"/>
          </p:cNvSpPr>
          <p:nvPr>
            <p:ph type="body" idx="1"/>
          </p:nvPr>
        </p:nvSpPr>
        <p:spPr>
          <a:xfrm>
            <a:off x="781050" y="4294187"/>
            <a:ext cx="7921625" cy="2087562"/>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CP = “crypto proposed”, and CS = “crypto selected”</a:t>
            </a:r>
            <a:endParaRPr/>
          </a:p>
          <a:p>
            <a:pPr marL="304800" marR="0" lvl="0" indent="-304800" algn="l" rtl="0">
              <a:lnSpc>
                <a:spcPct val="9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H = h(Alice,Bob,CP,CS,R</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,R</a:t>
            </a:r>
            <a:r>
              <a:rPr lang="en-US" sz="1900" b="0" i="0" u="none" strike="noStrike" cap="none" baseline="-25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,g</a:t>
            </a:r>
            <a:r>
              <a:rPr lang="en-US" sz="1900" b="0" i="0" u="none" strike="noStrike" cap="none" baseline="30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ab</a:t>
            </a:r>
            <a:r>
              <a:rPr lang="en-US" sz="1900" b="0" i="0" u="none" strike="noStrike" cap="none">
                <a:solidFill>
                  <a:schemeClr val="dk2"/>
                </a:solidFill>
                <a:latin typeface="Gill Sans"/>
                <a:ea typeface="Gill Sans"/>
                <a:cs typeface="Gill Sans"/>
                <a:sym typeface="Gill Sans"/>
              </a:rPr>
              <a:t> mod p)</a:t>
            </a:r>
            <a:endParaRPr/>
          </a:p>
          <a:p>
            <a:pPr marL="304800" marR="0" lvl="0" indent="-304800" algn="l" rtl="0">
              <a:lnSpc>
                <a:spcPct val="9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S</a:t>
            </a:r>
            <a:r>
              <a:rPr lang="en-US" sz="1900" b="0" i="0" u="none" strike="noStrike" cap="none" baseline="-25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 = [H]</a:t>
            </a:r>
            <a:r>
              <a:rPr lang="en-US" sz="1900" b="0" i="0" u="none" strike="noStrike" cap="none" baseline="-25000">
                <a:solidFill>
                  <a:schemeClr val="dk2"/>
                </a:solidFill>
                <a:latin typeface="Gill Sans"/>
                <a:ea typeface="Gill Sans"/>
                <a:cs typeface="Gill Sans"/>
                <a:sym typeface="Gill Sans"/>
              </a:rPr>
              <a:t>Bob</a:t>
            </a:r>
            <a:endParaRPr/>
          </a:p>
          <a:p>
            <a:pPr marL="304800" marR="0" lvl="0" indent="-304800" algn="l" rtl="0">
              <a:lnSpc>
                <a:spcPct val="9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S</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 = [H, Alice, certificate</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a:t>
            </a:r>
            <a:r>
              <a:rPr lang="en-US" sz="1900" b="0" i="0" u="none" strike="noStrike" cap="none" baseline="-25000">
                <a:solidFill>
                  <a:schemeClr val="dk2"/>
                </a:solidFill>
                <a:latin typeface="Gill Sans"/>
                <a:ea typeface="Gill Sans"/>
                <a:cs typeface="Gill Sans"/>
                <a:sym typeface="Gill Sans"/>
              </a:rPr>
              <a:t>Alice</a:t>
            </a:r>
            <a:endParaRPr/>
          </a:p>
          <a:p>
            <a:pPr marL="304800" marR="0" lvl="0" indent="-304800" algn="l" rtl="0">
              <a:lnSpc>
                <a:spcPct val="9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K = g</a:t>
            </a:r>
            <a:r>
              <a:rPr lang="en-US" sz="1900" b="0" i="0" u="none" strike="noStrike" cap="none" baseline="30000">
                <a:solidFill>
                  <a:schemeClr val="dk2"/>
                </a:solidFill>
                <a:latin typeface="Gill Sans"/>
                <a:ea typeface="Gill Sans"/>
                <a:cs typeface="Gill Sans"/>
                <a:sym typeface="Gill Sans"/>
              </a:rPr>
              <a:t>ab</a:t>
            </a:r>
            <a:r>
              <a:rPr lang="en-US" sz="1900" b="0" i="0" u="none" strike="noStrike" cap="none">
                <a:solidFill>
                  <a:schemeClr val="dk2"/>
                </a:solidFill>
                <a:latin typeface="Gill Sans"/>
                <a:ea typeface="Gill Sans"/>
                <a:cs typeface="Gill Sans"/>
                <a:sym typeface="Gill Sans"/>
              </a:rPr>
              <a:t> mod p</a:t>
            </a:r>
            <a:endParaRPr/>
          </a:p>
          <a:p>
            <a:pPr marL="304800" marR="0" lvl="0" indent="-193802" algn="l" rtl="0">
              <a:spcBef>
                <a:spcPts val="980"/>
              </a:spcBef>
              <a:spcAft>
                <a:spcPts val="0"/>
              </a:spcAft>
              <a:buClr>
                <a:schemeClr val="accent2"/>
              </a:buClr>
              <a:buSzPts val="1748"/>
              <a:buFont typeface="Noto Sans Symbols"/>
              <a:buNone/>
            </a:pPr>
            <a:endParaRPr sz="1900" b="0" i="0" u="none">
              <a:solidFill>
                <a:schemeClr val="dk2"/>
              </a:solidFill>
              <a:latin typeface="Gill Sans"/>
              <a:ea typeface="Gill Sans"/>
              <a:cs typeface="Gill Sans"/>
              <a:sym typeface="Gill Sans"/>
            </a:endParaRPr>
          </a:p>
        </p:txBody>
      </p:sp>
      <p:sp>
        <p:nvSpPr>
          <p:cNvPr id="97" name="Google Shape;97;p7"/>
          <p:cNvSpPr txBox="1"/>
          <p:nvPr/>
        </p:nvSpPr>
        <p:spPr>
          <a:xfrm>
            <a:off x="642937" y="6248400"/>
            <a:ext cx="792797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Gulim"/>
              <a:buNone/>
            </a:pPr>
            <a:r>
              <a:rPr lang="en-US" sz="900" b="0" i="0" u="none">
                <a:solidFill>
                  <a:schemeClr val="dk1"/>
                </a:solidFill>
                <a:latin typeface="Gulim"/>
                <a:ea typeface="Gulim"/>
                <a:cs typeface="Gulim"/>
                <a:sym typeface="Gulim"/>
              </a:rPr>
              <a:t>CHAPTER 10  REAL WORLD SECURITY PROTOCOLS       PREPARED BY: DR. MUHAMMAD IQBAL HOSSAIN</a:t>
            </a:r>
            <a:endParaRPr/>
          </a:p>
        </p:txBody>
      </p:sp>
      <p:pic>
        <p:nvPicPr>
          <p:cNvPr id="98" name="Google Shape;98;p7" descr="drinkme.gif                                                    000A0185Macintosh HD                   ABA78158:"/>
          <p:cNvPicPr preferRelativeResize="0"/>
          <p:nvPr/>
        </p:nvPicPr>
        <p:blipFill rotWithShape="1">
          <a:blip r:embed="rId3">
            <a:alphaModFix/>
          </a:blip>
          <a:srcRect/>
          <a:stretch/>
        </p:blipFill>
        <p:spPr>
          <a:xfrm>
            <a:off x="838200" y="2033587"/>
            <a:ext cx="990600" cy="1474787"/>
          </a:xfrm>
          <a:prstGeom prst="rect">
            <a:avLst/>
          </a:prstGeom>
          <a:noFill/>
          <a:ln>
            <a:noFill/>
          </a:ln>
        </p:spPr>
      </p:pic>
      <p:cxnSp>
        <p:nvCxnSpPr>
          <p:cNvPr id="99" name="Google Shape;99;p7"/>
          <p:cNvCxnSpPr/>
          <p:nvPr/>
        </p:nvCxnSpPr>
        <p:spPr>
          <a:xfrm>
            <a:off x="2133600" y="2149475"/>
            <a:ext cx="46482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00" name="Google Shape;100;p7"/>
          <p:cNvCxnSpPr/>
          <p:nvPr/>
        </p:nvCxnSpPr>
        <p:spPr>
          <a:xfrm rot="10800000">
            <a:off x="2057400" y="2606675"/>
            <a:ext cx="4724400" cy="0"/>
          </a:xfrm>
          <a:prstGeom prst="straightConnector1">
            <a:avLst/>
          </a:prstGeom>
          <a:noFill/>
          <a:ln w="50800" cap="flat" cmpd="sng">
            <a:solidFill>
              <a:schemeClr val="dk1"/>
            </a:solidFill>
            <a:prstDash val="solid"/>
            <a:miter lim="800000"/>
            <a:headEnd type="none" w="med" len="med"/>
            <a:tailEnd type="triangle" w="med" len="med"/>
          </a:ln>
        </p:spPr>
      </p:cxnSp>
      <p:sp>
        <p:nvSpPr>
          <p:cNvPr id="101" name="Google Shape;101;p7"/>
          <p:cNvSpPr txBox="1"/>
          <p:nvPr/>
        </p:nvSpPr>
        <p:spPr>
          <a:xfrm>
            <a:off x="909637" y="3468687"/>
            <a:ext cx="906462"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Gulim"/>
              <a:buNone/>
            </a:pPr>
            <a:r>
              <a:rPr lang="en-US" sz="1800" b="0" i="0" u="none">
                <a:solidFill>
                  <a:schemeClr val="dk1"/>
                </a:solidFill>
                <a:latin typeface="Gulim"/>
                <a:ea typeface="Gulim"/>
                <a:cs typeface="Gulim"/>
                <a:sym typeface="Gulim"/>
              </a:rPr>
              <a:t>Alice</a:t>
            </a:r>
            <a:endParaRPr/>
          </a:p>
        </p:txBody>
      </p:sp>
      <p:sp>
        <p:nvSpPr>
          <p:cNvPr id="102" name="Google Shape;102;p7"/>
          <p:cNvSpPr txBox="1"/>
          <p:nvPr/>
        </p:nvSpPr>
        <p:spPr>
          <a:xfrm>
            <a:off x="7235825" y="3497262"/>
            <a:ext cx="723900" cy="46196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Gulim"/>
              <a:buNone/>
            </a:pPr>
            <a:r>
              <a:rPr lang="en-US" sz="1800" b="0" i="0" u="none">
                <a:solidFill>
                  <a:schemeClr val="dk1"/>
                </a:solidFill>
                <a:latin typeface="Gulim"/>
                <a:ea typeface="Gulim"/>
                <a:cs typeface="Gulim"/>
                <a:sym typeface="Gulim"/>
              </a:rPr>
              <a:t>Bob</a:t>
            </a:r>
            <a:endParaRPr/>
          </a:p>
        </p:txBody>
      </p:sp>
      <p:cxnSp>
        <p:nvCxnSpPr>
          <p:cNvPr id="103" name="Google Shape;103;p7"/>
          <p:cNvCxnSpPr/>
          <p:nvPr/>
        </p:nvCxnSpPr>
        <p:spPr>
          <a:xfrm>
            <a:off x="2133600" y="3048000"/>
            <a:ext cx="4648200" cy="0"/>
          </a:xfrm>
          <a:prstGeom prst="straightConnector1">
            <a:avLst/>
          </a:prstGeom>
          <a:noFill/>
          <a:ln w="50800" cap="flat" cmpd="sng">
            <a:solidFill>
              <a:schemeClr val="dk1"/>
            </a:solidFill>
            <a:prstDash val="solid"/>
            <a:miter lim="800000"/>
            <a:headEnd type="none" w="med" len="med"/>
            <a:tailEnd type="triangle" w="med" len="med"/>
          </a:ln>
        </p:spPr>
      </p:cxnSp>
      <p:sp>
        <p:nvSpPr>
          <p:cNvPr id="104" name="Google Shape;104;p7"/>
          <p:cNvSpPr txBox="1"/>
          <p:nvPr/>
        </p:nvSpPr>
        <p:spPr>
          <a:xfrm>
            <a:off x="3492500" y="1839912"/>
            <a:ext cx="18542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Alice, CP, R</a:t>
            </a:r>
            <a:r>
              <a:rPr lang="en-US" sz="1800" b="0" i="0" u="none" baseline="-25000">
                <a:solidFill>
                  <a:schemeClr val="dk1"/>
                </a:solidFill>
                <a:latin typeface="Times"/>
                <a:ea typeface="Times"/>
                <a:cs typeface="Times"/>
                <a:sym typeface="Times"/>
              </a:rPr>
              <a:t>A</a:t>
            </a:r>
            <a:endParaRPr/>
          </a:p>
        </p:txBody>
      </p:sp>
      <p:sp>
        <p:nvSpPr>
          <p:cNvPr id="105" name="Google Shape;105;p7"/>
          <p:cNvSpPr txBox="1"/>
          <p:nvPr/>
        </p:nvSpPr>
        <p:spPr>
          <a:xfrm>
            <a:off x="3890962" y="2241550"/>
            <a:ext cx="1057275"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CS, R</a:t>
            </a:r>
            <a:r>
              <a:rPr lang="en-US" sz="1800" b="0" i="0" u="none" baseline="-25000">
                <a:solidFill>
                  <a:schemeClr val="dk1"/>
                </a:solidFill>
                <a:latin typeface="Times"/>
                <a:ea typeface="Times"/>
                <a:cs typeface="Times"/>
                <a:sym typeface="Times"/>
              </a:rPr>
              <a:t>B</a:t>
            </a:r>
            <a:endParaRPr/>
          </a:p>
        </p:txBody>
      </p:sp>
      <p:sp>
        <p:nvSpPr>
          <p:cNvPr id="106" name="Google Shape;106;p7"/>
          <p:cNvSpPr txBox="1"/>
          <p:nvPr/>
        </p:nvSpPr>
        <p:spPr>
          <a:xfrm>
            <a:off x="3814762" y="2682875"/>
            <a:ext cx="1284287"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g</a:t>
            </a:r>
            <a:r>
              <a:rPr lang="en-US" sz="1800" b="0" i="0" u="none" baseline="30000">
                <a:solidFill>
                  <a:schemeClr val="dk1"/>
                </a:solidFill>
                <a:latin typeface="Times"/>
                <a:ea typeface="Times"/>
                <a:cs typeface="Times"/>
                <a:sym typeface="Times"/>
              </a:rPr>
              <a:t>a</a:t>
            </a:r>
            <a:r>
              <a:rPr lang="en-US" sz="1800" b="0" i="0" u="none">
                <a:solidFill>
                  <a:schemeClr val="dk1"/>
                </a:solidFill>
                <a:latin typeface="Times"/>
                <a:ea typeface="Times"/>
                <a:cs typeface="Times"/>
                <a:sym typeface="Times"/>
              </a:rPr>
              <a:t> mod p</a:t>
            </a:r>
            <a:endParaRPr/>
          </a:p>
        </p:txBody>
      </p:sp>
      <p:pic>
        <p:nvPicPr>
          <p:cNvPr id="107" name="Google Shape;107;p7" descr="rabbit3.tiff                                                   0010273EMacintosh HD                   BC93A1CC:"/>
          <p:cNvPicPr preferRelativeResize="0"/>
          <p:nvPr/>
        </p:nvPicPr>
        <p:blipFill rotWithShape="1">
          <a:blip r:embed="rId4">
            <a:alphaModFix/>
          </a:blip>
          <a:srcRect/>
          <a:stretch/>
        </p:blipFill>
        <p:spPr>
          <a:xfrm>
            <a:off x="7086600" y="2033587"/>
            <a:ext cx="935037" cy="1447800"/>
          </a:xfrm>
          <a:prstGeom prst="rect">
            <a:avLst/>
          </a:prstGeom>
          <a:noFill/>
          <a:ln>
            <a:noFill/>
          </a:ln>
        </p:spPr>
      </p:pic>
      <p:cxnSp>
        <p:nvCxnSpPr>
          <p:cNvPr id="108" name="Google Shape;108;p7"/>
          <p:cNvCxnSpPr/>
          <p:nvPr/>
        </p:nvCxnSpPr>
        <p:spPr>
          <a:xfrm rot="10800000">
            <a:off x="2057400" y="3557587"/>
            <a:ext cx="47244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09" name="Google Shape;109;p7"/>
          <p:cNvCxnSpPr/>
          <p:nvPr/>
        </p:nvCxnSpPr>
        <p:spPr>
          <a:xfrm>
            <a:off x="2133600" y="4014787"/>
            <a:ext cx="4648200" cy="0"/>
          </a:xfrm>
          <a:prstGeom prst="straightConnector1">
            <a:avLst/>
          </a:prstGeom>
          <a:noFill/>
          <a:ln w="50800" cap="flat" cmpd="sng">
            <a:solidFill>
              <a:schemeClr val="dk1"/>
            </a:solidFill>
            <a:prstDash val="solid"/>
            <a:miter lim="800000"/>
            <a:headEnd type="none" w="med" len="med"/>
            <a:tailEnd type="triangle" w="med" len="med"/>
          </a:ln>
        </p:spPr>
      </p:cxnSp>
      <p:sp>
        <p:nvSpPr>
          <p:cNvPr id="110" name="Google Shape;110;p7"/>
          <p:cNvSpPr txBox="1"/>
          <p:nvPr/>
        </p:nvSpPr>
        <p:spPr>
          <a:xfrm>
            <a:off x="3101975" y="3109912"/>
            <a:ext cx="2938462"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g</a:t>
            </a:r>
            <a:r>
              <a:rPr lang="en-US" sz="1800" b="0" i="0" u="none" baseline="30000">
                <a:solidFill>
                  <a:schemeClr val="dk1"/>
                </a:solidFill>
                <a:latin typeface="Times"/>
                <a:ea typeface="Times"/>
                <a:cs typeface="Times"/>
                <a:sym typeface="Times"/>
              </a:rPr>
              <a:t>b</a:t>
            </a:r>
            <a:r>
              <a:rPr lang="en-US" sz="1800" b="0" i="0" u="none">
                <a:solidFill>
                  <a:schemeClr val="dk1"/>
                </a:solidFill>
                <a:latin typeface="Times"/>
                <a:ea typeface="Times"/>
                <a:cs typeface="Times"/>
                <a:sym typeface="Times"/>
              </a:rPr>
              <a:t> mod p, certificate</a:t>
            </a:r>
            <a:r>
              <a:rPr lang="en-US" sz="1800" b="0" i="0" u="none" baseline="-25000">
                <a:solidFill>
                  <a:schemeClr val="dk1"/>
                </a:solidFill>
                <a:latin typeface="Times"/>
                <a:ea typeface="Times"/>
                <a:cs typeface="Times"/>
                <a:sym typeface="Times"/>
              </a:rPr>
              <a:t>B</a:t>
            </a:r>
            <a:r>
              <a:rPr lang="en-US" sz="1800" b="0" i="0" u="none">
                <a:solidFill>
                  <a:schemeClr val="dk1"/>
                </a:solidFill>
                <a:latin typeface="Times"/>
                <a:ea typeface="Times"/>
                <a:cs typeface="Times"/>
                <a:sym typeface="Times"/>
              </a:rPr>
              <a:t>, S</a:t>
            </a:r>
            <a:r>
              <a:rPr lang="en-US" sz="1800" b="0" i="0" u="none" baseline="-25000">
                <a:solidFill>
                  <a:schemeClr val="dk1"/>
                </a:solidFill>
                <a:latin typeface="Times"/>
                <a:ea typeface="Times"/>
                <a:cs typeface="Times"/>
                <a:sym typeface="Times"/>
              </a:rPr>
              <a:t>B</a:t>
            </a:r>
            <a:endParaRPr/>
          </a:p>
        </p:txBody>
      </p:sp>
      <p:sp>
        <p:nvSpPr>
          <p:cNvPr id="111" name="Google Shape;111;p7"/>
          <p:cNvSpPr txBox="1"/>
          <p:nvPr/>
        </p:nvSpPr>
        <p:spPr>
          <a:xfrm>
            <a:off x="2954337" y="3629025"/>
            <a:ext cx="3086100"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E(Alice, certificate</a:t>
            </a:r>
            <a:r>
              <a:rPr lang="en-US" sz="1800" b="0" i="0" u="none" baseline="-25000">
                <a:solidFill>
                  <a:schemeClr val="dk1"/>
                </a:solidFill>
                <a:latin typeface="Times"/>
                <a:ea typeface="Times"/>
                <a:cs typeface="Times"/>
                <a:sym typeface="Times"/>
              </a:rPr>
              <a:t>A</a:t>
            </a:r>
            <a:r>
              <a:rPr lang="en-US" sz="1800" b="0" i="0" u="none">
                <a:solidFill>
                  <a:schemeClr val="dk1"/>
                </a:solidFill>
                <a:latin typeface="Times"/>
                <a:ea typeface="Times"/>
                <a:cs typeface="Times"/>
                <a:sym typeface="Times"/>
              </a:rPr>
              <a:t>, S</a:t>
            </a:r>
            <a:r>
              <a:rPr lang="en-US" sz="1800" b="0" i="0" u="none" baseline="-25000">
                <a:solidFill>
                  <a:schemeClr val="dk1"/>
                </a:solidFill>
                <a:latin typeface="Times"/>
                <a:ea typeface="Times"/>
                <a:cs typeface="Times"/>
                <a:sym typeface="Times"/>
              </a:rPr>
              <a:t>A</a:t>
            </a:r>
            <a:r>
              <a:rPr lang="en-US" sz="1800" b="0" i="0" u="none">
                <a:solidFill>
                  <a:schemeClr val="dk1"/>
                </a:solidFill>
                <a:latin typeface="Times"/>
                <a:ea typeface="Times"/>
                <a:cs typeface="Times"/>
                <a:sym typeface="Times"/>
              </a:rPr>
              <a:t>, K)</a:t>
            </a:r>
            <a:endParaRPr/>
          </a:p>
        </p:txBody>
      </p:sp>
      <p:sp>
        <p:nvSpPr>
          <p:cNvPr id="112" name="Google Shape;112;p7"/>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7</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additive="base">
                                        <p:cTn id="7" dur="500"/>
                                        <p:tgtEl>
                                          <p:spTgt spid="99"/>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100"/>
                                        </p:tgtEl>
                                        <p:attrNameLst>
                                          <p:attrName>style.visibility</p:attrName>
                                        </p:attrNameLst>
                                      </p:cBhvr>
                                      <p:to>
                                        <p:strVal val="visible"/>
                                      </p:to>
                                    </p:set>
                                    <p:anim calcmode="lin" valueType="num">
                                      <p:cBhvr additive="base">
                                        <p:cTn id="15" dur="500"/>
                                        <p:tgtEl>
                                          <p:spTgt spid="100"/>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0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anim calcmode="lin" valueType="num">
                                      <p:cBhvr additive="base">
                                        <p:cTn id="23" dur="500"/>
                                        <p:tgtEl>
                                          <p:spTgt spid="103"/>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10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08"/>
                                        </p:tgtEl>
                                        <p:attrNameLst>
                                          <p:attrName>style.visibility</p:attrName>
                                        </p:attrNameLst>
                                      </p:cBhvr>
                                      <p:to>
                                        <p:strVal val="visible"/>
                                      </p:to>
                                    </p:set>
                                    <p:anim calcmode="lin" valueType="num">
                                      <p:cBhvr additive="base">
                                        <p:cTn id="31" dur="500"/>
                                        <p:tgtEl>
                                          <p:spTgt spid="108"/>
                                        </p:tgtEl>
                                        <p:attrNameLst>
                                          <p:attrName>ppt_x</p:attrName>
                                        </p:attrNameLst>
                                      </p:cBhvr>
                                      <p:tavLst>
                                        <p:tav tm="0">
                                          <p:val>
                                            <p:strVal val="#ppt_x+1"/>
                                          </p:val>
                                        </p:tav>
                                        <p:tav tm="100000">
                                          <p:val>
                                            <p:strVal val="#ppt_x"/>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1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09"/>
                                        </p:tgtEl>
                                        <p:attrNameLst>
                                          <p:attrName>style.visibility</p:attrName>
                                        </p:attrNameLst>
                                      </p:cBhvr>
                                      <p:to>
                                        <p:strVal val="visible"/>
                                      </p:to>
                                    </p:set>
                                    <p:anim calcmode="lin" valueType="num">
                                      <p:cBhvr additive="base">
                                        <p:cTn id="39" dur="500"/>
                                        <p:tgtEl>
                                          <p:spTgt spid="109"/>
                                        </p:tgtEl>
                                        <p:attrNameLst>
                                          <p:attrName>ppt_x</p:attrName>
                                        </p:attrNameLst>
                                      </p:cBhvr>
                                      <p:tavLst>
                                        <p:tav tm="0">
                                          <p:val>
                                            <p:strVal val="#ppt_x-1"/>
                                          </p:val>
                                        </p:tav>
                                        <p:tav tm="100000">
                                          <p:val>
                                            <p:strVal val="#ppt_x"/>
                                          </p:val>
                                        </p:tav>
                                      </p:tavLst>
                                    </p:anim>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8"/>
          <p:cNvSpPr txBox="1">
            <a:spLocks noGrp="1"/>
          </p:cNvSpPr>
          <p:nvPr>
            <p:ph type="title"/>
          </p:nvPr>
        </p:nvSpPr>
        <p:spPr>
          <a:xfrm>
            <a:off x="685800" y="381000"/>
            <a:ext cx="7772400" cy="8382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MIM ATTACK ON SSH?</a:t>
            </a:r>
            <a:endParaRPr/>
          </a:p>
        </p:txBody>
      </p:sp>
      <p:sp>
        <p:nvSpPr>
          <p:cNvPr id="118" name="Google Shape;118;p8"/>
          <p:cNvSpPr txBox="1">
            <a:spLocks noGrp="1"/>
          </p:cNvSpPr>
          <p:nvPr>
            <p:ph type="body" idx="1"/>
          </p:nvPr>
        </p:nvSpPr>
        <p:spPr>
          <a:xfrm>
            <a:off x="450850" y="4294187"/>
            <a:ext cx="8383587" cy="2114550"/>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80000"/>
              </a:lnSpc>
              <a:spcBef>
                <a:spcPts val="0"/>
              </a:spcBef>
              <a:spcAft>
                <a:spcPts val="0"/>
              </a:spcAft>
              <a:buClr>
                <a:schemeClr val="accent2"/>
              </a:buClr>
              <a:buSzPts val="2024"/>
              <a:buFont typeface="Noto Sans Symbols"/>
              <a:buChar char="◼"/>
            </a:pPr>
            <a:r>
              <a:rPr lang="en-US" sz="2200" b="0" i="0" u="none">
                <a:solidFill>
                  <a:schemeClr val="dk2"/>
                </a:solidFill>
                <a:latin typeface="Gill Sans"/>
                <a:ea typeface="Gill Sans"/>
                <a:cs typeface="Gill Sans"/>
                <a:sym typeface="Gill Sans"/>
              </a:rPr>
              <a:t>Where does this attack fail?</a:t>
            </a:r>
            <a:endParaRPr/>
          </a:p>
          <a:p>
            <a:pPr marL="304800" marR="0" lvl="0" indent="-304800" algn="l" rtl="0">
              <a:lnSpc>
                <a:spcPct val="80000"/>
              </a:lnSpc>
              <a:spcBef>
                <a:spcPts val="1040"/>
              </a:spcBef>
              <a:spcAft>
                <a:spcPts val="0"/>
              </a:spcAft>
              <a:buClr>
                <a:schemeClr val="accent2"/>
              </a:buClr>
              <a:buSzPts val="2024"/>
              <a:buFont typeface="Noto Sans Symbols"/>
              <a:buChar char="◼"/>
            </a:pPr>
            <a:r>
              <a:rPr lang="en-US" sz="2200" b="0" i="0" u="none">
                <a:solidFill>
                  <a:schemeClr val="dk2"/>
                </a:solidFill>
                <a:latin typeface="Gill Sans"/>
                <a:ea typeface="Gill Sans"/>
                <a:cs typeface="Gill Sans"/>
                <a:sym typeface="Gill Sans"/>
              </a:rPr>
              <a:t>Alice computes:</a:t>
            </a:r>
            <a:endParaRPr/>
          </a:p>
          <a:p>
            <a:pPr marL="628650" marR="0" lvl="1" indent="-304800" algn="l" rtl="0">
              <a:lnSpc>
                <a:spcPct val="8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H</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 = h(Alice,Bob,CP,CS,R</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,R</a:t>
            </a:r>
            <a:r>
              <a:rPr lang="en-US" sz="1900" b="0" i="0" u="none" strike="noStrike" cap="none" baseline="-25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,g</a:t>
            </a:r>
            <a:r>
              <a:rPr lang="en-US" sz="1900" b="0" i="0" u="none" strike="noStrike" cap="none" baseline="30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t</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at</a:t>
            </a:r>
            <a:r>
              <a:rPr lang="en-US" sz="1900" b="0" i="0" u="none" strike="noStrike" cap="none">
                <a:solidFill>
                  <a:schemeClr val="dk2"/>
                </a:solidFill>
                <a:latin typeface="Gill Sans"/>
                <a:ea typeface="Gill Sans"/>
                <a:cs typeface="Gill Sans"/>
                <a:sym typeface="Gill Sans"/>
              </a:rPr>
              <a:t> mod p)</a:t>
            </a:r>
            <a:endParaRPr/>
          </a:p>
          <a:p>
            <a:pPr marL="304800" marR="0" lvl="0" indent="-304800" algn="l" rtl="0">
              <a:lnSpc>
                <a:spcPct val="80000"/>
              </a:lnSpc>
              <a:spcBef>
                <a:spcPts val="1040"/>
              </a:spcBef>
              <a:spcAft>
                <a:spcPts val="0"/>
              </a:spcAft>
              <a:buClr>
                <a:schemeClr val="accent2"/>
              </a:buClr>
              <a:buSzPts val="2024"/>
              <a:buFont typeface="Noto Sans Symbols"/>
              <a:buChar char="◼"/>
            </a:pPr>
            <a:r>
              <a:rPr lang="en-US" sz="2200" b="0" i="0" u="none">
                <a:solidFill>
                  <a:schemeClr val="dk2"/>
                </a:solidFill>
                <a:latin typeface="Gill Sans"/>
                <a:ea typeface="Gill Sans"/>
                <a:cs typeface="Gill Sans"/>
                <a:sym typeface="Gill Sans"/>
              </a:rPr>
              <a:t>But Bob signs:</a:t>
            </a:r>
            <a:endParaRPr/>
          </a:p>
          <a:p>
            <a:pPr marL="628650" marR="0" lvl="1" indent="-304800" algn="l" rtl="0">
              <a:lnSpc>
                <a:spcPct val="80000"/>
              </a:lnSpc>
              <a:spcBef>
                <a:spcPts val="980"/>
              </a:spcBef>
              <a:spcAft>
                <a:spcPts val="0"/>
              </a:spcAft>
              <a:buClr>
                <a:schemeClr val="accent2"/>
              </a:buClr>
              <a:buSzPts val="1748"/>
              <a:buFont typeface="Noto Sans Symbols"/>
              <a:buChar char="◼"/>
            </a:pPr>
            <a:r>
              <a:rPr lang="en-US" sz="1900" b="0" i="0" u="none" strike="noStrike" cap="none">
                <a:solidFill>
                  <a:schemeClr val="dk2"/>
                </a:solidFill>
                <a:latin typeface="Gill Sans"/>
                <a:ea typeface="Gill Sans"/>
                <a:cs typeface="Gill Sans"/>
                <a:sym typeface="Gill Sans"/>
              </a:rPr>
              <a:t>H</a:t>
            </a:r>
            <a:r>
              <a:rPr lang="en-US" sz="1900" b="0" i="0" u="none" strike="noStrike" cap="none" baseline="-25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 = h(Alice,Bob,CP,CS,R</a:t>
            </a:r>
            <a:r>
              <a:rPr lang="en-US" sz="1900" b="0" i="0" u="none" strike="noStrike" cap="none" baseline="-25000">
                <a:solidFill>
                  <a:schemeClr val="dk2"/>
                </a:solidFill>
                <a:latin typeface="Gill Sans"/>
                <a:ea typeface="Gill Sans"/>
                <a:cs typeface="Gill Sans"/>
                <a:sym typeface="Gill Sans"/>
              </a:rPr>
              <a:t>A</a:t>
            </a:r>
            <a:r>
              <a:rPr lang="en-US" sz="1900" b="0" i="0" u="none" strike="noStrike" cap="none">
                <a:solidFill>
                  <a:schemeClr val="dk2"/>
                </a:solidFill>
                <a:latin typeface="Gill Sans"/>
                <a:ea typeface="Gill Sans"/>
                <a:cs typeface="Gill Sans"/>
                <a:sym typeface="Gill Sans"/>
              </a:rPr>
              <a:t>,R</a:t>
            </a:r>
            <a:r>
              <a:rPr lang="en-US" sz="1900" b="0" i="0" u="none" strike="noStrike" cap="none" baseline="-25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,g</a:t>
            </a:r>
            <a:r>
              <a:rPr lang="en-US" sz="1900" b="0" i="0" u="none" strike="noStrike" cap="none" baseline="30000">
                <a:solidFill>
                  <a:schemeClr val="dk2"/>
                </a:solidFill>
                <a:latin typeface="Gill Sans"/>
                <a:ea typeface="Gill Sans"/>
                <a:cs typeface="Gill Sans"/>
                <a:sym typeface="Gill Sans"/>
              </a:rPr>
              <a:t>t</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b</a:t>
            </a:r>
            <a:r>
              <a:rPr lang="en-US" sz="1900" b="0" i="0" u="none" strike="noStrike" cap="none">
                <a:solidFill>
                  <a:schemeClr val="dk2"/>
                </a:solidFill>
                <a:latin typeface="Gill Sans"/>
                <a:ea typeface="Gill Sans"/>
                <a:cs typeface="Gill Sans"/>
                <a:sym typeface="Gill Sans"/>
              </a:rPr>
              <a:t> mod p,g</a:t>
            </a:r>
            <a:r>
              <a:rPr lang="en-US" sz="1900" b="0" i="0" u="none" strike="noStrike" cap="none" baseline="30000">
                <a:solidFill>
                  <a:schemeClr val="dk2"/>
                </a:solidFill>
                <a:latin typeface="Gill Sans"/>
                <a:ea typeface="Gill Sans"/>
                <a:cs typeface="Gill Sans"/>
                <a:sym typeface="Gill Sans"/>
              </a:rPr>
              <a:t>bt</a:t>
            </a:r>
            <a:r>
              <a:rPr lang="en-US" sz="1900" b="0" i="0" u="none" strike="noStrike" cap="none">
                <a:solidFill>
                  <a:schemeClr val="dk2"/>
                </a:solidFill>
                <a:latin typeface="Gill Sans"/>
                <a:ea typeface="Gill Sans"/>
                <a:cs typeface="Gill Sans"/>
                <a:sym typeface="Gill Sans"/>
              </a:rPr>
              <a:t> mod p)</a:t>
            </a:r>
            <a:endParaRPr/>
          </a:p>
          <a:p>
            <a:pPr marL="304800" marR="0" lvl="0" indent="-193802" algn="l" rtl="0">
              <a:spcBef>
                <a:spcPts val="980"/>
              </a:spcBef>
              <a:spcAft>
                <a:spcPts val="0"/>
              </a:spcAft>
              <a:buClr>
                <a:schemeClr val="accent2"/>
              </a:buClr>
              <a:buSzPts val="1748"/>
              <a:buFont typeface="Noto Sans Symbols"/>
              <a:buNone/>
            </a:pPr>
            <a:endParaRPr sz="1900" b="0" i="0" u="none" strike="noStrike" cap="none">
              <a:solidFill>
                <a:schemeClr val="dk2"/>
              </a:solidFill>
              <a:latin typeface="Gill Sans"/>
              <a:ea typeface="Gill Sans"/>
              <a:cs typeface="Gill Sans"/>
              <a:sym typeface="Gill Sans"/>
            </a:endParaRPr>
          </a:p>
        </p:txBody>
      </p:sp>
      <p:sp>
        <p:nvSpPr>
          <p:cNvPr id="119" name="Google Shape;119;p8"/>
          <p:cNvSpPr txBox="1"/>
          <p:nvPr/>
        </p:nvSpPr>
        <p:spPr>
          <a:xfrm>
            <a:off x="76200" y="6370637"/>
            <a:ext cx="7927975"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Gulim"/>
              <a:buNone/>
            </a:pPr>
            <a:r>
              <a:rPr lang="en-US" sz="900" b="0" i="0" u="none">
                <a:solidFill>
                  <a:schemeClr val="dk1"/>
                </a:solidFill>
                <a:latin typeface="Gulim"/>
                <a:ea typeface="Gulim"/>
                <a:cs typeface="Gulim"/>
                <a:sym typeface="Gulim"/>
              </a:rPr>
              <a:t>CHAPTER 10  REAL WORLD SECURITY PROTOCOLS       PREPARED BY: DR. MUHAMMAD IQBAL HOSSAIN</a:t>
            </a:r>
            <a:endParaRPr/>
          </a:p>
        </p:txBody>
      </p:sp>
      <p:pic>
        <p:nvPicPr>
          <p:cNvPr id="120" name="Google Shape;120;p8" descr="drinkme.gif                                                    000A0185Macintosh HD                   ABA78158:"/>
          <p:cNvPicPr preferRelativeResize="0"/>
          <p:nvPr/>
        </p:nvPicPr>
        <p:blipFill rotWithShape="1">
          <a:blip r:embed="rId3">
            <a:alphaModFix/>
          </a:blip>
          <a:srcRect/>
          <a:stretch/>
        </p:blipFill>
        <p:spPr>
          <a:xfrm>
            <a:off x="304800" y="2036762"/>
            <a:ext cx="990600" cy="1474787"/>
          </a:xfrm>
          <a:prstGeom prst="rect">
            <a:avLst/>
          </a:prstGeom>
          <a:noFill/>
          <a:ln>
            <a:noFill/>
          </a:ln>
        </p:spPr>
      </p:pic>
      <p:cxnSp>
        <p:nvCxnSpPr>
          <p:cNvPr id="121" name="Google Shape;121;p8"/>
          <p:cNvCxnSpPr/>
          <p:nvPr/>
        </p:nvCxnSpPr>
        <p:spPr>
          <a:xfrm>
            <a:off x="1600200" y="2152650"/>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22" name="Google Shape;122;p8"/>
          <p:cNvCxnSpPr/>
          <p:nvPr/>
        </p:nvCxnSpPr>
        <p:spPr>
          <a:xfrm rot="10800000">
            <a:off x="1524000" y="2609850"/>
            <a:ext cx="1828800" cy="0"/>
          </a:xfrm>
          <a:prstGeom prst="straightConnector1">
            <a:avLst/>
          </a:prstGeom>
          <a:noFill/>
          <a:ln w="50800" cap="flat" cmpd="sng">
            <a:solidFill>
              <a:schemeClr val="dk1"/>
            </a:solidFill>
            <a:prstDash val="solid"/>
            <a:miter lim="800000"/>
            <a:headEnd type="none" w="med" len="med"/>
            <a:tailEnd type="triangle" w="med" len="med"/>
          </a:ln>
        </p:spPr>
      </p:cxnSp>
      <p:sp>
        <p:nvSpPr>
          <p:cNvPr id="123" name="Google Shape;123;p8"/>
          <p:cNvSpPr txBox="1"/>
          <p:nvPr/>
        </p:nvSpPr>
        <p:spPr>
          <a:xfrm>
            <a:off x="466725" y="3471862"/>
            <a:ext cx="725487"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Gill Sans"/>
              <a:buNone/>
            </a:pPr>
            <a:r>
              <a:rPr lang="en-US" sz="1800" b="0" i="0" u="none">
                <a:solidFill>
                  <a:schemeClr val="dk1"/>
                </a:solidFill>
                <a:latin typeface="Gill Sans"/>
                <a:ea typeface="Gill Sans"/>
                <a:cs typeface="Gill Sans"/>
                <a:sym typeface="Gill Sans"/>
              </a:rPr>
              <a:t>Alice</a:t>
            </a:r>
            <a:endParaRPr/>
          </a:p>
        </p:txBody>
      </p:sp>
      <p:sp>
        <p:nvSpPr>
          <p:cNvPr id="124" name="Google Shape;124;p8"/>
          <p:cNvSpPr txBox="1"/>
          <p:nvPr/>
        </p:nvSpPr>
        <p:spPr>
          <a:xfrm>
            <a:off x="7989887" y="3500437"/>
            <a:ext cx="587375"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Gill Sans"/>
              <a:buNone/>
            </a:pPr>
            <a:r>
              <a:rPr lang="en-US" sz="1800" b="0" i="0" u="none">
                <a:solidFill>
                  <a:schemeClr val="dk1"/>
                </a:solidFill>
                <a:latin typeface="Gill Sans"/>
                <a:ea typeface="Gill Sans"/>
                <a:cs typeface="Gill Sans"/>
                <a:sym typeface="Gill Sans"/>
              </a:rPr>
              <a:t>Bob</a:t>
            </a:r>
            <a:endParaRPr/>
          </a:p>
        </p:txBody>
      </p:sp>
      <p:cxnSp>
        <p:nvCxnSpPr>
          <p:cNvPr id="125" name="Google Shape;125;p8"/>
          <p:cNvCxnSpPr/>
          <p:nvPr/>
        </p:nvCxnSpPr>
        <p:spPr>
          <a:xfrm>
            <a:off x="1524000" y="3051175"/>
            <a:ext cx="1828800" cy="0"/>
          </a:xfrm>
          <a:prstGeom prst="straightConnector1">
            <a:avLst/>
          </a:prstGeom>
          <a:noFill/>
          <a:ln w="50800" cap="flat" cmpd="sng">
            <a:solidFill>
              <a:schemeClr val="dk1"/>
            </a:solidFill>
            <a:prstDash val="solid"/>
            <a:miter lim="800000"/>
            <a:headEnd type="none" w="med" len="med"/>
            <a:tailEnd type="triangle" w="med" len="med"/>
          </a:ln>
        </p:spPr>
      </p:cxnSp>
      <p:sp>
        <p:nvSpPr>
          <p:cNvPr id="126" name="Google Shape;126;p8"/>
          <p:cNvSpPr txBox="1"/>
          <p:nvPr/>
        </p:nvSpPr>
        <p:spPr>
          <a:xfrm>
            <a:off x="1633537" y="1801812"/>
            <a:ext cx="13589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Alice, R</a:t>
            </a:r>
            <a:r>
              <a:rPr lang="en-US" sz="1800" b="0" i="0" u="none" baseline="-25000">
                <a:solidFill>
                  <a:schemeClr val="dk1"/>
                </a:solidFill>
                <a:latin typeface="Times"/>
                <a:ea typeface="Times"/>
                <a:cs typeface="Times"/>
                <a:sym typeface="Times"/>
              </a:rPr>
              <a:t>A</a:t>
            </a:r>
            <a:endParaRPr/>
          </a:p>
        </p:txBody>
      </p:sp>
      <p:sp>
        <p:nvSpPr>
          <p:cNvPr id="127" name="Google Shape;127;p8"/>
          <p:cNvSpPr txBox="1"/>
          <p:nvPr/>
        </p:nvSpPr>
        <p:spPr>
          <a:xfrm>
            <a:off x="6850062" y="2208212"/>
            <a:ext cx="525462"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R</a:t>
            </a:r>
            <a:r>
              <a:rPr lang="en-US" sz="1800" b="0" i="0" u="none" baseline="-25000">
                <a:solidFill>
                  <a:schemeClr val="dk1"/>
                </a:solidFill>
                <a:latin typeface="Times"/>
                <a:ea typeface="Times"/>
                <a:cs typeface="Times"/>
                <a:sym typeface="Times"/>
              </a:rPr>
              <a:t>B</a:t>
            </a:r>
            <a:endParaRPr/>
          </a:p>
        </p:txBody>
      </p:sp>
      <p:sp>
        <p:nvSpPr>
          <p:cNvPr id="128" name="Google Shape;128;p8"/>
          <p:cNvSpPr txBox="1"/>
          <p:nvPr/>
        </p:nvSpPr>
        <p:spPr>
          <a:xfrm>
            <a:off x="1568450" y="2674937"/>
            <a:ext cx="1284287"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g</a:t>
            </a:r>
            <a:r>
              <a:rPr lang="en-US" sz="1800" b="0" i="0" u="none" baseline="30000">
                <a:solidFill>
                  <a:schemeClr val="dk1"/>
                </a:solidFill>
                <a:latin typeface="Times"/>
                <a:ea typeface="Times"/>
                <a:cs typeface="Times"/>
                <a:sym typeface="Times"/>
              </a:rPr>
              <a:t>a</a:t>
            </a:r>
            <a:r>
              <a:rPr lang="en-US" sz="1800" b="0" i="0" u="none">
                <a:solidFill>
                  <a:schemeClr val="dk1"/>
                </a:solidFill>
                <a:latin typeface="Times"/>
                <a:ea typeface="Times"/>
                <a:cs typeface="Times"/>
                <a:sym typeface="Times"/>
              </a:rPr>
              <a:t> mod p</a:t>
            </a:r>
            <a:endParaRPr/>
          </a:p>
        </p:txBody>
      </p:sp>
      <p:pic>
        <p:nvPicPr>
          <p:cNvPr id="129" name="Google Shape;129;p8" descr="rabbit3.tiff                                                   0010273EMacintosh HD                   BC93A1CC:"/>
          <p:cNvPicPr preferRelativeResize="0"/>
          <p:nvPr/>
        </p:nvPicPr>
        <p:blipFill rotWithShape="1">
          <a:blip r:embed="rId4">
            <a:alphaModFix/>
          </a:blip>
          <a:srcRect/>
          <a:stretch/>
        </p:blipFill>
        <p:spPr>
          <a:xfrm>
            <a:off x="7772400" y="2036762"/>
            <a:ext cx="935037" cy="1447800"/>
          </a:xfrm>
          <a:prstGeom prst="rect">
            <a:avLst/>
          </a:prstGeom>
          <a:noFill/>
          <a:ln>
            <a:noFill/>
          </a:ln>
        </p:spPr>
      </p:pic>
      <p:cxnSp>
        <p:nvCxnSpPr>
          <p:cNvPr id="130" name="Google Shape;130;p8"/>
          <p:cNvCxnSpPr/>
          <p:nvPr/>
        </p:nvCxnSpPr>
        <p:spPr>
          <a:xfrm rot="10800000">
            <a:off x="1524000" y="3560762"/>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31" name="Google Shape;131;p8"/>
          <p:cNvCxnSpPr/>
          <p:nvPr/>
        </p:nvCxnSpPr>
        <p:spPr>
          <a:xfrm>
            <a:off x="1600200" y="4017962"/>
            <a:ext cx="1828800" cy="0"/>
          </a:xfrm>
          <a:prstGeom prst="straightConnector1">
            <a:avLst/>
          </a:prstGeom>
          <a:noFill/>
          <a:ln w="50800" cap="flat" cmpd="sng">
            <a:solidFill>
              <a:schemeClr val="dk1"/>
            </a:solidFill>
            <a:prstDash val="solid"/>
            <a:miter lim="800000"/>
            <a:headEnd type="none" w="med" len="med"/>
            <a:tailEnd type="triangle" w="med" len="med"/>
          </a:ln>
        </p:spPr>
      </p:cxnSp>
      <p:sp>
        <p:nvSpPr>
          <p:cNvPr id="132" name="Google Shape;132;p8"/>
          <p:cNvSpPr txBox="1"/>
          <p:nvPr/>
        </p:nvSpPr>
        <p:spPr>
          <a:xfrm>
            <a:off x="5541962" y="3122612"/>
            <a:ext cx="212248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a:buNone/>
            </a:pPr>
            <a:r>
              <a:rPr lang="en-US" sz="2000" b="0" i="0" u="none">
                <a:solidFill>
                  <a:schemeClr val="dk1"/>
                </a:solidFill>
                <a:latin typeface="Times"/>
                <a:ea typeface="Times"/>
                <a:cs typeface="Times"/>
                <a:sym typeface="Times"/>
              </a:rPr>
              <a:t>g</a:t>
            </a:r>
            <a:r>
              <a:rPr lang="en-US" sz="2000" b="0" i="0" u="none" baseline="30000">
                <a:solidFill>
                  <a:schemeClr val="dk1"/>
                </a:solidFill>
                <a:latin typeface="Times"/>
                <a:ea typeface="Times"/>
                <a:cs typeface="Times"/>
                <a:sym typeface="Times"/>
              </a:rPr>
              <a:t>b</a:t>
            </a:r>
            <a:r>
              <a:rPr lang="en-US" sz="2000" b="0" i="0" u="none">
                <a:solidFill>
                  <a:schemeClr val="dk1"/>
                </a:solidFill>
                <a:latin typeface="Times"/>
                <a:ea typeface="Times"/>
                <a:cs typeface="Times"/>
                <a:sym typeface="Times"/>
              </a:rPr>
              <a:t> mod p, cert</a:t>
            </a:r>
            <a:r>
              <a:rPr lang="en-US" sz="2000" b="0" i="0" u="none" baseline="-25000">
                <a:solidFill>
                  <a:schemeClr val="dk1"/>
                </a:solidFill>
                <a:latin typeface="Times"/>
                <a:ea typeface="Times"/>
                <a:cs typeface="Times"/>
                <a:sym typeface="Times"/>
              </a:rPr>
              <a:t>B</a:t>
            </a:r>
            <a:r>
              <a:rPr lang="en-US" sz="2000" b="0" i="0" u="none">
                <a:solidFill>
                  <a:schemeClr val="dk1"/>
                </a:solidFill>
                <a:latin typeface="Times"/>
                <a:ea typeface="Times"/>
                <a:cs typeface="Times"/>
                <a:sym typeface="Times"/>
              </a:rPr>
              <a:t>, S</a:t>
            </a:r>
            <a:r>
              <a:rPr lang="en-US" sz="2000" b="0" i="0" u="none" baseline="-25000">
                <a:solidFill>
                  <a:schemeClr val="dk1"/>
                </a:solidFill>
                <a:latin typeface="Times"/>
                <a:ea typeface="Times"/>
                <a:cs typeface="Times"/>
                <a:sym typeface="Times"/>
              </a:rPr>
              <a:t>B</a:t>
            </a:r>
            <a:endParaRPr/>
          </a:p>
        </p:txBody>
      </p:sp>
      <p:sp>
        <p:nvSpPr>
          <p:cNvPr id="133" name="Google Shape;133;p8"/>
          <p:cNvSpPr txBox="1"/>
          <p:nvPr/>
        </p:nvSpPr>
        <p:spPr>
          <a:xfrm>
            <a:off x="1381125" y="3617912"/>
            <a:ext cx="221773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a:buNone/>
            </a:pPr>
            <a:r>
              <a:rPr lang="en-US" sz="2000" b="0" i="0" u="none">
                <a:solidFill>
                  <a:schemeClr val="dk1"/>
                </a:solidFill>
                <a:latin typeface="Times"/>
                <a:ea typeface="Times"/>
                <a:cs typeface="Times"/>
                <a:sym typeface="Times"/>
              </a:rPr>
              <a:t>E(Alice,cert</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,S</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,K)</a:t>
            </a:r>
            <a:endParaRPr/>
          </a:p>
        </p:txBody>
      </p:sp>
      <p:cxnSp>
        <p:nvCxnSpPr>
          <p:cNvPr id="134" name="Google Shape;134;p8"/>
          <p:cNvCxnSpPr/>
          <p:nvPr/>
        </p:nvCxnSpPr>
        <p:spPr>
          <a:xfrm>
            <a:off x="5618162" y="2189162"/>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35" name="Google Shape;135;p8"/>
          <p:cNvCxnSpPr/>
          <p:nvPr/>
        </p:nvCxnSpPr>
        <p:spPr>
          <a:xfrm rot="10800000">
            <a:off x="5541962" y="2646362"/>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36" name="Google Shape;136;p8"/>
          <p:cNvCxnSpPr/>
          <p:nvPr/>
        </p:nvCxnSpPr>
        <p:spPr>
          <a:xfrm>
            <a:off x="5618162" y="3103562"/>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37" name="Google Shape;137;p8"/>
          <p:cNvCxnSpPr/>
          <p:nvPr/>
        </p:nvCxnSpPr>
        <p:spPr>
          <a:xfrm rot="10800000">
            <a:off x="5541962" y="3560762"/>
            <a:ext cx="18288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138" name="Google Shape;138;p8"/>
          <p:cNvCxnSpPr/>
          <p:nvPr/>
        </p:nvCxnSpPr>
        <p:spPr>
          <a:xfrm>
            <a:off x="5618162" y="4017962"/>
            <a:ext cx="1828800" cy="0"/>
          </a:xfrm>
          <a:prstGeom prst="straightConnector1">
            <a:avLst/>
          </a:prstGeom>
          <a:noFill/>
          <a:ln w="50800" cap="flat" cmpd="sng">
            <a:solidFill>
              <a:schemeClr val="dk1"/>
            </a:solidFill>
            <a:prstDash val="solid"/>
            <a:miter lim="800000"/>
            <a:headEnd type="none" w="med" len="med"/>
            <a:tailEnd type="triangle" w="med" len="med"/>
          </a:ln>
        </p:spPr>
      </p:cxnSp>
      <p:sp>
        <p:nvSpPr>
          <p:cNvPr id="139" name="Google Shape;139;p8"/>
          <p:cNvSpPr txBox="1"/>
          <p:nvPr/>
        </p:nvSpPr>
        <p:spPr>
          <a:xfrm>
            <a:off x="5680075" y="1808162"/>
            <a:ext cx="135890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Alice, R</a:t>
            </a:r>
            <a:r>
              <a:rPr lang="en-US" sz="1800" b="0" i="0" u="none" baseline="-25000">
                <a:solidFill>
                  <a:schemeClr val="dk1"/>
                </a:solidFill>
                <a:latin typeface="Times"/>
                <a:ea typeface="Times"/>
                <a:cs typeface="Times"/>
                <a:sym typeface="Times"/>
              </a:rPr>
              <a:t>A</a:t>
            </a:r>
            <a:endParaRPr/>
          </a:p>
        </p:txBody>
      </p:sp>
      <p:sp>
        <p:nvSpPr>
          <p:cNvPr id="140" name="Google Shape;140;p8"/>
          <p:cNvSpPr txBox="1"/>
          <p:nvPr/>
        </p:nvSpPr>
        <p:spPr>
          <a:xfrm>
            <a:off x="2825750" y="2203450"/>
            <a:ext cx="527050"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R</a:t>
            </a:r>
            <a:r>
              <a:rPr lang="en-US" sz="1800" b="0" i="0" u="none" baseline="-25000">
                <a:solidFill>
                  <a:schemeClr val="dk1"/>
                </a:solidFill>
                <a:latin typeface="Times"/>
                <a:ea typeface="Times"/>
                <a:cs typeface="Times"/>
                <a:sym typeface="Times"/>
              </a:rPr>
              <a:t>B</a:t>
            </a:r>
            <a:endParaRPr/>
          </a:p>
        </p:txBody>
      </p:sp>
      <p:sp>
        <p:nvSpPr>
          <p:cNvPr id="141" name="Google Shape;141;p8"/>
          <p:cNvSpPr txBox="1"/>
          <p:nvPr/>
        </p:nvSpPr>
        <p:spPr>
          <a:xfrm>
            <a:off x="6224587" y="2689225"/>
            <a:ext cx="1249362"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g</a:t>
            </a:r>
            <a:r>
              <a:rPr lang="en-US" sz="1800" b="0" i="0" u="none" baseline="30000">
                <a:solidFill>
                  <a:schemeClr val="dk1"/>
                </a:solidFill>
                <a:latin typeface="Times"/>
                <a:ea typeface="Times"/>
                <a:cs typeface="Times"/>
                <a:sym typeface="Times"/>
              </a:rPr>
              <a:t>t</a:t>
            </a:r>
            <a:r>
              <a:rPr lang="en-US" sz="1800" b="0" i="0" u="none">
                <a:solidFill>
                  <a:schemeClr val="dk1"/>
                </a:solidFill>
                <a:latin typeface="Times"/>
                <a:ea typeface="Times"/>
                <a:cs typeface="Times"/>
                <a:sym typeface="Times"/>
              </a:rPr>
              <a:t> mod p</a:t>
            </a:r>
            <a:endParaRPr/>
          </a:p>
        </p:txBody>
      </p:sp>
      <p:sp>
        <p:nvSpPr>
          <p:cNvPr id="142" name="Google Shape;142;p8"/>
          <p:cNvSpPr txBox="1"/>
          <p:nvPr/>
        </p:nvSpPr>
        <p:spPr>
          <a:xfrm>
            <a:off x="1447800" y="3103562"/>
            <a:ext cx="208438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a:buNone/>
            </a:pPr>
            <a:r>
              <a:rPr lang="en-US" sz="2000" b="0" i="0" u="none">
                <a:solidFill>
                  <a:schemeClr val="dk1"/>
                </a:solidFill>
                <a:latin typeface="Times"/>
                <a:ea typeface="Times"/>
                <a:cs typeface="Times"/>
                <a:sym typeface="Times"/>
              </a:rPr>
              <a:t>g</a:t>
            </a:r>
            <a:r>
              <a:rPr lang="en-US" sz="2000" b="0" i="0" u="none" baseline="30000">
                <a:solidFill>
                  <a:schemeClr val="dk1"/>
                </a:solidFill>
                <a:latin typeface="Times"/>
                <a:ea typeface="Times"/>
                <a:cs typeface="Times"/>
                <a:sym typeface="Times"/>
              </a:rPr>
              <a:t>t</a:t>
            </a:r>
            <a:r>
              <a:rPr lang="en-US" sz="2000" b="0" i="0" u="none">
                <a:solidFill>
                  <a:schemeClr val="dk1"/>
                </a:solidFill>
                <a:latin typeface="Times"/>
                <a:ea typeface="Times"/>
                <a:cs typeface="Times"/>
                <a:sym typeface="Times"/>
              </a:rPr>
              <a:t> mod p, cert</a:t>
            </a:r>
            <a:r>
              <a:rPr lang="en-US" sz="2000" b="0" i="0" u="none" baseline="-25000">
                <a:solidFill>
                  <a:schemeClr val="dk1"/>
                </a:solidFill>
                <a:latin typeface="Times"/>
                <a:ea typeface="Times"/>
                <a:cs typeface="Times"/>
                <a:sym typeface="Times"/>
              </a:rPr>
              <a:t>B</a:t>
            </a:r>
            <a:r>
              <a:rPr lang="en-US" sz="2000" b="0" i="0" u="none">
                <a:solidFill>
                  <a:schemeClr val="dk1"/>
                </a:solidFill>
                <a:latin typeface="Times"/>
                <a:ea typeface="Times"/>
                <a:cs typeface="Times"/>
                <a:sym typeface="Times"/>
              </a:rPr>
              <a:t>, S</a:t>
            </a:r>
            <a:r>
              <a:rPr lang="en-US" sz="2000" b="0" i="0" u="none" baseline="-25000">
                <a:solidFill>
                  <a:schemeClr val="dk1"/>
                </a:solidFill>
                <a:latin typeface="Times"/>
                <a:ea typeface="Times"/>
                <a:cs typeface="Times"/>
                <a:sym typeface="Times"/>
              </a:rPr>
              <a:t>B</a:t>
            </a:r>
            <a:endParaRPr/>
          </a:p>
        </p:txBody>
      </p:sp>
      <p:sp>
        <p:nvSpPr>
          <p:cNvPr id="143" name="Google Shape;143;p8"/>
          <p:cNvSpPr txBox="1"/>
          <p:nvPr/>
        </p:nvSpPr>
        <p:spPr>
          <a:xfrm>
            <a:off x="5413375" y="3614737"/>
            <a:ext cx="2236787" cy="46196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a:buNone/>
            </a:pPr>
            <a:r>
              <a:rPr lang="en-US" sz="2000" b="0" i="0" u="none">
                <a:solidFill>
                  <a:schemeClr val="dk1"/>
                </a:solidFill>
                <a:latin typeface="Times"/>
                <a:ea typeface="Times"/>
                <a:cs typeface="Times"/>
                <a:sym typeface="Times"/>
              </a:rPr>
              <a:t>E(Alice,cert</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,S</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,K</a:t>
            </a:r>
            <a:r>
              <a:rPr lang="en-US" sz="1800" b="0" i="0" u="none">
                <a:solidFill>
                  <a:schemeClr val="dk1"/>
                </a:solidFill>
                <a:latin typeface="Times"/>
                <a:ea typeface="Times"/>
                <a:cs typeface="Times"/>
                <a:sym typeface="Times"/>
              </a:rPr>
              <a:t>)</a:t>
            </a:r>
            <a:endParaRPr/>
          </a:p>
        </p:txBody>
      </p:sp>
      <p:sp>
        <p:nvSpPr>
          <p:cNvPr id="144" name="Google Shape;144;p8"/>
          <p:cNvSpPr txBox="1"/>
          <p:nvPr/>
        </p:nvSpPr>
        <p:spPr>
          <a:xfrm>
            <a:off x="3989387" y="3424237"/>
            <a:ext cx="1033462"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Gulim"/>
              <a:buNone/>
            </a:pPr>
            <a:r>
              <a:rPr lang="en-US" sz="1800" b="0" i="0" u="none">
                <a:solidFill>
                  <a:schemeClr val="dk1"/>
                </a:solidFill>
                <a:latin typeface="Gulim"/>
                <a:ea typeface="Gulim"/>
                <a:cs typeface="Gulim"/>
                <a:sym typeface="Gulim"/>
              </a:rPr>
              <a:t>Trudy</a:t>
            </a:r>
            <a:endParaRPr/>
          </a:p>
        </p:txBody>
      </p:sp>
      <p:pic>
        <p:nvPicPr>
          <p:cNvPr id="145" name="Google Shape;145;p8" descr="deedum2.tiff                                                   0010273EMacintosh HD                   BC93A1CC:"/>
          <p:cNvPicPr preferRelativeResize="0"/>
          <p:nvPr/>
        </p:nvPicPr>
        <p:blipFill rotWithShape="1">
          <a:blip r:embed="rId5">
            <a:alphaModFix/>
          </a:blip>
          <a:srcRect/>
          <a:stretch/>
        </p:blipFill>
        <p:spPr>
          <a:xfrm>
            <a:off x="3989387" y="2189162"/>
            <a:ext cx="1039812" cy="1282700"/>
          </a:xfrm>
          <a:prstGeom prst="rect">
            <a:avLst/>
          </a:prstGeom>
          <a:noFill/>
          <a:ln>
            <a:noFill/>
          </a:ln>
        </p:spPr>
      </p:pic>
      <p:sp>
        <p:nvSpPr>
          <p:cNvPr id="146" name="Google Shape;146;p8"/>
          <p:cNvSpPr txBox="1"/>
          <p:nvPr/>
        </p:nvSpPr>
        <p:spPr>
          <a:xfrm>
            <a:off x="7897812" y="6373812"/>
            <a:ext cx="771525"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2F5AAC"/>
              </a:buClr>
              <a:buSzPts val="900"/>
              <a:buFont typeface="Gulim"/>
              <a:buNone/>
            </a:pPr>
            <a:fld id="{00000000-1234-1234-1234-123412341234}" type="slidenum">
              <a:rPr lang="en-US" sz="900" b="0" i="0" u="none">
                <a:solidFill>
                  <a:srgbClr val="2F5AAC"/>
                </a:solidFill>
                <a:latin typeface="Gulim"/>
                <a:ea typeface="Gulim"/>
                <a:cs typeface="Gulim"/>
                <a:sym typeface="Gulim"/>
              </a:rPr>
              <a:t>8</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anim calcmode="lin" valueType="num">
                                      <p:cBhvr additive="base">
                                        <p:cTn id="7" dur="500"/>
                                        <p:tgtEl>
                                          <p:spTgt spid="121"/>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1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134"/>
                                        </p:tgtEl>
                                        <p:attrNameLst>
                                          <p:attrName>style.visibility</p:attrName>
                                        </p:attrNameLst>
                                      </p:cBhvr>
                                      <p:to>
                                        <p:strVal val="visible"/>
                                      </p:to>
                                    </p:set>
                                    <p:anim calcmode="lin" valueType="num">
                                      <p:cBhvr additive="base">
                                        <p:cTn id="15" dur="500"/>
                                        <p:tgtEl>
                                          <p:spTgt spid="134"/>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2" fill="hold" nodeType="clickEffect">
                                  <p:stCondLst>
                                    <p:cond delay="0"/>
                                  </p:stCondLst>
                                  <p:childTnLst>
                                    <p:set>
                                      <p:cBhvr>
                                        <p:cTn id="22" dur="1" fill="hold">
                                          <p:stCondLst>
                                            <p:cond delay="0"/>
                                          </p:stCondLst>
                                        </p:cTn>
                                        <p:tgtEl>
                                          <p:spTgt spid="135"/>
                                        </p:tgtEl>
                                        <p:attrNameLst>
                                          <p:attrName>style.visibility</p:attrName>
                                        </p:attrNameLst>
                                      </p:cBhvr>
                                      <p:to>
                                        <p:strVal val="visible"/>
                                      </p:to>
                                    </p:set>
                                    <p:anim calcmode="lin" valueType="num">
                                      <p:cBhvr additive="base">
                                        <p:cTn id="23" dur="500"/>
                                        <p:tgtEl>
                                          <p:spTgt spid="135"/>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1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122"/>
                                        </p:tgtEl>
                                        <p:attrNameLst>
                                          <p:attrName>style.visibility</p:attrName>
                                        </p:attrNameLst>
                                      </p:cBhvr>
                                      <p:to>
                                        <p:strVal val="visible"/>
                                      </p:to>
                                    </p:set>
                                    <p:anim calcmode="lin" valueType="num">
                                      <p:cBhvr additive="base">
                                        <p:cTn id="31" dur="500"/>
                                        <p:tgtEl>
                                          <p:spTgt spid="122"/>
                                        </p:tgtEl>
                                        <p:attrNameLst>
                                          <p:attrName>ppt_x</p:attrName>
                                        </p:attrNameLst>
                                      </p:cBhvr>
                                      <p:tavLst>
                                        <p:tav tm="0">
                                          <p:val>
                                            <p:strVal val="#ppt_x+1"/>
                                          </p:val>
                                        </p:tav>
                                        <p:tav tm="100000">
                                          <p:val>
                                            <p:strVal val="#ppt_x"/>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1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8" fill="hold" nodeType="clickEffect">
                                  <p:stCondLst>
                                    <p:cond delay="0"/>
                                  </p:stCondLst>
                                  <p:childTnLst>
                                    <p:set>
                                      <p:cBhvr>
                                        <p:cTn id="38" dur="1" fill="hold">
                                          <p:stCondLst>
                                            <p:cond delay="0"/>
                                          </p:stCondLst>
                                        </p:cTn>
                                        <p:tgtEl>
                                          <p:spTgt spid="125"/>
                                        </p:tgtEl>
                                        <p:attrNameLst>
                                          <p:attrName>style.visibility</p:attrName>
                                        </p:attrNameLst>
                                      </p:cBhvr>
                                      <p:to>
                                        <p:strVal val="visible"/>
                                      </p:to>
                                    </p:set>
                                    <p:anim calcmode="lin" valueType="num">
                                      <p:cBhvr additive="base">
                                        <p:cTn id="39" dur="500"/>
                                        <p:tgtEl>
                                          <p:spTgt spid="125"/>
                                        </p:tgtEl>
                                        <p:attrNameLst>
                                          <p:attrName>ppt_x</p:attrName>
                                        </p:attrNameLst>
                                      </p:cBhvr>
                                      <p:tavLst>
                                        <p:tav tm="0">
                                          <p:val>
                                            <p:strVal val="#ppt_x-1"/>
                                          </p:val>
                                        </p:tav>
                                        <p:tav tm="100000">
                                          <p:val>
                                            <p:strVal val="#ppt_x"/>
                                          </p:val>
                                        </p:tav>
                                      </p:tavLst>
                                    </p:anim>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12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136"/>
                                        </p:tgtEl>
                                        <p:attrNameLst>
                                          <p:attrName>style.visibility</p:attrName>
                                        </p:attrNameLst>
                                      </p:cBhvr>
                                      <p:to>
                                        <p:strVal val="visible"/>
                                      </p:to>
                                    </p:set>
                                    <p:anim calcmode="lin" valueType="num">
                                      <p:cBhvr additive="base">
                                        <p:cTn id="47" dur="500"/>
                                        <p:tgtEl>
                                          <p:spTgt spid="136"/>
                                        </p:tgtEl>
                                        <p:attrNameLst>
                                          <p:attrName>ppt_x</p:attrName>
                                        </p:attrNameLst>
                                      </p:cBhvr>
                                      <p:tavLst>
                                        <p:tav tm="0">
                                          <p:val>
                                            <p:strVal val="#ppt_x-1"/>
                                          </p:val>
                                        </p:tav>
                                        <p:tav tm="100000">
                                          <p:val>
                                            <p:strVal val="#ppt_x"/>
                                          </p:val>
                                        </p:tav>
                                      </p:tavLst>
                                    </p:anim>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1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137"/>
                                        </p:tgtEl>
                                        <p:attrNameLst>
                                          <p:attrName>style.visibility</p:attrName>
                                        </p:attrNameLst>
                                      </p:cBhvr>
                                      <p:to>
                                        <p:strVal val="visible"/>
                                      </p:to>
                                    </p:set>
                                    <p:anim calcmode="lin" valueType="num">
                                      <p:cBhvr additive="base">
                                        <p:cTn id="55" dur="500"/>
                                        <p:tgtEl>
                                          <p:spTgt spid="137"/>
                                        </p:tgtEl>
                                        <p:attrNameLst>
                                          <p:attrName>ppt_x</p:attrName>
                                        </p:attrNameLst>
                                      </p:cBhvr>
                                      <p:tavLst>
                                        <p:tav tm="0">
                                          <p:val>
                                            <p:strVal val="#ppt_x+1"/>
                                          </p:val>
                                        </p:tav>
                                        <p:tav tm="100000">
                                          <p:val>
                                            <p:strVal val="#ppt_x"/>
                                          </p:val>
                                        </p:tav>
                                      </p:tavLst>
                                    </p:anim>
                                  </p:childTnLst>
                                </p:cTn>
                              </p:par>
                            </p:childTnLst>
                          </p:cTn>
                        </p:par>
                        <p:par>
                          <p:cTn id="56" fill="hold">
                            <p:stCondLst>
                              <p:cond delay="500"/>
                            </p:stCondLst>
                            <p:childTnLst>
                              <p:par>
                                <p:cTn id="57" presetID="1" presetClass="entr" presetSubtype="0" fill="hold" nodeType="afterEffect">
                                  <p:stCondLst>
                                    <p:cond delay="0"/>
                                  </p:stCondLst>
                                  <p:childTnLst>
                                    <p:set>
                                      <p:cBhvr>
                                        <p:cTn id="58" dur="1" fill="hold">
                                          <p:stCondLst>
                                            <p:cond delay="0"/>
                                          </p:stCondLst>
                                        </p:cTn>
                                        <p:tgtEl>
                                          <p:spTgt spid="13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130"/>
                                        </p:tgtEl>
                                        <p:attrNameLst>
                                          <p:attrName>style.visibility</p:attrName>
                                        </p:attrNameLst>
                                      </p:cBhvr>
                                      <p:to>
                                        <p:strVal val="visible"/>
                                      </p:to>
                                    </p:set>
                                    <p:anim calcmode="lin" valueType="num">
                                      <p:cBhvr additive="base">
                                        <p:cTn id="63" dur="500"/>
                                        <p:tgtEl>
                                          <p:spTgt spid="130"/>
                                        </p:tgtEl>
                                        <p:attrNameLst>
                                          <p:attrName>ppt_x</p:attrName>
                                        </p:attrNameLst>
                                      </p:cBhvr>
                                      <p:tavLst>
                                        <p:tav tm="0">
                                          <p:val>
                                            <p:strVal val="#ppt_x+1"/>
                                          </p:val>
                                        </p:tav>
                                        <p:tav tm="100000">
                                          <p:val>
                                            <p:strVal val="#ppt_x"/>
                                          </p:val>
                                        </p:tav>
                                      </p:tavLst>
                                    </p:anim>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0"/>
                                          </p:stCondLst>
                                        </p:cTn>
                                        <p:tgtEl>
                                          <p:spTgt spid="142"/>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8" fill="hold" nodeType="clickEffect">
                                  <p:stCondLst>
                                    <p:cond delay="0"/>
                                  </p:stCondLst>
                                  <p:childTnLst>
                                    <p:set>
                                      <p:cBhvr>
                                        <p:cTn id="70" dur="1" fill="hold">
                                          <p:stCondLst>
                                            <p:cond delay="0"/>
                                          </p:stCondLst>
                                        </p:cTn>
                                        <p:tgtEl>
                                          <p:spTgt spid="131"/>
                                        </p:tgtEl>
                                        <p:attrNameLst>
                                          <p:attrName>style.visibility</p:attrName>
                                        </p:attrNameLst>
                                      </p:cBhvr>
                                      <p:to>
                                        <p:strVal val="visible"/>
                                      </p:to>
                                    </p:set>
                                    <p:anim calcmode="lin" valueType="num">
                                      <p:cBhvr additive="base">
                                        <p:cTn id="71" dur="500"/>
                                        <p:tgtEl>
                                          <p:spTgt spid="131"/>
                                        </p:tgtEl>
                                        <p:attrNameLst>
                                          <p:attrName>ppt_x</p:attrName>
                                        </p:attrNameLst>
                                      </p:cBhvr>
                                      <p:tavLst>
                                        <p:tav tm="0">
                                          <p:val>
                                            <p:strVal val="#ppt_x-1"/>
                                          </p:val>
                                        </p:tav>
                                        <p:tav tm="100000">
                                          <p:val>
                                            <p:strVal val="#ppt_x"/>
                                          </p:val>
                                        </p:tav>
                                      </p:tavLst>
                                    </p:anim>
                                  </p:childTnLst>
                                </p:cTn>
                              </p:par>
                            </p:childTnLst>
                          </p:cTn>
                        </p:par>
                        <p:par>
                          <p:cTn id="72" fill="hold">
                            <p:stCondLst>
                              <p:cond delay="500"/>
                            </p:stCondLst>
                            <p:childTnLst>
                              <p:par>
                                <p:cTn id="73" presetID="1" presetClass="entr" presetSubtype="0" fill="hold" nodeType="afterEffect">
                                  <p:stCondLst>
                                    <p:cond delay="0"/>
                                  </p:stCondLst>
                                  <p:childTnLst>
                                    <p:set>
                                      <p:cBhvr>
                                        <p:cTn id="74" dur="1" fill="hold">
                                          <p:stCondLst>
                                            <p:cond delay="0"/>
                                          </p:stCondLst>
                                        </p:cTn>
                                        <p:tgtEl>
                                          <p:spTgt spid="133"/>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nodeType="clickEffect">
                                  <p:stCondLst>
                                    <p:cond delay="0"/>
                                  </p:stCondLst>
                                  <p:childTnLst>
                                    <p:set>
                                      <p:cBhvr>
                                        <p:cTn id="78" dur="1" fill="hold">
                                          <p:stCondLst>
                                            <p:cond delay="0"/>
                                          </p:stCondLst>
                                        </p:cTn>
                                        <p:tgtEl>
                                          <p:spTgt spid="138"/>
                                        </p:tgtEl>
                                        <p:attrNameLst>
                                          <p:attrName>style.visibility</p:attrName>
                                        </p:attrNameLst>
                                      </p:cBhvr>
                                      <p:to>
                                        <p:strVal val="visible"/>
                                      </p:to>
                                    </p:set>
                                    <p:anim calcmode="lin" valueType="num">
                                      <p:cBhvr additive="base">
                                        <p:cTn id="79" dur="500"/>
                                        <p:tgtEl>
                                          <p:spTgt spid="138"/>
                                        </p:tgtEl>
                                        <p:attrNameLst>
                                          <p:attrName>ppt_x</p:attrName>
                                        </p:attrNameLst>
                                      </p:cBhvr>
                                      <p:tavLst>
                                        <p:tav tm="0">
                                          <p:val>
                                            <p:strVal val="#ppt_x-1"/>
                                          </p:val>
                                        </p:tav>
                                        <p:tav tm="100000">
                                          <p:val>
                                            <p:strVal val="#ppt_x"/>
                                          </p:val>
                                        </p:tav>
                                      </p:tavLst>
                                    </p:anim>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0"/>
                                          </p:stCondLst>
                                        </p:cTn>
                                        <p:tgtEl>
                                          <p:spTgt spid="14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118">
                                            <p:txEl>
                                              <p:pRg st="0" end="0"/>
                                            </p:txEl>
                                          </p:spTgt>
                                        </p:tgtEl>
                                        <p:attrNameLst>
                                          <p:attrName>style.visibility</p:attrName>
                                        </p:attrNameLst>
                                      </p:cBhvr>
                                      <p:to>
                                        <p:strVal val="visible"/>
                                      </p:to>
                                    </p:set>
                                    <p:animEffect transition="in" filter="fade">
                                      <p:cBhvr>
                                        <p:cTn id="87" dur="2000"/>
                                        <p:tgtEl>
                                          <p:spTgt spid="118">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18">
                                            <p:txEl>
                                              <p:pRg st="1" end="1"/>
                                            </p:txEl>
                                          </p:spTgt>
                                        </p:tgtEl>
                                        <p:attrNameLst>
                                          <p:attrName>style.visibility</p:attrName>
                                        </p:attrNameLst>
                                      </p:cBhvr>
                                      <p:to>
                                        <p:strVal val="visible"/>
                                      </p:to>
                                    </p:set>
                                    <p:animEffect transition="in" filter="fade">
                                      <p:cBhvr>
                                        <p:cTn id="92" dur="2000"/>
                                        <p:tgtEl>
                                          <p:spTgt spid="118">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118">
                                            <p:txEl>
                                              <p:pRg st="2" end="2"/>
                                            </p:txEl>
                                          </p:spTgt>
                                        </p:tgtEl>
                                        <p:attrNameLst>
                                          <p:attrName>style.visibility</p:attrName>
                                        </p:attrNameLst>
                                      </p:cBhvr>
                                      <p:to>
                                        <p:strVal val="visible"/>
                                      </p:to>
                                    </p:set>
                                    <p:animEffect transition="in" filter="fade">
                                      <p:cBhvr>
                                        <p:cTn id="97" dur="2000"/>
                                        <p:tgtEl>
                                          <p:spTgt spid="118">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18">
                                            <p:txEl>
                                              <p:pRg st="3" end="3"/>
                                            </p:txEl>
                                          </p:spTgt>
                                        </p:tgtEl>
                                        <p:attrNameLst>
                                          <p:attrName>style.visibility</p:attrName>
                                        </p:attrNameLst>
                                      </p:cBhvr>
                                      <p:to>
                                        <p:strVal val="visible"/>
                                      </p:to>
                                    </p:set>
                                    <p:animEffect transition="in" filter="fade">
                                      <p:cBhvr>
                                        <p:cTn id="102" dur="2000"/>
                                        <p:tgtEl>
                                          <p:spTgt spid="118">
                                            <p:txEl>
                                              <p:pRg st="3" end="3"/>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118">
                                            <p:txEl>
                                              <p:pRg st="4" end="4"/>
                                            </p:txEl>
                                          </p:spTgt>
                                        </p:tgtEl>
                                        <p:attrNameLst>
                                          <p:attrName>style.visibility</p:attrName>
                                        </p:attrNameLst>
                                      </p:cBhvr>
                                      <p:to>
                                        <p:strVal val="visible"/>
                                      </p:to>
                                    </p:set>
                                    <p:animEffect transition="in" filter="fade">
                                      <p:cBhvr>
                                        <p:cTn id="107" dur="2000"/>
                                        <p:tgtEl>
                                          <p:spTgt spid="118">
                                            <p:txEl>
                                              <p:pRg st="4" end="4"/>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118">
                                            <p:txEl>
                                              <p:pRg st="5" end="5"/>
                                            </p:txEl>
                                          </p:spTgt>
                                        </p:tgtEl>
                                        <p:attrNameLst>
                                          <p:attrName>style.visibility</p:attrName>
                                        </p:attrNameLst>
                                      </p:cBhvr>
                                      <p:to>
                                        <p:strVal val="visible"/>
                                      </p:to>
                                    </p:set>
                                    <p:animEffect transition="in" filter="fade">
                                      <p:cBhvr>
                                        <p:cTn id="112" dur="2000"/>
                                        <p:tgtEl>
                                          <p:spTgt spid="11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9"/>
          <p:cNvSpPr txBox="1">
            <a:spLocks noGrp="1"/>
          </p:cNvSpPr>
          <p:nvPr>
            <p:ph type="title" idx="4294967295"/>
          </p:nvPr>
        </p:nvSpPr>
        <p:spPr>
          <a:xfrm>
            <a:off x="1285875" y="2357438"/>
            <a:ext cx="6643688" cy="1143000"/>
          </a:xfrm>
          <a:prstGeom prst="rect">
            <a:avLst/>
          </a:prstGeom>
          <a:noFill/>
          <a:ln>
            <a:noFill/>
          </a:ln>
        </p:spPr>
        <p:txBody>
          <a:bodyPr spcFirstLastPara="1" wrap="square" lIns="91425" tIns="45700" rIns="91425" bIns="45700" anchor="b" anchorCtr="0">
            <a:normAutofit fontScale="90000"/>
          </a:bodyPr>
          <a:lstStyle/>
          <a:p>
            <a:pPr marL="0" marR="0" lvl="0" indent="0" algn="l" rtl="0">
              <a:lnSpc>
                <a:spcPct val="100000"/>
              </a:lnSpc>
              <a:spcBef>
                <a:spcPts val="0"/>
              </a:spcBef>
              <a:spcAft>
                <a:spcPts val="0"/>
              </a:spcAft>
              <a:buClr>
                <a:schemeClr val="lt1"/>
              </a:buClr>
              <a:buSzPts val="4800"/>
              <a:buFont typeface="Gill Sans"/>
              <a:buNone/>
            </a:pPr>
            <a:r>
              <a:rPr lang="en-US" sz="4800" b="0" i="0" u="none" strike="noStrike" cap="none">
                <a:solidFill>
                  <a:srgbClr val="000000"/>
                </a:solidFill>
                <a:latin typeface="Gill Sans"/>
                <a:ea typeface="Gill Sans"/>
                <a:cs typeface="Gill Sans"/>
                <a:sym typeface="Gill Sans"/>
              </a:rPr>
              <a:t>SECURE SOCKET LAYER</a:t>
            </a:r>
            <a:endParaRPr>
              <a:solidFill>
                <a:srgbClr val="000000"/>
              </a:solidFill>
            </a:endParaRPr>
          </a:p>
        </p:txBody>
      </p:sp>
      <p:sp>
        <p:nvSpPr>
          <p:cNvPr id="153" name="Google Shape;153;p9"/>
          <p:cNvSpPr txBox="1"/>
          <p:nvPr/>
        </p:nvSpPr>
        <p:spPr>
          <a:xfrm>
            <a:off x="581175" y="6100750"/>
            <a:ext cx="7219800" cy="365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154" name="Google Shape;154;p9"/>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9</a:t>
            </a:fld>
            <a:endParaRPr/>
          </a:p>
        </p:txBody>
      </p:sp>
      <p:pic>
        <p:nvPicPr>
          <p:cNvPr id="155" name="Google Shape;155;p9"/>
          <p:cNvPicPr preferRelativeResize="0"/>
          <p:nvPr/>
        </p:nvPicPr>
        <p:blipFill rotWithShape="1">
          <a:blip r:embed="rId3">
            <a:alphaModFix/>
          </a:blip>
          <a:srcRect/>
          <a:stretch/>
        </p:blipFill>
        <p:spPr>
          <a:xfrm>
            <a:off x="7500937" y="5357812"/>
            <a:ext cx="742950" cy="742950"/>
          </a:xfrm>
          <a:prstGeom prst="rect">
            <a:avLst/>
          </a:prstGeom>
          <a:noFill/>
          <a:ln>
            <a:noFill/>
          </a:ln>
        </p:spPr>
      </p:pic>
      <p:pic>
        <p:nvPicPr>
          <p:cNvPr id="156" name="Google Shape;156;p9"/>
          <p:cNvPicPr preferRelativeResize="0"/>
          <p:nvPr/>
        </p:nvPicPr>
        <p:blipFill rotWithShape="1">
          <a:blip r:embed="rId4">
            <a:alphaModFix/>
          </a:blip>
          <a:srcRect/>
          <a:stretch/>
        </p:blipFill>
        <p:spPr>
          <a:xfrm>
            <a:off x="785812" y="714375"/>
            <a:ext cx="742950" cy="7429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0"/>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SOCKET LAYER</a:t>
            </a:r>
            <a:endParaRPr/>
          </a:p>
        </p:txBody>
      </p:sp>
      <p:sp>
        <p:nvSpPr>
          <p:cNvPr id="163" name="Google Shape;163;p10"/>
          <p:cNvSpPr txBox="1">
            <a:spLocks noGrp="1"/>
          </p:cNvSpPr>
          <p:nvPr>
            <p:ph type="body" idx="1"/>
          </p:nvPr>
        </p:nvSpPr>
        <p:spPr>
          <a:xfrm>
            <a:off x="785812" y="1857375"/>
            <a:ext cx="3063875" cy="4049712"/>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8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“Socket layer” lives between application and transport layers</a:t>
            </a:r>
            <a:endParaRPr/>
          </a:p>
          <a:p>
            <a:pPr marL="304800" marR="0" lvl="0" indent="-304800" algn="l" rtl="0">
              <a:lnSpc>
                <a:spcPct val="8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SSL usually lies between HTTP (application) and TCP (transport)</a:t>
            </a:r>
            <a:endParaRPr/>
          </a:p>
        </p:txBody>
      </p:sp>
      <p:sp>
        <p:nvSpPr>
          <p:cNvPr id="164" name="Google Shape;164;p10"/>
          <p:cNvSpPr txBox="1"/>
          <p:nvPr/>
        </p:nvSpPr>
        <p:spPr>
          <a:xfrm>
            <a:off x="366712" y="6334125"/>
            <a:ext cx="7038975"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165" name="Google Shape;165;p10"/>
          <p:cNvSpPr txBox="1"/>
          <p:nvPr/>
        </p:nvSpPr>
        <p:spPr>
          <a:xfrm>
            <a:off x="7786687" y="6327775"/>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10</a:t>
            </a:fld>
            <a:endParaRPr/>
          </a:p>
        </p:txBody>
      </p:sp>
      <p:sp>
        <p:nvSpPr>
          <p:cNvPr id="166" name="Google Shape;166;p10"/>
          <p:cNvSpPr txBox="1"/>
          <p:nvPr/>
        </p:nvSpPr>
        <p:spPr>
          <a:xfrm>
            <a:off x="5803900" y="2070100"/>
            <a:ext cx="1892300" cy="3530600"/>
          </a:xfrm>
          <a:prstGeom prst="rect">
            <a:avLst/>
          </a:prstGeom>
          <a:solidFill>
            <a:schemeClr val="accent2"/>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grpSp>
        <p:nvGrpSpPr>
          <p:cNvPr id="167" name="Google Shape;167;p10"/>
          <p:cNvGrpSpPr/>
          <p:nvPr/>
        </p:nvGrpSpPr>
        <p:grpSpPr>
          <a:xfrm>
            <a:off x="5734050" y="2184400"/>
            <a:ext cx="1898650" cy="3530600"/>
            <a:chOff x="3076" y="888"/>
            <a:chExt cx="1196" cy="2224"/>
          </a:xfrm>
        </p:grpSpPr>
        <p:sp>
          <p:nvSpPr>
            <p:cNvPr id="168" name="Google Shape;168;p10"/>
            <p:cNvSpPr txBox="1"/>
            <p:nvPr/>
          </p:nvSpPr>
          <p:spPr>
            <a:xfrm>
              <a:off x="3080" y="888"/>
              <a:ext cx="1192" cy="2224"/>
            </a:xfrm>
            <a:prstGeom prst="rect">
              <a:avLst/>
            </a:prstGeom>
            <a:solidFill>
              <a:schemeClr val="lt1"/>
            </a:solidFill>
            <a:ln w="3810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sp>
          <p:nvSpPr>
            <p:cNvPr id="169" name="Google Shape;169;p10"/>
            <p:cNvSpPr txBox="1"/>
            <p:nvPr/>
          </p:nvSpPr>
          <p:spPr>
            <a:xfrm>
              <a:off x="3091" y="949"/>
              <a:ext cx="1111" cy="215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application</a:t>
              </a:r>
              <a:endParaRPr dirty="0"/>
            </a:p>
            <a:p>
              <a:pPr marL="0" marR="0" lvl="0" indent="0" algn="ctr" rtl="0">
                <a:lnSpc>
                  <a:spcPct val="100000"/>
                </a:lnSpc>
                <a:spcBef>
                  <a:spcPts val="0"/>
                </a:spcBef>
                <a:spcAft>
                  <a:spcPts val="0"/>
                </a:spcAft>
                <a:buClr>
                  <a:schemeClr val="dk1"/>
                </a:buClr>
                <a:buSzPts val="2400"/>
                <a:buFont typeface="Gulim"/>
                <a:buNone/>
              </a:pPr>
              <a:endParaRPr sz="2400" b="0" i="0" u="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transport</a:t>
              </a:r>
              <a:endParaRPr dirty="0"/>
            </a:p>
            <a:p>
              <a:pPr marL="0" marR="0" lvl="0" indent="0" algn="ctr" rtl="0">
                <a:lnSpc>
                  <a:spcPct val="100000"/>
                </a:lnSpc>
                <a:spcBef>
                  <a:spcPts val="0"/>
                </a:spcBef>
                <a:spcAft>
                  <a:spcPts val="0"/>
                </a:spcAft>
                <a:buClr>
                  <a:schemeClr val="dk1"/>
                </a:buClr>
                <a:buSzPts val="2400"/>
                <a:buFont typeface="Gulim"/>
                <a:buNone/>
              </a:pPr>
              <a:endParaRPr sz="2400" b="0" i="0" u="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network</a:t>
              </a:r>
              <a:endParaRPr dirty="0"/>
            </a:p>
            <a:p>
              <a:pPr marL="0" marR="0" lvl="0" indent="0" algn="ctr" rtl="0">
                <a:lnSpc>
                  <a:spcPct val="100000"/>
                </a:lnSpc>
                <a:spcBef>
                  <a:spcPts val="0"/>
                </a:spcBef>
                <a:spcAft>
                  <a:spcPts val="0"/>
                </a:spcAft>
                <a:buClr>
                  <a:schemeClr val="dk1"/>
                </a:buClr>
                <a:buSzPts val="2400"/>
                <a:buFont typeface="Gulim"/>
                <a:buNone/>
              </a:pPr>
              <a:endParaRPr sz="2400" b="0" i="0" u="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link</a:t>
              </a:r>
              <a:endParaRPr dirty="0"/>
            </a:p>
            <a:p>
              <a:pPr marL="0" marR="0" lvl="0" indent="0" algn="ctr" rtl="0">
                <a:lnSpc>
                  <a:spcPct val="100000"/>
                </a:lnSpc>
                <a:spcBef>
                  <a:spcPts val="0"/>
                </a:spcBef>
                <a:spcAft>
                  <a:spcPts val="0"/>
                </a:spcAft>
                <a:buClr>
                  <a:schemeClr val="dk1"/>
                </a:buClr>
                <a:buSzPts val="2400"/>
                <a:buFont typeface="Gulim"/>
                <a:buNone/>
              </a:pPr>
              <a:endParaRPr sz="2400" b="0" i="0" u="none" dirty="0">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400"/>
                <a:buFont typeface="Arial"/>
                <a:buNone/>
              </a:pPr>
              <a:r>
                <a:rPr lang="en-US" sz="2400" b="0" i="0" u="none" dirty="0">
                  <a:solidFill>
                    <a:schemeClr val="dk1"/>
                  </a:solidFill>
                  <a:latin typeface="Arial"/>
                  <a:ea typeface="Arial"/>
                  <a:cs typeface="Arial"/>
                  <a:sym typeface="Arial"/>
                </a:rPr>
                <a:t>physical</a:t>
              </a:r>
              <a:endParaRPr dirty="0"/>
            </a:p>
          </p:txBody>
        </p:sp>
        <p:cxnSp>
          <p:nvCxnSpPr>
            <p:cNvPr id="170" name="Google Shape;170;p10"/>
            <p:cNvCxnSpPr/>
            <p:nvPr/>
          </p:nvCxnSpPr>
          <p:spPr>
            <a:xfrm>
              <a:off x="3076" y="1324"/>
              <a:ext cx="1188" cy="0"/>
            </a:xfrm>
            <a:prstGeom prst="straightConnector1">
              <a:avLst/>
            </a:prstGeom>
            <a:noFill/>
            <a:ln w="38100" cap="flat" cmpd="sng">
              <a:solidFill>
                <a:schemeClr val="accent2"/>
              </a:solidFill>
              <a:prstDash val="solid"/>
              <a:miter lim="800000"/>
              <a:headEnd type="none" w="med" len="med"/>
              <a:tailEnd type="none" w="med" len="med"/>
            </a:ln>
          </p:spPr>
        </p:cxnSp>
        <p:cxnSp>
          <p:nvCxnSpPr>
            <p:cNvPr id="171" name="Google Shape;171;p10"/>
            <p:cNvCxnSpPr/>
            <p:nvPr/>
          </p:nvCxnSpPr>
          <p:spPr>
            <a:xfrm>
              <a:off x="3076" y="1768"/>
              <a:ext cx="1188" cy="0"/>
            </a:xfrm>
            <a:prstGeom prst="straightConnector1">
              <a:avLst/>
            </a:prstGeom>
            <a:noFill/>
            <a:ln w="38100" cap="flat" cmpd="sng">
              <a:solidFill>
                <a:schemeClr val="accent2"/>
              </a:solidFill>
              <a:prstDash val="solid"/>
              <a:miter lim="800000"/>
              <a:headEnd type="none" w="med" len="med"/>
              <a:tailEnd type="none" w="med" len="med"/>
            </a:ln>
          </p:spPr>
        </p:cxnSp>
        <p:cxnSp>
          <p:nvCxnSpPr>
            <p:cNvPr id="172" name="Google Shape;172;p10"/>
            <p:cNvCxnSpPr/>
            <p:nvPr/>
          </p:nvCxnSpPr>
          <p:spPr>
            <a:xfrm>
              <a:off x="3076" y="2216"/>
              <a:ext cx="1188" cy="0"/>
            </a:xfrm>
            <a:prstGeom prst="straightConnector1">
              <a:avLst/>
            </a:prstGeom>
            <a:noFill/>
            <a:ln w="38100" cap="flat" cmpd="sng">
              <a:solidFill>
                <a:schemeClr val="accent2"/>
              </a:solidFill>
              <a:prstDash val="solid"/>
              <a:miter lim="800000"/>
              <a:headEnd type="none" w="med" len="med"/>
              <a:tailEnd type="none" w="med" len="med"/>
            </a:ln>
          </p:spPr>
        </p:cxnSp>
        <p:cxnSp>
          <p:nvCxnSpPr>
            <p:cNvPr id="173" name="Google Shape;173;p10"/>
            <p:cNvCxnSpPr/>
            <p:nvPr/>
          </p:nvCxnSpPr>
          <p:spPr>
            <a:xfrm>
              <a:off x="3076" y="2664"/>
              <a:ext cx="1188" cy="0"/>
            </a:xfrm>
            <a:prstGeom prst="straightConnector1">
              <a:avLst/>
            </a:prstGeom>
            <a:noFill/>
            <a:ln w="38100" cap="flat" cmpd="sng">
              <a:solidFill>
                <a:schemeClr val="accent2"/>
              </a:solidFill>
              <a:prstDash val="solid"/>
              <a:miter lim="800000"/>
              <a:headEnd type="none" w="med" len="med"/>
              <a:tailEnd type="none" w="med" len="med"/>
            </a:ln>
          </p:spPr>
        </p:cxnSp>
      </p:grpSp>
      <p:cxnSp>
        <p:nvCxnSpPr>
          <p:cNvPr id="174" name="Google Shape;174;p10"/>
          <p:cNvCxnSpPr/>
          <p:nvPr/>
        </p:nvCxnSpPr>
        <p:spPr>
          <a:xfrm>
            <a:off x="5072062" y="2857500"/>
            <a:ext cx="685800" cy="0"/>
          </a:xfrm>
          <a:prstGeom prst="straightConnector1">
            <a:avLst/>
          </a:prstGeom>
          <a:noFill/>
          <a:ln w="50800" cap="flat" cmpd="sng">
            <a:solidFill>
              <a:srgbClr val="FF0000"/>
            </a:solidFill>
            <a:prstDash val="solid"/>
            <a:miter lim="800000"/>
            <a:headEnd type="none" w="med" len="med"/>
            <a:tailEnd type="triangle" w="med" len="med"/>
          </a:ln>
        </p:spPr>
      </p:cxnSp>
      <p:sp>
        <p:nvSpPr>
          <p:cNvPr id="175" name="Google Shape;175;p10"/>
          <p:cNvSpPr txBox="1"/>
          <p:nvPr/>
        </p:nvSpPr>
        <p:spPr>
          <a:xfrm>
            <a:off x="3886200" y="2433637"/>
            <a:ext cx="1187450" cy="94297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Socket</a:t>
            </a:r>
            <a:endParaRPr/>
          </a:p>
          <a:p>
            <a:pPr marL="0" marR="0" lvl="0" indent="0" algn="ctr"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“layer”</a:t>
            </a:r>
            <a:endParaRPr/>
          </a:p>
        </p:txBody>
      </p:sp>
      <p:sp>
        <p:nvSpPr>
          <p:cNvPr id="176" name="Google Shape;176;p10"/>
          <p:cNvSpPr txBox="1"/>
          <p:nvPr/>
        </p:nvSpPr>
        <p:spPr>
          <a:xfrm>
            <a:off x="3929062" y="2428875"/>
            <a:ext cx="1143000" cy="838200"/>
          </a:xfrm>
          <a:prstGeom prst="rect">
            <a:avLst/>
          </a:prstGeom>
          <a:solidFill>
            <a:schemeClr val="accent1">
              <a:alpha val="0"/>
            </a:schemeClr>
          </a:solidFill>
          <a:ln w="38100" cap="flat" cmpd="sng">
            <a:solidFill>
              <a:schemeClr val="hlink"/>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a:solidFill>
                <a:schemeClr val="dk1"/>
              </a:solidFill>
              <a:latin typeface="Gulim"/>
              <a:ea typeface="Gulim"/>
              <a:cs typeface="Gulim"/>
              <a:sym typeface="Gulim"/>
            </a:endParaRPr>
          </a:p>
        </p:txBody>
      </p:sp>
      <p:cxnSp>
        <p:nvCxnSpPr>
          <p:cNvPr id="177" name="Google Shape;177;p10"/>
          <p:cNvCxnSpPr/>
          <p:nvPr/>
        </p:nvCxnSpPr>
        <p:spPr>
          <a:xfrm>
            <a:off x="7696200" y="2895600"/>
            <a:ext cx="22860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178" name="Google Shape;178;p10"/>
          <p:cNvCxnSpPr/>
          <p:nvPr/>
        </p:nvCxnSpPr>
        <p:spPr>
          <a:xfrm flipH="1">
            <a:off x="7696200" y="3505200"/>
            <a:ext cx="228600" cy="685800"/>
          </a:xfrm>
          <a:prstGeom prst="straightConnector1">
            <a:avLst/>
          </a:prstGeom>
          <a:noFill/>
          <a:ln w="9525" cap="flat" cmpd="sng">
            <a:solidFill>
              <a:schemeClr val="dk1"/>
            </a:solidFill>
            <a:prstDash val="solid"/>
            <a:miter lim="800000"/>
            <a:headEnd type="none" w="med" len="med"/>
            <a:tailEnd type="none" w="med" len="med"/>
          </a:ln>
        </p:spPr>
      </p:cxnSp>
      <p:sp>
        <p:nvSpPr>
          <p:cNvPr id="179" name="Google Shape;179;p10"/>
          <p:cNvSpPr txBox="1"/>
          <p:nvPr/>
        </p:nvSpPr>
        <p:spPr>
          <a:xfrm>
            <a:off x="8001000" y="3216275"/>
            <a:ext cx="638175"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OS</a:t>
            </a:r>
            <a:endParaRPr/>
          </a:p>
        </p:txBody>
      </p:sp>
      <p:cxnSp>
        <p:nvCxnSpPr>
          <p:cNvPr id="180" name="Google Shape;180;p10"/>
          <p:cNvCxnSpPr/>
          <p:nvPr/>
        </p:nvCxnSpPr>
        <p:spPr>
          <a:xfrm>
            <a:off x="7696200" y="2057400"/>
            <a:ext cx="228600" cy="457200"/>
          </a:xfrm>
          <a:prstGeom prst="straightConnector1">
            <a:avLst/>
          </a:prstGeom>
          <a:noFill/>
          <a:ln w="9525" cap="flat" cmpd="sng">
            <a:solidFill>
              <a:schemeClr val="dk1"/>
            </a:solidFill>
            <a:prstDash val="solid"/>
            <a:miter lim="800000"/>
            <a:headEnd type="none" w="med" len="med"/>
            <a:tailEnd type="none" w="med" len="med"/>
          </a:ln>
        </p:spPr>
      </p:cxnSp>
      <p:cxnSp>
        <p:nvCxnSpPr>
          <p:cNvPr id="181" name="Google Shape;181;p10"/>
          <p:cNvCxnSpPr/>
          <p:nvPr/>
        </p:nvCxnSpPr>
        <p:spPr>
          <a:xfrm flipH="1">
            <a:off x="7696200" y="2514600"/>
            <a:ext cx="228600" cy="304800"/>
          </a:xfrm>
          <a:prstGeom prst="straightConnector1">
            <a:avLst/>
          </a:prstGeom>
          <a:noFill/>
          <a:ln w="9525" cap="flat" cmpd="sng">
            <a:solidFill>
              <a:schemeClr val="dk1"/>
            </a:solidFill>
            <a:prstDash val="solid"/>
            <a:miter lim="800000"/>
            <a:headEnd type="none" w="med" len="med"/>
            <a:tailEnd type="none" w="med" len="med"/>
          </a:ln>
        </p:spPr>
      </p:cxnSp>
      <p:sp>
        <p:nvSpPr>
          <p:cNvPr id="182" name="Google Shape;182;p10"/>
          <p:cNvSpPr txBox="1"/>
          <p:nvPr/>
        </p:nvSpPr>
        <p:spPr>
          <a:xfrm>
            <a:off x="7969250" y="2225675"/>
            <a:ext cx="869950"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User</a:t>
            </a:r>
            <a:endParaRPr/>
          </a:p>
        </p:txBody>
      </p:sp>
      <p:cxnSp>
        <p:nvCxnSpPr>
          <p:cNvPr id="183" name="Google Shape;183;p10"/>
          <p:cNvCxnSpPr/>
          <p:nvPr/>
        </p:nvCxnSpPr>
        <p:spPr>
          <a:xfrm>
            <a:off x="7696200" y="4343400"/>
            <a:ext cx="228600" cy="609600"/>
          </a:xfrm>
          <a:prstGeom prst="straightConnector1">
            <a:avLst/>
          </a:prstGeom>
          <a:noFill/>
          <a:ln w="9525" cap="flat" cmpd="sng">
            <a:solidFill>
              <a:schemeClr val="dk1"/>
            </a:solidFill>
            <a:prstDash val="solid"/>
            <a:miter lim="800000"/>
            <a:headEnd type="none" w="med" len="med"/>
            <a:tailEnd type="none" w="med" len="med"/>
          </a:ln>
        </p:spPr>
      </p:cxnSp>
      <p:cxnSp>
        <p:nvCxnSpPr>
          <p:cNvPr id="184" name="Google Shape;184;p10"/>
          <p:cNvCxnSpPr/>
          <p:nvPr/>
        </p:nvCxnSpPr>
        <p:spPr>
          <a:xfrm flipH="1">
            <a:off x="7696200" y="4953000"/>
            <a:ext cx="228600" cy="685800"/>
          </a:xfrm>
          <a:prstGeom prst="straightConnector1">
            <a:avLst/>
          </a:prstGeom>
          <a:noFill/>
          <a:ln w="9525" cap="flat" cmpd="sng">
            <a:solidFill>
              <a:schemeClr val="dk1"/>
            </a:solidFill>
            <a:prstDash val="solid"/>
            <a:miter lim="800000"/>
            <a:headEnd type="none" w="med" len="med"/>
            <a:tailEnd type="none" w="med" len="med"/>
          </a:ln>
        </p:spPr>
      </p:cxnSp>
      <p:sp>
        <p:nvSpPr>
          <p:cNvPr id="185" name="Google Shape;185;p10"/>
          <p:cNvSpPr txBox="1"/>
          <p:nvPr/>
        </p:nvSpPr>
        <p:spPr>
          <a:xfrm>
            <a:off x="8008937" y="4724400"/>
            <a:ext cx="677862" cy="4460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a:solidFill>
                  <a:schemeClr val="dk1"/>
                </a:solidFill>
                <a:latin typeface="Comic Sans MS"/>
                <a:ea typeface="Comic Sans MS"/>
                <a:cs typeface="Comic Sans MS"/>
                <a:sym typeface="Comic Sans MS"/>
              </a:rPr>
              <a:t>NIC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11"/>
          <p:cNvSpPr txBox="1">
            <a:spLocks noGrp="1"/>
          </p:cNvSpPr>
          <p:nvPr>
            <p:ph type="title"/>
          </p:nvPr>
        </p:nvSpPr>
        <p:spPr>
          <a:xfrm>
            <a:off x="785812" y="381000"/>
            <a:ext cx="7143750" cy="9763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WHAT IS SSL?</a:t>
            </a:r>
            <a:endParaRPr/>
          </a:p>
        </p:txBody>
      </p:sp>
      <p:sp>
        <p:nvSpPr>
          <p:cNvPr id="191" name="Google Shape;191;p11"/>
          <p:cNvSpPr txBox="1">
            <a:spLocks noGrp="1"/>
          </p:cNvSpPr>
          <p:nvPr>
            <p:ph type="body" idx="1"/>
          </p:nvPr>
        </p:nvSpPr>
        <p:spPr>
          <a:xfrm>
            <a:off x="785812" y="1714500"/>
            <a:ext cx="7748587" cy="4457700"/>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2576"/>
              <a:buFont typeface="Noto Sans Symbols"/>
              <a:buChar char="◼"/>
            </a:pPr>
            <a:r>
              <a:rPr lang="en-US" sz="2800" b="0" i="0" u="none">
                <a:solidFill>
                  <a:srgbClr val="0000FF"/>
                </a:solidFill>
                <a:latin typeface="Gill Sans"/>
                <a:ea typeface="Gill Sans"/>
                <a:cs typeface="Gill Sans"/>
                <a:sym typeface="Gill Sans"/>
              </a:rPr>
              <a:t>SSL is the</a:t>
            </a:r>
            <a:r>
              <a:rPr lang="en-US" sz="2800" b="1" i="0" u="none">
                <a:solidFill>
                  <a:srgbClr val="0000FF"/>
                </a:solidFill>
                <a:latin typeface="Gill Sans"/>
                <a:ea typeface="Gill Sans"/>
                <a:cs typeface="Gill Sans"/>
                <a:sym typeface="Gill Sans"/>
              </a:rPr>
              <a:t> </a:t>
            </a:r>
            <a:r>
              <a:rPr lang="en-US" sz="2800" b="0" i="0" u="none">
                <a:solidFill>
                  <a:srgbClr val="0000FF"/>
                </a:solidFill>
                <a:latin typeface="Gill Sans"/>
                <a:ea typeface="Gill Sans"/>
                <a:cs typeface="Gill Sans"/>
                <a:sym typeface="Gill Sans"/>
              </a:rPr>
              <a:t>protocol used for majority of secure transactions over the Internet</a:t>
            </a:r>
            <a:endParaRPr/>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For example, if you want to buy a book at amazon.com…</a:t>
            </a:r>
            <a:endParaRPr/>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You want to be sure you are dealing with Amazon (</a:t>
            </a:r>
            <a:r>
              <a:rPr lang="en-US" sz="2400" b="1" i="0" u="none" strike="noStrike" cap="none">
                <a:solidFill>
                  <a:srgbClr val="0000FF"/>
                </a:solidFill>
                <a:latin typeface="Gill Sans"/>
                <a:ea typeface="Gill Sans"/>
                <a:cs typeface="Gill Sans"/>
                <a:sym typeface="Gill Sans"/>
              </a:rPr>
              <a:t>authentication</a:t>
            </a:r>
            <a:r>
              <a:rPr lang="en-US" sz="2400" b="0" i="0" u="none" strike="noStrike" cap="none">
                <a:solidFill>
                  <a:schemeClr val="dk2"/>
                </a:solidFill>
                <a:latin typeface="Gill Sans"/>
                <a:ea typeface="Gill Sans"/>
                <a:cs typeface="Gill Sans"/>
                <a:sym typeface="Gill Sans"/>
              </a:rPr>
              <a:t>)</a:t>
            </a:r>
            <a:endParaRPr/>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Your credit card information must be protected in transit (</a:t>
            </a:r>
            <a:r>
              <a:rPr lang="en-US" sz="2400" b="1" i="0" u="none" strike="noStrike" cap="none">
                <a:solidFill>
                  <a:srgbClr val="0000FF"/>
                </a:solidFill>
                <a:latin typeface="Gill Sans"/>
                <a:ea typeface="Gill Sans"/>
                <a:cs typeface="Gill Sans"/>
                <a:sym typeface="Gill Sans"/>
              </a:rPr>
              <a:t>confidentiality</a:t>
            </a:r>
            <a:r>
              <a:rPr lang="en-US" sz="2400" b="0" i="0" u="none" strike="noStrike" cap="none">
                <a:solidFill>
                  <a:schemeClr val="dk2"/>
                </a:solidFill>
                <a:latin typeface="Gill Sans"/>
                <a:ea typeface="Gill Sans"/>
                <a:cs typeface="Gill Sans"/>
                <a:sym typeface="Gill Sans"/>
              </a:rPr>
              <a:t> and/or </a:t>
            </a:r>
            <a:r>
              <a:rPr lang="en-US" sz="2400" b="1" i="0" u="none" strike="noStrike" cap="none">
                <a:solidFill>
                  <a:srgbClr val="0000FF"/>
                </a:solidFill>
                <a:latin typeface="Gill Sans"/>
                <a:ea typeface="Gill Sans"/>
                <a:cs typeface="Gill Sans"/>
                <a:sym typeface="Gill Sans"/>
              </a:rPr>
              <a:t>integrity</a:t>
            </a:r>
            <a:r>
              <a:rPr lang="en-US" sz="2400" b="0" i="0" u="none" strike="noStrike" cap="none">
                <a:solidFill>
                  <a:schemeClr val="dk2"/>
                </a:solidFill>
                <a:latin typeface="Gill Sans"/>
                <a:ea typeface="Gill Sans"/>
                <a:cs typeface="Gill Sans"/>
                <a:sym typeface="Gill Sans"/>
              </a:rPr>
              <a:t>)</a:t>
            </a:r>
            <a:endParaRPr/>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As long as you have money, Amazon doesn’t care who you are (</a:t>
            </a:r>
            <a:r>
              <a:rPr lang="en-US" sz="2400" b="0" i="0" u="none" strike="noStrike" cap="none">
                <a:solidFill>
                  <a:srgbClr val="0000FF"/>
                </a:solidFill>
                <a:latin typeface="Gill Sans"/>
                <a:ea typeface="Gill Sans"/>
                <a:cs typeface="Gill Sans"/>
                <a:sym typeface="Gill Sans"/>
              </a:rPr>
              <a:t>authentication need not be mutual</a:t>
            </a:r>
            <a:r>
              <a:rPr lang="en-US" sz="2400" b="0" i="0" u="none" strike="noStrike" cap="none">
                <a:solidFill>
                  <a:schemeClr val="dk2"/>
                </a:solidFill>
                <a:latin typeface="Gill Sans"/>
                <a:ea typeface="Gill Sans"/>
                <a:cs typeface="Gill Sans"/>
                <a:sym typeface="Gill Sans"/>
              </a:rPr>
              <a:t>)</a:t>
            </a:r>
            <a:endParaRPr/>
          </a:p>
        </p:txBody>
      </p:sp>
      <p:sp>
        <p:nvSpPr>
          <p:cNvPr id="192" name="Google Shape;192;p11"/>
          <p:cNvSpPr txBox="1"/>
          <p:nvPr/>
        </p:nvSpPr>
        <p:spPr>
          <a:xfrm>
            <a:off x="468312" y="6346825"/>
            <a:ext cx="714375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193" name="Google Shape;193;p11"/>
          <p:cNvSpPr txBox="1"/>
          <p:nvPr/>
        </p:nvSpPr>
        <p:spPr>
          <a:xfrm>
            <a:off x="7764462" y="6346825"/>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2"/>
          <p:cNvSpPr txBox="1">
            <a:spLocks noGrp="1"/>
          </p:cNvSpPr>
          <p:nvPr>
            <p:ph type="title"/>
          </p:nvPr>
        </p:nvSpPr>
        <p:spPr>
          <a:xfrm>
            <a:off x="785812" y="533400"/>
            <a:ext cx="7143750" cy="8239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SIMPLE SSL-LIKE PROTOCOL</a:t>
            </a:r>
            <a:endParaRPr/>
          </a:p>
        </p:txBody>
      </p:sp>
      <p:sp>
        <p:nvSpPr>
          <p:cNvPr id="199" name="Google Shape;199;p12"/>
          <p:cNvSpPr txBox="1">
            <a:spLocks noGrp="1"/>
          </p:cNvSpPr>
          <p:nvPr>
            <p:ph type="body" idx="1"/>
          </p:nvPr>
        </p:nvSpPr>
        <p:spPr>
          <a:xfrm>
            <a:off x="1116012" y="4837112"/>
            <a:ext cx="6694487" cy="1222375"/>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Is Alice sure she’s talking to Bob?</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Is Bob sure he’s talking to Alice?</a:t>
            </a:r>
            <a:endParaRPr/>
          </a:p>
        </p:txBody>
      </p:sp>
      <p:sp>
        <p:nvSpPr>
          <p:cNvPr id="200" name="Google Shape;200;p12"/>
          <p:cNvSpPr txBox="1"/>
          <p:nvPr/>
        </p:nvSpPr>
        <p:spPr>
          <a:xfrm>
            <a:off x="382587" y="6370637"/>
            <a:ext cx="66929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201" name="Google Shape;201;p12"/>
          <p:cNvSpPr txBox="1"/>
          <p:nvPr/>
        </p:nvSpPr>
        <p:spPr>
          <a:xfrm>
            <a:off x="7810500" y="6337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12</a:t>
            </a:fld>
            <a:endParaRPr/>
          </a:p>
        </p:txBody>
      </p:sp>
      <p:cxnSp>
        <p:nvCxnSpPr>
          <p:cNvPr id="202" name="Google Shape;202;p12"/>
          <p:cNvCxnSpPr/>
          <p:nvPr/>
        </p:nvCxnSpPr>
        <p:spPr>
          <a:xfrm>
            <a:off x="2286000" y="2478087"/>
            <a:ext cx="46482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203" name="Google Shape;203;p12"/>
          <p:cNvCxnSpPr/>
          <p:nvPr/>
        </p:nvCxnSpPr>
        <p:spPr>
          <a:xfrm rot="10800000">
            <a:off x="2209800" y="3087687"/>
            <a:ext cx="4724400" cy="0"/>
          </a:xfrm>
          <a:prstGeom prst="straightConnector1">
            <a:avLst/>
          </a:prstGeom>
          <a:noFill/>
          <a:ln w="50800" cap="flat" cmpd="sng">
            <a:solidFill>
              <a:schemeClr val="dk1"/>
            </a:solidFill>
            <a:prstDash val="solid"/>
            <a:miter lim="800000"/>
            <a:headEnd type="none" w="med" len="med"/>
            <a:tailEnd type="triangle" w="med" len="med"/>
          </a:ln>
        </p:spPr>
      </p:cxnSp>
      <p:sp>
        <p:nvSpPr>
          <p:cNvPr id="204" name="Google Shape;204;p12"/>
          <p:cNvSpPr txBox="1"/>
          <p:nvPr/>
        </p:nvSpPr>
        <p:spPr>
          <a:xfrm>
            <a:off x="1143000" y="3902075"/>
            <a:ext cx="900112"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Alice</a:t>
            </a:r>
            <a:endParaRPr/>
          </a:p>
        </p:txBody>
      </p:sp>
      <p:sp>
        <p:nvSpPr>
          <p:cNvPr id="205" name="Google Shape;205;p12"/>
          <p:cNvSpPr txBox="1"/>
          <p:nvPr/>
        </p:nvSpPr>
        <p:spPr>
          <a:xfrm>
            <a:off x="7346950" y="3825875"/>
            <a:ext cx="717550"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Bob</a:t>
            </a:r>
            <a:endParaRPr/>
          </a:p>
        </p:txBody>
      </p:sp>
      <p:cxnSp>
        <p:nvCxnSpPr>
          <p:cNvPr id="206" name="Google Shape;206;p12"/>
          <p:cNvCxnSpPr/>
          <p:nvPr/>
        </p:nvCxnSpPr>
        <p:spPr>
          <a:xfrm>
            <a:off x="2286000" y="3681412"/>
            <a:ext cx="4648200" cy="0"/>
          </a:xfrm>
          <a:prstGeom prst="straightConnector1">
            <a:avLst/>
          </a:prstGeom>
          <a:noFill/>
          <a:ln w="50800" cap="flat" cmpd="sng">
            <a:solidFill>
              <a:schemeClr val="dk1"/>
            </a:solidFill>
            <a:prstDash val="solid"/>
            <a:miter lim="800000"/>
            <a:headEnd type="none" w="med" len="med"/>
            <a:tailEnd type="triangle" w="med" len="med"/>
          </a:ln>
        </p:spPr>
      </p:cxnSp>
      <p:sp>
        <p:nvSpPr>
          <p:cNvPr id="207" name="Google Shape;207;p12"/>
          <p:cNvSpPr txBox="1"/>
          <p:nvPr/>
        </p:nvSpPr>
        <p:spPr>
          <a:xfrm>
            <a:off x="2590800" y="1981200"/>
            <a:ext cx="407987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I’d like to talk to you securely</a:t>
            </a:r>
            <a:endParaRPr/>
          </a:p>
        </p:txBody>
      </p:sp>
      <p:sp>
        <p:nvSpPr>
          <p:cNvPr id="208" name="Google Shape;208;p12"/>
          <p:cNvSpPr txBox="1"/>
          <p:nvPr/>
        </p:nvSpPr>
        <p:spPr>
          <a:xfrm>
            <a:off x="3124200" y="2590800"/>
            <a:ext cx="29448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Here’s my certificate</a:t>
            </a:r>
            <a:endParaRPr/>
          </a:p>
        </p:txBody>
      </p:sp>
      <p:sp>
        <p:nvSpPr>
          <p:cNvPr id="209" name="Google Shape;209;p12"/>
          <p:cNvSpPr txBox="1"/>
          <p:nvPr/>
        </p:nvSpPr>
        <p:spPr>
          <a:xfrm>
            <a:off x="3729023" y="3124200"/>
            <a:ext cx="13899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{K</a:t>
            </a:r>
            <a:r>
              <a:rPr lang="en-US" sz="2400" b="0" i="0" u="none" baseline="-25000">
                <a:solidFill>
                  <a:schemeClr val="dk1"/>
                </a:solidFill>
                <a:latin typeface="Times"/>
                <a:ea typeface="Times"/>
                <a:cs typeface="Times"/>
                <a:sym typeface="Times"/>
              </a:rPr>
              <a:t>AB</a:t>
            </a:r>
            <a:r>
              <a:rPr lang="en-US" sz="2400" b="0" i="0" u="none">
                <a:solidFill>
                  <a:schemeClr val="dk1"/>
                </a:solidFill>
                <a:latin typeface="Times"/>
                <a:ea typeface="Times"/>
                <a:cs typeface="Times"/>
                <a:sym typeface="Times"/>
              </a:rPr>
              <a:t>}</a:t>
            </a:r>
            <a:r>
              <a:rPr lang="en-US" sz="2400" b="0" i="0" u="none" baseline="-25000">
                <a:solidFill>
                  <a:schemeClr val="dk1"/>
                </a:solidFill>
                <a:latin typeface="Times"/>
                <a:ea typeface="Times"/>
                <a:cs typeface="Times"/>
                <a:sym typeface="Times"/>
              </a:rPr>
              <a:t>Bob</a:t>
            </a:r>
            <a:endParaRPr/>
          </a:p>
        </p:txBody>
      </p:sp>
      <p:sp>
        <p:nvSpPr>
          <p:cNvPr id="210" name="Google Shape;210;p12"/>
          <p:cNvSpPr txBox="1"/>
          <p:nvPr/>
        </p:nvSpPr>
        <p:spPr>
          <a:xfrm>
            <a:off x="3276600" y="3810000"/>
            <a:ext cx="23352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protected HTTP</a:t>
            </a:r>
            <a:endParaRPr/>
          </a:p>
        </p:txBody>
      </p:sp>
      <p:cxnSp>
        <p:nvCxnSpPr>
          <p:cNvPr id="211" name="Google Shape;211;p12"/>
          <p:cNvCxnSpPr/>
          <p:nvPr/>
        </p:nvCxnSpPr>
        <p:spPr>
          <a:xfrm>
            <a:off x="2209800" y="4267200"/>
            <a:ext cx="4724400" cy="0"/>
          </a:xfrm>
          <a:prstGeom prst="straightConnector1">
            <a:avLst/>
          </a:prstGeom>
          <a:noFill/>
          <a:ln w="50800" cap="flat" cmpd="sng">
            <a:solidFill>
              <a:schemeClr val="dk1"/>
            </a:solidFill>
            <a:prstDash val="solid"/>
            <a:miter lim="800000"/>
            <a:headEnd type="triangle" w="med" len="med"/>
            <a:tailEnd type="triangle" w="med" len="med"/>
          </a:ln>
        </p:spPr>
      </p:cxnSp>
      <p:pic>
        <p:nvPicPr>
          <p:cNvPr id="212" name="Google Shape;212;p12"/>
          <p:cNvPicPr preferRelativeResize="0"/>
          <p:nvPr/>
        </p:nvPicPr>
        <p:blipFill rotWithShape="1">
          <a:blip r:embed="rId3">
            <a:alphaModFix/>
          </a:blip>
          <a:srcRect/>
          <a:stretch/>
        </p:blipFill>
        <p:spPr>
          <a:xfrm>
            <a:off x="1066800" y="2286000"/>
            <a:ext cx="946150" cy="1624012"/>
          </a:xfrm>
          <a:prstGeom prst="rect">
            <a:avLst/>
          </a:prstGeom>
          <a:noFill/>
          <a:ln>
            <a:noFill/>
          </a:ln>
        </p:spPr>
      </p:pic>
      <p:pic>
        <p:nvPicPr>
          <p:cNvPr id="213" name="Google Shape;213;p12"/>
          <p:cNvPicPr preferRelativeResize="0"/>
          <p:nvPr/>
        </p:nvPicPr>
        <p:blipFill rotWithShape="1">
          <a:blip r:embed="rId4">
            <a:alphaModFix/>
          </a:blip>
          <a:srcRect/>
          <a:stretch/>
        </p:blipFill>
        <p:spPr>
          <a:xfrm>
            <a:off x="7162800" y="2209800"/>
            <a:ext cx="1076325" cy="16652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02"/>
                                        </p:tgtEl>
                                        <p:attrNameLst>
                                          <p:attrName>style.visibility</p:attrName>
                                        </p:attrNameLst>
                                      </p:cBhvr>
                                      <p:to>
                                        <p:strVal val="visible"/>
                                      </p:to>
                                    </p:set>
                                    <p:anim calcmode="lin" valueType="num">
                                      <p:cBhvr additive="base">
                                        <p:cTn id="7" dur="500"/>
                                        <p:tgtEl>
                                          <p:spTgt spid="202"/>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0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203"/>
                                        </p:tgtEl>
                                        <p:attrNameLst>
                                          <p:attrName>style.visibility</p:attrName>
                                        </p:attrNameLst>
                                      </p:cBhvr>
                                      <p:to>
                                        <p:strVal val="visible"/>
                                      </p:to>
                                    </p:set>
                                    <p:anim calcmode="lin" valueType="num">
                                      <p:cBhvr additive="base">
                                        <p:cTn id="15" dur="500"/>
                                        <p:tgtEl>
                                          <p:spTgt spid="203"/>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20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06"/>
                                        </p:tgtEl>
                                        <p:attrNameLst>
                                          <p:attrName>style.visibility</p:attrName>
                                        </p:attrNameLst>
                                      </p:cBhvr>
                                      <p:to>
                                        <p:strVal val="visible"/>
                                      </p:to>
                                    </p:set>
                                    <p:anim calcmode="lin" valueType="num">
                                      <p:cBhvr additive="base">
                                        <p:cTn id="23" dur="500"/>
                                        <p:tgtEl>
                                          <p:spTgt spid="206"/>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2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11"/>
                                        </p:tgtEl>
                                        <p:attrNameLst>
                                          <p:attrName>style.visibility</p:attrName>
                                        </p:attrNameLst>
                                      </p:cBhvr>
                                      <p:to>
                                        <p:strVal val="visible"/>
                                      </p:to>
                                    </p:set>
                                    <p:anim calcmode="lin" valueType="num">
                                      <p:cBhvr additive="base">
                                        <p:cTn id="31" dur="500"/>
                                        <p:tgtEl>
                                          <p:spTgt spid="211"/>
                                        </p:tgtEl>
                                        <p:attrNameLst>
                                          <p:attrName>ppt_y</p:attrName>
                                        </p:attrNameLst>
                                      </p:cBhvr>
                                      <p:tavLst>
                                        <p:tav tm="0">
                                          <p:val>
                                            <p:strVal val="#ppt_y+1"/>
                                          </p:val>
                                        </p:tav>
                                        <p:tav tm="100000">
                                          <p:val>
                                            <p:strVal val="#ppt_y"/>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3"/>
          <p:cNvSpPr txBox="1">
            <a:spLocks noGrp="1"/>
          </p:cNvSpPr>
          <p:nvPr>
            <p:ph type="title"/>
          </p:nvPr>
        </p:nvSpPr>
        <p:spPr>
          <a:xfrm>
            <a:off x="785812" y="428625"/>
            <a:ext cx="7286625" cy="928687"/>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SIMPLIFIED SSL PROTOCOL</a:t>
            </a:r>
            <a:endParaRPr/>
          </a:p>
        </p:txBody>
      </p:sp>
      <p:sp>
        <p:nvSpPr>
          <p:cNvPr id="219" name="Google Shape;219;p13"/>
          <p:cNvSpPr txBox="1">
            <a:spLocks noGrp="1"/>
          </p:cNvSpPr>
          <p:nvPr>
            <p:ph type="body" idx="1"/>
          </p:nvPr>
        </p:nvSpPr>
        <p:spPr>
          <a:xfrm>
            <a:off x="785812" y="4500562"/>
            <a:ext cx="7215187" cy="1785937"/>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2024"/>
              <a:buFont typeface="Noto Sans Symbols"/>
              <a:buChar char="◼"/>
            </a:pPr>
            <a:r>
              <a:rPr lang="en-US" sz="2200" b="0" i="0" u="none">
                <a:solidFill>
                  <a:schemeClr val="dk2"/>
                </a:solidFill>
                <a:latin typeface="Times"/>
                <a:ea typeface="Times"/>
                <a:cs typeface="Times"/>
                <a:sym typeface="Times"/>
              </a:rPr>
              <a:t>S</a:t>
            </a:r>
            <a:r>
              <a:rPr lang="en-US" sz="2200" b="0" i="0" u="none">
                <a:solidFill>
                  <a:schemeClr val="dk2"/>
                </a:solidFill>
                <a:latin typeface="Gill Sans"/>
                <a:ea typeface="Gill Sans"/>
                <a:cs typeface="Gill Sans"/>
                <a:sym typeface="Gill Sans"/>
              </a:rPr>
              <a:t> is </a:t>
            </a:r>
            <a:r>
              <a:rPr lang="en-US" sz="2200" b="1" i="0" u="none">
                <a:solidFill>
                  <a:srgbClr val="0000FF"/>
                </a:solidFill>
                <a:latin typeface="Gill Sans"/>
                <a:ea typeface="Gill Sans"/>
                <a:cs typeface="Gill Sans"/>
                <a:sym typeface="Gill Sans"/>
              </a:rPr>
              <a:t>pre-master secret</a:t>
            </a:r>
            <a:endParaRPr sz="2200" b="0" i="0" u="none">
              <a:solidFill>
                <a:srgbClr val="0000FF"/>
              </a:solidFill>
              <a:latin typeface="Gill Sans"/>
              <a:ea typeface="Gill Sans"/>
              <a:cs typeface="Gill Sans"/>
              <a:sym typeface="Gill Sans"/>
            </a:endParaRPr>
          </a:p>
          <a:p>
            <a:pPr marL="304800" marR="0" lvl="0" indent="-304800" algn="l" rtl="0">
              <a:lnSpc>
                <a:spcPct val="90000"/>
              </a:lnSpc>
              <a:spcBef>
                <a:spcPts val="1040"/>
              </a:spcBef>
              <a:spcAft>
                <a:spcPts val="0"/>
              </a:spcAft>
              <a:buClr>
                <a:schemeClr val="accent2"/>
              </a:buClr>
              <a:buSzPts val="2024"/>
              <a:buFont typeface="Noto Sans Symbols"/>
              <a:buChar char="◼"/>
            </a:pPr>
            <a:r>
              <a:rPr lang="en-US" sz="2200" b="0" i="0" u="none">
                <a:solidFill>
                  <a:schemeClr val="dk2"/>
                </a:solidFill>
                <a:latin typeface="Times"/>
                <a:ea typeface="Times"/>
                <a:cs typeface="Times"/>
                <a:sym typeface="Times"/>
              </a:rPr>
              <a:t>K = h(S,R</a:t>
            </a:r>
            <a:r>
              <a:rPr lang="en-US" sz="2200" b="0" i="0" u="none" baseline="-25000">
                <a:solidFill>
                  <a:schemeClr val="dk2"/>
                </a:solidFill>
                <a:latin typeface="Times"/>
                <a:ea typeface="Times"/>
                <a:cs typeface="Times"/>
                <a:sym typeface="Times"/>
              </a:rPr>
              <a:t>A</a:t>
            </a:r>
            <a:r>
              <a:rPr lang="en-US" sz="2200" b="0" i="0" u="none">
                <a:solidFill>
                  <a:schemeClr val="dk2"/>
                </a:solidFill>
                <a:latin typeface="Times"/>
                <a:ea typeface="Times"/>
                <a:cs typeface="Times"/>
                <a:sym typeface="Times"/>
              </a:rPr>
              <a:t>,R</a:t>
            </a:r>
            <a:r>
              <a:rPr lang="en-US" sz="2200" b="0" i="0" u="none" baseline="-25000">
                <a:solidFill>
                  <a:schemeClr val="dk2"/>
                </a:solidFill>
                <a:latin typeface="Times"/>
                <a:ea typeface="Times"/>
                <a:cs typeface="Times"/>
                <a:sym typeface="Times"/>
              </a:rPr>
              <a:t>B</a:t>
            </a:r>
            <a:r>
              <a:rPr lang="en-US" sz="2200" b="0" i="0" u="none">
                <a:solidFill>
                  <a:schemeClr val="dk2"/>
                </a:solidFill>
                <a:latin typeface="Times"/>
                <a:ea typeface="Times"/>
                <a:cs typeface="Times"/>
                <a:sym typeface="Times"/>
              </a:rPr>
              <a:t>)</a:t>
            </a:r>
            <a:endParaRPr sz="2200" b="0" i="0" u="none">
              <a:solidFill>
                <a:schemeClr val="dk2"/>
              </a:solidFill>
              <a:latin typeface="Gill Sans"/>
              <a:ea typeface="Gill Sans"/>
              <a:cs typeface="Gill Sans"/>
              <a:sym typeface="Gill Sans"/>
            </a:endParaRPr>
          </a:p>
          <a:p>
            <a:pPr marL="304800" marR="0" lvl="0" indent="-304800" algn="l" rtl="0">
              <a:lnSpc>
                <a:spcPct val="90000"/>
              </a:lnSpc>
              <a:spcBef>
                <a:spcPts val="1040"/>
              </a:spcBef>
              <a:spcAft>
                <a:spcPts val="0"/>
              </a:spcAft>
              <a:buClr>
                <a:schemeClr val="accent2"/>
              </a:buClr>
              <a:buSzPts val="2024"/>
              <a:buFont typeface="Noto Sans Symbols"/>
              <a:buChar char="◼"/>
            </a:pPr>
            <a:r>
              <a:rPr lang="en-US" sz="2200" b="0" i="0" u="none">
                <a:solidFill>
                  <a:schemeClr val="dk2"/>
                </a:solidFill>
                <a:latin typeface="Times"/>
                <a:ea typeface="Times"/>
                <a:cs typeface="Times"/>
                <a:sym typeface="Times"/>
              </a:rPr>
              <a:t>msgs</a:t>
            </a:r>
            <a:r>
              <a:rPr lang="en-US" sz="2200" b="0" i="0" u="none">
                <a:solidFill>
                  <a:schemeClr val="dk2"/>
                </a:solidFill>
                <a:latin typeface="Gill Sans"/>
                <a:ea typeface="Gill Sans"/>
                <a:cs typeface="Gill Sans"/>
                <a:sym typeface="Gill Sans"/>
              </a:rPr>
              <a:t> = all previous messages</a:t>
            </a:r>
            <a:endParaRPr/>
          </a:p>
          <a:p>
            <a:pPr marL="304800" marR="0" lvl="0" indent="-304800" algn="l" rtl="0">
              <a:lnSpc>
                <a:spcPct val="90000"/>
              </a:lnSpc>
              <a:spcBef>
                <a:spcPts val="1040"/>
              </a:spcBef>
              <a:spcAft>
                <a:spcPts val="0"/>
              </a:spcAft>
              <a:buClr>
                <a:schemeClr val="accent2"/>
              </a:buClr>
              <a:buSzPts val="2024"/>
              <a:buFont typeface="Noto Sans Symbols"/>
              <a:buChar char="◼"/>
            </a:pPr>
            <a:r>
              <a:rPr lang="en-US" sz="2200" b="0" i="0" u="none">
                <a:solidFill>
                  <a:schemeClr val="dk2"/>
                </a:solidFill>
                <a:latin typeface="Times"/>
                <a:ea typeface="Times"/>
                <a:cs typeface="Times"/>
                <a:sym typeface="Times"/>
              </a:rPr>
              <a:t>CLNT</a:t>
            </a:r>
            <a:r>
              <a:rPr lang="en-US" sz="2200" b="0" i="0" u="none">
                <a:solidFill>
                  <a:schemeClr val="dk2"/>
                </a:solidFill>
                <a:latin typeface="Gill Sans"/>
                <a:ea typeface="Gill Sans"/>
                <a:cs typeface="Gill Sans"/>
                <a:sym typeface="Gill Sans"/>
              </a:rPr>
              <a:t> and </a:t>
            </a:r>
            <a:r>
              <a:rPr lang="en-US" sz="2200" b="0" i="0" u="none">
                <a:solidFill>
                  <a:schemeClr val="dk2"/>
                </a:solidFill>
                <a:latin typeface="Times"/>
                <a:ea typeface="Times"/>
                <a:cs typeface="Times"/>
                <a:sym typeface="Times"/>
              </a:rPr>
              <a:t>SRVR</a:t>
            </a:r>
            <a:r>
              <a:rPr lang="en-US" sz="2200" b="0" i="0" u="none">
                <a:solidFill>
                  <a:schemeClr val="dk2"/>
                </a:solidFill>
                <a:latin typeface="Gill Sans"/>
                <a:ea typeface="Gill Sans"/>
                <a:cs typeface="Gill Sans"/>
                <a:sym typeface="Gill Sans"/>
              </a:rPr>
              <a:t> are constants</a:t>
            </a:r>
            <a:endParaRPr/>
          </a:p>
        </p:txBody>
      </p:sp>
      <p:sp>
        <p:nvSpPr>
          <p:cNvPr id="220" name="Google Shape;220;p13"/>
          <p:cNvSpPr txBox="1"/>
          <p:nvPr/>
        </p:nvSpPr>
        <p:spPr>
          <a:xfrm>
            <a:off x="450850" y="6427787"/>
            <a:ext cx="7269162"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221" name="Google Shape;221;p13"/>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13</a:t>
            </a:fld>
            <a:endParaRPr/>
          </a:p>
        </p:txBody>
      </p:sp>
      <p:cxnSp>
        <p:nvCxnSpPr>
          <p:cNvPr id="222" name="Google Shape;222;p13"/>
          <p:cNvCxnSpPr/>
          <p:nvPr/>
        </p:nvCxnSpPr>
        <p:spPr>
          <a:xfrm>
            <a:off x="1995487" y="2224087"/>
            <a:ext cx="46482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223" name="Google Shape;223;p13"/>
          <p:cNvCxnSpPr/>
          <p:nvPr/>
        </p:nvCxnSpPr>
        <p:spPr>
          <a:xfrm rot="10800000">
            <a:off x="1919287" y="2681287"/>
            <a:ext cx="4724400" cy="0"/>
          </a:xfrm>
          <a:prstGeom prst="straightConnector1">
            <a:avLst/>
          </a:prstGeom>
          <a:noFill/>
          <a:ln w="50800" cap="flat" cmpd="sng">
            <a:solidFill>
              <a:schemeClr val="dk1"/>
            </a:solidFill>
            <a:prstDash val="solid"/>
            <a:miter lim="800000"/>
            <a:headEnd type="none" w="med" len="med"/>
            <a:tailEnd type="triangle" w="med" len="med"/>
          </a:ln>
        </p:spPr>
      </p:cxnSp>
      <p:sp>
        <p:nvSpPr>
          <p:cNvPr id="224" name="Google Shape;224;p13"/>
          <p:cNvSpPr txBox="1"/>
          <p:nvPr/>
        </p:nvSpPr>
        <p:spPr>
          <a:xfrm>
            <a:off x="790575" y="3763962"/>
            <a:ext cx="900112"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Alice</a:t>
            </a:r>
            <a:endParaRPr/>
          </a:p>
        </p:txBody>
      </p:sp>
      <p:sp>
        <p:nvSpPr>
          <p:cNvPr id="225" name="Google Shape;225;p13"/>
          <p:cNvSpPr txBox="1"/>
          <p:nvPr/>
        </p:nvSpPr>
        <p:spPr>
          <a:xfrm>
            <a:off x="7132637" y="3687762"/>
            <a:ext cx="717550"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Bob</a:t>
            </a:r>
            <a:endParaRPr/>
          </a:p>
        </p:txBody>
      </p:sp>
      <p:cxnSp>
        <p:nvCxnSpPr>
          <p:cNvPr id="226" name="Google Shape;226;p13"/>
          <p:cNvCxnSpPr/>
          <p:nvPr/>
        </p:nvCxnSpPr>
        <p:spPr>
          <a:xfrm>
            <a:off x="1919287" y="3284537"/>
            <a:ext cx="4648200" cy="0"/>
          </a:xfrm>
          <a:prstGeom prst="straightConnector1">
            <a:avLst/>
          </a:prstGeom>
          <a:noFill/>
          <a:ln w="50800" cap="flat" cmpd="sng">
            <a:solidFill>
              <a:schemeClr val="dk1"/>
            </a:solidFill>
            <a:prstDash val="solid"/>
            <a:miter lim="800000"/>
            <a:headEnd type="none" w="med" len="med"/>
            <a:tailEnd type="triangle" w="med" len="med"/>
          </a:ln>
        </p:spPr>
      </p:cxnSp>
      <p:sp>
        <p:nvSpPr>
          <p:cNvPr id="227" name="Google Shape;227;p13"/>
          <p:cNvSpPr txBox="1"/>
          <p:nvPr/>
        </p:nvSpPr>
        <p:spPr>
          <a:xfrm>
            <a:off x="2122487" y="1766887"/>
            <a:ext cx="392747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Can we talk?, cipher list, R</a:t>
            </a:r>
            <a:r>
              <a:rPr lang="en-US" sz="2400" b="0" i="0" u="none" baseline="-25000">
                <a:solidFill>
                  <a:schemeClr val="dk1"/>
                </a:solidFill>
                <a:latin typeface="Times"/>
                <a:ea typeface="Times"/>
                <a:cs typeface="Times"/>
                <a:sym typeface="Times"/>
              </a:rPr>
              <a:t>A</a:t>
            </a:r>
            <a:endParaRPr/>
          </a:p>
        </p:txBody>
      </p:sp>
      <p:sp>
        <p:nvSpPr>
          <p:cNvPr id="228" name="Google Shape;228;p13"/>
          <p:cNvSpPr txBox="1"/>
          <p:nvPr/>
        </p:nvSpPr>
        <p:spPr>
          <a:xfrm>
            <a:off x="2649537" y="2224087"/>
            <a:ext cx="307975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Certificate, cipher, R</a:t>
            </a:r>
            <a:r>
              <a:rPr lang="en-US" sz="2400" b="0" i="0" u="none" baseline="-25000">
                <a:solidFill>
                  <a:schemeClr val="dk1"/>
                </a:solidFill>
                <a:latin typeface="Times"/>
                <a:ea typeface="Times"/>
                <a:cs typeface="Times"/>
                <a:sym typeface="Times"/>
              </a:rPr>
              <a:t>B</a:t>
            </a:r>
            <a:endParaRPr/>
          </a:p>
        </p:txBody>
      </p:sp>
      <p:sp>
        <p:nvSpPr>
          <p:cNvPr id="229" name="Google Shape;229;p13"/>
          <p:cNvSpPr txBox="1"/>
          <p:nvPr/>
        </p:nvSpPr>
        <p:spPr>
          <a:xfrm>
            <a:off x="2176462" y="2681287"/>
            <a:ext cx="408622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{S}</a:t>
            </a:r>
            <a:r>
              <a:rPr lang="en-US" sz="2400" b="0" i="0" u="none" baseline="-25000">
                <a:solidFill>
                  <a:schemeClr val="dk1"/>
                </a:solidFill>
                <a:latin typeface="Times"/>
                <a:ea typeface="Times"/>
                <a:cs typeface="Times"/>
                <a:sym typeface="Times"/>
              </a:rPr>
              <a:t>Bob</a:t>
            </a:r>
            <a:r>
              <a:rPr lang="en-US" sz="2400" b="0" i="0" u="none">
                <a:solidFill>
                  <a:schemeClr val="dk1"/>
                </a:solidFill>
                <a:latin typeface="Times"/>
                <a:ea typeface="Times"/>
                <a:cs typeface="Times"/>
                <a:sym typeface="Times"/>
              </a:rPr>
              <a:t>, E(h(msgs,CLNT,K),K)</a:t>
            </a:r>
            <a:endParaRPr/>
          </a:p>
        </p:txBody>
      </p:sp>
      <p:sp>
        <p:nvSpPr>
          <p:cNvPr id="230" name="Google Shape;230;p13"/>
          <p:cNvSpPr txBox="1"/>
          <p:nvPr/>
        </p:nvSpPr>
        <p:spPr>
          <a:xfrm>
            <a:off x="2528887" y="3671887"/>
            <a:ext cx="36576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Data protected with key K</a:t>
            </a:r>
            <a:endParaRPr/>
          </a:p>
        </p:txBody>
      </p:sp>
      <p:cxnSp>
        <p:nvCxnSpPr>
          <p:cNvPr id="231" name="Google Shape;231;p13"/>
          <p:cNvCxnSpPr/>
          <p:nvPr/>
        </p:nvCxnSpPr>
        <p:spPr>
          <a:xfrm>
            <a:off x="1919287" y="4129087"/>
            <a:ext cx="4724400" cy="0"/>
          </a:xfrm>
          <a:prstGeom prst="straightConnector1">
            <a:avLst/>
          </a:prstGeom>
          <a:noFill/>
          <a:ln w="50800" cap="flat" cmpd="sng">
            <a:solidFill>
              <a:schemeClr val="dk1"/>
            </a:solidFill>
            <a:prstDash val="solid"/>
            <a:miter lim="800000"/>
            <a:headEnd type="triangle" w="med" len="med"/>
            <a:tailEnd type="triangle" w="med" len="med"/>
          </a:ln>
        </p:spPr>
      </p:cxnSp>
      <p:cxnSp>
        <p:nvCxnSpPr>
          <p:cNvPr id="232" name="Google Shape;232;p13"/>
          <p:cNvCxnSpPr/>
          <p:nvPr/>
        </p:nvCxnSpPr>
        <p:spPr>
          <a:xfrm rot="10800000">
            <a:off x="1919287" y="3671887"/>
            <a:ext cx="4724400" cy="0"/>
          </a:xfrm>
          <a:prstGeom prst="straightConnector1">
            <a:avLst/>
          </a:prstGeom>
          <a:noFill/>
          <a:ln w="50800" cap="flat" cmpd="sng">
            <a:solidFill>
              <a:schemeClr val="dk1"/>
            </a:solidFill>
            <a:prstDash val="solid"/>
            <a:miter lim="800000"/>
            <a:headEnd type="none" w="med" len="med"/>
            <a:tailEnd type="triangle" w="med" len="med"/>
          </a:ln>
        </p:spPr>
      </p:cxnSp>
      <p:sp>
        <p:nvSpPr>
          <p:cNvPr id="233" name="Google Shape;233;p13"/>
          <p:cNvSpPr txBox="1"/>
          <p:nvPr/>
        </p:nvSpPr>
        <p:spPr>
          <a:xfrm>
            <a:off x="3071812" y="3214687"/>
            <a:ext cx="250507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h(msgs,SRVR,K)</a:t>
            </a:r>
            <a:endParaRPr/>
          </a:p>
        </p:txBody>
      </p:sp>
      <p:pic>
        <p:nvPicPr>
          <p:cNvPr id="234" name="Google Shape;234;p13"/>
          <p:cNvPicPr preferRelativeResize="0"/>
          <p:nvPr/>
        </p:nvPicPr>
        <p:blipFill rotWithShape="1">
          <a:blip r:embed="rId3">
            <a:alphaModFix/>
          </a:blip>
          <a:srcRect/>
          <a:stretch/>
        </p:blipFill>
        <p:spPr>
          <a:xfrm>
            <a:off x="682625" y="2147887"/>
            <a:ext cx="946150" cy="1624012"/>
          </a:xfrm>
          <a:prstGeom prst="rect">
            <a:avLst/>
          </a:prstGeom>
          <a:noFill/>
          <a:ln>
            <a:noFill/>
          </a:ln>
        </p:spPr>
      </p:pic>
      <p:pic>
        <p:nvPicPr>
          <p:cNvPr id="235" name="Google Shape;235;p13"/>
          <p:cNvPicPr preferRelativeResize="0"/>
          <p:nvPr/>
        </p:nvPicPr>
        <p:blipFill rotWithShape="1">
          <a:blip r:embed="rId4">
            <a:alphaModFix/>
          </a:blip>
          <a:srcRect/>
          <a:stretch/>
        </p:blipFill>
        <p:spPr>
          <a:xfrm>
            <a:off x="6948487" y="2071687"/>
            <a:ext cx="1076325" cy="166528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anim calcmode="lin" valueType="num">
                                      <p:cBhvr additive="base">
                                        <p:cTn id="7" dur="500"/>
                                        <p:tgtEl>
                                          <p:spTgt spid="222"/>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223"/>
                                        </p:tgtEl>
                                        <p:attrNameLst>
                                          <p:attrName>style.visibility</p:attrName>
                                        </p:attrNameLst>
                                      </p:cBhvr>
                                      <p:to>
                                        <p:strVal val="visible"/>
                                      </p:to>
                                    </p:set>
                                    <p:anim calcmode="lin" valueType="num">
                                      <p:cBhvr additive="base">
                                        <p:cTn id="15" dur="500"/>
                                        <p:tgtEl>
                                          <p:spTgt spid="223"/>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2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26"/>
                                        </p:tgtEl>
                                        <p:attrNameLst>
                                          <p:attrName>style.visibility</p:attrName>
                                        </p:attrNameLst>
                                      </p:cBhvr>
                                      <p:to>
                                        <p:strVal val="visible"/>
                                      </p:to>
                                    </p:set>
                                    <p:anim calcmode="lin" valueType="num">
                                      <p:cBhvr additive="base">
                                        <p:cTn id="23" dur="500"/>
                                        <p:tgtEl>
                                          <p:spTgt spid="226"/>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2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32"/>
                                        </p:tgtEl>
                                        <p:attrNameLst>
                                          <p:attrName>style.visibility</p:attrName>
                                        </p:attrNameLst>
                                      </p:cBhvr>
                                      <p:to>
                                        <p:strVal val="visible"/>
                                      </p:to>
                                    </p:set>
                                    <p:anim calcmode="lin" valueType="num">
                                      <p:cBhvr additive="base">
                                        <p:cTn id="31" dur="500"/>
                                        <p:tgtEl>
                                          <p:spTgt spid="232"/>
                                        </p:tgtEl>
                                        <p:attrNameLst>
                                          <p:attrName>ppt_x</p:attrName>
                                        </p:attrNameLst>
                                      </p:cBhvr>
                                      <p:tavLst>
                                        <p:tav tm="0">
                                          <p:val>
                                            <p:strVal val="#ppt_x+1"/>
                                          </p:val>
                                        </p:tav>
                                        <p:tav tm="100000">
                                          <p:val>
                                            <p:strVal val="#ppt_x"/>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2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31"/>
                                        </p:tgtEl>
                                        <p:attrNameLst>
                                          <p:attrName>style.visibility</p:attrName>
                                        </p:attrNameLst>
                                      </p:cBhvr>
                                      <p:to>
                                        <p:strVal val="visible"/>
                                      </p:to>
                                    </p:set>
                                    <p:anim calcmode="lin" valueType="num">
                                      <p:cBhvr additive="base">
                                        <p:cTn id="39" dur="500"/>
                                        <p:tgtEl>
                                          <p:spTgt spid="231"/>
                                        </p:tgtEl>
                                        <p:attrNameLst>
                                          <p:attrName>ppt_y</p:attrName>
                                        </p:attrNameLst>
                                      </p:cBhvr>
                                      <p:tavLst>
                                        <p:tav tm="0">
                                          <p:val>
                                            <p:strVal val="#ppt_y+1"/>
                                          </p:val>
                                        </p:tav>
                                        <p:tav tm="100000">
                                          <p:val>
                                            <p:strVal val="#ppt_y"/>
                                          </p:val>
                                        </p:tav>
                                      </p:tavLst>
                                    </p:anim>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4"/>
          <p:cNvSpPr txBox="1">
            <a:spLocks noGrp="1"/>
          </p:cNvSpPr>
          <p:nvPr>
            <p:ph type="title"/>
          </p:nvPr>
        </p:nvSpPr>
        <p:spPr>
          <a:xfrm>
            <a:off x="785812" y="381000"/>
            <a:ext cx="7143750" cy="9763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SSL KEYS</a:t>
            </a:r>
            <a:endParaRPr/>
          </a:p>
        </p:txBody>
      </p:sp>
      <p:sp>
        <p:nvSpPr>
          <p:cNvPr id="241" name="Google Shape;241;p14"/>
          <p:cNvSpPr txBox="1">
            <a:spLocks noGrp="1"/>
          </p:cNvSpPr>
          <p:nvPr>
            <p:ph type="body" idx="1"/>
          </p:nvPr>
        </p:nvSpPr>
        <p:spPr>
          <a:xfrm>
            <a:off x="785812" y="1714500"/>
            <a:ext cx="7600950" cy="4421187"/>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6 “keys” derived from </a:t>
            </a:r>
            <a:r>
              <a:rPr lang="en-US" sz="2400" b="0" i="0" u="none">
                <a:solidFill>
                  <a:schemeClr val="dk2"/>
                </a:solidFill>
                <a:latin typeface="Times"/>
                <a:ea typeface="Times"/>
                <a:cs typeface="Times"/>
                <a:sym typeface="Times"/>
              </a:rPr>
              <a:t>K = hash(S,R</a:t>
            </a:r>
            <a:r>
              <a:rPr lang="en-US" sz="2400" b="0" i="0" u="none" baseline="-25000">
                <a:solidFill>
                  <a:schemeClr val="dk2"/>
                </a:solidFill>
                <a:latin typeface="Times"/>
                <a:ea typeface="Times"/>
                <a:cs typeface="Times"/>
                <a:sym typeface="Times"/>
              </a:rPr>
              <a:t>A</a:t>
            </a:r>
            <a:r>
              <a:rPr lang="en-US" sz="2400" b="0" i="0" u="none">
                <a:solidFill>
                  <a:schemeClr val="dk2"/>
                </a:solidFill>
                <a:latin typeface="Times"/>
                <a:ea typeface="Times"/>
                <a:cs typeface="Times"/>
                <a:sym typeface="Times"/>
              </a:rPr>
              <a:t>,R</a:t>
            </a:r>
            <a:r>
              <a:rPr lang="en-US" sz="2400" b="0" i="0" u="none" baseline="-25000">
                <a:solidFill>
                  <a:schemeClr val="dk2"/>
                </a:solidFill>
                <a:latin typeface="Times"/>
                <a:ea typeface="Times"/>
                <a:cs typeface="Times"/>
                <a:sym typeface="Times"/>
              </a:rPr>
              <a:t>B</a:t>
            </a:r>
            <a:r>
              <a:rPr lang="en-US" sz="2400" b="0" i="0" u="none">
                <a:solidFill>
                  <a:schemeClr val="dk2"/>
                </a:solidFill>
                <a:latin typeface="Times"/>
                <a:ea typeface="Times"/>
                <a:cs typeface="Times"/>
                <a:sym typeface="Times"/>
              </a:rPr>
              <a:t>)</a:t>
            </a:r>
            <a:endParaRPr sz="2800" b="0" i="0" u="none">
              <a:solidFill>
                <a:schemeClr val="dk2"/>
              </a:solidFill>
              <a:latin typeface="Gill Sans"/>
              <a:ea typeface="Gill Sans"/>
              <a:cs typeface="Gill Sans"/>
              <a:sym typeface="Gill Sans"/>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2 encryption keys: send and receive</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2 integrity keys: send and receive</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2 IVs: send and receive</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Why different keys in each direction?</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1" i="0" u="none">
                <a:solidFill>
                  <a:srgbClr val="0000FF"/>
                </a:solidFill>
                <a:latin typeface="Gill Sans"/>
                <a:ea typeface="Gill Sans"/>
                <a:cs typeface="Gill Sans"/>
                <a:sym typeface="Gill Sans"/>
              </a:rPr>
              <a:t>Q:</a:t>
            </a:r>
            <a:r>
              <a:rPr lang="en-US" sz="2800" b="0" i="0" u="none">
                <a:solidFill>
                  <a:srgbClr val="0000FF"/>
                </a:solidFill>
                <a:latin typeface="Gill Sans"/>
                <a:ea typeface="Gill Sans"/>
                <a:cs typeface="Gill Sans"/>
                <a:sym typeface="Gill Sans"/>
              </a:rPr>
              <a:t> </a:t>
            </a:r>
            <a:r>
              <a:rPr lang="en-US" sz="2800" b="0" i="0" u="none">
                <a:solidFill>
                  <a:schemeClr val="dk2"/>
                </a:solidFill>
                <a:latin typeface="Gill Sans"/>
                <a:ea typeface="Gill Sans"/>
                <a:cs typeface="Gill Sans"/>
                <a:sym typeface="Gill Sans"/>
              </a:rPr>
              <a:t>Why is </a:t>
            </a:r>
            <a:r>
              <a:rPr lang="en-US" sz="2400" b="0" i="0" u="none">
                <a:solidFill>
                  <a:schemeClr val="dk2"/>
                </a:solidFill>
                <a:latin typeface="Times"/>
                <a:ea typeface="Times"/>
                <a:cs typeface="Times"/>
                <a:sym typeface="Times"/>
              </a:rPr>
              <a:t>h(msgs,CLNT,K)</a:t>
            </a:r>
            <a:r>
              <a:rPr lang="en-US" sz="2800" b="0" i="0" u="none">
                <a:solidFill>
                  <a:schemeClr val="dk2"/>
                </a:solidFill>
                <a:latin typeface="Gill Sans"/>
                <a:ea typeface="Gill Sans"/>
                <a:cs typeface="Gill Sans"/>
                <a:sym typeface="Gill Sans"/>
              </a:rPr>
              <a:t> encrypted (and integrity protected)?</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1" i="0" u="none">
                <a:solidFill>
                  <a:srgbClr val="FF0000"/>
                </a:solidFill>
                <a:latin typeface="Gill Sans"/>
                <a:ea typeface="Gill Sans"/>
                <a:cs typeface="Gill Sans"/>
                <a:sym typeface="Gill Sans"/>
              </a:rPr>
              <a:t>A:</a:t>
            </a:r>
            <a:r>
              <a:rPr lang="en-US" sz="2800" b="0" i="0" u="none">
                <a:solidFill>
                  <a:schemeClr val="dk2"/>
                </a:solidFill>
                <a:latin typeface="Gill Sans"/>
                <a:ea typeface="Gill Sans"/>
                <a:cs typeface="Gill Sans"/>
                <a:sym typeface="Gill Sans"/>
              </a:rPr>
              <a:t> Apparently, it adds no security…</a:t>
            </a:r>
            <a:endParaRPr/>
          </a:p>
        </p:txBody>
      </p:sp>
      <p:sp>
        <p:nvSpPr>
          <p:cNvPr id="242" name="Google Shape;242;p14"/>
          <p:cNvSpPr txBox="1"/>
          <p:nvPr/>
        </p:nvSpPr>
        <p:spPr>
          <a:xfrm>
            <a:off x="552450" y="6215062"/>
            <a:ext cx="6438900" cy="52387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243" name="Google Shape;243;p14"/>
          <p:cNvSpPr txBox="1"/>
          <p:nvPr/>
        </p:nvSpPr>
        <p:spPr>
          <a:xfrm>
            <a:off x="7845425" y="6291262"/>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14</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
                                            <p:txEl>
                                              <p:pRg st="0" end="0"/>
                                            </p:txEl>
                                          </p:spTgt>
                                        </p:tgtEl>
                                        <p:attrNameLst>
                                          <p:attrName>style.visibility</p:attrName>
                                        </p:attrNameLst>
                                      </p:cBhvr>
                                      <p:to>
                                        <p:strVal val="visible"/>
                                      </p:to>
                                    </p:set>
                                    <p:animEffect transition="in" filter="fade">
                                      <p:cBhvr>
                                        <p:cTn id="7" dur="500"/>
                                        <p:tgtEl>
                                          <p:spTgt spid="2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1">
                                            <p:txEl>
                                              <p:pRg st="1" end="1"/>
                                            </p:txEl>
                                          </p:spTgt>
                                        </p:tgtEl>
                                        <p:attrNameLst>
                                          <p:attrName>style.visibility</p:attrName>
                                        </p:attrNameLst>
                                      </p:cBhvr>
                                      <p:to>
                                        <p:strVal val="visible"/>
                                      </p:to>
                                    </p:set>
                                    <p:animEffect transition="in" filter="fade">
                                      <p:cBhvr>
                                        <p:cTn id="12" dur="500"/>
                                        <p:tgtEl>
                                          <p:spTgt spid="24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1">
                                            <p:txEl>
                                              <p:pRg st="2" end="2"/>
                                            </p:txEl>
                                          </p:spTgt>
                                        </p:tgtEl>
                                        <p:attrNameLst>
                                          <p:attrName>style.visibility</p:attrName>
                                        </p:attrNameLst>
                                      </p:cBhvr>
                                      <p:to>
                                        <p:strVal val="visible"/>
                                      </p:to>
                                    </p:set>
                                    <p:animEffect transition="in" filter="fade">
                                      <p:cBhvr>
                                        <p:cTn id="17" dur="500"/>
                                        <p:tgtEl>
                                          <p:spTgt spid="24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1">
                                            <p:txEl>
                                              <p:pRg st="3" end="3"/>
                                            </p:txEl>
                                          </p:spTgt>
                                        </p:tgtEl>
                                        <p:attrNameLst>
                                          <p:attrName>style.visibility</p:attrName>
                                        </p:attrNameLst>
                                      </p:cBhvr>
                                      <p:to>
                                        <p:strVal val="visible"/>
                                      </p:to>
                                    </p:set>
                                    <p:animEffect transition="in" filter="fade">
                                      <p:cBhvr>
                                        <p:cTn id="22" dur="500"/>
                                        <p:tgtEl>
                                          <p:spTgt spid="24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1">
                                            <p:txEl>
                                              <p:pRg st="4" end="4"/>
                                            </p:txEl>
                                          </p:spTgt>
                                        </p:tgtEl>
                                        <p:attrNameLst>
                                          <p:attrName>style.visibility</p:attrName>
                                        </p:attrNameLst>
                                      </p:cBhvr>
                                      <p:to>
                                        <p:strVal val="visible"/>
                                      </p:to>
                                    </p:set>
                                    <p:animEffect transition="in" filter="fade">
                                      <p:cBhvr>
                                        <p:cTn id="27" dur="500"/>
                                        <p:tgtEl>
                                          <p:spTgt spid="24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1">
                                            <p:txEl>
                                              <p:pRg st="5" end="5"/>
                                            </p:txEl>
                                          </p:spTgt>
                                        </p:tgtEl>
                                        <p:attrNameLst>
                                          <p:attrName>style.visibility</p:attrName>
                                        </p:attrNameLst>
                                      </p:cBhvr>
                                      <p:to>
                                        <p:strVal val="visible"/>
                                      </p:to>
                                    </p:set>
                                    <p:animEffect transition="in" filter="fade">
                                      <p:cBhvr>
                                        <p:cTn id="32" dur="500"/>
                                        <p:tgtEl>
                                          <p:spTgt spid="24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41">
                                            <p:txEl>
                                              <p:pRg st="6" end="6"/>
                                            </p:txEl>
                                          </p:spTgt>
                                        </p:tgtEl>
                                        <p:attrNameLst>
                                          <p:attrName>style.visibility</p:attrName>
                                        </p:attrNameLst>
                                      </p:cBhvr>
                                      <p:to>
                                        <p:strVal val="visible"/>
                                      </p:to>
                                    </p:set>
                                    <p:animEffect transition="in" filter="fade">
                                      <p:cBhvr>
                                        <p:cTn id="37" dur="500"/>
                                        <p:tgtEl>
                                          <p:spTgt spid="24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5"/>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SSL AUTHENTICATION</a:t>
            </a:r>
            <a:endParaRPr/>
          </a:p>
        </p:txBody>
      </p:sp>
      <p:sp>
        <p:nvSpPr>
          <p:cNvPr id="249" name="Google Shape;249;p15"/>
          <p:cNvSpPr txBox="1">
            <a:spLocks noGrp="1"/>
          </p:cNvSpPr>
          <p:nvPr>
            <p:ph type="body" idx="1"/>
          </p:nvPr>
        </p:nvSpPr>
        <p:spPr>
          <a:xfrm>
            <a:off x="785812" y="1714500"/>
            <a:ext cx="7900987" cy="4416425"/>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rgbClr val="FF0000"/>
                </a:solidFill>
                <a:latin typeface="Gill Sans"/>
                <a:ea typeface="Gill Sans"/>
                <a:cs typeface="Gill Sans"/>
                <a:sym typeface="Gill Sans"/>
              </a:rPr>
              <a:t>Alice authenticates Bob, not vice-versa</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How does client authenticate server?</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Why does server not authenticate client?</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Mutual authentication is possible: Bob sends </a:t>
            </a:r>
            <a:r>
              <a:rPr lang="en-US" sz="2800" b="1" i="0" u="none">
                <a:solidFill>
                  <a:srgbClr val="0000FF"/>
                </a:solidFill>
                <a:latin typeface="Gill Sans"/>
                <a:ea typeface="Gill Sans"/>
                <a:cs typeface="Gill Sans"/>
                <a:sym typeface="Gill Sans"/>
              </a:rPr>
              <a:t>certificate request</a:t>
            </a:r>
            <a:r>
              <a:rPr lang="en-US" sz="2800" b="0" i="0" u="none">
                <a:solidFill>
                  <a:srgbClr val="0000FF"/>
                </a:solidFill>
                <a:latin typeface="Gill Sans"/>
                <a:ea typeface="Gill Sans"/>
                <a:cs typeface="Gill Sans"/>
                <a:sym typeface="Gill Sans"/>
              </a:rPr>
              <a:t> </a:t>
            </a:r>
            <a:r>
              <a:rPr lang="en-US" sz="2800" b="0" i="0" u="none">
                <a:solidFill>
                  <a:schemeClr val="dk2"/>
                </a:solidFill>
                <a:latin typeface="Gill Sans"/>
                <a:ea typeface="Gill Sans"/>
                <a:cs typeface="Gill Sans"/>
                <a:sym typeface="Gill Sans"/>
              </a:rPr>
              <a:t>in message 2</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This requires client to have certificate</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If server wants to authenticate client, server could instead require (encrypted) password</a:t>
            </a:r>
            <a:endParaRPr/>
          </a:p>
        </p:txBody>
      </p:sp>
      <p:sp>
        <p:nvSpPr>
          <p:cNvPr id="250" name="Google Shape;250;p15"/>
          <p:cNvSpPr txBox="1"/>
          <p:nvPr/>
        </p:nvSpPr>
        <p:spPr>
          <a:xfrm>
            <a:off x="581025" y="5951537"/>
            <a:ext cx="487045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251" name="Google Shape;251;p15"/>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16"/>
          <p:cNvSpPr txBox="1">
            <a:spLocks noGrp="1"/>
          </p:cNvSpPr>
          <p:nvPr>
            <p:ph type="title"/>
          </p:nvPr>
        </p:nvSpPr>
        <p:spPr>
          <a:xfrm>
            <a:off x="785812" y="152400"/>
            <a:ext cx="7143750" cy="12049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SSL MIM ATTACK</a:t>
            </a:r>
            <a:endParaRPr/>
          </a:p>
        </p:txBody>
      </p:sp>
      <p:sp>
        <p:nvSpPr>
          <p:cNvPr id="257" name="Google Shape;257;p16"/>
          <p:cNvSpPr txBox="1">
            <a:spLocks noGrp="1"/>
          </p:cNvSpPr>
          <p:nvPr>
            <p:ph type="body" idx="1"/>
          </p:nvPr>
        </p:nvSpPr>
        <p:spPr>
          <a:xfrm>
            <a:off x="785812" y="4214812"/>
            <a:ext cx="6929437" cy="2209800"/>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90000"/>
              </a:lnSpc>
              <a:spcBef>
                <a:spcPts val="0"/>
              </a:spcBef>
              <a:spcAft>
                <a:spcPts val="0"/>
              </a:spcAft>
              <a:buClr>
                <a:schemeClr val="accent2"/>
              </a:buClr>
              <a:buSzPts val="2208"/>
              <a:buFont typeface="Noto Sans Symbols"/>
              <a:buChar char="◼"/>
            </a:pPr>
            <a:r>
              <a:rPr lang="en-US" sz="2400" b="1" i="0" u="none">
                <a:solidFill>
                  <a:srgbClr val="FF0000"/>
                </a:solidFill>
                <a:latin typeface="Gill Sans"/>
                <a:ea typeface="Gill Sans"/>
                <a:cs typeface="Gill Sans"/>
                <a:sym typeface="Gill Sans"/>
              </a:rPr>
              <a:t>Q:</a:t>
            </a:r>
            <a:r>
              <a:rPr lang="en-US" sz="2400" b="0" i="0" u="none">
                <a:solidFill>
                  <a:schemeClr val="dk2"/>
                </a:solidFill>
                <a:latin typeface="Gill Sans"/>
                <a:ea typeface="Gill Sans"/>
                <a:cs typeface="Gill Sans"/>
                <a:sym typeface="Gill Sans"/>
              </a:rPr>
              <a:t> What prevents this MiM attack?</a:t>
            </a:r>
            <a:endParaRPr/>
          </a:p>
          <a:p>
            <a:pPr marL="304800" marR="0" lvl="0" indent="-304800" algn="l" rtl="0">
              <a:lnSpc>
                <a:spcPct val="90000"/>
              </a:lnSpc>
              <a:spcBef>
                <a:spcPts val="1080"/>
              </a:spcBef>
              <a:spcAft>
                <a:spcPts val="0"/>
              </a:spcAft>
              <a:buClr>
                <a:schemeClr val="accent2"/>
              </a:buClr>
              <a:buSzPts val="2208"/>
              <a:buFont typeface="Noto Sans Symbols"/>
              <a:buChar char="◼"/>
            </a:pPr>
            <a:r>
              <a:rPr lang="en-US" sz="2400" b="1" i="0" u="none">
                <a:solidFill>
                  <a:srgbClr val="FF0000"/>
                </a:solidFill>
                <a:latin typeface="Gill Sans"/>
                <a:ea typeface="Gill Sans"/>
                <a:cs typeface="Gill Sans"/>
                <a:sym typeface="Gill Sans"/>
              </a:rPr>
              <a:t>A:</a:t>
            </a:r>
            <a:r>
              <a:rPr lang="en-US" sz="2400" b="0" i="0" u="none">
                <a:solidFill>
                  <a:schemeClr val="dk2"/>
                </a:solidFill>
                <a:latin typeface="Gill Sans"/>
                <a:ea typeface="Gill Sans"/>
                <a:cs typeface="Gill Sans"/>
                <a:sym typeface="Gill Sans"/>
              </a:rPr>
              <a:t> </a:t>
            </a:r>
            <a:r>
              <a:rPr lang="en-US" sz="2400" b="0" i="0" u="none">
                <a:solidFill>
                  <a:srgbClr val="FF0000"/>
                </a:solidFill>
                <a:latin typeface="Gill Sans"/>
                <a:ea typeface="Gill Sans"/>
                <a:cs typeface="Gill Sans"/>
                <a:sym typeface="Gill Sans"/>
              </a:rPr>
              <a:t>Bob’s certificate must be signed by a certificate authority (such as Verisign)</a:t>
            </a:r>
            <a:endParaRPr/>
          </a:p>
          <a:p>
            <a:pPr marL="304800" marR="0" lvl="0" indent="-304800" algn="l" rtl="0">
              <a:lnSpc>
                <a:spcPct val="90000"/>
              </a:lnSpc>
              <a:spcBef>
                <a:spcPts val="1080"/>
              </a:spcBef>
              <a:spcAft>
                <a:spcPts val="0"/>
              </a:spcAft>
              <a:buClr>
                <a:schemeClr val="accent2"/>
              </a:buClr>
              <a:buSzPts val="2208"/>
              <a:buFont typeface="Noto Sans Symbols"/>
              <a:buChar char="◼"/>
            </a:pPr>
            <a:r>
              <a:rPr lang="en-US" sz="2400" b="0" i="0" u="none">
                <a:solidFill>
                  <a:schemeClr val="dk2"/>
                </a:solidFill>
                <a:latin typeface="Gill Sans"/>
                <a:ea typeface="Gill Sans"/>
                <a:cs typeface="Gill Sans"/>
                <a:sym typeface="Gill Sans"/>
              </a:rPr>
              <a:t>What does Web browser do if sig. not valid?</a:t>
            </a:r>
            <a:endParaRPr/>
          </a:p>
          <a:p>
            <a:pPr marL="304800" marR="0" lvl="0" indent="-304800" algn="l" rtl="0">
              <a:lnSpc>
                <a:spcPct val="90000"/>
              </a:lnSpc>
              <a:spcBef>
                <a:spcPts val="1080"/>
              </a:spcBef>
              <a:spcAft>
                <a:spcPts val="0"/>
              </a:spcAft>
              <a:buClr>
                <a:schemeClr val="accent2"/>
              </a:buClr>
              <a:buSzPts val="2208"/>
              <a:buFont typeface="Noto Sans Symbols"/>
              <a:buChar char="◼"/>
            </a:pPr>
            <a:r>
              <a:rPr lang="en-US" sz="2400" b="0" i="0" u="none">
                <a:solidFill>
                  <a:schemeClr val="dk2"/>
                </a:solidFill>
                <a:latin typeface="Gill Sans"/>
                <a:ea typeface="Gill Sans"/>
                <a:cs typeface="Gill Sans"/>
                <a:sym typeface="Gill Sans"/>
              </a:rPr>
              <a:t>What does user do if signature is not valid?</a:t>
            </a:r>
            <a:endParaRPr/>
          </a:p>
        </p:txBody>
      </p:sp>
      <p:sp>
        <p:nvSpPr>
          <p:cNvPr id="258" name="Google Shape;258;p16"/>
          <p:cNvSpPr txBox="1"/>
          <p:nvPr/>
        </p:nvSpPr>
        <p:spPr>
          <a:xfrm>
            <a:off x="566575" y="6473825"/>
            <a:ext cx="7143900" cy="365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259" name="Google Shape;259;p16"/>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16</a:t>
            </a:fld>
            <a:endParaRPr/>
          </a:p>
        </p:txBody>
      </p:sp>
      <p:cxnSp>
        <p:nvCxnSpPr>
          <p:cNvPr id="260" name="Google Shape;260;p16"/>
          <p:cNvCxnSpPr/>
          <p:nvPr/>
        </p:nvCxnSpPr>
        <p:spPr>
          <a:xfrm>
            <a:off x="1295400" y="2209800"/>
            <a:ext cx="24384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261" name="Google Shape;261;p16"/>
          <p:cNvCxnSpPr/>
          <p:nvPr/>
        </p:nvCxnSpPr>
        <p:spPr>
          <a:xfrm rot="10800000">
            <a:off x="1219200" y="2667000"/>
            <a:ext cx="2438400" cy="0"/>
          </a:xfrm>
          <a:prstGeom prst="straightConnector1">
            <a:avLst/>
          </a:prstGeom>
          <a:noFill/>
          <a:ln w="50800" cap="flat" cmpd="sng">
            <a:solidFill>
              <a:schemeClr val="dk1"/>
            </a:solidFill>
            <a:prstDash val="solid"/>
            <a:miter lim="800000"/>
            <a:headEnd type="none" w="med" len="med"/>
            <a:tailEnd type="triangle" w="med" len="med"/>
          </a:ln>
        </p:spPr>
      </p:cxnSp>
      <p:sp>
        <p:nvSpPr>
          <p:cNvPr id="262" name="Google Shape;262;p16"/>
          <p:cNvSpPr txBox="1"/>
          <p:nvPr/>
        </p:nvSpPr>
        <p:spPr>
          <a:xfrm>
            <a:off x="152400" y="3657600"/>
            <a:ext cx="900000" cy="51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Alice</a:t>
            </a:r>
            <a:endParaRPr/>
          </a:p>
        </p:txBody>
      </p:sp>
      <p:sp>
        <p:nvSpPr>
          <p:cNvPr id="263" name="Google Shape;263;p16"/>
          <p:cNvSpPr txBox="1"/>
          <p:nvPr/>
        </p:nvSpPr>
        <p:spPr>
          <a:xfrm>
            <a:off x="8229600" y="3673475"/>
            <a:ext cx="717600" cy="517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Bob</a:t>
            </a:r>
            <a:endParaRPr/>
          </a:p>
        </p:txBody>
      </p:sp>
      <p:sp>
        <p:nvSpPr>
          <p:cNvPr id="264" name="Google Shape;264;p16"/>
          <p:cNvSpPr txBox="1"/>
          <p:nvPr/>
        </p:nvSpPr>
        <p:spPr>
          <a:xfrm>
            <a:off x="2203450" y="1752600"/>
            <a:ext cx="5397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R</a:t>
            </a:r>
            <a:r>
              <a:rPr lang="en-US" sz="2400" b="0" i="0" u="none" baseline="-25000">
                <a:solidFill>
                  <a:schemeClr val="dk1"/>
                </a:solidFill>
                <a:latin typeface="Times"/>
                <a:ea typeface="Times"/>
                <a:cs typeface="Times"/>
                <a:sym typeface="Times"/>
              </a:rPr>
              <a:t>A</a:t>
            </a:r>
            <a:endParaRPr/>
          </a:p>
        </p:txBody>
      </p:sp>
      <p:sp>
        <p:nvSpPr>
          <p:cNvPr id="265" name="Google Shape;265;p16"/>
          <p:cNvSpPr txBox="1"/>
          <p:nvPr/>
        </p:nvSpPr>
        <p:spPr>
          <a:xfrm>
            <a:off x="1371600" y="2209800"/>
            <a:ext cx="21369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Times"/>
              <a:buNone/>
            </a:pPr>
            <a:r>
              <a:rPr lang="en-US" sz="2400" b="0" i="0" u="none">
                <a:solidFill>
                  <a:srgbClr val="FF0000"/>
                </a:solidFill>
                <a:latin typeface="Times"/>
                <a:ea typeface="Times"/>
                <a:cs typeface="Times"/>
                <a:sym typeface="Times"/>
              </a:rPr>
              <a:t>certificate</a:t>
            </a:r>
            <a:r>
              <a:rPr lang="en-US" sz="2400" b="0" i="0" u="none" baseline="-25000">
                <a:solidFill>
                  <a:srgbClr val="FF0000"/>
                </a:solidFill>
                <a:latin typeface="Times"/>
                <a:ea typeface="Times"/>
                <a:cs typeface="Times"/>
                <a:sym typeface="Times"/>
              </a:rPr>
              <a:t>T</a:t>
            </a:r>
            <a:r>
              <a:rPr lang="en-US" sz="2400" b="0" i="0" u="none">
                <a:solidFill>
                  <a:schemeClr val="dk1"/>
                </a:solidFill>
                <a:latin typeface="Times"/>
                <a:ea typeface="Times"/>
                <a:cs typeface="Times"/>
                <a:sym typeface="Times"/>
              </a:rPr>
              <a:t>, R</a:t>
            </a:r>
            <a:r>
              <a:rPr lang="en-US" sz="2400" b="0" i="0" u="none" baseline="-25000">
                <a:solidFill>
                  <a:schemeClr val="dk1"/>
                </a:solidFill>
                <a:latin typeface="Times"/>
                <a:ea typeface="Times"/>
                <a:cs typeface="Times"/>
                <a:sym typeface="Times"/>
              </a:rPr>
              <a:t>B</a:t>
            </a:r>
            <a:endParaRPr/>
          </a:p>
        </p:txBody>
      </p:sp>
      <p:sp>
        <p:nvSpPr>
          <p:cNvPr id="266" name="Google Shape;266;p16"/>
          <p:cNvSpPr txBox="1"/>
          <p:nvPr/>
        </p:nvSpPr>
        <p:spPr>
          <a:xfrm>
            <a:off x="1228725" y="2667000"/>
            <a:ext cx="2566988"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Times"/>
              <a:buNone/>
            </a:pPr>
            <a:r>
              <a:rPr lang="en-US" sz="2400" b="0" i="0" u="none" dirty="0">
                <a:solidFill>
                  <a:srgbClr val="FF0000"/>
                </a:solidFill>
                <a:latin typeface="Times"/>
                <a:ea typeface="Times"/>
                <a:cs typeface="Times"/>
                <a:sym typeface="Times"/>
              </a:rPr>
              <a:t>{S</a:t>
            </a:r>
            <a:r>
              <a:rPr lang="en-US" sz="2400" b="0" i="0" u="none" baseline="-25000" dirty="0">
                <a:solidFill>
                  <a:srgbClr val="FF0000"/>
                </a:solidFill>
                <a:latin typeface="Times"/>
                <a:ea typeface="Times"/>
                <a:cs typeface="Times"/>
                <a:sym typeface="Times"/>
              </a:rPr>
              <a:t>1</a:t>
            </a:r>
            <a:r>
              <a:rPr lang="en-US" sz="2400" b="0" i="0" u="none" dirty="0">
                <a:solidFill>
                  <a:srgbClr val="FF0000"/>
                </a:solidFill>
                <a:latin typeface="Times"/>
                <a:ea typeface="Times"/>
                <a:cs typeface="Times"/>
                <a:sym typeface="Times"/>
              </a:rPr>
              <a:t>}</a:t>
            </a:r>
            <a:r>
              <a:rPr lang="en-US" sz="2400" b="0" i="0" u="none" baseline="-25000" dirty="0">
                <a:solidFill>
                  <a:srgbClr val="FF0000"/>
                </a:solidFill>
                <a:latin typeface="Times"/>
                <a:ea typeface="Times"/>
                <a:cs typeface="Times"/>
                <a:sym typeface="Times"/>
              </a:rPr>
              <a:t>Trudy</a:t>
            </a:r>
            <a:r>
              <a:rPr lang="en-US" sz="2400" b="0" i="0" u="none" dirty="0" smtClean="0">
                <a:solidFill>
                  <a:srgbClr val="FF0000"/>
                </a:solidFill>
                <a:latin typeface="Times"/>
                <a:ea typeface="Times"/>
                <a:cs typeface="Times"/>
                <a:sym typeface="Times"/>
              </a:rPr>
              <a:t>, </a:t>
            </a:r>
            <a:r>
              <a:rPr lang="en-US" sz="2400" b="0" i="0" u="none" dirty="0" smtClean="0">
                <a:solidFill>
                  <a:schemeClr val="dk1"/>
                </a:solidFill>
                <a:latin typeface="Times"/>
                <a:ea typeface="Times"/>
                <a:cs typeface="Times"/>
                <a:sym typeface="Times"/>
              </a:rPr>
              <a:t>E(X</a:t>
            </a:r>
            <a:r>
              <a:rPr lang="en-US" sz="2400" b="0" i="0" u="none" baseline="-25000" dirty="0" smtClean="0">
                <a:solidFill>
                  <a:schemeClr val="dk1"/>
                </a:solidFill>
                <a:latin typeface="Times"/>
                <a:ea typeface="Times"/>
                <a:cs typeface="Times"/>
                <a:sym typeface="Times"/>
              </a:rPr>
              <a:t>1</a:t>
            </a:r>
            <a:r>
              <a:rPr lang="en-US" sz="2400" b="0" i="0" u="none" dirty="0" smtClean="0">
                <a:solidFill>
                  <a:schemeClr val="dk1"/>
                </a:solidFill>
                <a:latin typeface="Times"/>
                <a:ea typeface="Times"/>
                <a:cs typeface="Times"/>
                <a:sym typeface="Times"/>
              </a:rPr>
              <a:t>,K</a:t>
            </a:r>
            <a:r>
              <a:rPr lang="en-US" sz="2400" b="0" i="0" u="none" baseline="-25000" dirty="0" smtClean="0">
                <a:solidFill>
                  <a:schemeClr val="dk1"/>
                </a:solidFill>
                <a:latin typeface="Times"/>
                <a:ea typeface="Times"/>
                <a:cs typeface="Times"/>
                <a:sym typeface="Times"/>
              </a:rPr>
              <a:t>1</a:t>
            </a:r>
            <a:r>
              <a:rPr lang="en-US" sz="2400" b="0" i="0" u="none" dirty="0">
                <a:solidFill>
                  <a:schemeClr val="dk1"/>
                </a:solidFill>
                <a:latin typeface="Times"/>
                <a:ea typeface="Times"/>
                <a:cs typeface="Times"/>
                <a:sym typeface="Times"/>
              </a:rPr>
              <a:t>)</a:t>
            </a:r>
            <a:endParaRPr dirty="0"/>
          </a:p>
        </p:txBody>
      </p:sp>
      <p:sp>
        <p:nvSpPr>
          <p:cNvPr id="267" name="Google Shape;267;p16"/>
          <p:cNvSpPr txBox="1"/>
          <p:nvPr/>
        </p:nvSpPr>
        <p:spPr>
          <a:xfrm>
            <a:off x="1768475" y="3581400"/>
            <a:ext cx="15843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E(data,K</a:t>
            </a:r>
            <a:r>
              <a:rPr lang="en-US" sz="2400" b="0" i="0" u="none" baseline="-25000">
                <a:solidFill>
                  <a:schemeClr val="dk1"/>
                </a:solidFill>
                <a:latin typeface="Times"/>
                <a:ea typeface="Times"/>
                <a:cs typeface="Times"/>
                <a:sym typeface="Times"/>
              </a:rPr>
              <a:t>1</a:t>
            </a:r>
            <a:r>
              <a:rPr lang="en-US" sz="2400" b="0" i="0" u="none">
                <a:solidFill>
                  <a:schemeClr val="dk1"/>
                </a:solidFill>
                <a:latin typeface="Times"/>
                <a:ea typeface="Times"/>
                <a:cs typeface="Times"/>
                <a:sym typeface="Times"/>
              </a:rPr>
              <a:t>)</a:t>
            </a:r>
            <a:endParaRPr/>
          </a:p>
        </p:txBody>
      </p:sp>
      <p:cxnSp>
        <p:nvCxnSpPr>
          <p:cNvPr id="268" name="Google Shape;268;p16"/>
          <p:cNvCxnSpPr/>
          <p:nvPr/>
        </p:nvCxnSpPr>
        <p:spPr>
          <a:xfrm>
            <a:off x="1219200" y="4038600"/>
            <a:ext cx="2514600" cy="0"/>
          </a:xfrm>
          <a:prstGeom prst="straightConnector1">
            <a:avLst/>
          </a:prstGeom>
          <a:noFill/>
          <a:ln w="50800" cap="flat" cmpd="sng">
            <a:solidFill>
              <a:schemeClr val="dk1"/>
            </a:solidFill>
            <a:prstDash val="solid"/>
            <a:miter lim="800000"/>
            <a:headEnd type="triangle" w="med" len="med"/>
            <a:tailEnd type="triangle" w="med" len="med"/>
          </a:ln>
        </p:spPr>
      </p:cxnSp>
      <p:cxnSp>
        <p:nvCxnSpPr>
          <p:cNvPr id="269" name="Google Shape;269;p16"/>
          <p:cNvCxnSpPr/>
          <p:nvPr/>
        </p:nvCxnSpPr>
        <p:spPr>
          <a:xfrm rot="10800000">
            <a:off x="1219200" y="3581400"/>
            <a:ext cx="2438400" cy="0"/>
          </a:xfrm>
          <a:prstGeom prst="straightConnector1">
            <a:avLst/>
          </a:prstGeom>
          <a:noFill/>
          <a:ln w="50800" cap="flat" cmpd="sng">
            <a:solidFill>
              <a:schemeClr val="dk1"/>
            </a:solidFill>
            <a:prstDash val="solid"/>
            <a:miter lim="800000"/>
            <a:headEnd type="none" w="med" len="med"/>
            <a:tailEnd type="triangle" w="med" len="med"/>
          </a:ln>
        </p:spPr>
      </p:cxnSp>
      <p:sp>
        <p:nvSpPr>
          <p:cNvPr id="270" name="Google Shape;270;p16"/>
          <p:cNvSpPr txBox="1"/>
          <p:nvPr/>
        </p:nvSpPr>
        <p:spPr>
          <a:xfrm>
            <a:off x="1828800" y="3124200"/>
            <a:ext cx="1273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h(Y</a:t>
            </a:r>
            <a:r>
              <a:rPr lang="en-US" sz="2400" b="0" i="0" u="none" baseline="-25000">
                <a:solidFill>
                  <a:schemeClr val="dk1"/>
                </a:solidFill>
                <a:latin typeface="Times"/>
                <a:ea typeface="Times"/>
                <a:cs typeface="Times"/>
                <a:sym typeface="Times"/>
              </a:rPr>
              <a:t>1</a:t>
            </a:r>
            <a:r>
              <a:rPr lang="en-US" sz="2400" b="0" i="0" u="none">
                <a:solidFill>
                  <a:schemeClr val="dk1"/>
                </a:solidFill>
                <a:latin typeface="Times"/>
                <a:ea typeface="Times"/>
                <a:cs typeface="Times"/>
                <a:sym typeface="Times"/>
              </a:rPr>
              <a:t>,K</a:t>
            </a:r>
            <a:r>
              <a:rPr lang="en-US" sz="2400" b="0" i="0" u="none" baseline="-25000">
                <a:solidFill>
                  <a:schemeClr val="dk1"/>
                </a:solidFill>
                <a:latin typeface="Times"/>
                <a:ea typeface="Times"/>
                <a:cs typeface="Times"/>
                <a:sym typeface="Times"/>
              </a:rPr>
              <a:t>1</a:t>
            </a:r>
            <a:r>
              <a:rPr lang="en-US" sz="2400" b="0" i="0" u="none">
                <a:solidFill>
                  <a:schemeClr val="dk1"/>
                </a:solidFill>
                <a:latin typeface="Times"/>
                <a:ea typeface="Times"/>
                <a:cs typeface="Times"/>
                <a:sym typeface="Times"/>
              </a:rPr>
              <a:t>)</a:t>
            </a:r>
            <a:endParaRPr/>
          </a:p>
        </p:txBody>
      </p:sp>
      <p:sp>
        <p:nvSpPr>
          <p:cNvPr id="271" name="Google Shape;271;p16"/>
          <p:cNvSpPr txBox="1"/>
          <p:nvPr/>
        </p:nvSpPr>
        <p:spPr>
          <a:xfrm>
            <a:off x="4068850" y="3521075"/>
            <a:ext cx="1079450"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dirty="0">
                <a:solidFill>
                  <a:schemeClr val="dk1"/>
                </a:solidFill>
                <a:latin typeface="Comic Sans MS"/>
                <a:ea typeface="Comic Sans MS"/>
                <a:cs typeface="Comic Sans MS"/>
                <a:sym typeface="Comic Sans MS"/>
              </a:rPr>
              <a:t>Trudy</a:t>
            </a:r>
            <a:endParaRPr dirty="0"/>
          </a:p>
        </p:txBody>
      </p:sp>
      <p:cxnSp>
        <p:nvCxnSpPr>
          <p:cNvPr id="272" name="Google Shape;272;p16"/>
          <p:cNvCxnSpPr/>
          <p:nvPr/>
        </p:nvCxnSpPr>
        <p:spPr>
          <a:xfrm>
            <a:off x="1295400" y="3124200"/>
            <a:ext cx="24384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273" name="Google Shape;273;p16"/>
          <p:cNvCxnSpPr/>
          <p:nvPr/>
        </p:nvCxnSpPr>
        <p:spPr>
          <a:xfrm>
            <a:off x="5486400" y="2209800"/>
            <a:ext cx="24384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274" name="Google Shape;274;p16"/>
          <p:cNvCxnSpPr/>
          <p:nvPr/>
        </p:nvCxnSpPr>
        <p:spPr>
          <a:xfrm rot="10800000">
            <a:off x="5429054" y="2667000"/>
            <a:ext cx="2438400" cy="0"/>
          </a:xfrm>
          <a:prstGeom prst="straightConnector1">
            <a:avLst/>
          </a:prstGeom>
          <a:noFill/>
          <a:ln w="50800" cap="flat" cmpd="sng">
            <a:solidFill>
              <a:schemeClr val="dk1"/>
            </a:solidFill>
            <a:prstDash val="solid"/>
            <a:miter lim="800000"/>
            <a:headEnd type="none" w="med" len="med"/>
            <a:tailEnd type="triangle" w="med" len="med"/>
          </a:ln>
        </p:spPr>
      </p:cxnSp>
      <p:sp>
        <p:nvSpPr>
          <p:cNvPr id="275" name="Google Shape;275;p16"/>
          <p:cNvSpPr txBox="1"/>
          <p:nvPr/>
        </p:nvSpPr>
        <p:spPr>
          <a:xfrm>
            <a:off x="6415087" y="1752600"/>
            <a:ext cx="5397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R</a:t>
            </a:r>
            <a:r>
              <a:rPr lang="en-US" sz="2400" b="0" i="0" u="none" baseline="-25000">
                <a:solidFill>
                  <a:schemeClr val="dk1"/>
                </a:solidFill>
                <a:latin typeface="Times"/>
                <a:ea typeface="Times"/>
                <a:cs typeface="Times"/>
                <a:sym typeface="Times"/>
              </a:rPr>
              <a:t>A</a:t>
            </a:r>
            <a:endParaRPr/>
          </a:p>
        </p:txBody>
      </p:sp>
      <p:sp>
        <p:nvSpPr>
          <p:cNvPr id="276" name="Google Shape;276;p16"/>
          <p:cNvSpPr txBox="1"/>
          <p:nvPr/>
        </p:nvSpPr>
        <p:spPr>
          <a:xfrm>
            <a:off x="5562600" y="2209800"/>
            <a:ext cx="21480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certificate</a:t>
            </a:r>
            <a:r>
              <a:rPr lang="en-US" sz="2400" b="0" i="0" u="none" baseline="-25000">
                <a:solidFill>
                  <a:schemeClr val="dk1"/>
                </a:solidFill>
                <a:latin typeface="Times"/>
                <a:ea typeface="Times"/>
                <a:cs typeface="Times"/>
                <a:sym typeface="Times"/>
              </a:rPr>
              <a:t>B</a:t>
            </a:r>
            <a:r>
              <a:rPr lang="en-US" sz="2400" b="0" i="0" u="none">
                <a:solidFill>
                  <a:schemeClr val="dk1"/>
                </a:solidFill>
                <a:latin typeface="Times"/>
                <a:ea typeface="Times"/>
                <a:cs typeface="Times"/>
                <a:sym typeface="Times"/>
              </a:rPr>
              <a:t>, R</a:t>
            </a:r>
            <a:r>
              <a:rPr lang="en-US" sz="2400" b="0" i="0" u="none" baseline="-25000">
                <a:solidFill>
                  <a:schemeClr val="dk1"/>
                </a:solidFill>
                <a:latin typeface="Times"/>
                <a:ea typeface="Times"/>
                <a:cs typeface="Times"/>
                <a:sym typeface="Times"/>
              </a:rPr>
              <a:t>B</a:t>
            </a:r>
            <a:endParaRPr/>
          </a:p>
        </p:txBody>
      </p:sp>
      <p:sp>
        <p:nvSpPr>
          <p:cNvPr id="277" name="Google Shape;277;p16"/>
          <p:cNvSpPr txBox="1"/>
          <p:nvPr/>
        </p:nvSpPr>
        <p:spPr>
          <a:xfrm>
            <a:off x="5506331" y="2667000"/>
            <a:ext cx="2424113"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dirty="0">
                <a:solidFill>
                  <a:schemeClr val="dk1"/>
                </a:solidFill>
                <a:latin typeface="Times"/>
                <a:ea typeface="Times"/>
                <a:cs typeface="Times"/>
                <a:sym typeface="Times"/>
              </a:rPr>
              <a:t>{S</a:t>
            </a:r>
            <a:r>
              <a:rPr lang="en-US" sz="2400" b="0" i="0" u="none" baseline="-25000" dirty="0">
                <a:solidFill>
                  <a:schemeClr val="dk1"/>
                </a:solidFill>
                <a:latin typeface="Times"/>
                <a:ea typeface="Times"/>
                <a:cs typeface="Times"/>
                <a:sym typeface="Times"/>
              </a:rPr>
              <a:t>2</a:t>
            </a:r>
            <a:r>
              <a:rPr lang="en-US" sz="2400" b="0" i="0" u="none" dirty="0">
                <a:solidFill>
                  <a:schemeClr val="dk1"/>
                </a:solidFill>
                <a:latin typeface="Times"/>
                <a:ea typeface="Times"/>
                <a:cs typeface="Times"/>
                <a:sym typeface="Times"/>
              </a:rPr>
              <a:t>}</a:t>
            </a:r>
            <a:r>
              <a:rPr lang="en-US" sz="2400" b="0" i="0" u="none" baseline="-25000" dirty="0">
                <a:solidFill>
                  <a:schemeClr val="dk1"/>
                </a:solidFill>
                <a:latin typeface="Times"/>
                <a:ea typeface="Times"/>
                <a:cs typeface="Times"/>
                <a:sym typeface="Times"/>
              </a:rPr>
              <a:t>Bob</a:t>
            </a:r>
            <a:r>
              <a:rPr lang="en-US" sz="2400" b="0" i="0" u="none" dirty="0" smtClean="0">
                <a:solidFill>
                  <a:schemeClr val="dk1"/>
                </a:solidFill>
                <a:latin typeface="Times"/>
                <a:ea typeface="Times"/>
                <a:cs typeface="Times"/>
                <a:sym typeface="Times"/>
              </a:rPr>
              <a:t>, E(X</a:t>
            </a:r>
            <a:r>
              <a:rPr lang="en-US" sz="2400" b="0" i="0" u="none" baseline="-25000" dirty="0" smtClean="0">
                <a:solidFill>
                  <a:schemeClr val="dk1"/>
                </a:solidFill>
                <a:latin typeface="Times"/>
                <a:ea typeface="Times"/>
                <a:cs typeface="Times"/>
                <a:sym typeface="Times"/>
              </a:rPr>
              <a:t>2</a:t>
            </a:r>
            <a:r>
              <a:rPr lang="en-US" sz="2400" b="0" i="0" u="none" dirty="0" smtClean="0">
                <a:solidFill>
                  <a:schemeClr val="dk1"/>
                </a:solidFill>
                <a:latin typeface="Times"/>
                <a:ea typeface="Times"/>
                <a:cs typeface="Times"/>
                <a:sym typeface="Times"/>
              </a:rPr>
              <a:t>,K</a:t>
            </a:r>
            <a:r>
              <a:rPr lang="en-US" sz="2400" b="0" i="0" u="none" baseline="-25000" dirty="0" smtClean="0">
                <a:solidFill>
                  <a:schemeClr val="dk1"/>
                </a:solidFill>
                <a:latin typeface="Times"/>
                <a:ea typeface="Times"/>
                <a:cs typeface="Times"/>
                <a:sym typeface="Times"/>
              </a:rPr>
              <a:t>2</a:t>
            </a:r>
            <a:r>
              <a:rPr lang="en-US" sz="2400" b="0" i="0" u="none" dirty="0">
                <a:solidFill>
                  <a:schemeClr val="dk1"/>
                </a:solidFill>
                <a:latin typeface="Times"/>
                <a:ea typeface="Times"/>
                <a:cs typeface="Times"/>
                <a:sym typeface="Times"/>
              </a:rPr>
              <a:t>)</a:t>
            </a:r>
            <a:endParaRPr dirty="0"/>
          </a:p>
        </p:txBody>
      </p:sp>
      <p:sp>
        <p:nvSpPr>
          <p:cNvPr id="278" name="Google Shape;278;p16"/>
          <p:cNvSpPr txBox="1"/>
          <p:nvPr/>
        </p:nvSpPr>
        <p:spPr>
          <a:xfrm>
            <a:off x="5957887" y="3581400"/>
            <a:ext cx="15843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E(data,K</a:t>
            </a:r>
            <a:r>
              <a:rPr lang="en-US" sz="2400" b="0" i="0" u="none" baseline="-25000">
                <a:solidFill>
                  <a:schemeClr val="dk1"/>
                </a:solidFill>
                <a:latin typeface="Times"/>
                <a:ea typeface="Times"/>
                <a:cs typeface="Times"/>
                <a:sym typeface="Times"/>
              </a:rPr>
              <a:t>2</a:t>
            </a:r>
            <a:r>
              <a:rPr lang="en-US" sz="2400" b="0" i="0" u="none">
                <a:solidFill>
                  <a:schemeClr val="dk1"/>
                </a:solidFill>
                <a:latin typeface="Times"/>
                <a:ea typeface="Times"/>
                <a:cs typeface="Times"/>
                <a:sym typeface="Times"/>
              </a:rPr>
              <a:t>)</a:t>
            </a:r>
            <a:endParaRPr/>
          </a:p>
        </p:txBody>
      </p:sp>
      <p:cxnSp>
        <p:nvCxnSpPr>
          <p:cNvPr id="279" name="Google Shape;279;p16"/>
          <p:cNvCxnSpPr/>
          <p:nvPr/>
        </p:nvCxnSpPr>
        <p:spPr>
          <a:xfrm>
            <a:off x="5410200" y="4038600"/>
            <a:ext cx="2514600" cy="0"/>
          </a:xfrm>
          <a:prstGeom prst="straightConnector1">
            <a:avLst/>
          </a:prstGeom>
          <a:noFill/>
          <a:ln w="50800" cap="flat" cmpd="sng">
            <a:solidFill>
              <a:schemeClr val="dk1"/>
            </a:solidFill>
            <a:prstDash val="solid"/>
            <a:miter lim="800000"/>
            <a:headEnd type="triangle" w="med" len="med"/>
            <a:tailEnd type="triangle" w="med" len="med"/>
          </a:ln>
        </p:spPr>
      </p:cxnSp>
      <p:cxnSp>
        <p:nvCxnSpPr>
          <p:cNvPr id="280" name="Google Shape;280;p16"/>
          <p:cNvCxnSpPr/>
          <p:nvPr/>
        </p:nvCxnSpPr>
        <p:spPr>
          <a:xfrm rot="10800000">
            <a:off x="5424487" y="3581400"/>
            <a:ext cx="2438400" cy="0"/>
          </a:xfrm>
          <a:prstGeom prst="straightConnector1">
            <a:avLst/>
          </a:prstGeom>
          <a:noFill/>
          <a:ln w="50800" cap="flat" cmpd="sng">
            <a:solidFill>
              <a:schemeClr val="dk1"/>
            </a:solidFill>
            <a:prstDash val="solid"/>
            <a:miter lim="800000"/>
            <a:headEnd type="none" w="med" len="med"/>
            <a:tailEnd type="triangle" w="med" len="med"/>
          </a:ln>
        </p:spPr>
      </p:cxnSp>
      <p:sp>
        <p:nvSpPr>
          <p:cNvPr id="281" name="Google Shape;281;p16"/>
          <p:cNvSpPr txBox="1"/>
          <p:nvPr/>
        </p:nvSpPr>
        <p:spPr>
          <a:xfrm>
            <a:off x="6056312" y="3124200"/>
            <a:ext cx="1273200"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h(Y</a:t>
            </a:r>
            <a:r>
              <a:rPr lang="en-US" sz="2400" b="0" i="0" u="none" baseline="-25000">
                <a:solidFill>
                  <a:schemeClr val="dk1"/>
                </a:solidFill>
                <a:latin typeface="Times"/>
                <a:ea typeface="Times"/>
                <a:cs typeface="Times"/>
                <a:sym typeface="Times"/>
              </a:rPr>
              <a:t>2</a:t>
            </a:r>
            <a:r>
              <a:rPr lang="en-US" sz="2400" b="0" i="0" u="none">
                <a:solidFill>
                  <a:schemeClr val="dk1"/>
                </a:solidFill>
                <a:latin typeface="Times"/>
                <a:ea typeface="Times"/>
                <a:cs typeface="Times"/>
                <a:sym typeface="Times"/>
              </a:rPr>
              <a:t>,K</a:t>
            </a:r>
            <a:r>
              <a:rPr lang="en-US" sz="2400" b="0" i="0" u="none" baseline="-25000">
                <a:solidFill>
                  <a:schemeClr val="dk1"/>
                </a:solidFill>
                <a:latin typeface="Times"/>
                <a:ea typeface="Times"/>
                <a:cs typeface="Times"/>
                <a:sym typeface="Times"/>
              </a:rPr>
              <a:t>2</a:t>
            </a:r>
            <a:r>
              <a:rPr lang="en-US" sz="2400" b="0" i="0" u="none">
                <a:solidFill>
                  <a:schemeClr val="dk1"/>
                </a:solidFill>
                <a:latin typeface="Times"/>
                <a:ea typeface="Times"/>
                <a:cs typeface="Times"/>
                <a:sym typeface="Times"/>
              </a:rPr>
              <a:t>)</a:t>
            </a:r>
            <a:endParaRPr/>
          </a:p>
        </p:txBody>
      </p:sp>
      <p:cxnSp>
        <p:nvCxnSpPr>
          <p:cNvPr id="282" name="Google Shape;282;p16"/>
          <p:cNvCxnSpPr/>
          <p:nvPr/>
        </p:nvCxnSpPr>
        <p:spPr>
          <a:xfrm>
            <a:off x="5500687" y="3124200"/>
            <a:ext cx="2438400" cy="0"/>
          </a:xfrm>
          <a:prstGeom prst="straightConnector1">
            <a:avLst/>
          </a:prstGeom>
          <a:noFill/>
          <a:ln w="50800" cap="flat" cmpd="sng">
            <a:solidFill>
              <a:schemeClr val="dk1"/>
            </a:solidFill>
            <a:prstDash val="solid"/>
            <a:miter lim="800000"/>
            <a:headEnd type="none" w="med" len="med"/>
            <a:tailEnd type="triangle" w="med" len="med"/>
          </a:ln>
        </p:spPr>
      </p:cxnSp>
      <p:pic>
        <p:nvPicPr>
          <p:cNvPr id="283" name="Google Shape;283;p16"/>
          <p:cNvPicPr preferRelativeResize="0"/>
          <p:nvPr/>
        </p:nvPicPr>
        <p:blipFill rotWithShape="1">
          <a:blip r:embed="rId3">
            <a:alphaModFix/>
          </a:blip>
          <a:srcRect/>
          <a:stretch/>
        </p:blipFill>
        <p:spPr>
          <a:xfrm>
            <a:off x="120650" y="2057400"/>
            <a:ext cx="946150" cy="1624012"/>
          </a:xfrm>
          <a:prstGeom prst="rect">
            <a:avLst/>
          </a:prstGeom>
          <a:noFill/>
          <a:ln>
            <a:noFill/>
          </a:ln>
        </p:spPr>
      </p:pic>
      <p:pic>
        <p:nvPicPr>
          <p:cNvPr id="284" name="Google Shape;284;p16"/>
          <p:cNvPicPr preferRelativeResize="0"/>
          <p:nvPr/>
        </p:nvPicPr>
        <p:blipFill rotWithShape="1">
          <a:blip r:embed="rId4">
            <a:alphaModFix/>
          </a:blip>
          <a:srcRect/>
          <a:stretch/>
        </p:blipFill>
        <p:spPr>
          <a:xfrm>
            <a:off x="8001000" y="2057400"/>
            <a:ext cx="1076325" cy="1665287"/>
          </a:xfrm>
          <a:prstGeom prst="rect">
            <a:avLst/>
          </a:prstGeom>
          <a:noFill/>
          <a:ln>
            <a:noFill/>
          </a:ln>
        </p:spPr>
      </p:pic>
      <p:pic>
        <p:nvPicPr>
          <p:cNvPr id="285" name="Google Shape;285;p16"/>
          <p:cNvPicPr preferRelativeResize="0"/>
          <p:nvPr/>
        </p:nvPicPr>
        <p:blipFill rotWithShape="1">
          <a:blip r:embed="rId5">
            <a:alphaModFix/>
          </a:blip>
          <a:srcRect/>
          <a:stretch/>
        </p:blipFill>
        <p:spPr>
          <a:xfrm>
            <a:off x="4114800" y="2286000"/>
            <a:ext cx="1039812" cy="12827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60"/>
                                        </p:tgtEl>
                                        <p:attrNameLst>
                                          <p:attrName>style.visibility</p:attrName>
                                        </p:attrNameLst>
                                      </p:cBhvr>
                                      <p:to>
                                        <p:strVal val="visible"/>
                                      </p:to>
                                    </p:set>
                                    <p:anim calcmode="lin" valueType="num">
                                      <p:cBhvr additive="base">
                                        <p:cTn id="7" dur="500"/>
                                        <p:tgtEl>
                                          <p:spTgt spid="260"/>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26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261"/>
                                        </p:tgtEl>
                                        <p:attrNameLst>
                                          <p:attrName>style.visibility</p:attrName>
                                        </p:attrNameLst>
                                      </p:cBhvr>
                                      <p:to>
                                        <p:strVal val="visible"/>
                                      </p:to>
                                    </p:set>
                                    <p:anim calcmode="lin" valueType="num">
                                      <p:cBhvr additive="base">
                                        <p:cTn id="15" dur="500"/>
                                        <p:tgtEl>
                                          <p:spTgt spid="261"/>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26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272"/>
                                        </p:tgtEl>
                                        <p:attrNameLst>
                                          <p:attrName>style.visibility</p:attrName>
                                        </p:attrNameLst>
                                      </p:cBhvr>
                                      <p:to>
                                        <p:strVal val="visible"/>
                                      </p:to>
                                    </p:set>
                                    <p:anim calcmode="lin" valueType="num">
                                      <p:cBhvr additive="base">
                                        <p:cTn id="23" dur="500"/>
                                        <p:tgtEl>
                                          <p:spTgt spid="272"/>
                                        </p:tgtEl>
                                        <p:attrNameLst>
                                          <p:attrName>ppt_x</p:attrName>
                                        </p:attrNameLst>
                                      </p:cBhvr>
                                      <p:tavLst>
                                        <p:tav tm="0">
                                          <p:val>
                                            <p:strVal val="#ppt_x-1"/>
                                          </p:val>
                                        </p:tav>
                                        <p:tav tm="100000">
                                          <p:val>
                                            <p:strVal val="#ppt_x"/>
                                          </p:val>
                                        </p:tav>
                                      </p:tavLst>
                                    </p:anim>
                                  </p:childTnLst>
                                </p:cTn>
                              </p:par>
                            </p:childTnLst>
                          </p:cTn>
                        </p:par>
                        <p:par>
                          <p:cTn id="24" fill="hold">
                            <p:stCondLst>
                              <p:cond delay="500"/>
                            </p:stCondLst>
                            <p:childTnLst>
                              <p:par>
                                <p:cTn id="25" presetID="1" presetClass="entr" presetSubtype="0" fill="hold" nodeType="afterEffect">
                                  <p:stCondLst>
                                    <p:cond delay="0"/>
                                  </p:stCondLst>
                                  <p:childTnLst>
                                    <p:set>
                                      <p:cBhvr>
                                        <p:cTn id="26" dur="1" fill="hold">
                                          <p:stCondLst>
                                            <p:cond delay="0"/>
                                          </p:stCondLst>
                                        </p:cTn>
                                        <p:tgtEl>
                                          <p:spTgt spid="26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nodeType="clickEffect">
                                  <p:stCondLst>
                                    <p:cond delay="0"/>
                                  </p:stCondLst>
                                  <p:childTnLst>
                                    <p:set>
                                      <p:cBhvr>
                                        <p:cTn id="30" dur="1" fill="hold">
                                          <p:stCondLst>
                                            <p:cond delay="0"/>
                                          </p:stCondLst>
                                        </p:cTn>
                                        <p:tgtEl>
                                          <p:spTgt spid="269"/>
                                        </p:tgtEl>
                                        <p:attrNameLst>
                                          <p:attrName>style.visibility</p:attrName>
                                        </p:attrNameLst>
                                      </p:cBhvr>
                                      <p:to>
                                        <p:strVal val="visible"/>
                                      </p:to>
                                    </p:set>
                                    <p:anim calcmode="lin" valueType="num">
                                      <p:cBhvr additive="base">
                                        <p:cTn id="31" dur="500"/>
                                        <p:tgtEl>
                                          <p:spTgt spid="269"/>
                                        </p:tgtEl>
                                        <p:attrNameLst>
                                          <p:attrName>ppt_x</p:attrName>
                                        </p:attrNameLst>
                                      </p:cBhvr>
                                      <p:tavLst>
                                        <p:tav tm="0">
                                          <p:val>
                                            <p:strVal val="#ppt_x+1"/>
                                          </p:val>
                                        </p:tav>
                                        <p:tav tm="100000">
                                          <p:val>
                                            <p:strVal val="#ppt_x"/>
                                          </p:val>
                                        </p:tav>
                                      </p:tavLst>
                                    </p:anim>
                                  </p:childTnLst>
                                </p:cTn>
                              </p:par>
                            </p:childTnLst>
                          </p:cTn>
                        </p:par>
                        <p:par>
                          <p:cTn id="32" fill="hold">
                            <p:stCondLst>
                              <p:cond delay="500"/>
                            </p:stCondLst>
                            <p:childTnLst>
                              <p:par>
                                <p:cTn id="33" presetID="1" presetClass="entr" presetSubtype="0" fill="hold" nodeType="afterEffect">
                                  <p:stCondLst>
                                    <p:cond delay="0"/>
                                  </p:stCondLst>
                                  <p:childTnLst>
                                    <p:set>
                                      <p:cBhvr>
                                        <p:cTn id="34" dur="1" fill="hold">
                                          <p:stCondLst>
                                            <p:cond delay="0"/>
                                          </p:stCondLst>
                                        </p:cTn>
                                        <p:tgtEl>
                                          <p:spTgt spid="27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68"/>
                                        </p:tgtEl>
                                        <p:attrNameLst>
                                          <p:attrName>style.visibility</p:attrName>
                                        </p:attrNameLst>
                                      </p:cBhvr>
                                      <p:to>
                                        <p:strVal val="visible"/>
                                      </p:to>
                                    </p:set>
                                    <p:anim calcmode="lin" valueType="num">
                                      <p:cBhvr additive="base">
                                        <p:cTn id="39" dur="500"/>
                                        <p:tgtEl>
                                          <p:spTgt spid="268"/>
                                        </p:tgtEl>
                                        <p:attrNameLst>
                                          <p:attrName>ppt_y</p:attrName>
                                        </p:attrNameLst>
                                      </p:cBhvr>
                                      <p:tavLst>
                                        <p:tav tm="0">
                                          <p:val>
                                            <p:strVal val="#ppt_y+1"/>
                                          </p:val>
                                        </p:tav>
                                        <p:tav tm="100000">
                                          <p:val>
                                            <p:strVal val="#ppt_y"/>
                                          </p:val>
                                        </p:tav>
                                      </p:tavLst>
                                    </p:anim>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26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8" fill="hold" nodeType="clickEffect">
                                  <p:stCondLst>
                                    <p:cond delay="0"/>
                                  </p:stCondLst>
                                  <p:childTnLst>
                                    <p:set>
                                      <p:cBhvr>
                                        <p:cTn id="46" dur="1" fill="hold">
                                          <p:stCondLst>
                                            <p:cond delay="0"/>
                                          </p:stCondLst>
                                        </p:cTn>
                                        <p:tgtEl>
                                          <p:spTgt spid="273"/>
                                        </p:tgtEl>
                                        <p:attrNameLst>
                                          <p:attrName>style.visibility</p:attrName>
                                        </p:attrNameLst>
                                      </p:cBhvr>
                                      <p:to>
                                        <p:strVal val="visible"/>
                                      </p:to>
                                    </p:set>
                                    <p:anim calcmode="lin" valueType="num">
                                      <p:cBhvr additive="base">
                                        <p:cTn id="47" dur="500"/>
                                        <p:tgtEl>
                                          <p:spTgt spid="273"/>
                                        </p:tgtEl>
                                        <p:attrNameLst>
                                          <p:attrName>ppt_x</p:attrName>
                                        </p:attrNameLst>
                                      </p:cBhvr>
                                      <p:tavLst>
                                        <p:tav tm="0">
                                          <p:val>
                                            <p:strVal val="#ppt_x-1"/>
                                          </p:val>
                                        </p:tav>
                                        <p:tav tm="100000">
                                          <p:val>
                                            <p:strVal val="#ppt_x"/>
                                          </p:val>
                                        </p:tav>
                                      </p:tavLst>
                                    </p:anim>
                                  </p:childTnLst>
                                </p:cTn>
                              </p:par>
                            </p:childTnLst>
                          </p:cTn>
                        </p:par>
                        <p:par>
                          <p:cTn id="48" fill="hold">
                            <p:stCondLst>
                              <p:cond delay="500"/>
                            </p:stCondLst>
                            <p:childTnLst>
                              <p:par>
                                <p:cTn id="49" presetID="1" presetClass="entr" presetSubtype="0" fill="hold" nodeType="afterEffect">
                                  <p:stCondLst>
                                    <p:cond delay="0"/>
                                  </p:stCondLst>
                                  <p:childTnLst>
                                    <p:set>
                                      <p:cBhvr>
                                        <p:cTn id="50" dur="1" fill="hold">
                                          <p:stCondLst>
                                            <p:cond delay="0"/>
                                          </p:stCondLst>
                                        </p:cTn>
                                        <p:tgtEl>
                                          <p:spTgt spid="27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nodeType="clickEffect">
                                  <p:stCondLst>
                                    <p:cond delay="0"/>
                                  </p:stCondLst>
                                  <p:childTnLst>
                                    <p:set>
                                      <p:cBhvr>
                                        <p:cTn id="54" dur="1" fill="hold">
                                          <p:stCondLst>
                                            <p:cond delay="0"/>
                                          </p:stCondLst>
                                        </p:cTn>
                                        <p:tgtEl>
                                          <p:spTgt spid="274"/>
                                        </p:tgtEl>
                                        <p:attrNameLst>
                                          <p:attrName>style.visibility</p:attrName>
                                        </p:attrNameLst>
                                      </p:cBhvr>
                                      <p:to>
                                        <p:strVal val="visible"/>
                                      </p:to>
                                    </p:set>
                                    <p:anim calcmode="lin" valueType="num">
                                      <p:cBhvr additive="base">
                                        <p:cTn id="55" dur="500"/>
                                        <p:tgtEl>
                                          <p:spTgt spid="274"/>
                                        </p:tgtEl>
                                        <p:attrNameLst>
                                          <p:attrName>ppt_x</p:attrName>
                                        </p:attrNameLst>
                                      </p:cBhvr>
                                      <p:tavLst>
                                        <p:tav tm="0">
                                          <p:val>
                                            <p:strVal val="#ppt_x+1"/>
                                          </p:val>
                                        </p:tav>
                                        <p:tav tm="100000">
                                          <p:val>
                                            <p:strVal val="#ppt_x"/>
                                          </p:val>
                                        </p:tav>
                                      </p:tavLst>
                                    </p:anim>
                                  </p:childTnLst>
                                </p:cTn>
                              </p:par>
                            </p:childTnLst>
                          </p:cTn>
                        </p:par>
                        <p:par>
                          <p:cTn id="56" fill="hold">
                            <p:stCondLst>
                              <p:cond delay="500"/>
                            </p:stCondLst>
                            <p:childTnLst>
                              <p:par>
                                <p:cTn id="57" presetID="1" presetClass="entr" presetSubtype="0" fill="hold" nodeType="afterEffect">
                                  <p:stCondLst>
                                    <p:cond delay="0"/>
                                  </p:stCondLst>
                                  <p:childTnLst>
                                    <p:set>
                                      <p:cBhvr>
                                        <p:cTn id="58" dur="1" fill="hold">
                                          <p:stCondLst>
                                            <p:cond delay="0"/>
                                          </p:stCondLst>
                                        </p:cTn>
                                        <p:tgtEl>
                                          <p:spTgt spid="27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 presetClass="entr" presetSubtype="8" fill="hold" nodeType="clickEffect">
                                  <p:stCondLst>
                                    <p:cond delay="0"/>
                                  </p:stCondLst>
                                  <p:childTnLst>
                                    <p:set>
                                      <p:cBhvr>
                                        <p:cTn id="62" dur="1" fill="hold">
                                          <p:stCondLst>
                                            <p:cond delay="0"/>
                                          </p:stCondLst>
                                        </p:cTn>
                                        <p:tgtEl>
                                          <p:spTgt spid="282"/>
                                        </p:tgtEl>
                                        <p:attrNameLst>
                                          <p:attrName>style.visibility</p:attrName>
                                        </p:attrNameLst>
                                      </p:cBhvr>
                                      <p:to>
                                        <p:strVal val="visible"/>
                                      </p:to>
                                    </p:set>
                                    <p:anim calcmode="lin" valueType="num">
                                      <p:cBhvr additive="base">
                                        <p:cTn id="63" dur="500"/>
                                        <p:tgtEl>
                                          <p:spTgt spid="282"/>
                                        </p:tgtEl>
                                        <p:attrNameLst>
                                          <p:attrName>ppt_x</p:attrName>
                                        </p:attrNameLst>
                                      </p:cBhvr>
                                      <p:tavLst>
                                        <p:tav tm="0">
                                          <p:val>
                                            <p:strVal val="#ppt_x-1"/>
                                          </p:val>
                                        </p:tav>
                                        <p:tav tm="100000">
                                          <p:val>
                                            <p:strVal val="#ppt_x"/>
                                          </p:val>
                                        </p:tav>
                                      </p:tavLst>
                                    </p:anim>
                                  </p:childTnLst>
                                </p:cTn>
                              </p:par>
                            </p:childTnLst>
                          </p:cTn>
                        </p:par>
                        <p:par>
                          <p:cTn id="64" fill="hold">
                            <p:stCondLst>
                              <p:cond delay="500"/>
                            </p:stCondLst>
                            <p:childTnLst>
                              <p:par>
                                <p:cTn id="65" presetID="1" presetClass="entr" presetSubtype="0" fill="hold" nodeType="afterEffect">
                                  <p:stCondLst>
                                    <p:cond delay="0"/>
                                  </p:stCondLst>
                                  <p:childTnLst>
                                    <p:set>
                                      <p:cBhvr>
                                        <p:cTn id="66" dur="1" fill="hold">
                                          <p:stCondLst>
                                            <p:cond delay="0"/>
                                          </p:stCondLst>
                                        </p:cTn>
                                        <p:tgtEl>
                                          <p:spTgt spid="27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2" presetClass="entr" presetSubtype="2" fill="hold" nodeType="clickEffect">
                                  <p:stCondLst>
                                    <p:cond delay="0"/>
                                  </p:stCondLst>
                                  <p:childTnLst>
                                    <p:set>
                                      <p:cBhvr>
                                        <p:cTn id="70" dur="1" fill="hold">
                                          <p:stCondLst>
                                            <p:cond delay="0"/>
                                          </p:stCondLst>
                                        </p:cTn>
                                        <p:tgtEl>
                                          <p:spTgt spid="280"/>
                                        </p:tgtEl>
                                        <p:attrNameLst>
                                          <p:attrName>style.visibility</p:attrName>
                                        </p:attrNameLst>
                                      </p:cBhvr>
                                      <p:to>
                                        <p:strVal val="visible"/>
                                      </p:to>
                                    </p:set>
                                    <p:anim calcmode="lin" valueType="num">
                                      <p:cBhvr additive="base">
                                        <p:cTn id="71" dur="500"/>
                                        <p:tgtEl>
                                          <p:spTgt spid="280"/>
                                        </p:tgtEl>
                                        <p:attrNameLst>
                                          <p:attrName>ppt_x</p:attrName>
                                        </p:attrNameLst>
                                      </p:cBhvr>
                                      <p:tavLst>
                                        <p:tav tm="0">
                                          <p:val>
                                            <p:strVal val="#ppt_x+1"/>
                                          </p:val>
                                        </p:tav>
                                        <p:tav tm="100000">
                                          <p:val>
                                            <p:strVal val="#ppt_x"/>
                                          </p:val>
                                        </p:tav>
                                      </p:tavLst>
                                    </p:anim>
                                  </p:childTnLst>
                                </p:cTn>
                              </p:par>
                            </p:childTnLst>
                          </p:cTn>
                        </p:par>
                        <p:par>
                          <p:cTn id="72" fill="hold">
                            <p:stCondLst>
                              <p:cond delay="500"/>
                            </p:stCondLst>
                            <p:childTnLst>
                              <p:par>
                                <p:cTn id="73" presetID="1" presetClass="entr" presetSubtype="0" fill="hold" nodeType="afterEffect">
                                  <p:stCondLst>
                                    <p:cond delay="0"/>
                                  </p:stCondLst>
                                  <p:childTnLst>
                                    <p:set>
                                      <p:cBhvr>
                                        <p:cTn id="74" dur="1" fill="hold">
                                          <p:stCondLst>
                                            <p:cond delay="0"/>
                                          </p:stCondLst>
                                        </p:cTn>
                                        <p:tgtEl>
                                          <p:spTgt spid="2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79"/>
                                        </p:tgtEl>
                                        <p:attrNameLst>
                                          <p:attrName>style.visibility</p:attrName>
                                        </p:attrNameLst>
                                      </p:cBhvr>
                                      <p:to>
                                        <p:strVal val="visible"/>
                                      </p:to>
                                    </p:set>
                                    <p:anim calcmode="lin" valueType="num">
                                      <p:cBhvr additive="base">
                                        <p:cTn id="79" dur="500"/>
                                        <p:tgtEl>
                                          <p:spTgt spid="279"/>
                                        </p:tgtEl>
                                        <p:attrNameLst>
                                          <p:attrName>ppt_y</p:attrName>
                                        </p:attrNameLst>
                                      </p:cBhvr>
                                      <p:tavLst>
                                        <p:tav tm="0">
                                          <p:val>
                                            <p:strVal val="#ppt_y+1"/>
                                          </p:val>
                                        </p:tav>
                                        <p:tav tm="100000">
                                          <p:val>
                                            <p:strVal val="#ppt_y"/>
                                          </p:val>
                                        </p:tav>
                                      </p:tavLst>
                                    </p:anim>
                                  </p:childTnLst>
                                </p:cTn>
                              </p:par>
                            </p:childTnLst>
                          </p:cTn>
                        </p:par>
                        <p:par>
                          <p:cTn id="80" fill="hold">
                            <p:stCondLst>
                              <p:cond delay="500"/>
                            </p:stCondLst>
                            <p:childTnLst>
                              <p:par>
                                <p:cTn id="81" presetID="1" presetClass="entr" presetSubtype="0" fill="hold" nodeType="afterEffect">
                                  <p:stCondLst>
                                    <p:cond delay="0"/>
                                  </p:stCondLst>
                                  <p:childTnLst>
                                    <p:set>
                                      <p:cBhvr>
                                        <p:cTn id="82" dur="1" fill="hold">
                                          <p:stCondLst>
                                            <p:cond delay="0"/>
                                          </p:stCondLst>
                                        </p:cTn>
                                        <p:tgtEl>
                                          <p:spTgt spid="27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57">
                                            <p:txEl>
                                              <p:pRg st="0" end="0"/>
                                            </p:txEl>
                                          </p:spTgt>
                                        </p:tgtEl>
                                        <p:attrNameLst>
                                          <p:attrName>style.visibility</p:attrName>
                                        </p:attrNameLst>
                                      </p:cBhvr>
                                      <p:to>
                                        <p:strVal val="visible"/>
                                      </p:to>
                                    </p:set>
                                    <p:animEffect transition="in" filter="fade">
                                      <p:cBhvr>
                                        <p:cTn id="87" dur="500"/>
                                        <p:tgtEl>
                                          <p:spTgt spid="257">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257">
                                            <p:txEl>
                                              <p:pRg st="1" end="1"/>
                                            </p:txEl>
                                          </p:spTgt>
                                        </p:tgtEl>
                                        <p:attrNameLst>
                                          <p:attrName>style.visibility</p:attrName>
                                        </p:attrNameLst>
                                      </p:cBhvr>
                                      <p:to>
                                        <p:strVal val="visible"/>
                                      </p:to>
                                    </p:set>
                                    <p:animEffect transition="in" filter="fade">
                                      <p:cBhvr>
                                        <p:cTn id="92" dur="500"/>
                                        <p:tgtEl>
                                          <p:spTgt spid="257">
                                            <p:txEl>
                                              <p:pRg st="1" end="1"/>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257">
                                            <p:txEl>
                                              <p:pRg st="2" end="2"/>
                                            </p:txEl>
                                          </p:spTgt>
                                        </p:tgtEl>
                                        <p:attrNameLst>
                                          <p:attrName>style.visibility</p:attrName>
                                        </p:attrNameLst>
                                      </p:cBhvr>
                                      <p:to>
                                        <p:strVal val="visible"/>
                                      </p:to>
                                    </p:set>
                                    <p:animEffect transition="in" filter="fade">
                                      <p:cBhvr>
                                        <p:cTn id="97" dur="500"/>
                                        <p:tgtEl>
                                          <p:spTgt spid="257">
                                            <p:txEl>
                                              <p:pRg st="2" end="2"/>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257">
                                            <p:txEl>
                                              <p:pRg st="3" end="3"/>
                                            </p:txEl>
                                          </p:spTgt>
                                        </p:tgtEl>
                                        <p:attrNameLst>
                                          <p:attrName>style.visibility</p:attrName>
                                        </p:attrNameLst>
                                      </p:cBhvr>
                                      <p:to>
                                        <p:strVal val="visible"/>
                                      </p:to>
                                    </p:set>
                                    <p:animEffect transition="in" filter="fade">
                                      <p:cBhvr>
                                        <p:cTn id="102" dur="500"/>
                                        <p:tgtEl>
                                          <p:spTgt spid="2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 Placeholder 2"/>
          <p:cNvSpPr>
            <a:spLocks noGrp="1"/>
          </p:cNvSpPr>
          <p:nvPr>
            <p:ph type="body" idx="1"/>
          </p:nvPr>
        </p:nvSpPr>
        <p:spPr/>
        <p:txBody>
          <a:bodyPr/>
          <a:lstStyle/>
          <a:p>
            <a:r>
              <a:rPr lang="en-US" dirty="0"/>
              <a:t>https://blog.hubspot.com/website/fix-ssl-certificate-error</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1886289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p70"/>
          <p:cNvSpPr txBox="1">
            <a:spLocks noGrp="1"/>
          </p:cNvSpPr>
          <p:nvPr>
            <p:ph type="title"/>
          </p:nvPr>
        </p:nvSpPr>
        <p:spPr>
          <a:xfrm>
            <a:off x="581025" y="752792"/>
            <a:ext cx="8001000" cy="928687"/>
          </a:xfrm>
          <a:prstGeom prst="rect">
            <a:avLst/>
          </a:prstGeom>
          <a:noFill/>
          <a:ln>
            <a:noFill/>
          </a:ln>
        </p:spPr>
        <p:txBody>
          <a:bodyPr spcFirstLastPara="1" wrap="square" lIns="91425" tIns="45700" rIns="91425" bIns="45700" anchor="b" anchorCtr="0">
            <a:normAutofit/>
          </a:bodyPr>
          <a:lstStyle/>
          <a:p>
            <a:pPr marL="0" lvl="0" indent="0" algn="ctr" rtl="0">
              <a:lnSpc>
                <a:spcPct val="100000"/>
              </a:lnSpc>
              <a:spcBef>
                <a:spcPts val="0"/>
              </a:spcBef>
              <a:spcAft>
                <a:spcPts val="0"/>
              </a:spcAft>
              <a:buClr>
                <a:schemeClr val="lt1"/>
              </a:buClr>
              <a:buSzPts val="4800"/>
              <a:buFont typeface="Gill Sans"/>
              <a:buNone/>
            </a:pPr>
            <a:r>
              <a:rPr lang="en-US" sz="4800" b="0" i="0" u="none" dirty="0">
                <a:solidFill>
                  <a:schemeClr val="lt1"/>
                </a:solidFill>
                <a:latin typeface="Gill Sans"/>
                <a:ea typeface="Gill Sans"/>
                <a:cs typeface="Gill Sans"/>
                <a:sym typeface="Gill Sans"/>
              </a:rPr>
              <a:t>KERBEROS</a:t>
            </a:r>
            <a:endParaRPr dirty="0"/>
          </a:p>
        </p:txBody>
      </p:sp>
      <p:sp>
        <p:nvSpPr>
          <p:cNvPr id="878" name="Google Shape;878;p70"/>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18</a:t>
            </a:fld>
            <a:endParaRPr/>
          </a:p>
        </p:txBody>
      </p:sp>
      <p:pic>
        <p:nvPicPr>
          <p:cNvPr id="879" name="Google Shape;879;p70"/>
          <p:cNvPicPr preferRelativeResize="0"/>
          <p:nvPr/>
        </p:nvPicPr>
        <p:blipFill rotWithShape="1">
          <a:blip r:embed="rId3">
            <a:alphaModFix/>
          </a:blip>
          <a:srcRect/>
          <a:stretch/>
        </p:blipFill>
        <p:spPr>
          <a:xfrm>
            <a:off x="475469" y="1864677"/>
            <a:ext cx="3371850" cy="1954212"/>
          </a:xfrm>
          <a:prstGeom prst="rect">
            <a:avLst/>
          </a:prstGeom>
          <a:noFill/>
          <a:ln>
            <a:noFill/>
          </a:ln>
        </p:spPr>
      </p:pic>
      <p:pic>
        <p:nvPicPr>
          <p:cNvPr id="880" name="Google Shape;880;p70" descr="http://upload.wikimedia.org/wikipedia/commons/7/71/Hades-et-Cerberus-III.jpg"/>
          <p:cNvPicPr preferRelativeResize="0"/>
          <p:nvPr/>
        </p:nvPicPr>
        <p:blipFill rotWithShape="1">
          <a:blip r:embed="rId4">
            <a:alphaModFix/>
          </a:blip>
          <a:srcRect/>
          <a:stretch/>
        </p:blipFill>
        <p:spPr>
          <a:xfrm>
            <a:off x="6460319" y="1864677"/>
            <a:ext cx="2208212" cy="3506787"/>
          </a:xfrm>
          <a:prstGeom prst="rect">
            <a:avLst/>
          </a:prstGeom>
          <a:noFill/>
          <a:ln>
            <a:noFill/>
          </a:ln>
        </p:spPr>
      </p:pic>
      <p:pic>
        <p:nvPicPr>
          <p:cNvPr id="3" name="Picture 2">
            <a:extLst>
              <a:ext uri="{FF2B5EF4-FFF2-40B4-BE49-F238E27FC236}">
                <a16:creationId xmlns="" xmlns:a16="http://schemas.microsoft.com/office/drawing/2014/main" id="{7D087AE0-CA2B-482B-8B11-26DEFEB4EF83}"/>
              </a:ext>
            </a:extLst>
          </p:cNvPr>
          <p:cNvPicPr>
            <a:picLocks noChangeAspect="1"/>
          </p:cNvPicPr>
          <p:nvPr/>
        </p:nvPicPr>
        <p:blipFill rotWithShape="1">
          <a:blip r:embed="rId5"/>
          <a:srcRect t="6147" b="7190"/>
          <a:stretch/>
        </p:blipFill>
        <p:spPr>
          <a:xfrm>
            <a:off x="1823638" y="3818888"/>
            <a:ext cx="4670837" cy="303911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Usages of Kerberos</a:t>
            </a:r>
            <a:endParaRPr lang="en-US" dirty="0"/>
          </a:p>
        </p:txBody>
      </p:sp>
      <p:sp>
        <p:nvSpPr>
          <p:cNvPr id="3" name="Text Placeholder 2"/>
          <p:cNvSpPr>
            <a:spLocks noGrp="1"/>
          </p:cNvSpPr>
          <p:nvPr>
            <p:ph type="body" idx="1"/>
          </p:nvPr>
        </p:nvSpPr>
        <p:spPr>
          <a:xfrm>
            <a:off x="455068" y="2574845"/>
            <a:ext cx="8562808" cy="3630795"/>
          </a:xfrm>
        </p:spPr>
        <p:txBody>
          <a:bodyPr/>
          <a:lstStyle/>
          <a:p>
            <a:pPr algn="just"/>
            <a:r>
              <a:rPr lang="en-US" dirty="0"/>
              <a:t>Kerberos is used to authenticate entities requesting access to network resources, especially in large networks to support SSO. The protocol is used by default in many widely used networking systems. Some systems in which Kerberos support is incorporated or available include the following:</a:t>
            </a:r>
          </a:p>
          <a:p>
            <a:pPr lvl="1" algn="just">
              <a:buFont typeface="Arial" panose="020B0604020202020204" pitchFamily="34" charset="0"/>
              <a:buChar char="•"/>
            </a:pPr>
            <a:r>
              <a:rPr lang="en-US" sz="1400" dirty="0"/>
              <a:t>Amazon Web Services</a:t>
            </a:r>
          </a:p>
          <a:p>
            <a:pPr lvl="1" algn="just">
              <a:buFont typeface="Arial" panose="020B0604020202020204" pitchFamily="34" charset="0"/>
              <a:buChar char="•"/>
            </a:pPr>
            <a:r>
              <a:rPr lang="en-US" sz="1400" dirty="0"/>
              <a:t>Apple </a:t>
            </a:r>
            <a:r>
              <a:rPr lang="en-US" sz="1400" dirty="0" err="1"/>
              <a:t>macOS</a:t>
            </a:r>
            <a:endParaRPr lang="en-US" sz="1400" dirty="0"/>
          </a:p>
          <a:p>
            <a:pPr lvl="1" algn="just">
              <a:buFont typeface="Arial" panose="020B0604020202020204" pitchFamily="34" charset="0"/>
              <a:buChar char="•"/>
            </a:pPr>
            <a:r>
              <a:rPr lang="en-US" sz="1400" dirty="0"/>
              <a:t>Google Cloud</a:t>
            </a:r>
          </a:p>
          <a:p>
            <a:pPr lvl="1" algn="just">
              <a:buFont typeface="Arial" panose="020B0604020202020204" pitchFamily="34" charset="0"/>
              <a:buChar char="•"/>
            </a:pPr>
            <a:r>
              <a:rPr lang="en-US" sz="1400" dirty="0"/>
              <a:t>Hewlett Packard Unix</a:t>
            </a:r>
          </a:p>
          <a:p>
            <a:pPr lvl="1" algn="just">
              <a:buFont typeface="Arial" panose="020B0604020202020204" pitchFamily="34" charset="0"/>
              <a:buChar char="•"/>
            </a:pPr>
            <a:r>
              <a:rPr lang="en-US" sz="1400" dirty="0"/>
              <a:t>IBM Advanced Interactive </a:t>
            </a:r>
            <a:r>
              <a:rPr lang="en-US" sz="1400" dirty="0" err="1"/>
              <a:t>eXecutive</a:t>
            </a:r>
            <a:endParaRPr lang="en-US" sz="1400" dirty="0"/>
          </a:p>
          <a:p>
            <a:pPr lvl="1" algn="just">
              <a:buFont typeface="Arial" panose="020B0604020202020204" pitchFamily="34" charset="0"/>
              <a:buChar char="•"/>
            </a:pPr>
            <a:r>
              <a:rPr lang="en-US" sz="1400" dirty="0"/>
              <a:t>Microsoft Azure</a:t>
            </a:r>
          </a:p>
          <a:p>
            <a:pPr lvl="1" algn="just">
              <a:buFont typeface="Arial" panose="020B0604020202020204" pitchFamily="34" charset="0"/>
              <a:buChar char="•"/>
            </a:pPr>
            <a:r>
              <a:rPr lang="en-US" sz="1400" dirty="0"/>
              <a:t>Microsoft Windows Server and AD</a:t>
            </a:r>
          </a:p>
          <a:p>
            <a:pPr lvl="1" algn="just">
              <a:buFont typeface="Arial" panose="020B0604020202020204" pitchFamily="34" charset="0"/>
              <a:buChar char="•"/>
            </a:pPr>
            <a:r>
              <a:rPr lang="en-US" sz="1400" dirty="0"/>
              <a:t>Oracle Solaris</a:t>
            </a:r>
          </a:p>
          <a:p>
            <a:pPr lvl="1" algn="just">
              <a:buFont typeface="Arial" panose="020B0604020202020204" pitchFamily="34" charset="0"/>
              <a:buChar char="•"/>
            </a:pPr>
            <a:r>
              <a:rPr lang="en-US" sz="1400" dirty="0"/>
              <a:t>Red Hat Linux</a:t>
            </a:r>
          </a:p>
          <a:p>
            <a:pPr lvl="1" algn="just">
              <a:buFont typeface="Arial" panose="020B0604020202020204" pitchFamily="34" charset="0"/>
              <a:buChar char="•"/>
            </a:pPr>
            <a:r>
              <a:rPr lang="en-US" sz="1400" dirty="0"/>
              <a:t>FreeBSD</a:t>
            </a:r>
          </a:p>
          <a:p>
            <a:pPr lvl="1" algn="just">
              <a:buFont typeface="Arial" panose="020B0604020202020204" pitchFamily="34" charset="0"/>
              <a:buChar char="•"/>
            </a:pPr>
            <a:r>
              <a:rPr lang="en-US" sz="1400" dirty="0" err="1"/>
              <a:t>OpenBSD</a:t>
            </a:r>
            <a:endParaRPr lang="en-US" sz="1400" dirty="0"/>
          </a:p>
          <a:p>
            <a:pPr algn="just"/>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extLst>
      <p:ext uri="{BB962C8B-B14F-4D97-AF65-F5344CB8AC3E}">
        <p14:creationId xmlns:p14="http://schemas.microsoft.com/office/powerpoint/2010/main" val="1684251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84"/>
        <p:cNvGrpSpPr/>
        <p:nvPr/>
      </p:nvGrpSpPr>
      <p:grpSpPr>
        <a:xfrm>
          <a:off x="0" y="0"/>
          <a:ext cx="0" cy="0"/>
          <a:chOff x="0" y="0"/>
          <a:chExt cx="0" cy="0"/>
        </a:xfrm>
      </p:grpSpPr>
      <p:sp>
        <p:nvSpPr>
          <p:cNvPr id="885" name="Google Shape;885;p71"/>
          <p:cNvSpPr txBox="1">
            <a:spLocks noGrp="1"/>
          </p:cNvSpPr>
          <p:nvPr>
            <p:ph type="title"/>
          </p:nvPr>
        </p:nvSpPr>
        <p:spPr>
          <a:xfrm>
            <a:off x="785812" y="500062"/>
            <a:ext cx="7143750" cy="85725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KERBEROS</a:t>
            </a:r>
            <a:endParaRPr/>
          </a:p>
        </p:txBody>
      </p:sp>
      <p:sp>
        <p:nvSpPr>
          <p:cNvPr id="886" name="Google Shape;886;p71"/>
          <p:cNvSpPr txBox="1">
            <a:spLocks noGrp="1"/>
          </p:cNvSpPr>
          <p:nvPr>
            <p:ph type="body" idx="1"/>
          </p:nvPr>
        </p:nvSpPr>
        <p:spPr>
          <a:xfrm>
            <a:off x="785812" y="1714500"/>
            <a:ext cx="7672387" cy="4344987"/>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In Greek mythology, Kerberos is 3-headed dog that guards entrance to Hades</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“Wouldn’t it make more sense to guard the exit?”</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In security, Kerberos is an authentication system based on </a:t>
            </a:r>
            <a:r>
              <a:rPr lang="en-US" sz="2800" b="0" i="0" u="none">
                <a:solidFill>
                  <a:srgbClr val="FF0000"/>
                </a:solidFill>
                <a:latin typeface="Gill Sans"/>
                <a:ea typeface="Gill Sans"/>
                <a:cs typeface="Gill Sans"/>
                <a:sym typeface="Gill Sans"/>
              </a:rPr>
              <a:t>symmetric key crypto</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Originated at MIT</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Based on work by Needham and Schroeder</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Relies on a </a:t>
            </a:r>
            <a:r>
              <a:rPr lang="en-US" sz="2400" b="1" i="0" u="none" strike="noStrike" cap="none">
                <a:solidFill>
                  <a:srgbClr val="0000FF"/>
                </a:solidFill>
                <a:latin typeface="Gill Sans"/>
                <a:ea typeface="Gill Sans"/>
                <a:cs typeface="Gill Sans"/>
                <a:sym typeface="Gill Sans"/>
              </a:rPr>
              <a:t>Trusted Third Party (TTP)</a:t>
            </a:r>
            <a:endParaRPr/>
          </a:p>
        </p:txBody>
      </p:sp>
      <p:sp>
        <p:nvSpPr>
          <p:cNvPr id="887" name="Google Shape;887;p71"/>
          <p:cNvSpPr txBox="1"/>
          <p:nvPr/>
        </p:nvSpPr>
        <p:spPr>
          <a:xfrm>
            <a:off x="573088" y="6138862"/>
            <a:ext cx="6790446"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888" name="Google Shape;888;p71"/>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p72"/>
          <p:cNvSpPr txBox="1">
            <a:spLocks noGrp="1"/>
          </p:cNvSpPr>
          <p:nvPr>
            <p:ph type="title"/>
          </p:nvPr>
        </p:nvSpPr>
        <p:spPr>
          <a:xfrm>
            <a:off x="785812" y="304800"/>
            <a:ext cx="7143750" cy="10525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MOTIVATION FOR KERBEROS</a:t>
            </a:r>
            <a:endParaRPr/>
          </a:p>
        </p:txBody>
      </p:sp>
      <p:sp>
        <p:nvSpPr>
          <p:cNvPr id="894" name="Google Shape;894;p72"/>
          <p:cNvSpPr txBox="1">
            <a:spLocks noGrp="1"/>
          </p:cNvSpPr>
          <p:nvPr>
            <p:ph type="body" idx="1"/>
          </p:nvPr>
        </p:nvSpPr>
        <p:spPr>
          <a:xfrm>
            <a:off x="785812" y="1879092"/>
            <a:ext cx="7456487" cy="4421187"/>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Authentication using public keys</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FF0000"/>
                </a:solidFill>
                <a:latin typeface="Times"/>
                <a:ea typeface="Times"/>
                <a:cs typeface="Times"/>
                <a:sym typeface="Times"/>
              </a:rPr>
              <a:t>N</a:t>
            </a:r>
            <a:r>
              <a:rPr lang="en-US" sz="2400" b="0" i="0" u="none" strike="noStrike" cap="none" dirty="0">
                <a:solidFill>
                  <a:srgbClr val="FF0000"/>
                </a:solidFill>
                <a:latin typeface="Gill Sans"/>
                <a:ea typeface="Gill Sans"/>
                <a:cs typeface="Gill Sans"/>
                <a:sym typeface="Gill Sans"/>
              </a:rPr>
              <a:t> users ⇒ </a:t>
            </a:r>
            <a:r>
              <a:rPr lang="en-US" sz="2400" b="0" i="0" u="none" strike="noStrike" cap="none" dirty="0">
                <a:solidFill>
                  <a:srgbClr val="FF0000"/>
                </a:solidFill>
                <a:latin typeface="Times"/>
                <a:ea typeface="Times"/>
                <a:cs typeface="Times"/>
                <a:sym typeface="Times"/>
              </a:rPr>
              <a:t>N</a:t>
            </a:r>
            <a:r>
              <a:rPr lang="en-US" sz="2400" b="0" i="0" u="none" strike="noStrike" cap="none" dirty="0">
                <a:solidFill>
                  <a:srgbClr val="FF0000"/>
                </a:solidFill>
                <a:latin typeface="Gill Sans"/>
                <a:ea typeface="Gill Sans"/>
                <a:cs typeface="Gill Sans"/>
                <a:sym typeface="Gill Sans"/>
              </a:rPr>
              <a:t> key pairs</a:t>
            </a:r>
            <a:endParaRPr dirty="0"/>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Authentication using symmetric keys</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FF0000"/>
                </a:solidFill>
                <a:latin typeface="Times"/>
                <a:ea typeface="Times"/>
                <a:cs typeface="Times"/>
                <a:sym typeface="Times"/>
              </a:rPr>
              <a:t>N</a:t>
            </a:r>
            <a:r>
              <a:rPr lang="en-US" sz="2400" b="0" i="0" u="none" strike="noStrike" cap="none" dirty="0">
                <a:solidFill>
                  <a:srgbClr val="FF0000"/>
                </a:solidFill>
                <a:latin typeface="Gill Sans"/>
                <a:ea typeface="Gill Sans"/>
                <a:cs typeface="Gill Sans"/>
                <a:sym typeface="Gill Sans"/>
              </a:rPr>
              <a:t> users requires about </a:t>
            </a:r>
            <a:r>
              <a:rPr lang="en-US" sz="2400" b="0" i="0" u="none" strike="noStrike" cap="none" dirty="0">
                <a:solidFill>
                  <a:srgbClr val="FF0000"/>
                </a:solidFill>
                <a:latin typeface="Times"/>
                <a:ea typeface="Times"/>
                <a:cs typeface="Times"/>
                <a:sym typeface="Times"/>
              </a:rPr>
              <a:t>N</a:t>
            </a:r>
            <a:r>
              <a:rPr lang="en-US" sz="2400" b="0" i="0" u="none" strike="noStrike" cap="none" baseline="30000" dirty="0">
                <a:solidFill>
                  <a:srgbClr val="FF0000"/>
                </a:solidFill>
                <a:latin typeface="Times"/>
                <a:ea typeface="Times"/>
                <a:cs typeface="Times"/>
                <a:sym typeface="Times"/>
              </a:rPr>
              <a:t>2</a:t>
            </a:r>
            <a:r>
              <a:rPr lang="en-US" sz="2400" b="0" i="0" u="none" strike="noStrike" cap="none" dirty="0">
                <a:solidFill>
                  <a:srgbClr val="FF0000"/>
                </a:solidFill>
                <a:latin typeface="Gill Sans"/>
                <a:ea typeface="Gill Sans"/>
                <a:cs typeface="Gill Sans"/>
                <a:sym typeface="Gill Sans"/>
              </a:rPr>
              <a:t> keys</a:t>
            </a:r>
            <a:endParaRPr dirty="0"/>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Symmetric key case </a:t>
            </a:r>
            <a:r>
              <a:rPr lang="en-US" sz="2800" b="1" i="0" u="none" dirty="0">
                <a:solidFill>
                  <a:srgbClr val="0000FF"/>
                </a:solidFill>
                <a:latin typeface="Gill Sans"/>
                <a:ea typeface="Gill Sans"/>
                <a:cs typeface="Gill Sans"/>
                <a:sym typeface="Gill Sans"/>
              </a:rPr>
              <a:t>does not scale!</a:t>
            </a:r>
            <a:endParaRPr dirty="0"/>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dirty="0">
                <a:solidFill>
                  <a:srgbClr val="0000FF"/>
                </a:solidFill>
                <a:latin typeface="Gill Sans"/>
                <a:ea typeface="Gill Sans"/>
                <a:cs typeface="Gill Sans"/>
                <a:sym typeface="Gill Sans"/>
              </a:rPr>
              <a:t>Kerberos based on symmetric keys but only requires </a:t>
            </a:r>
            <a:r>
              <a:rPr lang="en-US" sz="2800" b="0" i="0" u="none" dirty="0">
                <a:solidFill>
                  <a:srgbClr val="FF0000"/>
                </a:solidFill>
                <a:latin typeface="Times"/>
                <a:ea typeface="Times"/>
                <a:cs typeface="Times"/>
                <a:sym typeface="Times"/>
              </a:rPr>
              <a:t>N</a:t>
            </a:r>
            <a:r>
              <a:rPr lang="en-US" sz="2800" b="0" i="0" u="none" dirty="0">
                <a:solidFill>
                  <a:srgbClr val="FF0000"/>
                </a:solidFill>
                <a:latin typeface="Gill Sans"/>
                <a:ea typeface="Gill Sans"/>
                <a:cs typeface="Gill Sans"/>
                <a:sym typeface="Gill Sans"/>
              </a:rPr>
              <a:t> keys for </a:t>
            </a:r>
            <a:r>
              <a:rPr lang="en-US" sz="2800" b="0" i="0" u="none" dirty="0">
                <a:solidFill>
                  <a:srgbClr val="FF0000"/>
                </a:solidFill>
                <a:latin typeface="Times"/>
                <a:ea typeface="Times"/>
                <a:cs typeface="Times"/>
                <a:sym typeface="Times"/>
              </a:rPr>
              <a:t>N</a:t>
            </a:r>
            <a:r>
              <a:rPr lang="en-US" sz="2800" b="0" i="0" u="none" dirty="0">
                <a:solidFill>
                  <a:srgbClr val="FF0000"/>
                </a:solidFill>
                <a:latin typeface="Gill Sans"/>
                <a:ea typeface="Gill Sans"/>
                <a:cs typeface="Gill Sans"/>
                <a:sym typeface="Gill Sans"/>
              </a:rPr>
              <a:t> users</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FF0000"/>
                </a:solidFill>
                <a:latin typeface="Gill Sans"/>
                <a:ea typeface="Gill Sans"/>
                <a:cs typeface="Gill Sans"/>
                <a:sym typeface="Gill Sans"/>
              </a:rPr>
              <a:t>But must rely on TTP</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0000FF"/>
                </a:solidFill>
                <a:latin typeface="Gill Sans"/>
                <a:ea typeface="Gill Sans"/>
                <a:cs typeface="Gill Sans"/>
                <a:sym typeface="Gill Sans"/>
              </a:rPr>
              <a:t>Advantage is that no PKI is required</a:t>
            </a:r>
            <a:endParaRPr dirty="0"/>
          </a:p>
        </p:txBody>
      </p:sp>
      <p:sp>
        <p:nvSpPr>
          <p:cNvPr id="895" name="Google Shape;895;p72"/>
          <p:cNvSpPr txBox="1"/>
          <p:nvPr/>
        </p:nvSpPr>
        <p:spPr>
          <a:xfrm>
            <a:off x="581024" y="5951537"/>
            <a:ext cx="6891337" cy="10525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896" name="Google Shape;896;p72"/>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00"/>
        <p:cNvGrpSpPr/>
        <p:nvPr/>
      </p:nvGrpSpPr>
      <p:grpSpPr>
        <a:xfrm>
          <a:off x="0" y="0"/>
          <a:ext cx="0" cy="0"/>
          <a:chOff x="0" y="0"/>
          <a:chExt cx="0" cy="0"/>
        </a:xfrm>
      </p:grpSpPr>
      <p:sp>
        <p:nvSpPr>
          <p:cNvPr id="901" name="Google Shape;901;p73"/>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KERBEROS KDC</a:t>
            </a:r>
            <a:endParaRPr/>
          </a:p>
        </p:txBody>
      </p:sp>
      <p:sp>
        <p:nvSpPr>
          <p:cNvPr id="902" name="Google Shape;902;p73"/>
          <p:cNvSpPr txBox="1">
            <a:spLocks noGrp="1"/>
          </p:cNvSpPr>
          <p:nvPr>
            <p:ph type="body" idx="1"/>
          </p:nvPr>
        </p:nvSpPr>
        <p:spPr>
          <a:xfrm>
            <a:off x="785812" y="1714500"/>
            <a:ext cx="7456487" cy="4643437"/>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Kerberos </a:t>
            </a:r>
            <a:r>
              <a:rPr lang="en-US" sz="2800" b="0" i="0" u="none">
                <a:solidFill>
                  <a:srgbClr val="0000FF"/>
                </a:solidFill>
                <a:latin typeface="Gill Sans"/>
                <a:ea typeface="Gill Sans"/>
                <a:cs typeface="Gill Sans"/>
                <a:sym typeface="Gill Sans"/>
              </a:rPr>
              <a:t>Key Distribution Center </a:t>
            </a:r>
            <a:r>
              <a:rPr lang="en-US" sz="2800" b="0" i="0" u="none">
                <a:solidFill>
                  <a:schemeClr val="dk2"/>
                </a:solidFill>
                <a:latin typeface="Gill Sans"/>
                <a:ea typeface="Gill Sans"/>
                <a:cs typeface="Gill Sans"/>
                <a:sym typeface="Gill Sans"/>
              </a:rPr>
              <a:t>or </a:t>
            </a:r>
            <a:r>
              <a:rPr lang="en-US" sz="2800" b="1" i="0" u="none">
                <a:solidFill>
                  <a:srgbClr val="0000FF"/>
                </a:solidFill>
                <a:latin typeface="Gill Sans"/>
                <a:ea typeface="Gill Sans"/>
                <a:cs typeface="Gill Sans"/>
                <a:sym typeface="Gill Sans"/>
              </a:rPr>
              <a:t>KDC</a:t>
            </a:r>
            <a:endParaRPr sz="2800" b="0" i="0" u="none">
              <a:solidFill>
                <a:srgbClr val="0000FF"/>
              </a:solidFill>
              <a:latin typeface="Gill Sans"/>
              <a:ea typeface="Gill Sans"/>
              <a:cs typeface="Gill Sans"/>
              <a:sym typeface="Gill Sans"/>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rgbClr val="0000FF"/>
                </a:solidFill>
                <a:latin typeface="Gill Sans"/>
                <a:ea typeface="Gill Sans"/>
                <a:cs typeface="Gill Sans"/>
                <a:sym typeface="Gill Sans"/>
              </a:rPr>
              <a:t>Acts as a TTP</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TTP must not be compromised!</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rgbClr val="0000FF"/>
                </a:solidFill>
                <a:latin typeface="Gill Sans"/>
                <a:ea typeface="Gill Sans"/>
                <a:cs typeface="Gill Sans"/>
                <a:sym typeface="Gill Sans"/>
              </a:rPr>
              <a:t>KDC shares symmetric key </a:t>
            </a:r>
            <a:r>
              <a:rPr lang="en-US" sz="2400" b="0" i="0" u="none" strike="noStrike" cap="none">
                <a:solidFill>
                  <a:schemeClr val="dk2"/>
                </a:solidFill>
                <a:latin typeface="Times"/>
                <a:ea typeface="Times"/>
                <a:cs typeface="Times"/>
                <a:sym typeface="Times"/>
              </a:rPr>
              <a:t>K</a:t>
            </a:r>
            <a:r>
              <a:rPr lang="en-US" sz="2400" b="0" i="0" u="none" strike="noStrike" cap="none" baseline="-25000">
                <a:solidFill>
                  <a:schemeClr val="dk2"/>
                </a:solidFill>
                <a:latin typeface="Times"/>
                <a:ea typeface="Times"/>
                <a:cs typeface="Times"/>
                <a:sym typeface="Times"/>
              </a:rPr>
              <a:t>A</a:t>
            </a:r>
            <a:r>
              <a:rPr lang="en-US" sz="2400" b="0" i="0" u="none" strike="noStrike" cap="none">
                <a:solidFill>
                  <a:schemeClr val="dk2"/>
                </a:solidFill>
                <a:latin typeface="Gill Sans"/>
                <a:ea typeface="Gill Sans"/>
                <a:cs typeface="Gill Sans"/>
                <a:sym typeface="Gill Sans"/>
              </a:rPr>
              <a:t> with Alice, key </a:t>
            </a:r>
            <a:r>
              <a:rPr lang="en-US" sz="2400" b="0" i="0" u="none" strike="noStrike" cap="none">
                <a:solidFill>
                  <a:schemeClr val="dk2"/>
                </a:solidFill>
                <a:latin typeface="Times"/>
                <a:ea typeface="Times"/>
                <a:cs typeface="Times"/>
                <a:sym typeface="Times"/>
              </a:rPr>
              <a:t>K</a:t>
            </a:r>
            <a:r>
              <a:rPr lang="en-US" sz="2400" b="0" i="0" u="none" strike="noStrike" cap="none" baseline="-25000">
                <a:solidFill>
                  <a:schemeClr val="dk2"/>
                </a:solidFill>
                <a:latin typeface="Times"/>
                <a:ea typeface="Times"/>
                <a:cs typeface="Times"/>
                <a:sym typeface="Times"/>
              </a:rPr>
              <a:t>B</a:t>
            </a:r>
            <a:r>
              <a:rPr lang="en-US" sz="2400" b="0" i="0" u="none" strike="noStrike" cap="none">
                <a:solidFill>
                  <a:schemeClr val="dk2"/>
                </a:solidFill>
                <a:latin typeface="Gill Sans"/>
                <a:ea typeface="Gill Sans"/>
                <a:cs typeface="Gill Sans"/>
                <a:sym typeface="Gill Sans"/>
              </a:rPr>
              <a:t> with Bob, key </a:t>
            </a:r>
            <a:r>
              <a:rPr lang="en-US" sz="2400" b="0" i="0" u="none" strike="noStrike" cap="none">
                <a:solidFill>
                  <a:schemeClr val="dk2"/>
                </a:solidFill>
                <a:latin typeface="Times"/>
                <a:ea typeface="Times"/>
                <a:cs typeface="Times"/>
                <a:sym typeface="Times"/>
              </a:rPr>
              <a:t>K</a:t>
            </a:r>
            <a:r>
              <a:rPr lang="en-US" sz="2400" b="0" i="0" u="none" strike="noStrike" cap="none" baseline="-25000">
                <a:solidFill>
                  <a:schemeClr val="dk2"/>
                </a:solidFill>
                <a:latin typeface="Times"/>
                <a:ea typeface="Times"/>
                <a:cs typeface="Times"/>
                <a:sym typeface="Times"/>
              </a:rPr>
              <a:t>C</a:t>
            </a:r>
            <a:r>
              <a:rPr lang="en-US" sz="2400" b="0" i="0" u="none" strike="noStrike" cap="none">
                <a:solidFill>
                  <a:schemeClr val="dk2"/>
                </a:solidFill>
                <a:latin typeface="Gill Sans"/>
                <a:ea typeface="Gill Sans"/>
                <a:cs typeface="Gill Sans"/>
                <a:sym typeface="Gill Sans"/>
              </a:rPr>
              <a:t> with Carol, etc.</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rgbClr val="0000FF"/>
                </a:solidFill>
                <a:latin typeface="Gill Sans"/>
                <a:ea typeface="Gill Sans"/>
                <a:cs typeface="Gill Sans"/>
                <a:sym typeface="Gill Sans"/>
              </a:rPr>
              <a:t>Master key </a:t>
            </a:r>
            <a:r>
              <a:rPr lang="en-US" sz="2400" b="0" i="0" u="none" strike="noStrike" cap="none">
                <a:solidFill>
                  <a:srgbClr val="0000FF"/>
                </a:solidFill>
                <a:latin typeface="Times"/>
                <a:ea typeface="Times"/>
                <a:cs typeface="Times"/>
                <a:sym typeface="Times"/>
              </a:rPr>
              <a:t>K</a:t>
            </a:r>
            <a:r>
              <a:rPr lang="en-US" sz="2400" b="0" i="0" u="none" strike="noStrike" cap="none" baseline="-25000">
                <a:solidFill>
                  <a:srgbClr val="0000FF"/>
                </a:solidFill>
                <a:latin typeface="Times"/>
                <a:ea typeface="Times"/>
                <a:cs typeface="Times"/>
                <a:sym typeface="Times"/>
              </a:rPr>
              <a:t>KDC</a:t>
            </a:r>
            <a:r>
              <a:rPr lang="en-US" sz="2400" b="0" i="0" u="none" strike="noStrike" cap="none">
                <a:solidFill>
                  <a:srgbClr val="0000FF"/>
                </a:solidFill>
                <a:latin typeface="Gill Sans"/>
                <a:ea typeface="Gill Sans"/>
                <a:cs typeface="Gill Sans"/>
                <a:sym typeface="Gill Sans"/>
              </a:rPr>
              <a:t> known only to KDC</a:t>
            </a:r>
            <a:endParaRPr sz="2400" b="0" i="0" u="none" strike="noStrike" cap="none" baseline="-25000">
              <a:solidFill>
                <a:srgbClr val="0000FF"/>
              </a:solidFill>
              <a:latin typeface="Gill Sans"/>
              <a:ea typeface="Gill Sans"/>
              <a:cs typeface="Gill Sans"/>
              <a:sym typeface="Gill Sans"/>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KDC enables authentication and session keys</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rgbClr val="0000FF"/>
                </a:solidFill>
                <a:latin typeface="Gill Sans"/>
                <a:ea typeface="Gill Sans"/>
                <a:cs typeface="Gill Sans"/>
                <a:sym typeface="Gill Sans"/>
              </a:rPr>
              <a:t>Keys for confidentiality and integrity</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In practice, </a:t>
            </a:r>
            <a:r>
              <a:rPr lang="en-US" sz="2400" b="0" i="0" u="none" strike="noStrike" cap="none">
                <a:solidFill>
                  <a:srgbClr val="0000FF"/>
                </a:solidFill>
                <a:latin typeface="Gill Sans"/>
                <a:ea typeface="Gill Sans"/>
                <a:cs typeface="Gill Sans"/>
                <a:sym typeface="Gill Sans"/>
              </a:rPr>
              <a:t>the crypto algorithm used is DES</a:t>
            </a:r>
            <a:endParaRPr/>
          </a:p>
        </p:txBody>
      </p:sp>
      <p:sp>
        <p:nvSpPr>
          <p:cNvPr id="903" name="Google Shape;903;p73"/>
          <p:cNvSpPr txBox="1"/>
          <p:nvPr/>
        </p:nvSpPr>
        <p:spPr>
          <a:xfrm>
            <a:off x="581025" y="6127749"/>
            <a:ext cx="6891337" cy="9064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904" name="Google Shape;904;p73"/>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p74"/>
          <p:cNvSpPr txBox="1">
            <a:spLocks noGrp="1"/>
          </p:cNvSpPr>
          <p:nvPr>
            <p:ph type="title"/>
          </p:nvPr>
        </p:nvSpPr>
        <p:spPr>
          <a:xfrm>
            <a:off x="785812" y="381000"/>
            <a:ext cx="7143750" cy="9763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KERBEROS TICKETS</a:t>
            </a:r>
            <a:endParaRPr/>
          </a:p>
        </p:txBody>
      </p:sp>
      <p:sp>
        <p:nvSpPr>
          <p:cNvPr id="910" name="Google Shape;910;p74"/>
          <p:cNvSpPr txBox="1">
            <a:spLocks noGrp="1"/>
          </p:cNvSpPr>
          <p:nvPr>
            <p:ph type="body" idx="1"/>
          </p:nvPr>
        </p:nvSpPr>
        <p:spPr>
          <a:xfrm>
            <a:off x="785812" y="1714500"/>
            <a:ext cx="7672387" cy="4457700"/>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75000"/>
              </a:lnSpc>
              <a:spcBef>
                <a:spcPts val="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KDC issues a </a:t>
            </a:r>
            <a:r>
              <a:rPr lang="en-US" sz="2800" b="0" i="0" u="none" dirty="0">
                <a:solidFill>
                  <a:srgbClr val="0000FF"/>
                </a:solidFill>
                <a:latin typeface="Gill Sans"/>
                <a:ea typeface="Gill Sans"/>
                <a:cs typeface="Gill Sans"/>
                <a:sym typeface="Gill Sans"/>
              </a:rPr>
              <a:t>ticket</a:t>
            </a:r>
            <a:r>
              <a:rPr lang="en-US" sz="2800" b="0" i="0" u="none" dirty="0">
                <a:solidFill>
                  <a:schemeClr val="dk2"/>
                </a:solidFill>
                <a:latin typeface="Gill Sans"/>
                <a:ea typeface="Gill Sans"/>
                <a:cs typeface="Gill Sans"/>
                <a:sym typeface="Gill Sans"/>
              </a:rPr>
              <a:t> containing info needed to access a network resource</a:t>
            </a:r>
            <a:endParaRPr dirty="0"/>
          </a:p>
          <a:p>
            <a:pPr marL="304800" marR="0" lvl="0" indent="-304800" algn="l" rtl="0">
              <a:lnSpc>
                <a:spcPct val="75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KDC also issues </a:t>
            </a:r>
            <a:r>
              <a:rPr lang="en-US" sz="2800" b="0" i="0" u="none" dirty="0">
                <a:solidFill>
                  <a:srgbClr val="0000FF"/>
                </a:solidFill>
                <a:latin typeface="Gill Sans"/>
                <a:ea typeface="Gill Sans"/>
                <a:cs typeface="Gill Sans"/>
                <a:sym typeface="Gill Sans"/>
              </a:rPr>
              <a:t>ticket-granting tickets </a:t>
            </a:r>
            <a:r>
              <a:rPr lang="en-US" sz="2800" b="0" i="0" u="none" dirty="0">
                <a:solidFill>
                  <a:schemeClr val="dk2"/>
                </a:solidFill>
                <a:latin typeface="Gill Sans"/>
                <a:ea typeface="Gill Sans"/>
                <a:cs typeface="Gill Sans"/>
                <a:sym typeface="Gill Sans"/>
              </a:rPr>
              <a:t>or </a:t>
            </a:r>
            <a:r>
              <a:rPr lang="en-US" sz="2800" b="1" i="0" u="none" dirty="0">
                <a:solidFill>
                  <a:srgbClr val="0000FF"/>
                </a:solidFill>
                <a:latin typeface="Times"/>
                <a:ea typeface="Times"/>
                <a:cs typeface="Times"/>
                <a:sym typeface="Times"/>
              </a:rPr>
              <a:t>TGT</a:t>
            </a:r>
            <a:r>
              <a:rPr lang="en-US" sz="2800" b="1" i="0" u="none" dirty="0">
                <a:solidFill>
                  <a:srgbClr val="0000FF"/>
                </a:solidFill>
                <a:latin typeface="Gill Sans"/>
                <a:ea typeface="Gill Sans"/>
                <a:cs typeface="Gill Sans"/>
                <a:sym typeface="Gill Sans"/>
              </a:rPr>
              <a:t>s</a:t>
            </a:r>
            <a:r>
              <a:rPr lang="en-US" sz="2800" b="0" i="0" u="none" dirty="0">
                <a:solidFill>
                  <a:schemeClr val="dk2"/>
                </a:solidFill>
                <a:latin typeface="Gill Sans"/>
                <a:ea typeface="Gill Sans"/>
                <a:cs typeface="Gill Sans"/>
                <a:sym typeface="Gill Sans"/>
              </a:rPr>
              <a:t> that are used to obtain tickets</a:t>
            </a:r>
            <a:endParaRPr dirty="0"/>
          </a:p>
          <a:p>
            <a:pPr marL="304800" marR="0" lvl="0" indent="-304800" algn="l" rtl="0">
              <a:lnSpc>
                <a:spcPct val="75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Each </a:t>
            </a:r>
            <a:r>
              <a:rPr lang="en-US" sz="2800" b="0" i="0" u="none" dirty="0">
                <a:solidFill>
                  <a:schemeClr val="dk2"/>
                </a:solidFill>
                <a:latin typeface="Times"/>
                <a:ea typeface="Times"/>
                <a:cs typeface="Times"/>
                <a:sym typeface="Times"/>
              </a:rPr>
              <a:t>TGT</a:t>
            </a:r>
            <a:r>
              <a:rPr lang="en-US" sz="2800" b="0" i="0" u="none" dirty="0">
                <a:solidFill>
                  <a:schemeClr val="dk2"/>
                </a:solidFill>
                <a:latin typeface="Gill Sans"/>
                <a:ea typeface="Gill Sans"/>
                <a:cs typeface="Gill Sans"/>
                <a:sym typeface="Gill Sans"/>
              </a:rPr>
              <a:t> contains</a:t>
            </a:r>
            <a:endParaRPr dirty="0"/>
          </a:p>
          <a:p>
            <a:pPr marL="628650" marR="0" lvl="1" indent="-304800" algn="l" rtl="0">
              <a:lnSpc>
                <a:spcPct val="75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Session key</a:t>
            </a:r>
            <a:endParaRPr dirty="0"/>
          </a:p>
          <a:p>
            <a:pPr marL="628650" marR="0" lvl="1" indent="-304800" algn="l" rtl="0">
              <a:lnSpc>
                <a:spcPct val="75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User’s ID</a:t>
            </a:r>
            <a:endParaRPr dirty="0"/>
          </a:p>
          <a:p>
            <a:pPr marL="628650" marR="0" lvl="1" indent="-304800" algn="l" rtl="0">
              <a:lnSpc>
                <a:spcPct val="75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Expiration time</a:t>
            </a:r>
            <a:endParaRPr dirty="0"/>
          </a:p>
          <a:p>
            <a:pPr marL="304800" marR="0" lvl="0" indent="-304800" algn="l" rtl="0">
              <a:lnSpc>
                <a:spcPct val="75000"/>
              </a:lnSpc>
              <a:spcBef>
                <a:spcPts val="1160"/>
              </a:spcBef>
              <a:spcAft>
                <a:spcPts val="0"/>
              </a:spcAft>
              <a:buClr>
                <a:schemeClr val="accent2"/>
              </a:buClr>
              <a:buSzPts val="2576"/>
              <a:buFont typeface="Noto Sans Symbols"/>
              <a:buChar char="◼"/>
            </a:pPr>
            <a:r>
              <a:rPr lang="en-US" sz="2800" b="0" i="0" u="none" dirty="0">
                <a:solidFill>
                  <a:srgbClr val="0000FF"/>
                </a:solidFill>
                <a:latin typeface="Gill Sans"/>
                <a:ea typeface="Gill Sans"/>
                <a:cs typeface="Gill Sans"/>
                <a:sym typeface="Gill Sans"/>
              </a:rPr>
              <a:t>Every </a:t>
            </a:r>
            <a:r>
              <a:rPr lang="en-US" sz="2800" b="0" i="0" u="none" dirty="0">
                <a:solidFill>
                  <a:srgbClr val="0000FF"/>
                </a:solidFill>
                <a:latin typeface="Times"/>
                <a:ea typeface="Times"/>
                <a:cs typeface="Times"/>
                <a:sym typeface="Times"/>
              </a:rPr>
              <a:t>TGT</a:t>
            </a:r>
            <a:r>
              <a:rPr lang="en-US" sz="2800" b="0" i="0" u="none" dirty="0">
                <a:solidFill>
                  <a:srgbClr val="0000FF"/>
                </a:solidFill>
                <a:latin typeface="Gill Sans"/>
                <a:ea typeface="Gill Sans"/>
                <a:cs typeface="Gill Sans"/>
                <a:sym typeface="Gill Sans"/>
              </a:rPr>
              <a:t> is encrypted with </a:t>
            </a:r>
            <a:r>
              <a:rPr lang="en-US" sz="2800" b="0" i="0" u="none" dirty="0">
                <a:solidFill>
                  <a:srgbClr val="0000FF"/>
                </a:solidFill>
                <a:latin typeface="Times"/>
                <a:ea typeface="Times"/>
                <a:cs typeface="Times"/>
                <a:sym typeface="Times"/>
              </a:rPr>
              <a:t>K</a:t>
            </a:r>
            <a:r>
              <a:rPr lang="en-US" sz="2800" b="0" i="0" u="none" baseline="-25000" dirty="0">
                <a:solidFill>
                  <a:srgbClr val="0000FF"/>
                </a:solidFill>
                <a:latin typeface="Times"/>
                <a:ea typeface="Times"/>
                <a:cs typeface="Times"/>
                <a:sym typeface="Times"/>
              </a:rPr>
              <a:t>KDC</a:t>
            </a:r>
            <a:endParaRPr sz="2800" b="0" i="0" u="none" dirty="0">
              <a:solidFill>
                <a:srgbClr val="0000FF"/>
              </a:solidFill>
              <a:latin typeface="Gill Sans"/>
              <a:ea typeface="Gill Sans"/>
              <a:cs typeface="Gill Sans"/>
              <a:sym typeface="Gill Sans"/>
            </a:endParaRPr>
          </a:p>
          <a:p>
            <a:pPr marL="628650" marR="0" lvl="1" indent="-304800" algn="l" rtl="0">
              <a:lnSpc>
                <a:spcPct val="75000"/>
              </a:lnSpc>
              <a:spcBef>
                <a:spcPts val="1080"/>
              </a:spcBef>
              <a:spcAft>
                <a:spcPts val="0"/>
              </a:spcAft>
              <a:buClr>
                <a:schemeClr val="accent2"/>
              </a:buClr>
              <a:buSzPts val="2208"/>
              <a:buFont typeface="Noto Sans Symbols"/>
              <a:buChar char="◼"/>
            </a:pPr>
            <a:r>
              <a:rPr lang="en-US" sz="2400" b="0" i="0" u="none" strike="noStrike" cap="none" dirty="0">
                <a:solidFill>
                  <a:srgbClr val="0000FF"/>
                </a:solidFill>
                <a:latin typeface="Times"/>
                <a:ea typeface="Times"/>
                <a:cs typeface="Times"/>
                <a:sym typeface="Times"/>
              </a:rPr>
              <a:t>TGT</a:t>
            </a:r>
            <a:r>
              <a:rPr lang="en-US" sz="2400" b="0" i="0" u="none" strike="noStrike" cap="none" dirty="0">
                <a:solidFill>
                  <a:srgbClr val="0000FF"/>
                </a:solidFill>
                <a:latin typeface="Gill Sans"/>
                <a:ea typeface="Gill Sans"/>
                <a:cs typeface="Gill Sans"/>
                <a:sym typeface="Gill Sans"/>
              </a:rPr>
              <a:t> can only be read by the KDC</a:t>
            </a:r>
            <a:endParaRPr dirty="0"/>
          </a:p>
        </p:txBody>
      </p:sp>
      <p:sp>
        <p:nvSpPr>
          <p:cNvPr id="911" name="Google Shape;911;p74"/>
          <p:cNvSpPr txBox="1"/>
          <p:nvPr/>
        </p:nvSpPr>
        <p:spPr>
          <a:xfrm>
            <a:off x="581024" y="5951537"/>
            <a:ext cx="6971919" cy="97631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912" name="Google Shape;912;p74"/>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p75"/>
          <p:cNvSpPr txBox="1">
            <a:spLocks noGrp="1"/>
          </p:cNvSpPr>
          <p:nvPr>
            <p:ph type="title"/>
          </p:nvPr>
        </p:nvSpPr>
        <p:spPr>
          <a:xfrm>
            <a:off x="581025" y="687388"/>
            <a:ext cx="7989887" cy="841374"/>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dirty="0">
                <a:solidFill>
                  <a:schemeClr val="lt1"/>
                </a:solidFill>
                <a:latin typeface="Gill Sans"/>
                <a:ea typeface="Gill Sans"/>
                <a:cs typeface="Gill Sans"/>
                <a:sym typeface="Gill Sans"/>
              </a:rPr>
              <a:t>KERBERIZED LOGIN</a:t>
            </a:r>
            <a:endParaRPr dirty="0"/>
          </a:p>
        </p:txBody>
      </p:sp>
      <p:sp>
        <p:nvSpPr>
          <p:cNvPr id="918" name="Google Shape;918;p75"/>
          <p:cNvSpPr txBox="1">
            <a:spLocks noGrp="1"/>
          </p:cNvSpPr>
          <p:nvPr>
            <p:ph type="body" idx="1"/>
          </p:nvPr>
        </p:nvSpPr>
        <p:spPr>
          <a:xfrm>
            <a:off x="785812" y="1719262"/>
            <a:ext cx="7900987" cy="4411662"/>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Alice enters her password</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Alice’s workstation</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Derives </a:t>
            </a:r>
            <a:r>
              <a:rPr lang="en-US" sz="2400" b="0" i="0" u="none" strike="noStrike" cap="none">
                <a:solidFill>
                  <a:schemeClr val="dk2"/>
                </a:solidFill>
                <a:latin typeface="Times"/>
                <a:ea typeface="Times"/>
                <a:cs typeface="Times"/>
                <a:sym typeface="Times"/>
              </a:rPr>
              <a:t>K</a:t>
            </a:r>
            <a:r>
              <a:rPr lang="en-US" sz="2400" b="0" i="0" u="none" strike="noStrike" cap="none" baseline="-25000">
                <a:solidFill>
                  <a:schemeClr val="dk2"/>
                </a:solidFill>
                <a:latin typeface="Times"/>
                <a:ea typeface="Times"/>
                <a:cs typeface="Times"/>
                <a:sym typeface="Times"/>
              </a:rPr>
              <a:t>A</a:t>
            </a:r>
            <a:r>
              <a:rPr lang="en-US" sz="2400" b="0" i="0" u="none" strike="noStrike" cap="none">
                <a:solidFill>
                  <a:schemeClr val="dk2"/>
                </a:solidFill>
                <a:latin typeface="Gill Sans"/>
                <a:ea typeface="Gill Sans"/>
                <a:cs typeface="Gill Sans"/>
                <a:sym typeface="Gill Sans"/>
              </a:rPr>
              <a:t> from Alice’s password</a:t>
            </a:r>
            <a:endParaRPr/>
          </a:p>
          <a:p>
            <a:pPr marL="628650" marR="0" lvl="1" indent="-304800" algn="l" rtl="0">
              <a:lnSpc>
                <a:spcPct val="100000"/>
              </a:lnSpc>
              <a:spcBef>
                <a:spcPts val="1080"/>
              </a:spcBef>
              <a:spcAft>
                <a:spcPts val="0"/>
              </a:spcAft>
              <a:buClr>
                <a:schemeClr val="accent2"/>
              </a:buClr>
              <a:buSzPts val="2208"/>
              <a:buFont typeface="Noto Sans Symbols"/>
              <a:buChar char="◼"/>
            </a:pPr>
            <a:r>
              <a:rPr lang="en-US" sz="2400" b="0" i="0" u="none" strike="noStrike" cap="none">
                <a:solidFill>
                  <a:schemeClr val="dk2"/>
                </a:solidFill>
                <a:latin typeface="Gill Sans"/>
                <a:ea typeface="Gill Sans"/>
                <a:cs typeface="Gill Sans"/>
                <a:sym typeface="Gill Sans"/>
              </a:rPr>
              <a:t>Uses </a:t>
            </a:r>
            <a:r>
              <a:rPr lang="en-US" sz="2400" b="0" i="0" u="none" strike="noStrike" cap="none">
                <a:solidFill>
                  <a:schemeClr val="dk2"/>
                </a:solidFill>
                <a:latin typeface="Times"/>
                <a:ea typeface="Times"/>
                <a:cs typeface="Times"/>
                <a:sym typeface="Times"/>
              </a:rPr>
              <a:t>K</a:t>
            </a:r>
            <a:r>
              <a:rPr lang="en-US" sz="2400" b="0" i="0" u="none" strike="noStrike" cap="none" baseline="-25000">
                <a:solidFill>
                  <a:schemeClr val="dk2"/>
                </a:solidFill>
                <a:latin typeface="Times"/>
                <a:ea typeface="Times"/>
                <a:cs typeface="Times"/>
                <a:sym typeface="Times"/>
              </a:rPr>
              <a:t>A</a:t>
            </a:r>
            <a:r>
              <a:rPr lang="en-US" sz="2400" b="0" i="0" u="none" strike="noStrike" cap="none">
                <a:solidFill>
                  <a:schemeClr val="dk2"/>
                </a:solidFill>
                <a:latin typeface="Gill Sans"/>
                <a:ea typeface="Gill Sans"/>
                <a:cs typeface="Gill Sans"/>
                <a:sym typeface="Gill Sans"/>
              </a:rPr>
              <a:t> to get </a:t>
            </a:r>
            <a:r>
              <a:rPr lang="en-US" sz="2400" b="0" i="0" u="none" strike="noStrike" cap="none">
                <a:solidFill>
                  <a:schemeClr val="dk2"/>
                </a:solidFill>
                <a:latin typeface="Times"/>
                <a:ea typeface="Times"/>
                <a:cs typeface="Times"/>
                <a:sym typeface="Times"/>
              </a:rPr>
              <a:t>TGT</a:t>
            </a:r>
            <a:r>
              <a:rPr lang="en-US" sz="2400" b="0" i="0" u="none" strike="noStrike" cap="none">
                <a:solidFill>
                  <a:schemeClr val="dk2"/>
                </a:solidFill>
                <a:latin typeface="Gill Sans"/>
                <a:ea typeface="Gill Sans"/>
                <a:cs typeface="Gill Sans"/>
                <a:sym typeface="Gill Sans"/>
              </a:rPr>
              <a:t> for Alice from the KDC</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0" i="0" u="none">
                <a:solidFill>
                  <a:schemeClr val="dk2"/>
                </a:solidFill>
                <a:latin typeface="Gill Sans"/>
                <a:ea typeface="Gill Sans"/>
                <a:cs typeface="Gill Sans"/>
                <a:sym typeface="Gill Sans"/>
              </a:rPr>
              <a:t>Alice can then use her </a:t>
            </a:r>
            <a:r>
              <a:rPr lang="en-US" sz="2800" b="0" i="0" u="none">
                <a:solidFill>
                  <a:schemeClr val="dk2"/>
                </a:solidFill>
                <a:latin typeface="Times"/>
                <a:ea typeface="Times"/>
                <a:cs typeface="Times"/>
                <a:sym typeface="Times"/>
              </a:rPr>
              <a:t>TGT</a:t>
            </a:r>
            <a:r>
              <a:rPr lang="en-US" sz="2800" b="0" i="0" u="none">
                <a:solidFill>
                  <a:schemeClr val="dk2"/>
                </a:solidFill>
                <a:latin typeface="Gill Sans"/>
                <a:ea typeface="Gill Sans"/>
                <a:cs typeface="Gill Sans"/>
                <a:sym typeface="Gill Sans"/>
              </a:rPr>
              <a:t> (credentials) to securely access network resources</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1" i="0" u="none">
                <a:solidFill>
                  <a:srgbClr val="0000FF"/>
                </a:solidFill>
                <a:latin typeface="Gill Sans"/>
                <a:ea typeface="Gill Sans"/>
                <a:cs typeface="Gill Sans"/>
                <a:sym typeface="Gill Sans"/>
              </a:rPr>
              <a:t>Plus:</a:t>
            </a:r>
            <a:r>
              <a:rPr lang="en-US" sz="2800" b="0" i="0" u="none">
                <a:solidFill>
                  <a:schemeClr val="dk2"/>
                </a:solidFill>
                <a:latin typeface="Gill Sans"/>
                <a:ea typeface="Gill Sans"/>
                <a:cs typeface="Gill Sans"/>
                <a:sym typeface="Gill Sans"/>
              </a:rPr>
              <a:t> Security is transparent to Alice</a:t>
            </a:r>
            <a:endParaRPr/>
          </a:p>
          <a:p>
            <a:pPr marL="304800" marR="0" lvl="0" indent="-304800" algn="l" rtl="0">
              <a:lnSpc>
                <a:spcPct val="100000"/>
              </a:lnSpc>
              <a:spcBef>
                <a:spcPts val="1160"/>
              </a:spcBef>
              <a:spcAft>
                <a:spcPts val="0"/>
              </a:spcAft>
              <a:buClr>
                <a:schemeClr val="accent2"/>
              </a:buClr>
              <a:buSzPts val="2576"/>
              <a:buFont typeface="Noto Sans Symbols"/>
              <a:buChar char="◼"/>
            </a:pPr>
            <a:r>
              <a:rPr lang="en-US" sz="2800" b="1" i="0" u="none">
                <a:solidFill>
                  <a:srgbClr val="0000FF"/>
                </a:solidFill>
                <a:latin typeface="Gill Sans"/>
                <a:ea typeface="Gill Sans"/>
                <a:cs typeface="Gill Sans"/>
                <a:sym typeface="Gill Sans"/>
              </a:rPr>
              <a:t>Minus:</a:t>
            </a:r>
            <a:r>
              <a:rPr lang="en-US" sz="2800" b="0" i="0" u="none">
                <a:solidFill>
                  <a:schemeClr val="dk2"/>
                </a:solidFill>
                <a:latin typeface="Gill Sans"/>
                <a:ea typeface="Gill Sans"/>
                <a:cs typeface="Gill Sans"/>
                <a:sym typeface="Gill Sans"/>
              </a:rPr>
              <a:t> KDC must be secure --- it’s trusted!</a:t>
            </a:r>
            <a:endParaRPr/>
          </a:p>
        </p:txBody>
      </p:sp>
      <p:sp>
        <p:nvSpPr>
          <p:cNvPr id="919" name="Google Shape;919;p75"/>
          <p:cNvSpPr txBox="1"/>
          <p:nvPr/>
        </p:nvSpPr>
        <p:spPr>
          <a:xfrm>
            <a:off x="581024" y="5951537"/>
            <a:ext cx="6642735" cy="9064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920" name="Google Shape;920;p75"/>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24"/>
        <p:cNvGrpSpPr/>
        <p:nvPr/>
      </p:nvGrpSpPr>
      <p:grpSpPr>
        <a:xfrm>
          <a:off x="0" y="0"/>
          <a:ext cx="0" cy="0"/>
          <a:chOff x="0" y="0"/>
          <a:chExt cx="0" cy="0"/>
        </a:xfrm>
      </p:grpSpPr>
      <p:sp>
        <p:nvSpPr>
          <p:cNvPr id="925" name="Google Shape;925;p76"/>
          <p:cNvSpPr txBox="1">
            <a:spLocks noGrp="1"/>
          </p:cNvSpPr>
          <p:nvPr>
            <p:ph type="title"/>
          </p:nvPr>
        </p:nvSpPr>
        <p:spPr>
          <a:xfrm>
            <a:off x="785812" y="304800"/>
            <a:ext cx="7143750" cy="10525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KERBERIZED LOGIN</a:t>
            </a:r>
            <a:endParaRPr/>
          </a:p>
        </p:txBody>
      </p:sp>
      <p:sp>
        <p:nvSpPr>
          <p:cNvPr id="926" name="Google Shape;926;p76"/>
          <p:cNvSpPr txBox="1">
            <a:spLocks noGrp="1"/>
          </p:cNvSpPr>
          <p:nvPr>
            <p:ph type="body" idx="1"/>
          </p:nvPr>
        </p:nvSpPr>
        <p:spPr>
          <a:xfrm>
            <a:off x="785812" y="4000500"/>
            <a:ext cx="7229475" cy="2171700"/>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80000"/>
              </a:lnSpc>
              <a:spcBef>
                <a:spcPts val="0"/>
              </a:spcBef>
              <a:spcAft>
                <a:spcPts val="0"/>
              </a:spcAft>
              <a:buClr>
                <a:schemeClr val="accent2"/>
              </a:buClr>
              <a:buSzPts val="2392"/>
              <a:buFont typeface="Noto Sans Symbols"/>
              <a:buChar char="◼"/>
            </a:pPr>
            <a:r>
              <a:rPr lang="en-US" sz="2600" b="0" i="0" u="none">
                <a:solidFill>
                  <a:srgbClr val="0000FF"/>
                </a:solidFill>
                <a:latin typeface="Gill Sans"/>
                <a:ea typeface="Gill Sans"/>
                <a:cs typeface="Gill Sans"/>
                <a:sym typeface="Gill Sans"/>
              </a:rPr>
              <a:t>Kerberos used for authentication</a:t>
            </a:r>
            <a:endParaRPr/>
          </a:p>
          <a:p>
            <a:pPr marL="628650" marR="0" lvl="1" indent="-304800" algn="l" rtl="0">
              <a:lnSpc>
                <a:spcPct val="80000"/>
              </a:lnSpc>
              <a:spcBef>
                <a:spcPts val="1040"/>
              </a:spcBef>
              <a:spcAft>
                <a:spcPts val="0"/>
              </a:spcAft>
              <a:buClr>
                <a:schemeClr val="accent2"/>
              </a:buClr>
              <a:buSzPts val="2024"/>
              <a:buFont typeface="Noto Sans Symbols"/>
              <a:buChar char="◼"/>
            </a:pPr>
            <a:r>
              <a:rPr lang="en-US" sz="2200" b="0" i="0" u="none" strike="noStrike" cap="none">
                <a:solidFill>
                  <a:schemeClr val="dk2"/>
                </a:solidFill>
                <a:latin typeface="Gill Sans"/>
                <a:ea typeface="Gill Sans"/>
                <a:cs typeface="Gill Sans"/>
                <a:sym typeface="Gill Sans"/>
              </a:rPr>
              <a:t>Key </a:t>
            </a:r>
            <a:r>
              <a:rPr lang="en-US" sz="2200" b="0" i="0" u="none" strike="noStrike" cap="none">
                <a:solidFill>
                  <a:schemeClr val="dk2"/>
                </a:solidFill>
                <a:latin typeface="Times"/>
                <a:ea typeface="Times"/>
                <a:cs typeface="Times"/>
                <a:sym typeface="Times"/>
              </a:rPr>
              <a:t>K</a:t>
            </a:r>
            <a:r>
              <a:rPr lang="en-US" sz="2200" b="0" i="0" u="none" strike="noStrike" cap="none" baseline="-25000">
                <a:solidFill>
                  <a:schemeClr val="dk2"/>
                </a:solidFill>
                <a:latin typeface="Times"/>
                <a:ea typeface="Times"/>
                <a:cs typeface="Times"/>
                <a:sym typeface="Times"/>
              </a:rPr>
              <a:t>A</a:t>
            </a:r>
            <a:r>
              <a:rPr lang="en-US" sz="2200" b="0" i="0" u="none" strike="noStrike" cap="none">
                <a:solidFill>
                  <a:schemeClr val="dk2"/>
                </a:solidFill>
                <a:latin typeface="Gill Sans"/>
                <a:ea typeface="Gill Sans"/>
                <a:cs typeface="Gill Sans"/>
                <a:sym typeface="Gill Sans"/>
              </a:rPr>
              <a:t> derived from Alice’s password</a:t>
            </a:r>
            <a:endParaRPr/>
          </a:p>
          <a:p>
            <a:pPr marL="628650" marR="0" lvl="1" indent="-304800" algn="l" rtl="0">
              <a:lnSpc>
                <a:spcPct val="80000"/>
              </a:lnSpc>
              <a:spcBef>
                <a:spcPts val="1040"/>
              </a:spcBef>
              <a:spcAft>
                <a:spcPts val="0"/>
              </a:spcAft>
              <a:buClr>
                <a:schemeClr val="accent2"/>
              </a:buClr>
              <a:buSzPts val="2024"/>
              <a:buFont typeface="Noto Sans Symbols"/>
              <a:buChar char="◼"/>
            </a:pPr>
            <a:r>
              <a:rPr lang="en-US" sz="2200" b="0" i="0" u="none" strike="noStrike" cap="none">
                <a:solidFill>
                  <a:schemeClr val="dk2"/>
                </a:solidFill>
                <a:latin typeface="Gill Sans"/>
                <a:ea typeface="Gill Sans"/>
                <a:cs typeface="Gill Sans"/>
                <a:sym typeface="Gill Sans"/>
              </a:rPr>
              <a:t>KDC creates session key </a:t>
            </a:r>
            <a:r>
              <a:rPr lang="en-US" sz="2200" b="0" i="0" u="none" strike="noStrike" cap="none">
                <a:solidFill>
                  <a:schemeClr val="dk2"/>
                </a:solidFill>
                <a:latin typeface="Times"/>
                <a:ea typeface="Times"/>
                <a:cs typeface="Times"/>
                <a:sym typeface="Times"/>
              </a:rPr>
              <a:t>S</a:t>
            </a:r>
            <a:r>
              <a:rPr lang="en-US" sz="2200" b="0" i="0" u="none" strike="noStrike" cap="none" baseline="-25000">
                <a:solidFill>
                  <a:schemeClr val="dk2"/>
                </a:solidFill>
                <a:latin typeface="Times"/>
                <a:ea typeface="Times"/>
                <a:cs typeface="Times"/>
                <a:sym typeface="Times"/>
              </a:rPr>
              <a:t>A</a:t>
            </a:r>
            <a:endParaRPr/>
          </a:p>
          <a:p>
            <a:pPr marL="628650" marR="0" lvl="1" indent="-304800" algn="l" rtl="0">
              <a:lnSpc>
                <a:spcPct val="80000"/>
              </a:lnSpc>
              <a:spcBef>
                <a:spcPts val="1040"/>
              </a:spcBef>
              <a:spcAft>
                <a:spcPts val="0"/>
              </a:spcAft>
              <a:buClr>
                <a:schemeClr val="accent2"/>
              </a:buClr>
              <a:buSzPts val="2024"/>
              <a:buFont typeface="Noto Sans Symbols"/>
              <a:buChar char="◼"/>
            </a:pPr>
            <a:r>
              <a:rPr lang="en-US" sz="2200" b="0" i="0" u="none" strike="noStrike" cap="none">
                <a:solidFill>
                  <a:schemeClr val="dk2"/>
                </a:solidFill>
                <a:latin typeface="Gill Sans"/>
                <a:ea typeface="Gill Sans"/>
                <a:cs typeface="Gill Sans"/>
                <a:sym typeface="Gill Sans"/>
              </a:rPr>
              <a:t>Workstation decrypts </a:t>
            </a:r>
            <a:r>
              <a:rPr lang="en-US" sz="2200" b="0" i="0" u="none" strike="noStrike" cap="none">
                <a:solidFill>
                  <a:schemeClr val="dk2"/>
                </a:solidFill>
                <a:latin typeface="Times"/>
                <a:ea typeface="Times"/>
                <a:cs typeface="Times"/>
                <a:sym typeface="Times"/>
              </a:rPr>
              <a:t>S</a:t>
            </a:r>
            <a:r>
              <a:rPr lang="en-US" sz="2200" b="0" i="0" u="none" strike="noStrike" cap="none" baseline="-25000">
                <a:solidFill>
                  <a:schemeClr val="dk2"/>
                </a:solidFill>
                <a:latin typeface="Times"/>
                <a:ea typeface="Times"/>
                <a:cs typeface="Times"/>
                <a:sym typeface="Times"/>
              </a:rPr>
              <a:t>A</a:t>
            </a:r>
            <a:r>
              <a:rPr lang="en-US" sz="2200" b="0" i="0" u="none" strike="noStrike" cap="none">
                <a:solidFill>
                  <a:schemeClr val="dk2"/>
                </a:solidFill>
                <a:latin typeface="Gill Sans"/>
                <a:ea typeface="Gill Sans"/>
                <a:cs typeface="Gill Sans"/>
                <a:sym typeface="Gill Sans"/>
              </a:rPr>
              <a:t>, </a:t>
            </a:r>
            <a:r>
              <a:rPr lang="en-US" sz="2200" b="0" i="0" u="none" strike="noStrike" cap="none">
                <a:solidFill>
                  <a:schemeClr val="dk2"/>
                </a:solidFill>
                <a:latin typeface="Times"/>
                <a:ea typeface="Times"/>
                <a:cs typeface="Times"/>
                <a:sym typeface="Times"/>
              </a:rPr>
              <a:t>TGT</a:t>
            </a:r>
            <a:r>
              <a:rPr lang="en-US" sz="2200" b="0" i="0" u="none" strike="noStrike" cap="none">
                <a:solidFill>
                  <a:schemeClr val="dk2"/>
                </a:solidFill>
                <a:latin typeface="Gill Sans"/>
                <a:ea typeface="Gill Sans"/>
                <a:cs typeface="Gill Sans"/>
                <a:sym typeface="Gill Sans"/>
              </a:rPr>
              <a:t>, </a:t>
            </a:r>
            <a:r>
              <a:rPr lang="en-US" sz="2200" b="0" i="0" u="none" strike="noStrike" cap="none">
                <a:solidFill>
                  <a:srgbClr val="FF0000"/>
                </a:solidFill>
                <a:latin typeface="Gill Sans"/>
                <a:ea typeface="Gill Sans"/>
                <a:cs typeface="Gill Sans"/>
                <a:sym typeface="Gill Sans"/>
              </a:rPr>
              <a:t>forgets </a:t>
            </a:r>
            <a:r>
              <a:rPr lang="en-US" sz="2200" b="0" i="0" u="none" strike="noStrike" cap="none">
                <a:solidFill>
                  <a:srgbClr val="FF0000"/>
                </a:solidFill>
                <a:latin typeface="Times"/>
                <a:ea typeface="Times"/>
                <a:cs typeface="Times"/>
                <a:sym typeface="Times"/>
              </a:rPr>
              <a:t>K</a:t>
            </a:r>
            <a:r>
              <a:rPr lang="en-US" sz="2200" b="0" i="0" u="none" strike="noStrike" cap="none" baseline="-25000">
                <a:solidFill>
                  <a:srgbClr val="FF0000"/>
                </a:solidFill>
                <a:latin typeface="Times"/>
                <a:ea typeface="Times"/>
                <a:cs typeface="Times"/>
                <a:sym typeface="Times"/>
              </a:rPr>
              <a:t>A</a:t>
            </a:r>
            <a:endParaRPr sz="2200" b="0" i="0" u="none" strike="noStrike" cap="none">
              <a:solidFill>
                <a:srgbClr val="FF0000"/>
              </a:solidFill>
              <a:latin typeface="Gill Sans"/>
              <a:ea typeface="Gill Sans"/>
              <a:cs typeface="Gill Sans"/>
              <a:sym typeface="Gill Sans"/>
            </a:endParaRPr>
          </a:p>
          <a:p>
            <a:pPr marL="628650" marR="0" lvl="1" indent="-304800" algn="l" rtl="0">
              <a:lnSpc>
                <a:spcPct val="80000"/>
              </a:lnSpc>
              <a:spcBef>
                <a:spcPts val="1040"/>
              </a:spcBef>
              <a:spcAft>
                <a:spcPts val="0"/>
              </a:spcAft>
              <a:buClr>
                <a:schemeClr val="accent2"/>
              </a:buClr>
              <a:buSzPts val="2024"/>
              <a:buFont typeface="Noto Sans Symbols"/>
              <a:buChar char="◼"/>
            </a:pPr>
            <a:r>
              <a:rPr lang="en-US" sz="2200" b="0" i="0" u="none" strike="noStrike" cap="none">
                <a:solidFill>
                  <a:schemeClr val="dk2"/>
                </a:solidFill>
                <a:latin typeface="Times"/>
                <a:ea typeface="Times"/>
                <a:cs typeface="Times"/>
                <a:sym typeface="Times"/>
              </a:rPr>
              <a:t>TGT = E(“Alice”, S</a:t>
            </a:r>
            <a:r>
              <a:rPr lang="en-US" sz="2200" b="0" i="0" u="none" strike="noStrike" cap="none" baseline="-25000">
                <a:solidFill>
                  <a:schemeClr val="dk2"/>
                </a:solidFill>
                <a:latin typeface="Times"/>
                <a:ea typeface="Times"/>
                <a:cs typeface="Times"/>
                <a:sym typeface="Times"/>
              </a:rPr>
              <a:t>A</a:t>
            </a:r>
            <a:r>
              <a:rPr lang="en-US" sz="2200" b="0" i="0" u="none" strike="noStrike" cap="none">
                <a:solidFill>
                  <a:schemeClr val="dk2"/>
                </a:solidFill>
                <a:latin typeface="Times"/>
                <a:ea typeface="Times"/>
                <a:cs typeface="Times"/>
                <a:sym typeface="Times"/>
              </a:rPr>
              <a:t>, K</a:t>
            </a:r>
            <a:r>
              <a:rPr lang="en-US" sz="2200" b="0" i="0" u="none" strike="noStrike" cap="none" baseline="-25000">
                <a:solidFill>
                  <a:schemeClr val="dk2"/>
                </a:solidFill>
                <a:latin typeface="Times"/>
                <a:ea typeface="Times"/>
                <a:cs typeface="Times"/>
                <a:sym typeface="Times"/>
              </a:rPr>
              <a:t>KDC</a:t>
            </a:r>
            <a:r>
              <a:rPr lang="en-US" sz="2200" b="0" i="0" u="none" strike="noStrike" cap="none">
                <a:solidFill>
                  <a:schemeClr val="dk2"/>
                </a:solidFill>
                <a:latin typeface="Times"/>
                <a:ea typeface="Times"/>
                <a:cs typeface="Times"/>
                <a:sym typeface="Times"/>
              </a:rPr>
              <a:t>)</a:t>
            </a:r>
            <a:endParaRPr/>
          </a:p>
        </p:txBody>
      </p:sp>
      <p:sp>
        <p:nvSpPr>
          <p:cNvPr id="927" name="Google Shape;927;p76"/>
          <p:cNvSpPr txBox="1"/>
          <p:nvPr/>
        </p:nvSpPr>
        <p:spPr>
          <a:xfrm>
            <a:off x="571500" y="6297613"/>
            <a:ext cx="7229475" cy="4111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928" name="Google Shape;928;p76"/>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25</a:t>
            </a:fld>
            <a:endParaRPr/>
          </a:p>
        </p:txBody>
      </p:sp>
      <p:cxnSp>
        <p:nvCxnSpPr>
          <p:cNvPr id="929" name="Google Shape;929;p76"/>
          <p:cNvCxnSpPr/>
          <p:nvPr/>
        </p:nvCxnSpPr>
        <p:spPr>
          <a:xfrm>
            <a:off x="1638300" y="2701480"/>
            <a:ext cx="16002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930" name="Google Shape;930;p76"/>
          <p:cNvCxnSpPr/>
          <p:nvPr/>
        </p:nvCxnSpPr>
        <p:spPr>
          <a:xfrm rot="10800000">
            <a:off x="4559300" y="3425380"/>
            <a:ext cx="1905000" cy="0"/>
          </a:xfrm>
          <a:prstGeom prst="straightConnector1">
            <a:avLst/>
          </a:prstGeom>
          <a:noFill/>
          <a:ln w="50800" cap="flat" cmpd="sng">
            <a:solidFill>
              <a:schemeClr val="dk1"/>
            </a:solidFill>
            <a:prstDash val="solid"/>
            <a:miter lim="800000"/>
            <a:headEnd type="none" w="med" len="med"/>
            <a:tailEnd type="triangle" w="med" len="med"/>
          </a:ln>
        </p:spPr>
      </p:cxnSp>
      <p:sp>
        <p:nvSpPr>
          <p:cNvPr id="931" name="Google Shape;931;p76"/>
          <p:cNvSpPr txBox="1"/>
          <p:nvPr/>
        </p:nvSpPr>
        <p:spPr>
          <a:xfrm>
            <a:off x="646112" y="3506343"/>
            <a:ext cx="900112"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Alice</a:t>
            </a:r>
            <a:endParaRPr/>
          </a:p>
        </p:txBody>
      </p:sp>
      <p:cxnSp>
        <p:nvCxnSpPr>
          <p:cNvPr id="932" name="Google Shape;932;p76"/>
          <p:cNvCxnSpPr/>
          <p:nvPr/>
        </p:nvCxnSpPr>
        <p:spPr>
          <a:xfrm rot="10800000" flipH="1">
            <a:off x="4559300" y="2358580"/>
            <a:ext cx="1828800" cy="23812"/>
          </a:xfrm>
          <a:prstGeom prst="straightConnector1">
            <a:avLst/>
          </a:prstGeom>
          <a:noFill/>
          <a:ln w="50800" cap="flat" cmpd="sng">
            <a:solidFill>
              <a:schemeClr val="dk1"/>
            </a:solidFill>
            <a:prstDash val="solid"/>
            <a:miter lim="800000"/>
            <a:headEnd type="none" w="med" len="med"/>
            <a:tailEnd type="triangle" w="med" len="med"/>
          </a:ln>
        </p:spPr>
      </p:cxnSp>
      <p:sp>
        <p:nvSpPr>
          <p:cNvPr id="933" name="Google Shape;933;p76"/>
          <p:cNvSpPr txBox="1"/>
          <p:nvPr/>
        </p:nvSpPr>
        <p:spPr>
          <a:xfrm>
            <a:off x="1792287" y="2244280"/>
            <a:ext cx="10652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Alice’s</a:t>
            </a:r>
            <a:endParaRPr/>
          </a:p>
        </p:txBody>
      </p:sp>
      <p:sp>
        <p:nvSpPr>
          <p:cNvPr id="934" name="Google Shape;934;p76"/>
          <p:cNvSpPr txBox="1"/>
          <p:nvPr/>
        </p:nvSpPr>
        <p:spPr>
          <a:xfrm>
            <a:off x="4510087" y="1901380"/>
            <a:ext cx="1725612"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Alice wants</a:t>
            </a:r>
            <a:endParaRPr/>
          </a:p>
        </p:txBody>
      </p:sp>
      <p:sp>
        <p:nvSpPr>
          <p:cNvPr id="935" name="Google Shape;935;p76"/>
          <p:cNvSpPr txBox="1"/>
          <p:nvPr/>
        </p:nvSpPr>
        <p:spPr>
          <a:xfrm>
            <a:off x="1562100" y="2701480"/>
            <a:ext cx="1489075"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password</a:t>
            </a:r>
            <a:endParaRPr/>
          </a:p>
        </p:txBody>
      </p:sp>
      <p:sp>
        <p:nvSpPr>
          <p:cNvPr id="936" name="Google Shape;936;p76"/>
          <p:cNvSpPr txBox="1"/>
          <p:nvPr/>
        </p:nvSpPr>
        <p:spPr>
          <a:xfrm>
            <a:off x="4787900" y="2358580"/>
            <a:ext cx="1131887" cy="457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Times"/>
              <a:buNone/>
            </a:pPr>
            <a:r>
              <a:rPr lang="en-US" sz="2400" b="0" i="0" u="none">
                <a:solidFill>
                  <a:schemeClr val="dk1"/>
                </a:solidFill>
                <a:latin typeface="Times"/>
                <a:ea typeface="Times"/>
                <a:cs typeface="Times"/>
                <a:sym typeface="Times"/>
              </a:rPr>
              <a:t> a TGT</a:t>
            </a:r>
            <a:endParaRPr/>
          </a:p>
        </p:txBody>
      </p:sp>
      <p:sp>
        <p:nvSpPr>
          <p:cNvPr id="937" name="Google Shape;937;p76"/>
          <p:cNvSpPr txBox="1"/>
          <p:nvPr/>
        </p:nvSpPr>
        <p:spPr>
          <a:xfrm>
            <a:off x="4733925" y="2968180"/>
            <a:ext cx="1792287"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Times"/>
              <a:buNone/>
            </a:pPr>
            <a:r>
              <a:rPr lang="en-US" sz="2000" b="0" i="0" u="none">
                <a:solidFill>
                  <a:schemeClr val="dk1"/>
                </a:solidFill>
                <a:latin typeface="Times"/>
                <a:ea typeface="Times"/>
                <a:cs typeface="Times"/>
                <a:sym typeface="Times"/>
              </a:rPr>
              <a:t>E(S</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,TGT, K</a:t>
            </a:r>
            <a:r>
              <a:rPr lang="en-US" sz="2000" b="0" i="0" u="none" baseline="-25000">
                <a:solidFill>
                  <a:schemeClr val="dk1"/>
                </a:solidFill>
                <a:latin typeface="Times"/>
                <a:ea typeface="Times"/>
                <a:cs typeface="Times"/>
                <a:sym typeface="Times"/>
              </a:rPr>
              <a:t>A</a:t>
            </a:r>
            <a:r>
              <a:rPr lang="en-US" sz="2000" b="0" i="0" u="none">
                <a:solidFill>
                  <a:schemeClr val="dk1"/>
                </a:solidFill>
                <a:latin typeface="Times"/>
                <a:ea typeface="Times"/>
                <a:cs typeface="Times"/>
                <a:sym typeface="Times"/>
              </a:rPr>
              <a:t>)</a:t>
            </a:r>
            <a:endParaRPr/>
          </a:p>
        </p:txBody>
      </p:sp>
      <p:pic>
        <p:nvPicPr>
          <p:cNvPr id="938" name="Google Shape;938;p76"/>
          <p:cNvPicPr preferRelativeResize="0"/>
          <p:nvPr/>
        </p:nvPicPr>
        <p:blipFill rotWithShape="1">
          <a:blip r:embed="rId4">
            <a:alphaModFix/>
          </a:blip>
          <a:srcRect/>
          <a:stretch/>
        </p:blipFill>
        <p:spPr>
          <a:xfrm>
            <a:off x="6643687" y="2129980"/>
            <a:ext cx="1371600" cy="1371600"/>
          </a:xfrm>
          <a:prstGeom prst="rect">
            <a:avLst/>
          </a:prstGeom>
          <a:noFill/>
          <a:ln>
            <a:noFill/>
          </a:ln>
        </p:spPr>
      </p:pic>
      <p:sp>
        <p:nvSpPr>
          <p:cNvPr id="939" name="Google Shape;939;p76"/>
          <p:cNvSpPr txBox="1"/>
          <p:nvPr/>
        </p:nvSpPr>
        <p:spPr>
          <a:xfrm>
            <a:off x="7000875" y="3558730"/>
            <a:ext cx="774700"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KDC</a:t>
            </a:r>
            <a:endParaRPr/>
          </a:p>
        </p:txBody>
      </p:sp>
      <p:sp>
        <p:nvSpPr>
          <p:cNvPr id="940" name="Google Shape;940;p76"/>
          <p:cNvSpPr txBox="1"/>
          <p:nvPr/>
        </p:nvSpPr>
        <p:spPr>
          <a:xfrm>
            <a:off x="3048000" y="3493643"/>
            <a:ext cx="1543050" cy="5175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400"/>
              <a:buFont typeface="Comic Sans MS"/>
              <a:buNone/>
            </a:pPr>
            <a:r>
              <a:rPr lang="en-US" sz="2400" b="0" i="0" u="none">
                <a:solidFill>
                  <a:schemeClr val="dk1"/>
                </a:solidFill>
                <a:latin typeface="Comic Sans MS"/>
                <a:ea typeface="Comic Sans MS"/>
                <a:cs typeface="Comic Sans MS"/>
                <a:sym typeface="Comic Sans MS"/>
              </a:rPr>
              <a:t>Computer</a:t>
            </a:r>
            <a:endParaRPr/>
          </a:p>
        </p:txBody>
      </p:sp>
      <p:pic>
        <p:nvPicPr>
          <p:cNvPr id="941" name="Google Shape;941;p76"/>
          <p:cNvPicPr preferRelativeResize="0"/>
          <p:nvPr/>
        </p:nvPicPr>
        <p:blipFill rotWithShape="1">
          <a:blip r:embed="rId5">
            <a:alphaModFix/>
          </a:blip>
          <a:srcRect/>
          <a:stretch/>
        </p:blipFill>
        <p:spPr>
          <a:xfrm>
            <a:off x="571500" y="1915668"/>
            <a:ext cx="946150" cy="1624012"/>
          </a:xfrm>
          <a:prstGeom prst="rect">
            <a:avLst/>
          </a:prstGeom>
          <a:noFill/>
          <a:ln>
            <a:noFill/>
          </a:ln>
        </p:spPr>
      </p:pic>
      <p:pic>
        <p:nvPicPr>
          <p:cNvPr id="942" name="Google Shape;942;p76"/>
          <p:cNvPicPr preferRelativeResize="0"/>
          <p:nvPr/>
        </p:nvPicPr>
        <p:blipFill rotWithShape="1">
          <a:blip r:embed="rId6">
            <a:alphaModFix/>
          </a:blip>
          <a:srcRect/>
          <a:stretch/>
        </p:blipFill>
        <p:spPr>
          <a:xfrm>
            <a:off x="3359150" y="2029968"/>
            <a:ext cx="984250" cy="137160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29"/>
                                        </p:tgtEl>
                                        <p:attrNameLst>
                                          <p:attrName>style.visibility</p:attrName>
                                        </p:attrNameLst>
                                      </p:cBhvr>
                                      <p:to>
                                        <p:strVal val="visible"/>
                                      </p:to>
                                    </p:set>
                                    <p:anim calcmode="lin" valueType="num">
                                      <p:cBhvr additive="base">
                                        <p:cTn id="7" dur="500"/>
                                        <p:tgtEl>
                                          <p:spTgt spid="929"/>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33"/>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93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932"/>
                                        </p:tgtEl>
                                        <p:attrNameLst>
                                          <p:attrName>style.visibility</p:attrName>
                                        </p:attrNameLst>
                                      </p:cBhvr>
                                      <p:to>
                                        <p:strVal val="visible"/>
                                      </p:to>
                                    </p:set>
                                    <p:anim calcmode="lin" valueType="num">
                                      <p:cBhvr additive="base">
                                        <p:cTn id="18" dur="500"/>
                                        <p:tgtEl>
                                          <p:spTgt spid="932"/>
                                        </p:tgtEl>
                                        <p:attrNameLst>
                                          <p:attrName>ppt_x</p:attrName>
                                        </p:attrNameLst>
                                      </p:cBhvr>
                                      <p:tavLst>
                                        <p:tav tm="0">
                                          <p:val>
                                            <p:strVal val="#ppt_x-1"/>
                                          </p:val>
                                        </p:tav>
                                        <p:tav tm="100000">
                                          <p:val>
                                            <p:strVal val="#ppt_x"/>
                                          </p:val>
                                        </p:tav>
                                      </p:tavLst>
                                    </p:anim>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0"/>
                                          </p:stCondLst>
                                        </p:cTn>
                                        <p:tgtEl>
                                          <p:spTgt spid="934"/>
                                        </p:tgtEl>
                                        <p:attrNameLst>
                                          <p:attrName>style.visibility</p:attrName>
                                        </p:attrNameLst>
                                      </p:cBhvr>
                                      <p:to>
                                        <p:strVal val="visible"/>
                                      </p:to>
                                    </p:set>
                                  </p:childTnLst>
                                </p:cTn>
                              </p:par>
                            </p:childTnLst>
                          </p:cTn>
                        </p:par>
                        <p:par>
                          <p:cTn id="22" fill="hold">
                            <p:stCondLst>
                              <p:cond delay="501"/>
                            </p:stCondLst>
                            <p:childTnLst>
                              <p:par>
                                <p:cTn id="23" presetID="1" presetClass="entr" presetSubtype="0" fill="hold" nodeType="afterEffect">
                                  <p:stCondLst>
                                    <p:cond delay="0"/>
                                  </p:stCondLst>
                                  <p:childTnLst>
                                    <p:set>
                                      <p:cBhvr>
                                        <p:cTn id="24" dur="1" fill="hold">
                                          <p:stCondLst>
                                            <p:cond delay="0"/>
                                          </p:stCondLst>
                                        </p:cTn>
                                        <p:tgtEl>
                                          <p:spTgt spid="93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930"/>
                                        </p:tgtEl>
                                        <p:attrNameLst>
                                          <p:attrName>style.visibility</p:attrName>
                                        </p:attrNameLst>
                                      </p:cBhvr>
                                      <p:to>
                                        <p:strVal val="visible"/>
                                      </p:to>
                                    </p:set>
                                    <p:anim calcmode="lin" valueType="num">
                                      <p:cBhvr additive="base">
                                        <p:cTn id="29" dur="500"/>
                                        <p:tgtEl>
                                          <p:spTgt spid="930"/>
                                        </p:tgtEl>
                                        <p:attrNameLst>
                                          <p:attrName>ppt_x</p:attrName>
                                        </p:attrNameLst>
                                      </p:cBhvr>
                                      <p:tavLst>
                                        <p:tav tm="0">
                                          <p:val>
                                            <p:strVal val="#ppt_x+1"/>
                                          </p:val>
                                        </p:tav>
                                        <p:tav tm="100000">
                                          <p:val>
                                            <p:strVal val="#ppt_x"/>
                                          </p:val>
                                        </p:tav>
                                      </p:tavLst>
                                    </p:anim>
                                  </p:childTnLst>
                                </p:cTn>
                              </p:par>
                            </p:childTnLst>
                          </p:cTn>
                        </p:par>
                        <p:par>
                          <p:cTn id="30" fill="hold">
                            <p:stCondLst>
                              <p:cond delay="500"/>
                            </p:stCondLst>
                            <p:childTnLst>
                              <p:par>
                                <p:cTn id="31" presetID="1" presetClass="entr" presetSubtype="0" fill="hold" nodeType="afterEffect">
                                  <p:stCondLst>
                                    <p:cond delay="0"/>
                                  </p:stCondLst>
                                  <p:childTnLst>
                                    <p:set>
                                      <p:cBhvr>
                                        <p:cTn id="32" dur="1" fill="hold">
                                          <p:stCondLst>
                                            <p:cond delay="0"/>
                                          </p:stCondLst>
                                        </p:cTn>
                                        <p:tgtEl>
                                          <p:spTgt spid="93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26"/>
                                        </p:tgtEl>
                                        <p:attrNameLst>
                                          <p:attrName>style.visibility</p:attrName>
                                        </p:attrNameLst>
                                      </p:cBhvr>
                                      <p:to>
                                        <p:strVal val="visible"/>
                                      </p:to>
                                    </p:set>
                                    <p:animEffect transition="in" filter="fade">
                                      <p:cBhvr>
                                        <p:cTn id="37" dur="500"/>
                                        <p:tgtEl>
                                          <p:spTgt spid="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78"/>
          <p:cNvSpPr txBox="1">
            <a:spLocks noGrp="1"/>
          </p:cNvSpPr>
          <p:nvPr>
            <p:ph type="title"/>
          </p:nvPr>
        </p:nvSpPr>
        <p:spPr>
          <a:xfrm>
            <a:off x="785812" y="304800"/>
            <a:ext cx="7286625" cy="10525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ALICE REQUESTS TICKET TO BOB</a:t>
            </a:r>
            <a:endParaRPr/>
          </a:p>
        </p:txBody>
      </p:sp>
      <p:sp>
        <p:nvSpPr>
          <p:cNvPr id="956" name="Google Shape;956;p78"/>
          <p:cNvSpPr txBox="1">
            <a:spLocks noGrp="1"/>
          </p:cNvSpPr>
          <p:nvPr>
            <p:ph type="body" idx="1"/>
          </p:nvPr>
        </p:nvSpPr>
        <p:spPr>
          <a:xfrm>
            <a:off x="785812" y="4143375"/>
            <a:ext cx="7824787" cy="2143125"/>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2208"/>
              <a:buFont typeface="Noto Sans Symbols"/>
              <a:buChar char="◼"/>
            </a:pPr>
            <a:r>
              <a:rPr lang="en-US" sz="2400" b="0" i="0" u="none">
                <a:solidFill>
                  <a:schemeClr val="dk2"/>
                </a:solidFill>
                <a:latin typeface="Times"/>
                <a:ea typeface="Times"/>
                <a:cs typeface="Times"/>
                <a:sym typeface="Times"/>
              </a:rPr>
              <a:t>REQUEST = (TGT, authenticator)</a:t>
            </a:r>
            <a:r>
              <a:rPr lang="en-US" sz="2400" b="0" i="0" u="none">
                <a:solidFill>
                  <a:schemeClr val="dk2"/>
                </a:solidFill>
                <a:latin typeface="Gill Sans"/>
                <a:ea typeface="Gill Sans"/>
                <a:cs typeface="Gill Sans"/>
                <a:sym typeface="Gill Sans"/>
              </a:rPr>
              <a:t> where</a:t>
            </a:r>
            <a:endParaRPr/>
          </a:p>
          <a:p>
            <a:pPr marL="304800" marR="0" lvl="0" indent="-304800" algn="l" rtl="0">
              <a:lnSpc>
                <a:spcPct val="90000"/>
              </a:lnSpc>
              <a:spcBef>
                <a:spcPts val="600"/>
              </a:spcBef>
              <a:spcAft>
                <a:spcPts val="0"/>
              </a:spcAft>
              <a:buClr>
                <a:schemeClr val="accent2"/>
              </a:buClr>
              <a:buSzPts val="2208"/>
              <a:buFont typeface="Noto Sans Symbols"/>
              <a:buNone/>
            </a:pPr>
            <a:r>
              <a:rPr lang="en-US" sz="2400" b="0" i="0" u="none">
                <a:solidFill>
                  <a:schemeClr val="dk2"/>
                </a:solidFill>
                <a:latin typeface="Times"/>
                <a:ea typeface="Times"/>
                <a:cs typeface="Times"/>
                <a:sym typeface="Times"/>
              </a:rPr>
              <a:t>		authenticator = E(timestamp, S</a:t>
            </a:r>
            <a:r>
              <a:rPr lang="en-US" sz="2400" b="0" i="0" u="none" baseline="-25000">
                <a:solidFill>
                  <a:schemeClr val="dk2"/>
                </a:solidFill>
                <a:latin typeface="Times"/>
                <a:ea typeface="Times"/>
                <a:cs typeface="Times"/>
                <a:sym typeface="Times"/>
              </a:rPr>
              <a:t>A</a:t>
            </a:r>
            <a:r>
              <a:rPr lang="en-US" sz="2400" b="0" i="0" u="none">
                <a:solidFill>
                  <a:schemeClr val="dk2"/>
                </a:solidFill>
                <a:latin typeface="Times"/>
                <a:ea typeface="Times"/>
                <a:cs typeface="Times"/>
                <a:sym typeface="Times"/>
              </a:rPr>
              <a:t>)</a:t>
            </a:r>
            <a:endParaRPr/>
          </a:p>
          <a:p>
            <a:pPr marL="304800" marR="0" lvl="0" indent="-304800" algn="l" rtl="0">
              <a:lnSpc>
                <a:spcPct val="90000"/>
              </a:lnSpc>
              <a:spcBef>
                <a:spcPts val="1080"/>
              </a:spcBef>
              <a:spcAft>
                <a:spcPts val="0"/>
              </a:spcAft>
              <a:buClr>
                <a:schemeClr val="accent2"/>
              </a:buClr>
              <a:buSzPts val="2208"/>
              <a:buFont typeface="Noto Sans Symbols"/>
              <a:buChar char="◼"/>
            </a:pPr>
            <a:r>
              <a:rPr lang="en-US" sz="2400" b="0" i="0" u="none">
                <a:solidFill>
                  <a:schemeClr val="dk2"/>
                </a:solidFill>
                <a:latin typeface="Times"/>
                <a:ea typeface="Times"/>
                <a:cs typeface="Times"/>
                <a:sym typeface="Times"/>
              </a:rPr>
              <a:t>REPLY = E(“Bob”, K</a:t>
            </a:r>
            <a:r>
              <a:rPr lang="en-US" sz="2400" b="0" i="0" u="none" baseline="-25000">
                <a:solidFill>
                  <a:schemeClr val="dk2"/>
                </a:solidFill>
                <a:latin typeface="Times"/>
                <a:ea typeface="Times"/>
                <a:cs typeface="Times"/>
                <a:sym typeface="Times"/>
              </a:rPr>
              <a:t>AB</a:t>
            </a:r>
            <a:r>
              <a:rPr lang="en-US" sz="2400" b="0" i="0" u="none">
                <a:solidFill>
                  <a:schemeClr val="dk2"/>
                </a:solidFill>
                <a:latin typeface="Times"/>
                <a:ea typeface="Times"/>
                <a:cs typeface="Times"/>
                <a:sym typeface="Times"/>
              </a:rPr>
              <a:t>, ticket to Bob, S</a:t>
            </a:r>
            <a:r>
              <a:rPr lang="en-US" sz="2400" b="0" i="0" u="none" baseline="-25000">
                <a:solidFill>
                  <a:schemeClr val="dk2"/>
                </a:solidFill>
                <a:latin typeface="Times"/>
                <a:ea typeface="Times"/>
                <a:cs typeface="Times"/>
                <a:sym typeface="Times"/>
              </a:rPr>
              <a:t>A</a:t>
            </a:r>
            <a:r>
              <a:rPr lang="en-US" sz="2400" b="0" i="0" u="none">
                <a:solidFill>
                  <a:schemeClr val="dk2"/>
                </a:solidFill>
                <a:latin typeface="Times"/>
                <a:ea typeface="Times"/>
                <a:cs typeface="Times"/>
                <a:sym typeface="Times"/>
              </a:rPr>
              <a:t>)</a:t>
            </a:r>
            <a:endParaRPr/>
          </a:p>
          <a:p>
            <a:pPr marL="304800" marR="0" lvl="0" indent="-304800" algn="l" rtl="0">
              <a:lnSpc>
                <a:spcPct val="90000"/>
              </a:lnSpc>
              <a:spcBef>
                <a:spcPts val="600"/>
              </a:spcBef>
              <a:spcAft>
                <a:spcPts val="0"/>
              </a:spcAft>
              <a:buClr>
                <a:schemeClr val="accent2"/>
              </a:buClr>
              <a:buSzPts val="2208"/>
              <a:buFont typeface="Noto Sans Symbols"/>
              <a:buChar char="◼"/>
            </a:pPr>
            <a:r>
              <a:rPr lang="en-US" sz="2400" b="0" i="0" u="none">
                <a:solidFill>
                  <a:schemeClr val="dk2"/>
                </a:solidFill>
                <a:latin typeface="Times"/>
                <a:ea typeface="Times"/>
                <a:cs typeface="Times"/>
                <a:sym typeface="Times"/>
              </a:rPr>
              <a:t>ticket to Bob = E(“Alice”, K</a:t>
            </a:r>
            <a:r>
              <a:rPr lang="en-US" sz="2400" b="0" i="0" u="none" baseline="-25000">
                <a:solidFill>
                  <a:schemeClr val="dk2"/>
                </a:solidFill>
                <a:latin typeface="Times"/>
                <a:ea typeface="Times"/>
                <a:cs typeface="Times"/>
                <a:sym typeface="Times"/>
              </a:rPr>
              <a:t>AB</a:t>
            </a:r>
            <a:r>
              <a:rPr lang="en-US" sz="2400" b="0" i="0" u="none">
                <a:solidFill>
                  <a:schemeClr val="dk2"/>
                </a:solidFill>
                <a:latin typeface="Times"/>
                <a:ea typeface="Times"/>
                <a:cs typeface="Times"/>
                <a:sym typeface="Times"/>
              </a:rPr>
              <a:t>, K</a:t>
            </a:r>
            <a:r>
              <a:rPr lang="en-US" sz="2400" b="0" i="0" u="none" baseline="-25000">
                <a:solidFill>
                  <a:schemeClr val="dk2"/>
                </a:solidFill>
                <a:latin typeface="Times"/>
                <a:ea typeface="Times"/>
                <a:cs typeface="Times"/>
                <a:sym typeface="Times"/>
              </a:rPr>
              <a:t>B</a:t>
            </a:r>
            <a:r>
              <a:rPr lang="en-US" sz="2400" b="0" i="0" u="none">
                <a:solidFill>
                  <a:schemeClr val="dk2"/>
                </a:solidFill>
                <a:latin typeface="Times"/>
                <a:ea typeface="Times"/>
                <a:cs typeface="Times"/>
                <a:sym typeface="Times"/>
              </a:rPr>
              <a:t>)</a:t>
            </a:r>
            <a:endParaRPr/>
          </a:p>
          <a:p>
            <a:pPr marL="304800" marR="0" lvl="0" indent="-304800" algn="l" rtl="0">
              <a:lnSpc>
                <a:spcPct val="90000"/>
              </a:lnSpc>
              <a:spcBef>
                <a:spcPts val="600"/>
              </a:spcBef>
              <a:spcAft>
                <a:spcPts val="0"/>
              </a:spcAft>
              <a:buClr>
                <a:schemeClr val="accent2"/>
              </a:buClr>
              <a:buSzPts val="2208"/>
              <a:buFont typeface="Noto Sans Symbols"/>
              <a:buChar char="◼"/>
            </a:pPr>
            <a:r>
              <a:rPr lang="en-US" sz="2400" b="0" i="0" u="none">
                <a:solidFill>
                  <a:srgbClr val="0000FF"/>
                </a:solidFill>
                <a:latin typeface="Gill Sans"/>
                <a:ea typeface="Gill Sans"/>
                <a:cs typeface="Gill Sans"/>
                <a:sym typeface="Gill Sans"/>
              </a:rPr>
              <a:t>KDC gets </a:t>
            </a:r>
            <a:r>
              <a:rPr lang="en-US" sz="2400" b="0" i="0" u="none">
                <a:solidFill>
                  <a:srgbClr val="0000FF"/>
                </a:solidFill>
                <a:latin typeface="Times"/>
                <a:ea typeface="Times"/>
                <a:cs typeface="Times"/>
                <a:sym typeface="Times"/>
              </a:rPr>
              <a:t>S</a:t>
            </a:r>
            <a:r>
              <a:rPr lang="en-US" sz="2400" b="0" i="0" u="none" baseline="-25000">
                <a:solidFill>
                  <a:srgbClr val="0000FF"/>
                </a:solidFill>
                <a:latin typeface="Times"/>
                <a:ea typeface="Times"/>
                <a:cs typeface="Times"/>
                <a:sym typeface="Times"/>
              </a:rPr>
              <a:t>A</a:t>
            </a:r>
            <a:r>
              <a:rPr lang="en-US" sz="2400" b="0" i="0" u="none">
                <a:solidFill>
                  <a:srgbClr val="0000FF"/>
                </a:solidFill>
                <a:latin typeface="Gill Sans"/>
                <a:ea typeface="Gill Sans"/>
                <a:cs typeface="Gill Sans"/>
                <a:sym typeface="Gill Sans"/>
              </a:rPr>
              <a:t> from </a:t>
            </a:r>
            <a:r>
              <a:rPr lang="en-US" sz="2400" b="0" i="0" u="none">
                <a:solidFill>
                  <a:srgbClr val="0000FF"/>
                </a:solidFill>
                <a:latin typeface="Times"/>
                <a:ea typeface="Times"/>
                <a:cs typeface="Times"/>
                <a:sym typeface="Times"/>
              </a:rPr>
              <a:t>TGT</a:t>
            </a:r>
            <a:r>
              <a:rPr lang="en-US" sz="2400" b="0" i="0" u="none">
                <a:solidFill>
                  <a:srgbClr val="0000FF"/>
                </a:solidFill>
                <a:latin typeface="Gill Sans"/>
                <a:ea typeface="Gill Sans"/>
                <a:cs typeface="Gill Sans"/>
                <a:sym typeface="Gill Sans"/>
              </a:rPr>
              <a:t> to verify timestamp</a:t>
            </a:r>
            <a:endParaRPr/>
          </a:p>
        </p:txBody>
      </p:sp>
      <p:sp>
        <p:nvSpPr>
          <p:cNvPr id="957" name="Google Shape;957;p78"/>
          <p:cNvSpPr txBox="1"/>
          <p:nvPr/>
        </p:nvSpPr>
        <p:spPr>
          <a:xfrm>
            <a:off x="544893" y="6427788"/>
            <a:ext cx="6752463" cy="26352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958" name="Google Shape;958;p78"/>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26</a:t>
            </a:fld>
            <a:endParaRPr/>
          </a:p>
        </p:txBody>
      </p:sp>
      <p:cxnSp>
        <p:nvCxnSpPr>
          <p:cNvPr id="959" name="Google Shape;959;p78"/>
          <p:cNvCxnSpPr/>
          <p:nvPr/>
        </p:nvCxnSpPr>
        <p:spPr>
          <a:xfrm>
            <a:off x="1817687" y="3009900"/>
            <a:ext cx="1600200" cy="0"/>
          </a:xfrm>
          <a:prstGeom prst="straightConnector1">
            <a:avLst/>
          </a:prstGeom>
          <a:noFill/>
          <a:ln w="50800" cap="flat" cmpd="sng">
            <a:solidFill>
              <a:schemeClr val="dk1"/>
            </a:solidFill>
            <a:prstDash val="solid"/>
            <a:miter lim="800000"/>
            <a:headEnd type="none" w="med" len="med"/>
            <a:tailEnd type="triangle" w="med" len="med"/>
          </a:ln>
        </p:spPr>
      </p:cxnSp>
      <p:cxnSp>
        <p:nvCxnSpPr>
          <p:cNvPr id="960" name="Google Shape;960;p78"/>
          <p:cNvCxnSpPr/>
          <p:nvPr/>
        </p:nvCxnSpPr>
        <p:spPr>
          <a:xfrm rot="10800000">
            <a:off x="4500562" y="3429000"/>
            <a:ext cx="1828800" cy="0"/>
          </a:xfrm>
          <a:prstGeom prst="straightConnector1">
            <a:avLst/>
          </a:prstGeom>
          <a:noFill/>
          <a:ln w="50800" cap="flat" cmpd="sng">
            <a:solidFill>
              <a:schemeClr val="dk1"/>
            </a:solidFill>
            <a:prstDash val="solid"/>
            <a:miter lim="800000"/>
            <a:headEnd type="none" w="med" len="med"/>
            <a:tailEnd type="triangle" w="med" len="med"/>
          </a:ln>
        </p:spPr>
      </p:cxnSp>
      <p:sp>
        <p:nvSpPr>
          <p:cNvPr id="961" name="Google Shape;961;p78"/>
          <p:cNvSpPr txBox="1"/>
          <p:nvPr/>
        </p:nvSpPr>
        <p:spPr>
          <a:xfrm>
            <a:off x="825500" y="3738562"/>
            <a:ext cx="725487"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omic Sans MS"/>
              <a:buNone/>
            </a:pPr>
            <a:r>
              <a:rPr lang="en-US" sz="1800" b="0" i="0" u="none">
                <a:solidFill>
                  <a:schemeClr val="dk1"/>
                </a:solidFill>
                <a:latin typeface="Comic Sans MS"/>
                <a:ea typeface="Comic Sans MS"/>
                <a:cs typeface="Comic Sans MS"/>
                <a:sym typeface="Comic Sans MS"/>
              </a:rPr>
              <a:t>Alice</a:t>
            </a:r>
            <a:endParaRPr/>
          </a:p>
        </p:txBody>
      </p:sp>
      <p:cxnSp>
        <p:nvCxnSpPr>
          <p:cNvPr id="962" name="Google Shape;962;p78"/>
          <p:cNvCxnSpPr/>
          <p:nvPr/>
        </p:nvCxnSpPr>
        <p:spPr>
          <a:xfrm rot="10800000" flipH="1">
            <a:off x="4540250" y="2638425"/>
            <a:ext cx="1828800" cy="19050"/>
          </a:xfrm>
          <a:prstGeom prst="straightConnector1">
            <a:avLst/>
          </a:prstGeom>
          <a:noFill/>
          <a:ln w="50800" cap="flat" cmpd="sng">
            <a:solidFill>
              <a:schemeClr val="dk1"/>
            </a:solidFill>
            <a:prstDash val="solid"/>
            <a:miter lim="800000"/>
            <a:headEnd type="none" w="med" len="med"/>
            <a:tailEnd type="triangle" w="med" len="med"/>
          </a:ln>
        </p:spPr>
      </p:cxnSp>
      <p:sp>
        <p:nvSpPr>
          <p:cNvPr id="963" name="Google Shape;963;p78"/>
          <p:cNvSpPr txBox="1"/>
          <p:nvPr/>
        </p:nvSpPr>
        <p:spPr>
          <a:xfrm>
            <a:off x="1785937" y="2571750"/>
            <a:ext cx="1325562"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Talk to Bob</a:t>
            </a:r>
            <a:endParaRPr/>
          </a:p>
        </p:txBody>
      </p:sp>
      <p:sp>
        <p:nvSpPr>
          <p:cNvPr id="964" name="Google Shape;964;p78"/>
          <p:cNvSpPr txBox="1"/>
          <p:nvPr/>
        </p:nvSpPr>
        <p:spPr>
          <a:xfrm>
            <a:off x="4714875" y="1928812"/>
            <a:ext cx="1274762" cy="64611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I want to</a:t>
            </a:r>
            <a:endParaRPr/>
          </a:p>
          <a:p>
            <a:pPr marL="0" marR="0" lvl="0" indent="0" algn="ctr"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talk to Bob</a:t>
            </a:r>
            <a:endParaRPr/>
          </a:p>
        </p:txBody>
      </p:sp>
      <p:sp>
        <p:nvSpPr>
          <p:cNvPr id="965" name="Google Shape;965;p78"/>
          <p:cNvSpPr txBox="1"/>
          <p:nvPr/>
        </p:nvSpPr>
        <p:spPr>
          <a:xfrm>
            <a:off x="4697412" y="2679700"/>
            <a:ext cx="1300162"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REQUEST</a:t>
            </a:r>
            <a:endParaRPr/>
          </a:p>
        </p:txBody>
      </p:sp>
      <p:sp>
        <p:nvSpPr>
          <p:cNvPr id="966" name="Google Shape;966;p78"/>
          <p:cNvSpPr txBox="1"/>
          <p:nvPr/>
        </p:nvSpPr>
        <p:spPr>
          <a:xfrm>
            <a:off x="5072062" y="3500437"/>
            <a:ext cx="92392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REPLY</a:t>
            </a:r>
            <a:endParaRPr/>
          </a:p>
        </p:txBody>
      </p:sp>
      <p:pic>
        <p:nvPicPr>
          <p:cNvPr id="967" name="Google Shape;967;p78"/>
          <p:cNvPicPr preferRelativeResize="0"/>
          <p:nvPr/>
        </p:nvPicPr>
        <p:blipFill rotWithShape="1">
          <a:blip r:embed="rId4">
            <a:alphaModFix/>
          </a:blip>
          <a:srcRect/>
          <a:stretch/>
        </p:blipFill>
        <p:spPr>
          <a:xfrm>
            <a:off x="6675437" y="2486025"/>
            <a:ext cx="1371600" cy="1371600"/>
          </a:xfrm>
          <a:prstGeom prst="rect">
            <a:avLst/>
          </a:prstGeom>
          <a:noFill/>
          <a:ln>
            <a:noFill/>
          </a:ln>
        </p:spPr>
      </p:pic>
      <p:sp>
        <p:nvSpPr>
          <p:cNvPr id="968" name="Google Shape;968;p78"/>
          <p:cNvSpPr txBox="1"/>
          <p:nvPr/>
        </p:nvSpPr>
        <p:spPr>
          <a:xfrm>
            <a:off x="7056437" y="3933825"/>
            <a:ext cx="63182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omic Sans MS"/>
              <a:buNone/>
            </a:pPr>
            <a:r>
              <a:rPr lang="en-US" sz="1800" b="0" i="0" u="none">
                <a:solidFill>
                  <a:schemeClr val="dk1"/>
                </a:solidFill>
                <a:latin typeface="Comic Sans MS"/>
                <a:ea typeface="Comic Sans MS"/>
                <a:cs typeface="Comic Sans MS"/>
                <a:sym typeface="Comic Sans MS"/>
              </a:rPr>
              <a:t>KDC</a:t>
            </a:r>
            <a:endParaRPr/>
          </a:p>
        </p:txBody>
      </p:sp>
      <p:sp>
        <p:nvSpPr>
          <p:cNvPr id="969" name="Google Shape;969;p78"/>
          <p:cNvSpPr txBox="1"/>
          <p:nvPr/>
        </p:nvSpPr>
        <p:spPr>
          <a:xfrm>
            <a:off x="3357562" y="3714750"/>
            <a:ext cx="1216025" cy="369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800"/>
              <a:buFont typeface="Comic Sans MS"/>
              <a:buNone/>
            </a:pPr>
            <a:r>
              <a:rPr lang="en-US" sz="1800" b="0" i="0" u="none">
                <a:solidFill>
                  <a:schemeClr val="dk1"/>
                </a:solidFill>
                <a:latin typeface="Comic Sans MS"/>
                <a:ea typeface="Comic Sans MS"/>
                <a:cs typeface="Comic Sans MS"/>
                <a:sym typeface="Comic Sans MS"/>
              </a:rPr>
              <a:t>Computer</a:t>
            </a:r>
            <a:endParaRPr/>
          </a:p>
        </p:txBody>
      </p:sp>
      <p:pic>
        <p:nvPicPr>
          <p:cNvPr id="970" name="Google Shape;970;p78"/>
          <p:cNvPicPr preferRelativeResize="0"/>
          <p:nvPr/>
        </p:nvPicPr>
        <p:blipFill rotWithShape="1">
          <a:blip r:embed="rId5">
            <a:alphaModFix/>
          </a:blip>
          <a:srcRect/>
          <a:stretch/>
        </p:blipFill>
        <p:spPr>
          <a:xfrm>
            <a:off x="719137" y="2095500"/>
            <a:ext cx="946150" cy="1624012"/>
          </a:xfrm>
          <a:prstGeom prst="rect">
            <a:avLst/>
          </a:prstGeom>
          <a:noFill/>
          <a:ln>
            <a:noFill/>
          </a:ln>
        </p:spPr>
      </p:pic>
      <p:pic>
        <p:nvPicPr>
          <p:cNvPr id="971" name="Google Shape;971;p78"/>
          <p:cNvPicPr preferRelativeResize="0"/>
          <p:nvPr/>
        </p:nvPicPr>
        <p:blipFill rotWithShape="1">
          <a:blip r:embed="rId6">
            <a:alphaModFix/>
          </a:blip>
          <a:srcRect/>
          <a:stretch/>
        </p:blipFill>
        <p:spPr>
          <a:xfrm>
            <a:off x="3429000" y="2357437"/>
            <a:ext cx="984250" cy="137160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59"/>
                                        </p:tgtEl>
                                        <p:attrNameLst>
                                          <p:attrName>style.visibility</p:attrName>
                                        </p:attrNameLst>
                                      </p:cBhvr>
                                      <p:to>
                                        <p:strVal val="visible"/>
                                      </p:to>
                                    </p:set>
                                    <p:anim calcmode="lin" valueType="num">
                                      <p:cBhvr additive="base">
                                        <p:cTn id="7" dur="500"/>
                                        <p:tgtEl>
                                          <p:spTgt spid="959"/>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8" fill="hold" nodeType="clickEffect">
                                  <p:stCondLst>
                                    <p:cond delay="0"/>
                                  </p:stCondLst>
                                  <p:childTnLst>
                                    <p:set>
                                      <p:cBhvr>
                                        <p:cTn id="14" dur="1" fill="hold">
                                          <p:stCondLst>
                                            <p:cond delay="0"/>
                                          </p:stCondLst>
                                        </p:cTn>
                                        <p:tgtEl>
                                          <p:spTgt spid="962"/>
                                        </p:tgtEl>
                                        <p:attrNameLst>
                                          <p:attrName>style.visibility</p:attrName>
                                        </p:attrNameLst>
                                      </p:cBhvr>
                                      <p:to>
                                        <p:strVal val="visible"/>
                                      </p:to>
                                    </p:set>
                                    <p:anim calcmode="lin" valueType="num">
                                      <p:cBhvr additive="base">
                                        <p:cTn id="15" dur="500"/>
                                        <p:tgtEl>
                                          <p:spTgt spid="962"/>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964"/>
                                        </p:tgtEl>
                                        <p:attrNameLst>
                                          <p:attrName>style.visibility</p:attrName>
                                        </p:attrNameLst>
                                      </p:cBhvr>
                                      <p:to>
                                        <p:strVal val="visible"/>
                                      </p:to>
                                    </p:set>
                                  </p:childTnLst>
                                </p:cTn>
                              </p:par>
                            </p:childTnLst>
                          </p:cTn>
                        </p:par>
                        <p:par>
                          <p:cTn id="19" fill="hold">
                            <p:stCondLst>
                              <p:cond delay="501"/>
                            </p:stCondLst>
                            <p:childTnLst>
                              <p:par>
                                <p:cTn id="20" presetID="1" presetClass="entr" presetSubtype="0" fill="hold" nodeType="afterEffect">
                                  <p:stCondLst>
                                    <p:cond delay="0"/>
                                  </p:stCondLst>
                                  <p:childTnLst>
                                    <p:set>
                                      <p:cBhvr>
                                        <p:cTn id="21" dur="1" fill="hold">
                                          <p:stCondLst>
                                            <p:cond delay="0"/>
                                          </p:stCondLst>
                                        </p:cTn>
                                        <p:tgtEl>
                                          <p:spTgt spid="96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 presetClass="entr" presetSubtype="2" fill="hold" nodeType="clickEffect">
                                  <p:stCondLst>
                                    <p:cond delay="0"/>
                                  </p:stCondLst>
                                  <p:childTnLst>
                                    <p:set>
                                      <p:cBhvr>
                                        <p:cTn id="25" dur="1" fill="hold">
                                          <p:stCondLst>
                                            <p:cond delay="0"/>
                                          </p:stCondLst>
                                        </p:cTn>
                                        <p:tgtEl>
                                          <p:spTgt spid="960"/>
                                        </p:tgtEl>
                                        <p:attrNameLst>
                                          <p:attrName>style.visibility</p:attrName>
                                        </p:attrNameLst>
                                      </p:cBhvr>
                                      <p:to>
                                        <p:strVal val="visible"/>
                                      </p:to>
                                    </p:set>
                                    <p:anim calcmode="lin" valueType="num">
                                      <p:cBhvr additive="base">
                                        <p:cTn id="26" dur="500"/>
                                        <p:tgtEl>
                                          <p:spTgt spid="960"/>
                                        </p:tgtEl>
                                        <p:attrNameLst>
                                          <p:attrName>ppt_x</p:attrName>
                                        </p:attrNameLst>
                                      </p:cBhvr>
                                      <p:tavLst>
                                        <p:tav tm="0">
                                          <p:val>
                                            <p:strVal val="#ppt_x+1"/>
                                          </p:val>
                                        </p:tav>
                                        <p:tav tm="100000">
                                          <p:val>
                                            <p:strVal val="#ppt_x"/>
                                          </p:val>
                                        </p:tav>
                                      </p:tavLst>
                                    </p:anim>
                                  </p:childTnLst>
                                </p:cTn>
                              </p:par>
                            </p:childTnLst>
                          </p:cTn>
                        </p:par>
                        <p:par>
                          <p:cTn id="27" fill="hold">
                            <p:stCondLst>
                              <p:cond delay="500"/>
                            </p:stCondLst>
                            <p:childTnLst>
                              <p:par>
                                <p:cTn id="28" presetID="1" presetClass="entr" presetSubtype="0" fill="hold" nodeType="afterEffect">
                                  <p:stCondLst>
                                    <p:cond delay="0"/>
                                  </p:stCondLst>
                                  <p:childTnLst>
                                    <p:set>
                                      <p:cBhvr>
                                        <p:cTn id="29" dur="1" fill="hold">
                                          <p:stCondLst>
                                            <p:cond delay="0"/>
                                          </p:stCondLst>
                                        </p:cTn>
                                        <p:tgtEl>
                                          <p:spTgt spid="966"/>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956"/>
                                        </p:tgtEl>
                                        <p:attrNameLst>
                                          <p:attrName>style.visibility</p:attrName>
                                        </p:attrNameLst>
                                      </p:cBhvr>
                                      <p:to>
                                        <p:strVal val="visible"/>
                                      </p:to>
                                    </p:set>
                                    <p:animEffect transition="in" filter="fade">
                                      <p:cBhvr>
                                        <p:cTn id="34" dur="500"/>
                                        <p:tgtEl>
                                          <p:spTgt spid="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75"/>
        <p:cNvGrpSpPr/>
        <p:nvPr/>
      </p:nvGrpSpPr>
      <p:grpSpPr>
        <a:xfrm>
          <a:off x="0" y="0"/>
          <a:ext cx="0" cy="0"/>
          <a:chOff x="0" y="0"/>
          <a:chExt cx="0" cy="0"/>
        </a:xfrm>
      </p:grpSpPr>
      <p:sp>
        <p:nvSpPr>
          <p:cNvPr id="976" name="Google Shape;976;p79"/>
          <p:cNvSpPr txBox="1">
            <a:spLocks noGrp="1"/>
          </p:cNvSpPr>
          <p:nvPr>
            <p:ph type="title"/>
          </p:nvPr>
        </p:nvSpPr>
        <p:spPr>
          <a:xfrm>
            <a:off x="785812" y="304800"/>
            <a:ext cx="7143750" cy="10525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ALICE USES TICKET TO BOB</a:t>
            </a:r>
            <a:endParaRPr/>
          </a:p>
        </p:txBody>
      </p:sp>
      <p:sp>
        <p:nvSpPr>
          <p:cNvPr id="977" name="Google Shape;977;p79"/>
          <p:cNvSpPr txBox="1">
            <a:spLocks noGrp="1"/>
          </p:cNvSpPr>
          <p:nvPr>
            <p:ph type="body" idx="1"/>
          </p:nvPr>
        </p:nvSpPr>
        <p:spPr>
          <a:xfrm>
            <a:off x="785812" y="4214812"/>
            <a:ext cx="8053387" cy="2000250"/>
          </a:xfrm>
          <a:prstGeom prst="rect">
            <a:avLst/>
          </a:prstGeom>
          <a:noFill/>
          <a:ln>
            <a:noFill/>
          </a:ln>
        </p:spPr>
        <p:txBody>
          <a:bodyPr spcFirstLastPara="1" wrap="square" lIns="91425" tIns="45700" rIns="91425" bIns="45700" anchor="ctr" anchorCtr="0">
            <a:noAutofit/>
          </a:bodyPr>
          <a:lstStyle/>
          <a:p>
            <a:pPr marL="304800" marR="0" lvl="0" indent="-304800" algn="l" rtl="0">
              <a:lnSpc>
                <a:spcPct val="100000"/>
              </a:lnSpc>
              <a:spcBef>
                <a:spcPts val="0"/>
              </a:spcBef>
              <a:spcAft>
                <a:spcPts val="0"/>
              </a:spcAft>
              <a:buClr>
                <a:schemeClr val="accent2"/>
              </a:buClr>
              <a:buSzPts val="2208"/>
              <a:buFont typeface="Noto Sans Symbols"/>
              <a:buChar char="◼"/>
            </a:pPr>
            <a:r>
              <a:rPr lang="en-US" sz="2400" b="0" i="0" u="none">
                <a:solidFill>
                  <a:schemeClr val="dk2"/>
                </a:solidFill>
                <a:latin typeface="Times"/>
                <a:ea typeface="Times"/>
                <a:cs typeface="Times"/>
                <a:sym typeface="Times"/>
              </a:rPr>
              <a:t>ticket to Bob = E(“Alice”, K</a:t>
            </a:r>
            <a:r>
              <a:rPr lang="en-US" sz="2400" b="0" i="0" u="none" baseline="-25000">
                <a:solidFill>
                  <a:schemeClr val="dk2"/>
                </a:solidFill>
                <a:latin typeface="Times"/>
                <a:ea typeface="Times"/>
                <a:cs typeface="Times"/>
                <a:sym typeface="Times"/>
              </a:rPr>
              <a:t>AB</a:t>
            </a:r>
            <a:r>
              <a:rPr lang="en-US" sz="2400" b="0" i="0" u="none">
                <a:solidFill>
                  <a:schemeClr val="dk2"/>
                </a:solidFill>
                <a:latin typeface="Times"/>
                <a:ea typeface="Times"/>
                <a:cs typeface="Times"/>
                <a:sym typeface="Times"/>
              </a:rPr>
              <a:t>, K</a:t>
            </a:r>
            <a:r>
              <a:rPr lang="en-US" sz="2400" b="0" i="0" u="none" baseline="-25000">
                <a:solidFill>
                  <a:schemeClr val="dk2"/>
                </a:solidFill>
                <a:latin typeface="Times"/>
                <a:ea typeface="Times"/>
                <a:cs typeface="Times"/>
                <a:sym typeface="Times"/>
              </a:rPr>
              <a:t>B</a:t>
            </a:r>
            <a:r>
              <a:rPr lang="en-US" sz="2400" b="0" i="0" u="none">
                <a:solidFill>
                  <a:schemeClr val="dk2"/>
                </a:solidFill>
                <a:latin typeface="Times"/>
                <a:ea typeface="Times"/>
                <a:cs typeface="Times"/>
                <a:sym typeface="Times"/>
              </a:rPr>
              <a:t>)</a:t>
            </a:r>
            <a:endParaRPr/>
          </a:p>
          <a:p>
            <a:pPr marL="304800" marR="0" lvl="0" indent="-304800" algn="l" rtl="0">
              <a:lnSpc>
                <a:spcPct val="100000"/>
              </a:lnSpc>
              <a:spcBef>
                <a:spcPts val="600"/>
              </a:spcBef>
              <a:spcAft>
                <a:spcPts val="0"/>
              </a:spcAft>
              <a:buClr>
                <a:schemeClr val="accent2"/>
              </a:buClr>
              <a:buSzPts val="2208"/>
              <a:buFont typeface="Noto Sans Symbols"/>
              <a:buChar char="◼"/>
            </a:pPr>
            <a:r>
              <a:rPr lang="en-US" sz="2400" b="0" i="0" u="none">
                <a:solidFill>
                  <a:schemeClr val="dk2"/>
                </a:solidFill>
                <a:latin typeface="Times"/>
                <a:ea typeface="Times"/>
                <a:cs typeface="Times"/>
                <a:sym typeface="Times"/>
              </a:rPr>
              <a:t>authenticator = E(timestamp, K</a:t>
            </a:r>
            <a:r>
              <a:rPr lang="en-US" sz="2400" b="0" i="0" u="none" baseline="-25000">
                <a:solidFill>
                  <a:schemeClr val="dk2"/>
                </a:solidFill>
                <a:latin typeface="Times"/>
                <a:ea typeface="Times"/>
                <a:cs typeface="Times"/>
                <a:sym typeface="Times"/>
              </a:rPr>
              <a:t>AB</a:t>
            </a:r>
            <a:r>
              <a:rPr lang="en-US" sz="2400" b="0" i="0" u="none">
                <a:solidFill>
                  <a:schemeClr val="dk2"/>
                </a:solidFill>
                <a:latin typeface="Times"/>
                <a:ea typeface="Times"/>
                <a:cs typeface="Times"/>
                <a:sym typeface="Times"/>
              </a:rPr>
              <a:t>)</a:t>
            </a:r>
            <a:endParaRPr sz="2400" b="0" i="0" u="none">
              <a:solidFill>
                <a:schemeClr val="dk2"/>
              </a:solidFill>
              <a:latin typeface="Gill Sans"/>
              <a:ea typeface="Gill Sans"/>
              <a:cs typeface="Gill Sans"/>
              <a:sym typeface="Gill Sans"/>
            </a:endParaRPr>
          </a:p>
          <a:p>
            <a:pPr marL="304800" marR="0" lvl="0" indent="-304800" algn="l" rtl="0">
              <a:lnSpc>
                <a:spcPct val="100000"/>
              </a:lnSpc>
              <a:spcBef>
                <a:spcPts val="600"/>
              </a:spcBef>
              <a:spcAft>
                <a:spcPts val="0"/>
              </a:spcAft>
              <a:buClr>
                <a:schemeClr val="accent2"/>
              </a:buClr>
              <a:buSzPts val="2208"/>
              <a:buFont typeface="Noto Sans Symbols"/>
              <a:buChar char="◼"/>
            </a:pPr>
            <a:r>
              <a:rPr lang="en-US" sz="2400" b="0" i="0" u="none">
                <a:solidFill>
                  <a:srgbClr val="0000FF"/>
                </a:solidFill>
                <a:latin typeface="Gill Sans"/>
                <a:ea typeface="Gill Sans"/>
                <a:cs typeface="Gill Sans"/>
                <a:sym typeface="Gill Sans"/>
              </a:rPr>
              <a:t>Bob decrypts </a:t>
            </a:r>
            <a:r>
              <a:rPr lang="en-US" sz="2400" b="0" i="0" u="none">
                <a:solidFill>
                  <a:srgbClr val="0000FF"/>
                </a:solidFill>
                <a:latin typeface="Times"/>
                <a:ea typeface="Times"/>
                <a:cs typeface="Times"/>
                <a:sym typeface="Times"/>
              </a:rPr>
              <a:t>“ticket to Bob”</a:t>
            </a:r>
            <a:r>
              <a:rPr lang="en-US" sz="2400" b="0" i="0" u="none">
                <a:solidFill>
                  <a:srgbClr val="0000FF"/>
                </a:solidFill>
                <a:latin typeface="Gill Sans"/>
                <a:ea typeface="Gill Sans"/>
                <a:cs typeface="Gill Sans"/>
                <a:sym typeface="Gill Sans"/>
              </a:rPr>
              <a:t> to get </a:t>
            </a:r>
            <a:r>
              <a:rPr lang="en-US" sz="2400" b="0" i="0" u="none">
                <a:solidFill>
                  <a:srgbClr val="0000FF"/>
                </a:solidFill>
                <a:latin typeface="Times"/>
                <a:ea typeface="Times"/>
                <a:cs typeface="Times"/>
                <a:sym typeface="Times"/>
              </a:rPr>
              <a:t>K</a:t>
            </a:r>
            <a:r>
              <a:rPr lang="en-US" sz="2400" b="0" i="0" u="none" baseline="-25000">
                <a:solidFill>
                  <a:srgbClr val="0000FF"/>
                </a:solidFill>
                <a:latin typeface="Times"/>
                <a:ea typeface="Times"/>
                <a:cs typeface="Times"/>
                <a:sym typeface="Times"/>
              </a:rPr>
              <a:t>AB</a:t>
            </a:r>
            <a:r>
              <a:rPr lang="en-US" sz="2400" b="0" i="0" u="none">
                <a:solidFill>
                  <a:srgbClr val="0000FF"/>
                </a:solidFill>
                <a:latin typeface="Gill Sans"/>
                <a:ea typeface="Gill Sans"/>
                <a:cs typeface="Gill Sans"/>
                <a:sym typeface="Gill Sans"/>
              </a:rPr>
              <a:t> which he then uses to verify </a:t>
            </a:r>
            <a:r>
              <a:rPr lang="en-US" sz="2400" b="0" i="0" u="none">
                <a:solidFill>
                  <a:srgbClr val="0000FF"/>
                </a:solidFill>
                <a:latin typeface="Times"/>
                <a:ea typeface="Times"/>
                <a:cs typeface="Times"/>
                <a:sym typeface="Times"/>
              </a:rPr>
              <a:t>timestamp</a:t>
            </a:r>
            <a:endParaRPr/>
          </a:p>
        </p:txBody>
      </p:sp>
      <p:sp>
        <p:nvSpPr>
          <p:cNvPr id="978" name="Google Shape;978;p79"/>
          <p:cNvSpPr txBox="1"/>
          <p:nvPr/>
        </p:nvSpPr>
        <p:spPr>
          <a:xfrm>
            <a:off x="581025" y="6169024"/>
            <a:ext cx="7348537" cy="601663"/>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979" name="Google Shape;979;p79"/>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27</a:t>
            </a:fld>
            <a:endParaRPr/>
          </a:p>
        </p:txBody>
      </p:sp>
      <p:cxnSp>
        <p:nvCxnSpPr>
          <p:cNvPr id="980" name="Google Shape;980;p79"/>
          <p:cNvCxnSpPr/>
          <p:nvPr/>
        </p:nvCxnSpPr>
        <p:spPr>
          <a:xfrm flipH="1">
            <a:off x="2571750" y="3143250"/>
            <a:ext cx="4114800" cy="26987"/>
          </a:xfrm>
          <a:prstGeom prst="straightConnector1">
            <a:avLst/>
          </a:prstGeom>
          <a:noFill/>
          <a:ln w="50800" cap="flat" cmpd="sng">
            <a:solidFill>
              <a:schemeClr val="dk1"/>
            </a:solidFill>
            <a:prstDash val="solid"/>
            <a:miter lim="800000"/>
            <a:headEnd type="none" w="med" len="med"/>
            <a:tailEnd type="triangle" w="med" len="med"/>
          </a:ln>
        </p:spPr>
      </p:cxnSp>
      <p:cxnSp>
        <p:nvCxnSpPr>
          <p:cNvPr id="981" name="Google Shape;981;p79"/>
          <p:cNvCxnSpPr/>
          <p:nvPr/>
        </p:nvCxnSpPr>
        <p:spPr>
          <a:xfrm rot="10800000" flipH="1">
            <a:off x="2571750" y="2500312"/>
            <a:ext cx="4113212" cy="25400"/>
          </a:xfrm>
          <a:prstGeom prst="straightConnector1">
            <a:avLst/>
          </a:prstGeom>
          <a:noFill/>
          <a:ln w="50800" cap="flat" cmpd="sng">
            <a:solidFill>
              <a:schemeClr val="dk1"/>
            </a:solidFill>
            <a:prstDash val="solid"/>
            <a:miter lim="800000"/>
            <a:headEnd type="none" w="med" len="med"/>
            <a:tailEnd type="triangle" w="med" len="med"/>
          </a:ln>
        </p:spPr>
      </p:cxnSp>
      <p:sp>
        <p:nvSpPr>
          <p:cNvPr id="982" name="Google Shape;982;p79"/>
          <p:cNvSpPr txBox="1"/>
          <p:nvPr/>
        </p:nvSpPr>
        <p:spPr>
          <a:xfrm>
            <a:off x="3214687" y="2143125"/>
            <a:ext cx="2916237"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ticket to Bob, authenticator</a:t>
            </a:r>
            <a:endParaRPr/>
          </a:p>
        </p:txBody>
      </p:sp>
      <p:sp>
        <p:nvSpPr>
          <p:cNvPr id="983" name="Google Shape;983;p79"/>
          <p:cNvSpPr txBox="1"/>
          <p:nvPr/>
        </p:nvSpPr>
        <p:spPr>
          <a:xfrm>
            <a:off x="3571875" y="2786062"/>
            <a:ext cx="2371725" cy="369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800"/>
              <a:buFont typeface="Times"/>
              <a:buNone/>
            </a:pPr>
            <a:r>
              <a:rPr lang="en-US" sz="1800" b="0" i="0" u="none">
                <a:solidFill>
                  <a:schemeClr val="dk1"/>
                </a:solidFill>
                <a:latin typeface="Times"/>
                <a:ea typeface="Times"/>
                <a:cs typeface="Times"/>
                <a:sym typeface="Times"/>
              </a:rPr>
              <a:t>E(timestamp + 1,K</a:t>
            </a:r>
            <a:r>
              <a:rPr lang="en-US" sz="1800" b="0" i="0" u="none" baseline="-25000">
                <a:solidFill>
                  <a:schemeClr val="dk1"/>
                </a:solidFill>
                <a:latin typeface="Times"/>
                <a:ea typeface="Times"/>
                <a:cs typeface="Times"/>
                <a:sym typeface="Times"/>
              </a:rPr>
              <a:t>AB</a:t>
            </a:r>
            <a:r>
              <a:rPr lang="en-US" sz="1800" b="0" i="0" u="none">
                <a:solidFill>
                  <a:schemeClr val="dk1"/>
                </a:solidFill>
                <a:latin typeface="Times"/>
                <a:ea typeface="Times"/>
                <a:cs typeface="Times"/>
                <a:sym typeface="Times"/>
              </a:rPr>
              <a:t>)</a:t>
            </a:r>
            <a:endParaRPr/>
          </a:p>
        </p:txBody>
      </p:sp>
      <p:sp>
        <p:nvSpPr>
          <p:cNvPr id="984" name="Google Shape;984;p79"/>
          <p:cNvSpPr txBox="1"/>
          <p:nvPr/>
        </p:nvSpPr>
        <p:spPr>
          <a:xfrm>
            <a:off x="1143000" y="3500437"/>
            <a:ext cx="1327150" cy="587375"/>
          </a:xfrm>
          <a:prstGeom prst="rect">
            <a:avLst/>
          </a:prstGeom>
          <a:noFill/>
          <a:ln>
            <a:noFill/>
          </a:ln>
        </p:spPr>
        <p:txBody>
          <a:bodyPr spcFirstLastPara="1" wrap="square" lIns="91425" tIns="45700" rIns="91425" bIns="45700" anchor="t" anchorCtr="0">
            <a:spAutoFit/>
          </a:bodyPr>
          <a:lstStyle/>
          <a:p>
            <a:pPr marL="0" marR="0" lvl="0" indent="0" algn="ctr" rtl="0">
              <a:lnSpc>
                <a:spcPct val="80000"/>
              </a:lnSpc>
              <a:spcBef>
                <a:spcPts val="0"/>
              </a:spcBef>
              <a:spcAft>
                <a:spcPts val="0"/>
              </a:spcAft>
              <a:buClr>
                <a:schemeClr val="dk1"/>
              </a:buClr>
              <a:buSzPts val="2000"/>
              <a:buFont typeface="Comic Sans MS"/>
              <a:buNone/>
            </a:pPr>
            <a:r>
              <a:rPr lang="en-US" sz="2000" b="0" i="0" u="none">
                <a:solidFill>
                  <a:schemeClr val="dk1"/>
                </a:solidFill>
                <a:latin typeface="Comic Sans MS"/>
                <a:ea typeface="Comic Sans MS"/>
                <a:cs typeface="Comic Sans MS"/>
                <a:sym typeface="Comic Sans MS"/>
              </a:rPr>
              <a:t>Alice’s </a:t>
            </a:r>
            <a:endParaRPr/>
          </a:p>
          <a:p>
            <a:pPr marL="0" marR="0" lvl="0" indent="0" algn="ctr" rtl="0">
              <a:lnSpc>
                <a:spcPct val="80000"/>
              </a:lnSpc>
              <a:spcBef>
                <a:spcPts val="0"/>
              </a:spcBef>
              <a:spcAft>
                <a:spcPts val="0"/>
              </a:spcAft>
              <a:buClr>
                <a:schemeClr val="dk1"/>
              </a:buClr>
              <a:buSzPts val="2000"/>
              <a:buFont typeface="Comic Sans MS"/>
              <a:buNone/>
            </a:pPr>
            <a:r>
              <a:rPr lang="en-US" sz="2000" b="0" i="0" u="none">
                <a:solidFill>
                  <a:schemeClr val="dk1"/>
                </a:solidFill>
                <a:latin typeface="Comic Sans MS"/>
                <a:ea typeface="Comic Sans MS"/>
                <a:cs typeface="Comic Sans MS"/>
                <a:sym typeface="Comic Sans MS"/>
              </a:rPr>
              <a:t>Computer</a:t>
            </a:r>
            <a:endParaRPr/>
          </a:p>
        </p:txBody>
      </p:sp>
      <p:sp>
        <p:nvSpPr>
          <p:cNvPr id="985" name="Google Shape;985;p79"/>
          <p:cNvSpPr txBox="1"/>
          <p:nvPr/>
        </p:nvSpPr>
        <p:spPr>
          <a:xfrm>
            <a:off x="7215187" y="3500437"/>
            <a:ext cx="633412" cy="40005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2000"/>
              <a:buFont typeface="Comic Sans MS"/>
              <a:buNone/>
            </a:pPr>
            <a:r>
              <a:rPr lang="en-US" sz="2000" b="0" i="0" u="none">
                <a:solidFill>
                  <a:schemeClr val="dk1"/>
                </a:solidFill>
                <a:latin typeface="Comic Sans MS"/>
                <a:ea typeface="Comic Sans MS"/>
                <a:cs typeface="Comic Sans MS"/>
                <a:sym typeface="Comic Sans MS"/>
              </a:rPr>
              <a:t>Bob</a:t>
            </a:r>
            <a:endParaRPr/>
          </a:p>
        </p:txBody>
      </p:sp>
      <p:pic>
        <p:nvPicPr>
          <p:cNvPr id="986" name="Google Shape;986;p79"/>
          <p:cNvPicPr preferRelativeResize="0"/>
          <p:nvPr/>
        </p:nvPicPr>
        <p:blipFill rotWithShape="1">
          <a:blip r:embed="rId4">
            <a:alphaModFix/>
          </a:blip>
          <a:srcRect/>
          <a:stretch/>
        </p:blipFill>
        <p:spPr>
          <a:xfrm>
            <a:off x="7010400" y="1752600"/>
            <a:ext cx="1076325" cy="1665287"/>
          </a:xfrm>
          <a:prstGeom prst="rect">
            <a:avLst/>
          </a:prstGeom>
          <a:noFill/>
          <a:ln>
            <a:noFill/>
          </a:ln>
        </p:spPr>
      </p:pic>
      <p:pic>
        <p:nvPicPr>
          <p:cNvPr id="987" name="Google Shape;987;p79"/>
          <p:cNvPicPr preferRelativeResize="0"/>
          <p:nvPr/>
        </p:nvPicPr>
        <p:blipFill rotWithShape="1">
          <a:blip r:embed="rId5">
            <a:alphaModFix/>
          </a:blip>
          <a:srcRect/>
          <a:stretch/>
        </p:blipFill>
        <p:spPr>
          <a:xfrm>
            <a:off x="1295400" y="2057400"/>
            <a:ext cx="984250" cy="1371600"/>
          </a:xfrm>
          <a:prstGeom prst="rect">
            <a:avLst/>
          </a:prstGeom>
          <a:noFill/>
          <a:ln>
            <a:noFill/>
          </a:ln>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981"/>
                                        </p:tgtEl>
                                        <p:attrNameLst>
                                          <p:attrName>style.visibility</p:attrName>
                                        </p:attrNameLst>
                                      </p:cBhvr>
                                      <p:to>
                                        <p:strVal val="visible"/>
                                      </p:to>
                                    </p:set>
                                    <p:anim calcmode="lin" valueType="num">
                                      <p:cBhvr additive="base">
                                        <p:cTn id="7" dur="500"/>
                                        <p:tgtEl>
                                          <p:spTgt spid="981"/>
                                        </p:tgtEl>
                                        <p:attrNameLst>
                                          <p:attrName>ppt_x</p:attrName>
                                        </p:attrNameLst>
                                      </p:cBhvr>
                                      <p:tavLst>
                                        <p:tav tm="0">
                                          <p:val>
                                            <p:strVal val="#ppt_x-1"/>
                                          </p:val>
                                        </p:tav>
                                        <p:tav tm="100000">
                                          <p:val>
                                            <p:strVal val="#ppt_x"/>
                                          </p:val>
                                        </p:tav>
                                      </p:tavLst>
                                    </p:anim>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98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2" fill="hold" nodeType="clickEffect">
                                  <p:stCondLst>
                                    <p:cond delay="0"/>
                                  </p:stCondLst>
                                  <p:childTnLst>
                                    <p:set>
                                      <p:cBhvr>
                                        <p:cTn id="14" dur="1" fill="hold">
                                          <p:stCondLst>
                                            <p:cond delay="0"/>
                                          </p:stCondLst>
                                        </p:cTn>
                                        <p:tgtEl>
                                          <p:spTgt spid="980"/>
                                        </p:tgtEl>
                                        <p:attrNameLst>
                                          <p:attrName>style.visibility</p:attrName>
                                        </p:attrNameLst>
                                      </p:cBhvr>
                                      <p:to>
                                        <p:strVal val="visible"/>
                                      </p:to>
                                    </p:set>
                                    <p:anim calcmode="lin" valueType="num">
                                      <p:cBhvr additive="base">
                                        <p:cTn id="15" dur="500"/>
                                        <p:tgtEl>
                                          <p:spTgt spid="980"/>
                                        </p:tgtEl>
                                        <p:attrNameLst>
                                          <p:attrName>ppt_x</p:attrName>
                                        </p:attrNameLst>
                                      </p:cBhvr>
                                      <p:tavLst>
                                        <p:tav tm="0">
                                          <p:val>
                                            <p:strVal val="#ppt_x+1"/>
                                          </p:val>
                                        </p:tav>
                                        <p:tav tm="100000">
                                          <p:val>
                                            <p:strVal val="#ppt_x"/>
                                          </p:val>
                                        </p:tav>
                                      </p:tavLst>
                                    </p:anim>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98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977"/>
                                        </p:tgtEl>
                                        <p:attrNameLst>
                                          <p:attrName>style.visibility</p:attrName>
                                        </p:attrNameLst>
                                      </p:cBhvr>
                                      <p:to>
                                        <p:strVal val="visible"/>
                                      </p:to>
                                    </p:set>
                                    <p:animEffect transition="in" filter="fade">
                                      <p:cBhvr>
                                        <p:cTn id="23" dur="500"/>
                                        <p:tgtEl>
                                          <p:spTgt spid="9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
            <a:ext cx="9144000" cy="6812280"/>
          </a:xfrm>
          <a:prstGeom prst="rect">
            <a:avLst/>
          </a:prstGeom>
        </p:spPr>
      </p:pic>
    </p:spTree>
    <p:extLst>
      <p:ext uri="{BB962C8B-B14F-4D97-AF65-F5344CB8AC3E}">
        <p14:creationId xmlns:p14="http://schemas.microsoft.com/office/powerpoint/2010/main" val="454585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80"/>
          <p:cNvSpPr txBox="1">
            <a:spLocks noGrp="1"/>
          </p:cNvSpPr>
          <p:nvPr>
            <p:ph type="title"/>
          </p:nvPr>
        </p:nvSpPr>
        <p:spPr>
          <a:xfrm>
            <a:off x="581025" y="687387"/>
            <a:ext cx="7989887" cy="1082675"/>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KERBEROS</a:t>
            </a:r>
            <a:endParaRPr/>
          </a:p>
        </p:txBody>
      </p:sp>
      <p:sp>
        <p:nvSpPr>
          <p:cNvPr id="993" name="Google Shape;993;p80"/>
          <p:cNvSpPr txBox="1">
            <a:spLocks noGrp="1"/>
          </p:cNvSpPr>
          <p:nvPr>
            <p:ph type="body" idx="1"/>
          </p:nvPr>
        </p:nvSpPr>
        <p:spPr>
          <a:xfrm>
            <a:off x="714375" y="1821052"/>
            <a:ext cx="7715250" cy="4381500"/>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90000"/>
              </a:lnSpc>
              <a:spcBef>
                <a:spcPts val="0"/>
              </a:spcBef>
              <a:spcAft>
                <a:spcPts val="0"/>
              </a:spcAft>
              <a:buClr>
                <a:schemeClr val="accent2"/>
              </a:buClr>
              <a:buSzPts val="2576"/>
              <a:buFont typeface="Noto Sans Symbols"/>
              <a:buChar char="◼"/>
            </a:pPr>
            <a:r>
              <a:rPr lang="en-US" sz="2800" b="0" i="0" u="none" dirty="0">
                <a:solidFill>
                  <a:srgbClr val="0000FF"/>
                </a:solidFill>
                <a:latin typeface="Gill Sans"/>
                <a:ea typeface="Gill Sans"/>
                <a:cs typeface="Gill Sans"/>
                <a:sym typeface="Gill Sans"/>
              </a:rPr>
              <a:t>Session key </a:t>
            </a:r>
            <a:r>
              <a:rPr lang="en-US" sz="2800" b="0" i="0" u="none" dirty="0">
                <a:solidFill>
                  <a:srgbClr val="0000FF"/>
                </a:solidFill>
                <a:latin typeface="Times"/>
                <a:ea typeface="Times"/>
                <a:cs typeface="Times"/>
                <a:sym typeface="Times"/>
              </a:rPr>
              <a:t>S</a:t>
            </a:r>
            <a:r>
              <a:rPr lang="en-US" sz="2800" b="0" i="0" u="none" baseline="-25000" dirty="0">
                <a:solidFill>
                  <a:srgbClr val="0000FF"/>
                </a:solidFill>
                <a:latin typeface="Times"/>
                <a:ea typeface="Times"/>
                <a:cs typeface="Times"/>
                <a:sym typeface="Times"/>
              </a:rPr>
              <a:t>A</a:t>
            </a:r>
            <a:r>
              <a:rPr lang="en-US" sz="2800" b="0" i="0" u="none" dirty="0">
                <a:solidFill>
                  <a:srgbClr val="0000FF"/>
                </a:solidFill>
                <a:latin typeface="Gill Sans"/>
                <a:ea typeface="Gill Sans"/>
                <a:cs typeface="Gill Sans"/>
                <a:sym typeface="Gill Sans"/>
              </a:rPr>
              <a:t> </a:t>
            </a:r>
            <a:r>
              <a:rPr lang="en-US" sz="2800" b="0" i="0" u="none" dirty="0">
                <a:solidFill>
                  <a:schemeClr val="dk2"/>
                </a:solidFill>
                <a:latin typeface="Gill Sans"/>
                <a:ea typeface="Gill Sans"/>
                <a:cs typeface="Gill Sans"/>
                <a:sym typeface="Gill Sans"/>
              </a:rPr>
              <a:t>used for </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FF0000"/>
                </a:solidFill>
                <a:latin typeface="Gill Sans"/>
                <a:ea typeface="Gill Sans"/>
                <a:cs typeface="Gill Sans"/>
                <a:sym typeface="Gill Sans"/>
              </a:rPr>
              <a:t>authentication</a:t>
            </a:r>
            <a:r>
              <a:rPr lang="en-US" sz="2400" b="0" i="0" u="none" strike="noStrike" cap="none" dirty="0">
                <a:solidFill>
                  <a:srgbClr val="0000FF"/>
                </a:solidFill>
                <a:latin typeface="Gill Sans"/>
                <a:ea typeface="Gill Sans"/>
                <a:cs typeface="Gill Sans"/>
                <a:sym typeface="Gill Sans"/>
              </a:rPr>
              <a:t> </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Can also be used for </a:t>
            </a:r>
            <a:r>
              <a:rPr lang="en-US" sz="2400" b="0" i="0" u="none" strike="noStrike" cap="none" dirty="0">
                <a:solidFill>
                  <a:srgbClr val="0000FF"/>
                </a:solidFill>
                <a:latin typeface="Gill Sans"/>
                <a:ea typeface="Gill Sans"/>
                <a:cs typeface="Gill Sans"/>
                <a:sym typeface="Gill Sans"/>
              </a:rPr>
              <a:t>confidentiality/integrity</a:t>
            </a:r>
            <a:endParaRPr dirty="0"/>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dirty="0">
                <a:solidFill>
                  <a:srgbClr val="0000FF"/>
                </a:solidFill>
                <a:latin typeface="Gill Sans"/>
                <a:ea typeface="Gill Sans"/>
                <a:cs typeface="Gill Sans"/>
                <a:sym typeface="Gill Sans"/>
              </a:rPr>
              <a:t>Timestamps</a:t>
            </a:r>
            <a:r>
              <a:rPr lang="en-US" sz="2800" b="0" i="0" u="none" dirty="0">
                <a:solidFill>
                  <a:schemeClr val="dk2"/>
                </a:solidFill>
                <a:latin typeface="Gill Sans"/>
                <a:ea typeface="Gill Sans"/>
                <a:cs typeface="Gill Sans"/>
                <a:sym typeface="Gill Sans"/>
              </a:rPr>
              <a:t> used for </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rgbClr val="FF0000"/>
                </a:solidFill>
                <a:latin typeface="Gill Sans"/>
                <a:ea typeface="Gill Sans"/>
                <a:cs typeface="Gill Sans"/>
                <a:sym typeface="Gill Sans"/>
              </a:rPr>
              <a:t>mutual authentication</a:t>
            </a:r>
            <a:endParaRPr dirty="0"/>
          </a:p>
          <a:p>
            <a:pPr marL="304800" marR="0" lvl="0" indent="-304800" algn="l" rtl="0">
              <a:lnSpc>
                <a:spcPct val="90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Recall that timestamps reduce number of messages</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Acts like a nonce that is known to both sides</a:t>
            </a:r>
            <a:endParaRPr dirty="0"/>
          </a:p>
          <a:p>
            <a:pPr marL="628650" marR="0" lvl="1" indent="-304800" algn="l" rtl="0">
              <a:lnSpc>
                <a:spcPct val="90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Note:</a:t>
            </a:r>
            <a:r>
              <a:rPr lang="en-US" sz="2400" b="1" i="0" u="none" strike="noStrike" cap="none" dirty="0">
                <a:solidFill>
                  <a:schemeClr val="accent2"/>
                </a:solidFill>
                <a:latin typeface="Gill Sans"/>
                <a:ea typeface="Gill Sans"/>
                <a:cs typeface="Gill Sans"/>
                <a:sym typeface="Gill Sans"/>
              </a:rPr>
              <a:t> </a:t>
            </a:r>
            <a:r>
              <a:rPr lang="en-US" sz="2400" b="1" i="0" u="none" strike="noStrike" cap="none" dirty="0">
                <a:solidFill>
                  <a:srgbClr val="FF0000"/>
                </a:solidFill>
                <a:latin typeface="Gill Sans"/>
                <a:ea typeface="Gill Sans"/>
                <a:cs typeface="Gill Sans"/>
                <a:sym typeface="Gill Sans"/>
              </a:rPr>
              <a:t>time</a:t>
            </a:r>
            <a:r>
              <a:rPr lang="en-US" sz="2400" b="0" i="0" u="none" strike="noStrike" cap="none" dirty="0">
                <a:solidFill>
                  <a:srgbClr val="FF0000"/>
                </a:solidFill>
                <a:latin typeface="Gill Sans"/>
                <a:ea typeface="Gill Sans"/>
                <a:cs typeface="Gill Sans"/>
                <a:sym typeface="Gill Sans"/>
              </a:rPr>
              <a:t> </a:t>
            </a:r>
            <a:r>
              <a:rPr lang="en-US" sz="2400" b="0" i="0" u="none" strike="noStrike" cap="none" dirty="0">
                <a:solidFill>
                  <a:schemeClr val="dk2"/>
                </a:solidFill>
                <a:latin typeface="Gill Sans"/>
                <a:ea typeface="Gill Sans"/>
                <a:cs typeface="Gill Sans"/>
                <a:sym typeface="Gill Sans"/>
              </a:rPr>
              <a:t>is a security-critical parameter!</a:t>
            </a:r>
            <a:endParaRPr dirty="0"/>
          </a:p>
        </p:txBody>
      </p:sp>
      <p:sp>
        <p:nvSpPr>
          <p:cNvPr id="994" name="Google Shape;994;p80"/>
          <p:cNvSpPr txBox="1"/>
          <p:nvPr/>
        </p:nvSpPr>
        <p:spPr>
          <a:xfrm>
            <a:off x="573088" y="5956300"/>
            <a:ext cx="6642735" cy="778447"/>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a:solidFill>
                  <a:schemeClr val="dk1"/>
                </a:solidFill>
                <a:latin typeface="Comic Sans MS"/>
                <a:ea typeface="Comic Sans MS"/>
                <a:cs typeface="Comic Sans MS"/>
                <a:sym typeface="Comic Sans MS"/>
              </a:rPr>
              <a:t>CHAPTER 10  REAL WORLD SECURITY PROTOCOLS       PREPARED BY: DR. MUHAMMAD IQBAL HOSSAIN</a:t>
            </a:r>
            <a:endParaRPr/>
          </a:p>
        </p:txBody>
      </p:sp>
      <p:sp>
        <p:nvSpPr>
          <p:cNvPr id="995" name="Google Shape;995;p80"/>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85"/>
          <p:cNvSpPr txBox="1">
            <a:spLocks noGrp="1"/>
          </p:cNvSpPr>
          <p:nvPr>
            <p:ph type="title"/>
          </p:nvPr>
        </p:nvSpPr>
        <p:spPr>
          <a:xfrm>
            <a:off x="785812" y="457200"/>
            <a:ext cx="7143750" cy="900112"/>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n-US" sz="2800" b="0" i="0" u="none">
                <a:solidFill>
                  <a:schemeClr val="lt1"/>
                </a:solidFill>
                <a:latin typeface="Gill Sans"/>
                <a:ea typeface="Gill Sans"/>
                <a:cs typeface="Gill Sans"/>
                <a:sym typeface="Gill Sans"/>
              </a:rPr>
              <a:t>KERBEROS KEYS</a:t>
            </a:r>
            <a:endParaRPr/>
          </a:p>
        </p:txBody>
      </p:sp>
      <p:sp>
        <p:nvSpPr>
          <p:cNvPr id="1033" name="Google Shape;1033;p85"/>
          <p:cNvSpPr txBox="1">
            <a:spLocks noGrp="1"/>
          </p:cNvSpPr>
          <p:nvPr>
            <p:ph type="body" idx="1"/>
          </p:nvPr>
        </p:nvSpPr>
        <p:spPr>
          <a:xfrm>
            <a:off x="785812" y="1714500"/>
            <a:ext cx="7672387" cy="4500562"/>
          </a:xfrm>
          <a:prstGeom prst="rect">
            <a:avLst/>
          </a:prstGeom>
          <a:noFill/>
          <a:ln>
            <a:noFill/>
          </a:ln>
        </p:spPr>
        <p:txBody>
          <a:bodyPr spcFirstLastPara="1" wrap="square" lIns="91425" tIns="45700" rIns="91425" bIns="45700" anchor="ctr" anchorCtr="0">
            <a:normAutofit/>
          </a:bodyPr>
          <a:lstStyle/>
          <a:p>
            <a:pPr marL="304800" marR="0" lvl="0" indent="-304800" algn="l" rtl="0">
              <a:lnSpc>
                <a:spcPct val="85000"/>
              </a:lnSpc>
              <a:spcBef>
                <a:spcPts val="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In Kerberos, </a:t>
            </a:r>
            <a:r>
              <a:rPr lang="en-US" sz="2800" b="0" i="0" u="none" dirty="0">
                <a:solidFill>
                  <a:srgbClr val="FF0000"/>
                </a:solidFill>
                <a:latin typeface="Times"/>
                <a:ea typeface="Times"/>
                <a:cs typeface="Times"/>
                <a:sym typeface="Times"/>
              </a:rPr>
              <a:t>K</a:t>
            </a:r>
            <a:r>
              <a:rPr lang="en-US" sz="2800" b="0" i="0" u="none" baseline="-25000" dirty="0">
                <a:solidFill>
                  <a:srgbClr val="FF0000"/>
                </a:solidFill>
                <a:latin typeface="Times"/>
                <a:ea typeface="Times"/>
                <a:cs typeface="Times"/>
                <a:sym typeface="Times"/>
              </a:rPr>
              <a:t>A</a:t>
            </a:r>
            <a:r>
              <a:rPr lang="en-US" sz="2800" b="0" i="0" u="none" dirty="0">
                <a:solidFill>
                  <a:srgbClr val="FF0000"/>
                </a:solidFill>
                <a:latin typeface="Times"/>
                <a:ea typeface="Times"/>
                <a:cs typeface="Times"/>
                <a:sym typeface="Times"/>
              </a:rPr>
              <a:t> = h(Alice’s password)</a:t>
            </a:r>
            <a:endParaRPr sz="2800" b="0" i="0" u="none" dirty="0">
              <a:solidFill>
                <a:srgbClr val="FF0000"/>
              </a:solidFill>
              <a:latin typeface="Gill Sans"/>
              <a:ea typeface="Gill Sans"/>
              <a:cs typeface="Gill Sans"/>
              <a:sym typeface="Gill Sans"/>
            </a:endParaRPr>
          </a:p>
          <a:p>
            <a:pPr marL="304800" marR="0" lvl="0" indent="-304800" algn="l" rtl="0">
              <a:lnSpc>
                <a:spcPct val="85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Could instead generate random </a:t>
            </a:r>
            <a:r>
              <a:rPr lang="en-US" sz="2800" b="0" i="0" u="none" dirty="0">
                <a:solidFill>
                  <a:schemeClr val="dk2"/>
                </a:solidFill>
                <a:latin typeface="Times"/>
                <a:ea typeface="Times"/>
                <a:cs typeface="Times"/>
                <a:sym typeface="Times"/>
              </a:rPr>
              <a:t>K</a:t>
            </a:r>
            <a:r>
              <a:rPr lang="en-US" sz="2800" b="0" i="0" u="none" baseline="-25000" dirty="0">
                <a:solidFill>
                  <a:schemeClr val="dk2"/>
                </a:solidFill>
                <a:latin typeface="Times"/>
                <a:ea typeface="Times"/>
                <a:cs typeface="Times"/>
                <a:sym typeface="Times"/>
              </a:rPr>
              <a:t>A</a:t>
            </a:r>
            <a:r>
              <a:rPr lang="en-US" sz="2800" b="0" i="0" u="none" dirty="0">
                <a:solidFill>
                  <a:schemeClr val="dk2"/>
                </a:solidFill>
                <a:latin typeface="Gill Sans"/>
                <a:ea typeface="Gill Sans"/>
                <a:cs typeface="Gill Sans"/>
                <a:sym typeface="Gill Sans"/>
              </a:rPr>
              <a:t> and</a:t>
            </a:r>
            <a:endParaRPr dirty="0"/>
          </a:p>
          <a:p>
            <a:pPr marL="628650" marR="0" lvl="1" indent="-304800" algn="l" rtl="0">
              <a:lnSpc>
                <a:spcPct val="85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Compute </a:t>
            </a:r>
            <a:r>
              <a:rPr lang="en-US" sz="2400" b="0" i="0" u="none" strike="noStrike" cap="none" dirty="0" err="1">
                <a:solidFill>
                  <a:srgbClr val="FF0000"/>
                </a:solidFill>
                <a:latin typeface="Times"/>
                <a:ea typeface="Times"/>
                <a:cs typeface="Times"/>
                <a:sym typeface="Times"/>
              </a:rPr>
              <a:t>K</a:t>
            </a:r>
            <a:r>
              <a:rPr lang="en-US" sz="2400" b="0" i="0" u="none" strike="noStrike" cap="none" baseline="-25000" dirty="0" err="1">
                <a:solidFill>
                  <a:srgbClr val="FF0000"/>
                </a:solidFill>
                <a:latin typeface="Times"/>
                <a:ea typeface="Times"/>
                <a:cs typeface="Times"/>
                <a:sym typeface="Times"/>
              </a:rPr>
              <a:t>h</a:t>
            </a:r>
            <a:r>
              <a:rPr lang="en-US" sz="2400" b="0" i="0" u="none" strike="noStrike" cap="none" dirty="0">
                <a:solidFill>
                  <a:srgbClr val="FF0000"/>
                </a:solidFill>
                <a:latin typeface="Times"/>
                <a:ea typeface="Times"/>
                <a:cs typeface="Times"/>
                <a:sym typeface="Times"/>
              </a:rPr>
              <a:t> = h(Alice’s password)</a:t>
            </a:r>
            <a:endParaRPr dirty="0"/>
          </a:p>
          <a:p>
            <a:pPr marL="628650" marR="0" lvl="1" indent="-304800" algn="l" rtl="0">
              <a:lnSpc>
                <a:spcPct val="85000"/>
              </a:lnSpc>
              <a:spcBef>
                <a:spcPts val="1080"/>
              </a:spcBef>
              <a:spcAft>
                <a:spcPts val="0"/>
              </a:spcAft>
              <a:buClr>
                <a:schemeClr val="accent2"/>
              </a:buClr>
              <a:buSzPts val="2208"/>
              <a:buFont typeface="Noto Sans Symbols"/>
              <a:buChar char="◼"/>
            </a:pPr>
            <a:r>
              <a:rPr lang="en-US" sz="2400" b="0" i="0" u="none" strike="noStrike" cap="none" dirty="0">
                <a:solidFill>
                  <a:schemeClr val="dk2"/>
                </a:solidFill>
                <a:latin typeface="Gill Sans"/>
                <a:ea typeface="Gill Sans"/>
                <a:cs typeface="Gill Sans"/>
                <a:sym typeface="Gill Sans"/>
              </a:rPr>
              <a:t>And workstation stores </a:t>
            </a:r>
            <a:r>
              <a:rPr lang="en-US" sz="2400" b="0" i="0" u="none" strike="noStrike" cap="none" dirty="0">
                <a:solidFill>
                  <a:schemeClr val="dk2"/>
                </a:solidFill>
                <a:latin typeface="Times"/>
                <a:ea typeface="Times"/>
                <a:cs typeface="Times"/>
                <a:sym typeface="Times"/>
              </a:rPr>
              <a:t>E(K</a:t>
            </a:r>
            <a:r>
              <a:rPr lang="en-US" sz="2400" b="0" i="0" u="none" strike="noStrike" cap="none" baseline="-25000" dirty="0">
                <a:solidFill>
                  <a:schemeClr val="dk2"/>
                </a:solidFill>
                <a:latin typeface="Times"/>
                <a:ea typeface="Times"/>
                <a:cs typeface="Times"/>
                <a:sym typeface="Times"/>
              </a:rPr>
              <a:t>A</a:t>
            </a:r>
            <a:r>
              <a:rPr lang="en-US" sz="2400" b="0" i="0" u="none" strike="noStrike" cap="none" dirty="0">
                <a:solidFill>
                  <a:schemeClr val="dk2"/>
                </a:solidFill>
                <a:latin typeface="Times"/>
                <a:ea typeface="Times"/>
                <a:cs typeface="Times"/>
                <a:sym typeface="Times"/>
              </a:rPr>
              <a:t>, </a:t>
            </a:r>
            <a:r>
              <a:rPr lang="en-US" sz="2400" b="0" i="0" u="none" strike="noStrike" cap="none" dirty="0" err="1">
                <a:solidFill>
                  <a:schemeClr val="dk2"/>
                </a:solidFill>
                <a:latin typeface="Times"/>
                <a:ea typeface="Times"/>
                <a:cs typeface="Times"/>
                <a:sym typeface="Times"/>
              </a:rPr>
              <a:t>K</a:t>
            </a:r>
            <a:r>
              <a:rPr lang="en-US" sz="2400" b="0" i="0" u="none" strike="noStrike" cap="none" baseline="-25000" dirty="0" err="1">
                <a:solidFill>
                  <a:schemeClr val="dk2"/>
                </a:solidFill>
                <a:latin typeface="Times"/>
                <a:ea typeface="Times"/>
                <a:cs typeface="Times"/>
                <a:sym typeface="Times"/>
              </a:rPr>
              <a:t>h</a:t>
            </a:r>
            <a:r>
              <a:rPr lang="en-US" sz="2400" b="0" i="0" u="none" strike="noStrike" cap="none" dirty="0">
                <a:solidFill>
                  <a:schemeClr val="dk2"/>
                </a:solidFill>
                <a:latin typeface="Times"/>
                <a:ea typeface="Times"/>
                <a:cs typeface="Times"/>
                <a:sym typeface="Times"/>
              </a:rPr>
              <a:t>)</a:t>
            </a:r>
            <a:endParaRPr dirty="0"/>
          </a:p>
          <a:p>
            <a:pPr marL="304800" marR="0" lvl="0" indent="-304800" algn="l" rtl="0">
              <a:lnSpc>
                <a:spcPct val="85000"/>
              </a:lnSpc>
              <a:spcBef>
                <a:spcPts val="1160"/>
              </a:spcBef>
              <a:spcAft>
                <a:spcPts val="0"/>
              </a:spcAft>
              <a:buClr>
                <a:schemeClr val="accent2"/>
              </a:buClr>
              <a:buSzPts val="2576"/>
              <a:buFont typeface="Noto Sans Symbols"/>
              <a:buChar char="◼"/>
            </a:pPr>
            <a:r>
              <a:rPr lang="en-US" sz="2800" b="0" i="0" u="none" dirty="0">
                <a:solidFill>
                  <a:srgbClr val="FF0000"/>
                </a:solidFill>
                <a:latin typeface="Gill Sans"/>
                <a:ea typeface="Gill Sans"/>
                <a:cs typeface="Gill Sans"/>
                <a:sym typeface="Gill Sans"/>
              </a:rPr>
              <a:t>Then </a:t>
            </a:r>
            <a:r>
              <a:rPr lang="en-US" sz="2800" b="0" i="0" u="none" dirty="0">
                <a:solidFill>
                  <a:srgbClr val="FF0000"/>
                </a:solidFill>
                <a:latin typeface="Times"/>
                <a:ea typeface="Times"/>
                <a:cs typeface="Times"/>
                <a:sym typeface="Times"/>
              </a:rPr>
              <a:t>K</a:t>
            </a:r>
            <a:r>
              <a:rPr lang="en-US" sz="2800" b="0" i="0" u="none" baseline="-25000" dirty="0">
                <a:solidFill>
                  <a:srgbClr val="FF0000"/>
                </a:solidFill>
                <a:latin typeface="Times"/>
                <a:ea typeface="Times"/>
                <a:cs typeface="Times"/>
                <a:sym typeface="Times"/>
              </a:rPr>
              <a:t>A</a:t>
            </a:r>
            <a:r>
              <a:rPr lang="en-US" sz="2800" b="0" i="0" u="none" dirty="0">
                <a:solidFill>
                  <a:srgbClr val="FF0000"/>
                </a:solidFill>
                <a:latin typeface="Gill Sans"/>
                <a:ea typeface="Gill Sans"/>
                <a:cs typeface="Gill Sans"/>
                <a:sym typeface="Gill Sans"/>
              </a:rPr>
              <a:t> need not change (on  workstation or KDC) when Alice changes her password</a:t>
            </a:r>
            <a:endParaRPr dirty="0"/>
          </a:p>
          <a:p>
            <a:pPr marL="304800" marR="0" lvl="0" indent="-304800" algn="l" rtl="0">
              <a:lnSpc>
                <a:spcPct val="85000"/>
              </a:lnSpc>
              <a:spcBef>
                <a:spcPts val="1160"/>
              </a:spcBef>
              <a:spcAft>
                <a:spcPts val="0"/>
              </a:spcAft>
              <a:buClr>
                <a:schemeClr val="accent2"/>
              </a:buClr>
              <a:buSzPts val="2576"/>
              <a:buFont typeface="Noto Sans Symbols"/>
              <a:buChar char="◼"/>
            </a:pPr>
            <a:r>
              <a:rPr lang="en-US" sz="2800" b="0" i="0" u="none" dirty="0">
                <a:solidFill>
                  <a:schemeClr val="dk2"/>
                </a:solidFill>
                <a:latin typeface="Gill Sans"/>
                <a:ea typeface="Gill Sans"/>
                <a:cs typeface="Gill Sans"/>
                <a:sym typeface="Gill Sans"/>
              </a:rPr>
              <a:t>This alternative approach is often used in applications (but not in Kerberos)</a:t>
            </a:r>
            <a:endParaRPr dirty="0"/>
          </a:p>
        </p:txBody>
      </p:sp>
      <p:sp>
        <p:nvSpPr>
          <p:cNvPr id="1034" name="Google Shape;1034;p85"/>
          <p:cNvSpPr txBox="1"/>
          <p:nvPr/>
        </p:nvSpPr>
        <p:spPr>
          <a:xfrm>
            <a:off x="581024" y="5951537"/>
            <a:ext cx="9221343" cy="1125919"/>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900"/>
              <a:buFont typeface="Comic Sans MS"/>
              <a:buNone/>
            </a:pPr>
            <a:r>
              <a:rPr lang="en-US" sz="900" b="0" i="0" u="none" dirty="0">
                <a:solidFill>
                  <a:schemeClr val="dk1"/>
                </a:solidFill>
                <a:latin typeface="Comic Sans MS"/>
                <a:ea typeface="Comic Sans MS"/>
                <a:cs typeface="Comic Sans MS"/>
                <a:sym typeface="Comic Sans MS"/>
              </a:rPr>
              <a:t>CHAPTER 10  REAL WORLD SECURITY PROTOCOLS       PREPARED BY: DR. MUHAMMAD IQBAL HOSSAIN</a:t>
            </a:r>
            <a:endParaRPr dirty="0"/>
          </a:p>
        </p:txBody>
      </p:sp>
      <p:sp>
        <p:nvSpPr>
          <p:cNvPr id="1035" name="Google Shape;1035;p85"/>
          <p:cNvSpPr txBox="1"/>
          <p:nvPr/>
        </p:nvSpPr>
        <p:spPr>
          <a:xfrm>
            <a:off x="7800975" y="5956300"/>
            <a:ext cx="769937"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dk1"/>
              </a:buClr>
              <a:buSzPts val="900"/>
              <a:buFont typeface="Gulim"/>
              <a:buNone/>
            </a:pPr>
            <a:fld id="{00000000-1234-1234-1234-123412341234}" type="slidenum">
              <a:rPr lang="en-US" sz="900" b="0" i="0" u="none">
                <a:solidFill>
                  <a:schemeClr val="dk1"/>
                </a:solidFill>
                <a:latin typeface="Gulim"/>
                <a:ea typeface="Gulim"/>
                <a:cs typeface="Gulim"/>
                <a:sym typeface="Gulim"/>
              </a:rPr>
              <a:t>30</a:t>
            </a:fld>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4.6|22.8|14.7|12"/>
</p:tagLst>
</file>

<file path=ppt/tags/tag2.xml><?xml version="1.0" encoding="utf-8"?>
<p:tagLst xmlns:a="http://schemas.openxmlformats.org/drawingml/2006/main" xmlns:r="http://schemas.openxmlformats.org/officeDocument/2006/relationships" xmlns:p="http://schemas.openxmlformats.org/presentationml/2006/main">
  <p:tag name="TIMING" val="|7.2|5.1|11.7|1.7"/>
</p:tagLst>
</file>

<file path=ppt/tags/tag3.xml><?xml version="1.0" encoding="utf-8"?>
<p:tagLst xmlns:a="http://schemas.openxmlformats.org/drawingml/2006/main" xmlns:r="http://schemas.openxmlformats.org/officeDocument/2006/relationships" xmlns:p="http://schemas.openxmlformats.org/presentationml/2006/main">
  <p:tag name="TIMING" val="|3.8|1.8|4.6"/>
</p:tagLst>
</file>

<file path=ppt/theme/theme1.xml><?xml version="1.0" encoding="utf-8"?>
<a:theme xmlns:a="http://schemas.openxmlformats.org/drawingml/2006/main" name="1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Dividend">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2762</Words>
  <Application>Microsoft Office PowerPoint</Application>
  <PresentationFormat>On-screen Show (4:3)</PresentationFormat>
  <Paragraphs>360</Paragraphs>
  <Slides>30</Slides>
  <Notes>27</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30</vt:i4>
      </vt:variant>
    </vt:vector>
  </HeadingPairs>
  <TitlesOfParts>
    <vt:vector size="39" baseType="lpstr">
      <vt:lpstr>Times</vt:lpstr>
      <vt:lpstr>Gulim</vt:lpstr>
      <vt:lpstr>Gill Sans</vt:lpstr>
      <vt:lpstr>Times New Roman</vt:lpstr>
      <vt:lpstr>Comic Sans MS</vt:lpstr>
      <vt:lpstr>Arial</vt:lpstr>
      <vt:lpstr>Noto Sans Symbols</vt:lpstr>
      <vt:lpstr>1_Dividend</vt:lpstr>
      <vt:lpstr>2_Dividend</vt:lpstr>
      <vt:lpstr>CHAPTER 10 REAL-WORLD PROTOCOLS</vt:lpstr>
      <vt:lpstr>REAL TIME SECURITY COMM </vt:lpstr>
      <vt:lpstr>REAL-WORLD PROTOCOLS</vt:lpstr>
      <vt:lpstr>SECURE SHELL (SSH)</vt:lpstr>
      <vt:lpstr>SSH</vt:lpstr>
      <vt:lpstr>SSH</vt:lpstr>
      <vt:lpstr>SIMPLIFIED SSH</vt:lpstr>
      <vt:lpstr>MIM ATTACK ON SSH?</vt:lpstr>
      <vt:lpstr>SECURE SOCKET LAYER</vt:lpstr>
      <vt:lpstr>SOCKET LAYER</vt:lpstr>
      <vt:lpstr>WHAT IS SSL?</vt:lpstr>
      <vt:lpstr>SIMPLE SSL-LIKE PROTOCOL</vt:lpstr>
      <vt:lpstr>SIMPLIFIED SSL PROTOCOL</vt:lpstr>
      <vt:lpstr>SSL KEYS</vt:lpstr>
      <vt:lpstr>SSL AUTHENTICATION</vt:lpstr>
      <vt:lpstr>SSL MIM ATTACK</vt:lpstr>
      <vt:lpstr>PowerPoint Presentation</vt:lpstr>
      <vt:lpstr>KERBEROS</vt:lpstr>
      <vt:lpstr>Usages of Kerberos</vt:lpstr>
      <vt:lpstr>KERBEROS</vt:lpstr>
      <vt:lpstr>MOTIVATION FOR KERBEROS</vt:lpstr>
      <vt:lpstr>KERBEROS KDC</vt:lpstr>
      <vt:lpstr>KERBEROS TICKETS</vt:lpstr>
      <vt:lpstr>KERBERIZED LOGIN</vt:lpstr>
      <vt:lpstr>KERBERIZED LOGIN</vt:lpstr>
      <vt:lpstr>ALICE REQUESTS TICKET TO BOB</vt:lpstr>
      <vt:lpstr>ALICE USES TICKET TO BOB</vt:lpstr>
      <vt:lpstr>PowerPoint Presentation</vt:lpstr>
      <vt:lpstr>KERBEROS</vt:lpstr>
      <vt:lpstr>KERBEROS KEYS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10 REAL-WORLD PROTOCOLS</dc:title>
  <dc:creator>MIH</dc:creator>
  <cp:lastModifiedBy>Microsoft account</cp:lastModifiedBy>
  <cp:revision>8</cp:revision>
  <dcterms:created xsi:type="dcterms:W3CDTF">2006-02-20T14:50:44Z</dcterms:created>
  <dcterms:modified xsi:type="dcterms:W3CDTF">2023-08-22T03:09:12Z</dcterms:modified>
</cp:coreProperties>
</file>