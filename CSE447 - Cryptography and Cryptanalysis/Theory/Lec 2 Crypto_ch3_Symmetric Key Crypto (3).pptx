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Lst>
  <p:sldSz cy="6858000" cx="9144000"/>
  <p:notesSz cx="7099300" cy="10234600"/>
  <p:embeddedFontLst>
    <p:embeddedFont>
      <p:font typeface="Corbel"/>
      <p:regular r:id="rId95"/>
      <p:bold r:id="rId96"/>
      <p:italic r:id="rId97"/>
      <p:boldItalic r:id="rId98"/>
    </p:embeddedFont>
    <p:embeddedFont>
      <p:font typeface="Gill Sans"/>
      <p:regular r:id="rId99"/>
      <p:bold r:id="rId10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1" roundtripDataSignature="AMtx7mg2lVeIz5cr2NTsneUycjczUOM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4FB276-6C9D-4771-A9D3-37D8E1AA6F45}">
  <a:tblStyle styleId="{544FB276-6C9D-4771-A9D3-37D8E1AA6F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1" Type="http://customschemas.google.com/relationships/presentationmetadata" Target="metadata"/><Relationship Id="rId100" Type="http://schemas.openxmlformats.org/officeDocument/2006/relationships/font" Target="fonts/GillSans-bold.fntdata"/><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font" Target="fonts/Corbel-regular.fntdata"/><Relationship Id="rId94" Type="http://schemas.openxmlformats.org/officeDocument/2006/relationships/slide" Target="slides/slide86.xml"/><Relationship Id="rId97" Type="http://schemas.openxmlformats.org/officeDocument/2006/relationships/font" Target="fonts/Corbel-italic.fntdata"/><Relationship Id="rId96" Type="http://schemas.openxmlformats.org/officeDocument/2006/relationships/font" Target="fonts/Corbel-bold.fntdata"/><Relationship Id="rId11" Type="http://schemas.openxmlformats.org/officeDocument/2006/relationships/slide" Target="slides/slide3.xml"/><Relationship Id="rId99" Type="http://schemas.openxmlformats.org/officeDocument/2006/relationships/font" Target="fonts/GillSans-regular.fntdata"/><Relationship Id="rId10" Type="http://schemas.openxmlformats.org/officeDocument/2006/relationships/slide" Target="slides/slide2.xml"/><Relationship Id="rId98" Type="http://schemas.openxmlformats.org/officeDocument/2006/relationships/font" Target="fonts/Corbel-boldItalic.fntdata"/><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6575" cy="511175"/>
          </a:xfrm>
          <a:prstGeom prst="rect">
            <a:avLst/>
          </a:prstGeom>
          <a:noFill/>
          <a:ln>
            <a:noFill/>
          </a:ln>
        </p:spPr>
        <p:txBody>
          <a:bodyPr anchorCtr="0" anchor="t" bIns="49500" lIns="99025" spcFirstLastPara="1" rIns="99025" wrap="square" tIns="495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9pPr>
          </a:lstStyle>
          <a:p/>
        </p:txBody>
      </p:sp>
      <p:sp>
        <p:nvSpPr>
          <p:cNvPr id="4" name="Google Shape;4;n"/>
          <p:cNvSpPr txBox="1"/>
          <p:nvPr>
            <p:ph idx="10" type="dt"/>
          </p:nvPr>
        </p:nvSpPr>
        <p:spPr>
          <a:xfrm>
            <a:off x="4021137" y="0"/>
            <a:ext cx="3076575" cy="511175"/>
          </a:xfrm>
          <a:prstGeom prst="rect">
            <a:avLst/>
          </a:prstGeom>
          <a:noFill/>
          <a:ln>
            <a:noFill/>
          </a:ln>
        </p:spPr>
        <p:txBody>
          <a:bodyPr anchorCtr="0" anchor="t" bIns="49500" lIns="99025" spcFirstLastPara="1" rIns="99025" wrap="square" tIns="495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9pPr>
          </a:lstStyle>
          <a:p/>
        </p:txBody>
      </p:sp>
      <p:sp>
        <p:nvSpPr>
          <p:cNvPr id="5" name="Google Shape;5;n"/>
          <p:cNvSpPr/>
          <p:nvPr>
            <p:ph idx="3"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721850"/>
            <a:ext cx="3076575" cy="511175"/>
          </a:xfrm>
          <a:prstGeom prst="rect">
            <a:avLst/>
          </a:prstGeom>
          <a:noFill/>
          <a:ln>
            <a:noFill/>
          </a:ln>
        </p:spPr>
        <p:txBody>
          <a:bodyPr anchorCtr="0" anchor="b" bIns="49500" lIns="99025" spcFirstLastPara="1" rIns="99025" wrap="square" tIns="495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rgbClr val="000000"/>
                </a:solidFill>
                <a:latin typeface="Gill Sans"/>
                <a:ea typeface="Gill Sans"/>
                <a:cs typeface="Gill Sans"/>
                <a:sym typeface="Gill Sans"/>
              </a:defRPr>
            </a:lvl9pPr>
          </a:lstStyle>
          <a:p/>
        </p:txBody>
      </p:sp>
      <p:sp>
        <p:nvSpPr>
          <p:cNvPr id="8" name="Google Shape;8;n"/>
          <p:cNvSpPr txBox="1"/>
          <p:nvPr>
            <p:ph idx="12" type="sldNum"/>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1: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3" name="Google Shape;63;p1: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1" name="Google Shape;71;p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3: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Now we are in mordern cryptography. Generalization of One time pad.</a:t>
            </a:r>
            <a:endParaRPr/>
          </a:p>
          <a:p>
            <a:pPr indent="0" lvl="0" marL="0" rtl="0" algn="l">
              <a:spcBef>
                <a:spcPts val="0"/>
              </a:spcBef>
              <a:spcAft>
                <a:spcPts val="0"/>
              </a:spcAft>
              <a:buSzPts val="1800"/>
              <a:buNone/>
            </a:pPr>
            <a:r>
              <a:rPr lang="en-US"/>
              <a:t>Problem in OTP is key size is large.</a:t>
            </a:r>
            <a:endParaRPr/>
          </a:p>
          <a:p>
            <a:pPr indent="0" lvl="0" marL="0" rtl="0" algn="l">
              <a:spcBef>
                <a:spcPts val="0"/>
              </a:spcBef>
              <a:spcAft>
                <a:spcPts val="0"/>
              </a:spcAft>
              <a:buSzPts val="1800"/>
              <a:buNone/>
            </a:pPr>
            <a:r>
              <a:rPr lang="en-US"/>
              <a:t>Practical system, low size key to encrypt mgs.</a:t>
            </a:r>
            <a:endParaRPr/>
          </a:p>
        </p:txBody>
      </p:sp>
      <p:sp>
        <p:nvSpPr>
          <p:cNvPr id="80" name="Google Shape;80;p3: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9" name="Google Shape;89;p4: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5: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Statistical attack</a:t>
            </a:r>
            <a:endParaRPr/>
          </a:p>
          <a:p>
            <a:pPr indent="0" lvl="0" marL="0" rtl="0" algn="l">
              <a:spcBef>
                <a:spcPts val="0"/>
              </a:spcBef>
              <a:spcAft>
                <a:spcPts val="0"/>
              </a:spcAft>
              <a:buSzPts val="1800"/>
              <a:buNone/>
            </a:pPr>
            <a:r>
              <a:rPr lang="en-US"/>
              <a:t>So only codebook doesn’t work, not good.</a:t>
            </a:r>
            <a:endParaRPr/>
          </a:p>
          <a:p>
            <a:pPr indent="0" lvl="0" marL="0" rtl="0" algn="l">
              <a:spcBef>
                <a:spcPts val="0"/>
              </a:spcBef>
              <a:spcAft>
                <a:spcPts val="0"/>
              </a:spcAft>
              <a:buNone/>
            </a:pPr>
            <a:r>
              <a:t/>
            </a:r>
            <a:endParaRPr/>
          </a:p>
        </p:txBody>
      </p:sp>
      <p:sp>
        <p:nvSpPr>
          <p:cNvPr id="100" name="Google Shape;100;p5: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10" name="Google Shape;110;p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7: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20" name="Google Shape;120;p7: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9: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37" name="Google Shape;137;p9: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10: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We’ll discuss two examples</a:t>
            </a:r>
            <a:endParaRPr/>
          </a:p>
          <a:p>
            <a:pPr indent="0" lvl="0" marL="0" rtl="0" algn="l">
              <a:spcBef>
                <a:spcPts val="0"/>
              </a:spcBef>
              <a:spcAft>
                <a:spcPts val="0"/>
              </a:spcAft>
              <a:buNone/>
            </a:pPr>
            <a:r>
              <a:t/>
            </a:r>
            <a:endParaRPr/>
          </a:p>
        </p:txBody>
      </p:sp>
      <p:sp>
        <p:nvSpPr>
          <p:cNvPr id="146" name="Google Shape;146;p10: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1: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We will have 64 bit key.</a:t>
            </a:r>
            <a:endParaRPr/>
          </a:p>
          <a:p>
            <a:pPr indent="0" lvl="0" marL="0" rtl="0" algn="l">
              <a:spcBef>
                <a:spcPts val="0"/>
              </a:spcBef>
              <a:spcAft>
                <a:spcPts val="0"/>
              </a:spcAft>
              <a:buSzPts val="1800"/>
              <a:buNone/>
            </a:pPr>
            <a:r>
              <a:rPr lang="en-US"/>
              <a:t>What we will do,</a:t>
            </a:r>
            <a:endParaRPr/>
          </a:p>
          <a:p>
            <a:pPr indent="0" lvl="0" marL="0" rtl="0" algn="l">
              <a:spcBef>
                <a:spcPts val="0"/>
              </a:spcBef>
              <a:spcAft>
                <a:spcPts val="0"/>
              </a:spcAft>
              <a:buSzPts val="1800"/>
              <a:buNone/>
            </a:pPr>
            <a:r>
              <a:rPr lang="en-US"/>
              <a:t>Load 64 bit to this 3 register and do some processing.</a:t>
            </a:r>
            <a:endParaRPr/>
          </a:p>
        </p:txBody>
      </p:sp>
      <p:sp>
        <p:nvSpPr>
          <p:cNvPr id="155" name="Google Shape;155;p11: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63" name="Google Shape;163;p1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13: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sz="1400"/>
              <a:t>Step 1: We calculate maj(</a:t>
            </a:r>
            <a:r>
              <a:rPr i="1" lang="en-US" sz="1400">
                <a:latin typeface="Times New Roman"/>
                <a:ea typeface="Times New Roman"/>
                <a:cs typeface="Times New Roman"/>
                <a:sym typeface="Times New Roman"/>
              </a:rPr>
              <a:t>x</a:t>
            </a:r>
            <a:r>
              <a:rPr baseline="-25000" lang="en-US" sz="1400">
                <a:latin typeface="Times New Roman"/>
                <a:ea typeface="Times New Roman"/>
                <a:cs typeface="Times New Roman"/>
                <a:sym typeface="Times New Roman"/>
              </a:rPr>
              <a:t>8</a:t>
            </a:r>
            <a:r>
              <a:rPr lang="en-US" sz="1400">
                <a:latin typeface="Times New Roman"/>
                <a:ea typeface="Times New Roman"/>
                <a:cs typeface="Times New Roman"/>
                <a:sym typeface="Times New Roman"/>
              </a:rPr>
              <a:t>, </a:t>
            </a:r>
            <a:r>
              <a:rPr i="1" lang="en-US" sz="1400">
                <a:latin typeface="Times New Roman"/>
                <a:ea typeface="Times New Roman"/>
                <a:cs typeface="Times New Roman"/>
                <a:sym typeface="Times New Roman"/>
              </a:rPr>
              <a:t>y</a:t>
            </a:r>
            <a:r>
              <a:rPr baseline="-25000" lang="en-US" sz="1400">
                <a:latin typeface="Times New Roman"/>
                <a:ea typeface="Times New Roman"/>
                <a:cs typeface="Times New Roman"/>
                <a:sym typeface="Times New Roman"/>
              </a:rPr>
              <a:t>10</a:t>
            </a:r>
            <a:r>
              <a:rPr lang="en-US" sz="1400">
                <a:latin typeface="Times New Roman"/>
                <a:ea typeface="Times New Roman"/>
                <a:cs typeface="Times New Roman"/>
                <a:sym typeface="Times New Roman"/>
              </a:rPr>
              <a:t>, </a:t>
            </a:r>
            <a:r>
              <a:rPr i="1" lang="en-US" sz="1400">
                <a:latin typeface="Times New Roman"/>
                <a:ea typeface="Times New Roman"/>
                <a:cs typeface="Times New Roman"/>
                <a:sym typeface="Times New Roman"/>
              </a:rPr>
              <a:t>z</a:t>
            </a:r>
            <a:r>
              <a:rPr baseline="-25000" lang="en-US" sz="1400">
                <a:latin typeface="Times New Roman"/>
                <a:ea typeface="Times New Roman"/>
                <a:cs typeface="Times New Roman"/>
                <a:sym typeface="Times New Roman"/>
              </a:rPr>
              <a:t>10</a:t>
            </a:r>
            <a:r>
              <a:rPr lang="en-US" sz="1400"/>
              <a:t>). It can be 0 or 1.</a:t>
            </a:r>
            <a:endParaRPr sz="1400"/>
          </a:p>
          <a:p>
            <a:pPr indent="0" lvl="0" marL="0" rtl="0" algn="l">
              <a:spcBef>
                <a:spcPts val="0"/>
              </a:spcBef>
              <a:spcAft>
                <a:spcPts val="0"/>
              </a:spcAft>
              <a:buSzPts val="1800"/>
              <a:buNone/>
            </a:pPr>
            <a:r>
              <a:rPr lang="en-US" sz="1400"/>
              <a:t>Step 2: We check If </a:t>
            </a:r>
            <a:r>
              <a:rPr i="1" lang="en-US" sz="1400">
                <a:latin typeface="Times New Roman"/>
                <a:ea typeface="Times New Roman"/>
                <a:cs typeface="Times New Roman"/>
                <a:sym typeface="Times New Roman"/>
              </a:rPr>
              <a:t>x</a:t>
            </a:r>
            <a:r>
              <a:rPr baseline="-25000" lang="en-US" sz="1400">
                <a:latin typeface="Times New Roman"/>
                <a:ea typeface="Times New Roman"/>
                <a:cs typeface="Times New Roman"/>
                <a:sym typeface="Times New Roman"/>
              </a:rPr>
              <a:t>8</a:t>
            </a:r>
            <a:r>
              <a:rPr i="1" lang="en-US" sz="1400">
                <a:latin typeface="Times New Roman"/>
                <a:ea typeface="Times New Roman"/>
                <a:cs typeface="Times New Roman"/>
                <a:sym typeface="Times New Roman"/>
              </a:rPr>
              <a:t> = maj() </a:t>
            </a:r>
            <a:r>
              <a:rPr lang="en-US" sz="1400">
                <a:latin typeface="Times New Roman"/>
                <a:ea typeface="Times New Roman"/>
                <a:cs typeface="Times New Roman"/>
                <a:sym typeface="Times New Roman"/>
              </a:rPr>
              <a:t>then step otherwise do nothing</a:t>
            </a:r>
            <a:endParaRPr baseline="-25000" sz="1400">
              <a:latin typeface="Times New Roman"/>
              <a:ea typeface="Times New Roman"/>
              <a:cs typeface="Times New Roman"/>
              <a:sym typeface="Times New Roman"/>
            </a:endParaRPr>
          </a:p>
          <a:p>
            <a:pPr indent="0" lvl="0" marL="0" rtl="0" algn="l">
              <a:spcBef>
                <a:spcPts val="0"/>
              </a:spcBef>
              <a:spcAft>
                <a:spcPts val="0"/>
              </a:spcAft>
              <a:buSzPts val="1800"/>
              <a:buNone/>
            </a:pPr>
            <a:r>
              <a:rPr lang="en-US" sz="1400"/>
              <a:t>Step means EX-OR ing X12, X14, X16, X18, shift 1 bit and put in in X0.</a:t>
            </a:r>
            <a:endParaRPr sz="1400"/>
          </a:p>
          <a:p>
            <a:pPr indent="0" lvl="0" marL="0" rtl="0" algn="l">
              <a:spcBef>
                <a:spcPts val="0"/>
              </a:spcBef>
              <a:spcAft>
                <a:spcPts val="0"/>
              </a:spcAft>
              <a:buSzPts val="1800"/>
              <a:buNone/>
            </a:pPr>
            <a:r>
              <a:rPr lang="en-US" sz="1400"/>
              <a:t>Same for Y and Z.</a:t>
            </a:r>
            <a:endParaRPr sz="1400"/>
          </a:p>
          <a:p>
            <a:pPr indent="0" lvl="0" marL="0" rtl="0" algn="l">
              <a:spcBef>
                <a:spcPts val="0"/>
              </a:spcBef>
              <a:spcAft>
                <a:spcPts val="0"/>
              </a:spcAft>
              <a:buSzPts val="1800"/>
              <a:buNone/>
            </a:pPr>
            <a:r>
              <a:rPr lang="en-US" sz="1400"/>
              <a:t>Step 3: EX-or x18, y21, Z22 and get 1 key bit.</a:t>
            </a:r>
            <a:endParaRPr sz="1400"/>
          </a:p>
          <a:p>
            <a:pPr indent="0" lvl="0" marL="0" rtl="0" algn="l">
              <a:spcBef>
                <a:spcPts val="0"/>
              </a:spcBef>
              <a:spcAft>
                <a:spcPts val="0"/>
              </a:spcAft>
              <a:buSzPts val="1800"/>
              <a:buNone/>
            </a:pPr>
            <a:r>
              <a:t/>
            </a:r>
            <a:endParaRPr sz="1400"/>
          </a:p>
          <a:p>
            <a:pPr indent="0" lvl="0" marL="0" rtl="0" algn="l">
              <a:spcBef>
                <a:spcPts val="0"/>
              </a:spcBef>
              <a:spcAft>
                <a:spcPts val="0"/>
              </a:spcAft>
              <a:buSzPts val="1800"/>
              <a:buNone/>
            </a:pPr>
            <a:r>
              <a:rPr lang="en-US" sz="1400"/>
              <a:t>But the beauty is we can similarly generate more and more</a:t>
            </a:r>
            <a:endParaRPr sz="1400"/>
          </a:p>
          <a:p>
            <a:pPr indent="0" lvl="0" marL="0" rtl="0" algn="l">
              <a:spcBef>
                <a:spcPts val="0"/>
              </a:spcBef>
              <a:spcAft>
                <a:spcPts val="0"/>
              </a:spcAft>
              <a:buNone/>
            </a:pPr>
            <a:r>
              <a:t/>
            </a:r>
            <a:endParaRPr sz="1400"/>
          </a:p>
        </p:txBody>
      </p:sp>
      <p:sp>
        <p:nvSpPr>
          <p:cNvPr id="172" name="Google Shape;172;p13: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Seems a lot of work but implement with HW it will create 1 bit in a clock tik.</a:t>
            </a:r>
            <a:endParaRPr/>
          </a:p>
        </p:txBody>
      </p:sp>
      <p:sp>
        <p:nvSpPr>
          <p:cNvPr id="213" name="Google Shape;213;p14: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53" name="Google Shape;253;p1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69" name="Google Shape;269;p1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78" name="Google Shape;278;p1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19: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Rovest</a:t>
            </a:r>
            <a:endParaRPr/>
          </a:p>
          <a:p>
            <a:pPr indent="0" lvl="0" marL="0" rtl="0" algn="l">
              <a:spcBef>
                <a:spcPts val="0"/>
              </a:spcBef>
              <a:spcAft>
                <a:spcPts val="0"/>
              </a:spcAft>
              <a:buSzPts val="1800"/>
              <a:buNone/>
            </a:pPr>
            <a:r>
              <a:rPr lang="en-US"/>
              <a:t>Shamir</a:t>
            </a:r>
            <a:endParaRPr/>
          </a:p>
          <a:p>
            <a:pPr indent="0" lvl="0" marL="0" rtl="0" algn="l">
              <a:spcBef>
                <a:spcPts val="0"/>
              </a:spcBef>
              <a:spcAft>
                <a:spcPts val="0"/>
              </a:spcAft>
              <a:buSzPts val="1800"/>
              <a:buNone/>
            </a:pPr>
            <a:r>
              <a:rPr lang="en-US"/>
              <a:t>Low powered devices we can use stream cipher</a:t>
            </a:r>
            <a:endParaRPr/>
          </a:p>
          <a:p>
            <a:pPr indent="0" lvl="0" marL="0" rtl="0" algn="l">
              <a:spcBef>
                <a:spcPts val="0"/>
              </a:spcBef>
              <a:spcAft>
                <a:spcPts val="0"/>
              </a:spcAft>
              <a:buNone/>
            </a:pPr>
            <a:r>
              <a:t/>
            </a:r>
            <a:endParaRPr/>
          </a:p>
        </p:txBody>
      </p:sp>
      <p:sp>
        <p:nvSpPr>
          <p:cNvPr id="287" name="Google Shape;287;p19: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95" name="Google Shape;295;p2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03" name="Google Shape;303;p2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2: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12" name="Google Shape;312;p22: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23: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Take a block of bit, look at up to codebook and find corresponding cipher blocl.</a:t>
            </a:r>
            <a:endParaRPr/>
          </a:p>
          <a:p>
            <a:pPr indent="0" lvl="0" marL="0" rtl="0" algn="l">
              <a:spcBef>
                <a:spcPts val="0"/>
              </a:spcBef>
              <a:spcAft>
                <a:spcPts val="0"/>
              </a:spcAft>
              <a:buSzPts val="1800"/>
              <a:buNone/>
            </a:pPr>
            <a:r>
              <a:rPr lang="en-US"/>
              <a:t>Block size 64, 128.</a:t>
            </a:r>
            <a:endParaRPr/>
          </a:p>
        </p:txBody>
      </p:sp>
      <p:sp>
        <p:nvSpPr>
          <p:cNvPr id="323" name="Google Shape;323;p23: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26: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World’s most famous Feistel cipher</a:t>
            </a:r>
            <a:endParaRPr/>
          </a:p>
          <a:p>
            <a:pPr indent="0" lvl="0" marL="0" rtl="0" algn="l">
              <a:spcBef>
                <a:spcPts val="0"/>
              </a:spcBef>
              <a:spcAft>
                <a:spcPts val="0"/>
              </a:spcAft>
              <a:buSzPts val="1800"/>
              <a:buNone/>
            </a:pPr>
            <a:r>
              <a:rPr lang="en-US"/>
              <a:t>The Data Encryption Standard, affectionately known as DES,2 was developed way back in the computing dark ages of the 1970s. The design is based on the</a:t>
            </a:r>
            <a:endParaRPr/>
          </a:p>
          <a:p>
            <a:pPr indent="0" lvl="0" marL="0" rtl="0" algn="l">
              <a:spcBef>
                <a:spcPts val="0"/>
              </a:spcBef>
              <a:spcAft>
                <a:spcPts val="0"/>
              </a:spcAft>
              <a:buSzPts val="1800"/>
              <a:buNone/>
            </a:pPr>
            <a:r>
              <a:rPr lang="en-US"/>
              <a:t>so-called Lucifer cipher, a Feistel cipher developed by a team at IBM. DES is a surprisingly simple block cipher, but the story of how Lucifer became DES</a:t>
            </a:r>
            <a:endParaRPr/>
          </a:p>
          <a:p>
            <a:pPr indent="0" lvl="0" marL="0" rtl="0" algn="l">
              <a:spcBef>
                <a:spcPts val="0"/>
              </a:spcBef>
              <a:spcAft>
                <a:spcPts val="0"/>
              </a:spcAft>
              <a:buSzPts val="1800"/>
              <a:buNone/>
            </a:pPr>
            <a:r>
              <a:rPr lang="en-US"/>
              <a:t>is anything but simple.</a:t>
            </a:r>
            <a:endParaRPr/>
          </a:p>
          <a:p>
            <a:pPr indent="0" lvl="0" marL="0" rtl="0" algn="l">
              <a:spcBef>
                <a:spcPts val="0"/>
              </a:spcBef>
              <a:spcAft>
                <a:spcPts val="0"/>
              </a:spcAft>
              <a:buSzPts val="1800"/>
              <a:buNone/>
            </a:pPr>
            <a:r>
              <a:rPr lang="en-US"/>
              <a:t>In the mid 1970s, crypto was poorly understood outside of classified military and government circles, and they weren't talking (and, for the most part, that's still the case). The upshot was that businesses had no way to judge the merits of a crypto product and the quality of most such products was very poor.</a:t>
            </a:r>
            <a:endParaRPr/>
          </a:p>
          <a:p>
            <a:pPr indent="0" lvl="0" marL="0" rtl="0" algn="l">
              <a:spcBef>
                <a:spcPts val="0"/>
              </a:spcBef>
              <a:spcAft>
                <a:spcPts val="0"/>
              </a:spcAft>
              <a:buSzPts val="1800"/>
              <a:buNone/>
            </a:pPr>
            <a:r>
              <a:rPr lang="en-US"/>
              <a:t>Into this environment, the National Bureau of Standards, or NBS (now known as NIST) issued a request for cipher proposals. The winning submission would become a U.S. government standard and almost certainly a </a:t>
            </a:r>
            <a:r>
              <a:rPr i="1" lang="en-US"/>
              <a:t>de facto </a:t>
            </a:r>
            <a:r>
              <a:rPr lang="en-US"/>
              <a:t>industrial standard. Very few reasonable submissions were received, and it quickly became apparent that IBM's Lucifer cipher was the only serious contender.</a:t>
            </a:r>
            <a:endParaRPr/>
          </a:p>
          <a:p>
            <a:pPr indent="0" lvl="0" marL="0" rtl="0" algn="l">
              <a:spcBef>
                <a:spcPts val="0"/>
              </a:spcBef>
              <a:spcAft>
                <a:spcPts val="0"/>
              </a:spcAft>
              <a:buSzPts val="1800"/>
              <a:buNone/>
            </a:pPr>
            <a:r>
              <a:rPr lang="en-US"/>
              <a:t>The NSA was reluctant to get involved with DES but, under pressure, eventually agreed to study the Lucifer design and offer an opinion, provided its role would not become public. When this information came to public light [273] (as is inevitable in the United States4) many were suspicious that NSA had placed a backdoor into DES so that it alone could break the cipher.</a:t>
            </a:r>
            <a:endParaRPr/>
          </a:p>
        </p:txBody>
      </p:sp>
      <p:sp>
        <p:nvSpPr>
          <p:cNvPr id="333" name="Google Shape;333;p26: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7: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ill Sans"/>
              <a:buNone/>
            </a:pPr>
            <a:fld id="{00000000-1234-1234-1234-123412341234}" type="slidenum">
              <a:rPr b="0" i="0" lang="en-US" sz="1300" u="none">
                <a:solidFill>
                  <a:srgbClr val="000000"/>
                </a:solidFill>
                <a:latin typeface="Gill Sans"/>
                <a:ea typeface="Gill Sans"/>
                <a:cs typeface="Gill Sans"/>
                <a:sym typeface="Gill Sans"/>
              </a:rPr>
              <a:t>‹#›</a:t>
            </a:fld>
            <a:endParaRPr/>
          </a:p>
        </p:txBody>
      </p:sp>
      <p:sp>
        <p:nvSpPr>
          <p:cNvPr id="341" name="Google Shape;341;p2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27: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51" name="Google Shape;351;p2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06" name="Google Shape;406;p2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30: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Oytput: 4 * 12 = 48</a:t>
            </a:r>
            <a:endParaRPr/>
          </a:p>
        </p:txBody>
      </p:sp>
      <p:sp>
        <p:nvSpPr>
          <p:cNvPr id="417" name="Google Shape;417;p30: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39" name="Google Shape;439;p3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32: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[1 0 1 1 0 1]</a:t>
            </a:r>
            <a:endParaRPr/>
          </a:p>
          <a:p>
            <a:pPr indent="0" lvl="0" marL="0" rtl="0" algn="l">
              <a:spcBef>
                <a:spcPts val="0"/>
              </a:spcBef>
              <a:spcAft>
                <a:spcPts val="0"/>
              </a:spcAft>
              <a:buSzPts val="1800"/>
              <a:buNone/>
            </a:pPr>
            <a:r>
              <a:rPr lang="en-US"/>
              <a:t>[1 1]</a:t>
            </a:r>
            <a:endParaRPr/>
          </a:p>
          <a:p>
            <a:pPr indent="0" lvl="0" marL="0" rtl="0" algn="l">
              <a:spcBef>
                <a:spcPts val="0"/>
              </a:spcBef>
              <a:spcAft>
                <a:spcPts val="0"/>
              </a:spcAft>
              <a:buSzPts val="1800"/>
              <a:buNone/>
            </a:pPr>
            <a:r>
              <a:rPr lang="en-US"/>
              <a:t>[0 1 1 0] </a:t>
            </a:r>
            <a:endParaRPr/>
          </a:p>
        </p:txBody>
      </p:sp>
      <p:sp>
        <p:nvSpPr>
          <p:cNvPr id="457" name="Google Shape;457;p32: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05" name="Google Shape;505;p3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22" name="Google Shape;522;p3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77" name="Google Shape;577;p3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3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89" name="Google Shape;589;p3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3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97" name="Google Shape;597;p3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3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06" name="Google Shape;606;p3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3556788f95_0_3:notes"/>
          <p:cNvSpPr/>
          <p:nvPr>
            <p:ph idx="2" type="sldImg"/>
          </p:nvPr>
        </p:nvSpPr>
        <p:spPr>
          <a:xfrm>
            <a:off x="992187" y="768350"/>
            <a:ext cx="5115000" cy="3837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3556788f95_0_3:notes"/>
          <p:cNvSpPr txBox="1"/>
          <p:nvPr>
            <p:ph idx="1" type="body"/>
          </p:nvPr>
        </p:nvSpPr>
        <p:spPr>
          <a:xfrm>
            <a:off x="709612" y="4860925"/>
            <a:ext cx="5680200" cy="4605300"/>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16" name="Google Shape;616;g33556788f95_0_3:notes"/>
          <p:cNvSpPr txBox="1"/>
          <p:nvPr>
            <p:ph idx="12" type="sldNum"/>
          </p:nvPr>
        </p:nvSpPr>
        <p:spPr>
          <a:xfrm>
            <a:off x="4021137" y="9721850"/>
            <a:ext cx="3076500" cy="511200"/>
          </a:xfrm>
          <a:prstGeom prst="rect">
            <a:avLst/>
          </a:prstGeom>
        </p:spPr>
        <p:txBody>
          <a:bodyPr anchorCtr="0" anchor="b" bIns="49500" lIns="99025" spcFirstLastPara="1" rIns="99025" wrap="square" tIns="49500">
            <a:noAutofit/>
          </a:bodyPr>
          <a:lstStyle/>
          <a:p>
            <a:pPr indent="0" lvl="0" marL="0" rtl="0" algn="r">
              <a:spcBef>
                <a:spcPts val="0"/>
              </a:spcBef>
              <a:spcAft>
                <a:spcPts val="0"/>
              </a:spcAft>
              <a:buClr>
                <a:srgbClr val="000000"/>
              </a:buClr>
              <a:buSzPts val="1300"/>
              <a:buFont typeface="Gulim"/>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3556788f95_0_10:notes"/>
          <p:cNvSpPr/>
          <p:nvPr>
            <p:ph idx="2" type="sldImg"/>
          </p:nvPr>
        </p:nvSpPr>
        <p:spPr>
          <a:xfrm>
            <a:off x="992187" y="768350"/>
            <a:ext cx="5115000" cy="3837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3556788f95_0_10:notes"/>
          <p:cNvSpPr txBox="1"/>
          <p:nvPr>
            <p:ph idx="1" type="body"/>
          </p:nvPr>
        </p:nvSpPr>
        <p:spPr>
          <a:xfrm>
            <a:off x="709612" y="4860925"/>
            <a:ext cx="5680200" cy="4605300"/>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25" name="Google Shape;625;g33556788f95_0_10:notes"/>
          <p:cNvSpPr txBox="1"/>
          <p:nvPr>
            <p:ph idx="12" type="sldNum"/>
          </p:nvPr>
        </p:nvSpPr>
        <p:spPr>
          <a:xfrm>
            <a:off x="4021137" y="9721850"/>
            <a:ext cx="3076500" cy="511200"/>
          </a:xfrm>
          <a:prstGeom prst="rect">
            <a:avLst/>
          </a:prstGeom>
        </p:spPr>
        <p:txBody>
          <a:bodyPr anchorCtr="0" anchor="b" bIns="49500" lIns="99025" spcFirstLastPara="1" rIns="99025" wrap="square" tIns="49500">
            <a:noAutofit/>
          </a:bodyPr>
          <a:lstStyle/>
          <a:p>
            <a:pPr indent="0" lvl="0" marL="0" rtl="0" algn="r">
              <a:spcBef>
                <a:spcPts val="0"/>
              </a:spcBef>
              <a:spcAft>
                <a:spcPts val="0"/>
              </a:spcAft>
              <a:buClr>
                <a:srgbClr val="000000"/>
              </a:buClr>
              <a:buSzPts val="1300"/>
              <a:buFont typeface="Gulim"/>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4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33" name="Google Shape;633;p4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3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38: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42" name="Google Shape;642;p38: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50" name="Google Shape;650;p4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314c65dea4_0_0:notes"/>
          <p:cNvSpPr/>
          <p:nvPr>
            <p:ph idx="2" type="sldImg"/>
          </p:nvPr>
        </p:nvSpPr>
        <p:spPr>
          <a:xfrm>
            <a:off x="992187" y="768350"/>
            <a:ext cx="5115000" cy="3837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314c65dea4_0_0:notes"/>
          <p:cNvSpPr txBox="1"/>
          <p:nvPr>
            <p:ph idx="1" type="body"/>
          </p:nvPr>
        </p:nvSpPr>
        <p:spPr>
          <a:xfrm>
            <a:off x="709612" y="4860925"/>
            <a:ext cx="5680200" cy="4605300"/>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59" name="Google Shape;659;g3314c65dea4_0_0:notes"/>
          <p:cNvSpPr txBox="1"/>
          <p:nvPr>
            <p:ph idx="12" type="sldNum"/>
          </p:nvPr>
        </p:nvSpPr>
        <p:spPr>
          <a:xfrm>
            <a:off x="4021137" y="9721850"/>
            <a:ext cx="3076500" cy="511200"/>
          </a:xfrm>
          <a:prstGeom prst="rect">
            <a:avLst/>
          </a:prstGeom>
        </p:spPr>
        <p:txBody>
          <a:bodyPr anchorCtr="0" anchor="b" bIns="49500" lIns="99025" spcFirstLastPara="1" rIns="99025" wrap="square" tIns="49500">
            <a:noAutofit/>
          </a:bodyPr>
          <a:lstStyle/>
          <a:p>
            <a:pPr indent="0" lvl="0" marL="0" rtl="0" algn="r">
              <a:spcBef>
                <a:spcPts val="0"/>
              </a:spcBef>
              <a:spcAft>
                <a:spcPts val="0"/>
              </a:spcAft>
              <a:buClr>
                <a:srgbClr val="000000"/>
              </a:buClr>
              <a:buSzPts val="1300"/>
              <a:buFont typeface="Gulim"/>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4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68" name="Google Shape;668;p4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0" name="Google Shape;680;p4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It only works when there is a known plaintext/ciphertext pair. The attacker first encrypts the plaintext with all possible values for the first key and stores the results in a sorted table. Next, the ciphertext is decrypted using all possible values of the second key while checking each decryption in the table for a match. Once a match is found, the two keys are used against a new known plaintext/ciphertext pair to ensure the keys are correct.</a:t>
            </a:r>
            <a:endParaRPr/>
          </a:p>
        </p:txBody>
      </p:sp>
      <p:sp>
        <p:nvSpPr>
          <p:cNvPr id="681" name="Google Shape;681;p44: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4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91" name="Google Shape;691;p4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99" name="Google Shape;699;p4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4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06" name="Google Shape;706;p4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4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14" name="Google Shape;714;p4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4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2" name="Google Shape;722;p48: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5 finalists announced in August, 1999:</a:t>
            </a:r>
            <a:endParaRPr/>
          </a:p>
          <a:p>
            <a:pPr indent="0" lvl="1" marL="0" rtl="0" algn="l">
              <a:spcBef>
                <a:spcPts val="0"/>
              </a:spcBef>
              <a:spcAft>
                <a:spcPts val="0"/>
              </a:spcAft>
              <a:buSzPts val="1800"/>
              <a:buNone/>
            </a:pPr>
            <a:r>
              <a:rPr i="1" lang="en-US"/>
              <a:t>Mars</a:t>
            </a:r>
            <a:r>
              <a:rPr lang="en-US"/>
              <a:t> – IBM Corporation</a:t>
            </a:r>
            <a:endParaRPr/>
          </a:p>
          <a:p>
            <a:pPr indent="0" lvl="1" marL="0" rtl="0" algn="l">
              <a:spcBef>
                <a:spcPts val="0"/>
              </a:spcBef>
              <a:spcAft>
                <a:spcPts val="0"/>
              </a:spcAft>
              <a:buSzPts val="1800"/>
              <a:buNone/>
            </a:pPr>
            <a:r>
              <a:rPr i="1" lang="en-US"/>
              <a:t>RC6 </a:t>
            </a:r>
            <a:r>
              <a:rPr lang="en-US"/>
              <a:t>– </a:t>
            </a:r>
            <a:r>
              <a:rPr i="1" lang="en-US"/>
              <a:t>RSA</a:t>
            </a:r>
            <a:r>
              <a:rPr lang="en-US"/>
              <a:t> Laboratories</a:t>
            </a:r>
            <a:endParaRPr/>
          </a:p>
          <a:p>
            <a:pPr indent="0" lvl="1" marL="0" rtl="0" algn="l">
              <a:spcBef>
                <a:spcPts val="0"/>
              </a:spcBef>
              <a:spcAft>
                <a:spcPts val="0"/>
              </a:spcAft>
              <a:buSzPts val="1800"/>
              <a:buNone/>
            </a:pPr>
            <a:r>
              <a:rPr i="1" lang="en-US"/>
              <a:t>Rijndael </a:t>
            </a:r>
            <a:r>
              <a:rPr lang="en-US"/>
              <a:t>– J. Daemen &amp; V. Rijmen</a:t>
            </a:r>
            <a:endParaRPr/>
          </a:p>
          <a:p>
            <a:pPr indent="0" lvl="1" marL="0" rtl="0" algn="l">
              <a:spcBef>
                <a:spcPts val="0"/>
              </a:spcBef>
              <a:spcAft>
                <a:spcPts val="0"/>
              </a:spcAft>
              <a:buSzPts val="1800"/>
              <a:buNone/>
            </a:pPr>
            <a:r>
              <a:rPr i="1" lang="en-US"/>
              <a:t>Serpent </a:t>
            </a:r>
            <a:r>
              <a:rPr lang="en-US"/>
              <a:t>– Eli Biham et al.</a:t>
            </a:r>
            <a:endParaRPr/>
          </a:p>
          <a:p>
            <a:pPr indent="0" lvl="1" marL="0" rtl="0" algn="l">
              <a:spcBef>
                <a:spcPts val="0"/>
              </a:spcBef>
              <a:spcAft>
                <a:spcPts val="0"/>
              </a:spcAft>
              <a:buSzPts val="1800"/>
              <a:buNone/>
            </a:pPr>
            <a:r>
              <a:rPr i="1" lang="en-US"/>
              <a:t>Twofish </a:t>
            </a:r>
            <a:r>
              <a:rPr lang="en-US"/>
              <a:t>– B. Schneier et al.</a:t>
            </a:r>
            <a:endParaRPr/>
          </a:p>
          <a:p>
            <a:pPr indent="0" lvl="0" marL="0" rtl="0" algn="l">
              <a:spcBef>
                <a:spcPts val="0"/>
              </a:spcBef>
              <a:spcAft>
                <a:spcPts val="0"/>
              </a:spcAft>
              <a:buNone/>
            </a:pPr>
            <a:r>
              <a:t/>
            </a:r>
            <a:endParaRPr/>
          </a:p>
        </p:txBody>
      </p:sp>
      <p:sp>
        <p:nvSpPr>
          <p:cNvPr id="723" name="Google Shape;723;p48: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4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31" name="Google Shape;731;p4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5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39" name="Google Shape;739;p5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5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47" name="Google Shape;747;p5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5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57" name="Google Shape;757;p5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5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65" name="Google Shape;765;p5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5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72" name="Google Shape;772;p5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5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82" name="Google Shape;782;p5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5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90" name="Google Shape;790;p5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5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00" name="Google Shape;800;p5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5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08" name="Google Shape;808;p5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5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22" name="Google Shape;822;p5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6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33" name="Google Shape;833;p6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6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42" name="Google Shape;842;p6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6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51" name="Google Shape;851;p6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6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62" name="Google Shape;862;p6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6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70" name="Google Shape;870;p6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6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78" name="Google Shape;878;p6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6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89" name="Google Shape;889;p6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6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97" name="Google Shape;897;p6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6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05" name="Google Shape;905;p6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6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19" name="Google Shape;919;p6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7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27" name="Google Shape;927;p7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7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36" name="Google Shape;936;p7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7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44" name="Google Shape;944;p7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7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52" name="Google Shape;952;p7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7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60" name="Google Shape;960;p7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7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69" name="Google Shape;969;p7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7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77" name="Google Shape;977;p7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7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85" name="Google Shape;985;p7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7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93" name="Google Shape;993;p7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7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01" name="Google Shape;1001;p7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8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09" name="Google Shape;1009;p8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8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17" name="Google Shape;1017;p8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8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25" name="Google Shape;1025;p8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8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33" name="Google Shape;1033;p8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8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41" name="Google Shape;1041;p8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8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49" name="Google Shape;1049;p8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87"/>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0" name="Google Shape;20;p8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1" name="Google Shape;21;p8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89"/>
          <p:cNvSpPr txBox="1"/>
          <p:nvPr>
            <p:ph type="title"/>
          </p:nvPr>
        </p:nvSpPr>
        <p:spPr>
          <a:xfrm>
            <a:off x="468735" y="302442"/>
            <a:ext cx="7886700" cy="1163894"/>
          </a:xfrm>
          <a:prstGeom prst="rect">
            <a:avLst/>
          </a:prstGeom>
          <a:solidFill>
            <a:srgbClr val="2F5496"/>
          </a:solid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89"/>
          <p:cNvSpPr txBox="1"/>
          <p:nvPr>
            <p:ph idx="1" type="body"/>
          </p:nvPr>
        </p:nvSpPr>
        <p:spPr>
          <a:xfrm>
            <a:off x="468735" y="1668110"/>
            <a:ext cx="7886700" cy="4512158"/>
          </a:xfrm>
          <a:prstGeom prst="rect">
            <a:avLst/>
          </a:prstGeom>
          <a:noFill/>
          <a:ln>
            <a:noFill/>
          </a:ln>
        </p:spPr>
        <p:txBody>
          <a:bodyPr anchorCtr="0" anchor="t" bIns="45700" lIns="91425" spcFirstLastPara="1" rIns="91425" wrap="square" tIns="45700">
            <a:noAutofit/>
          </a:bodyPr>
          <a:lstStyle>
            <a:lvl1pPr indent="-361950" lvl="0" marL="457200" algn="l">
              <a:lnSpc>
                <a:spcPct val="90000"/>
              </a:lnSpc>
              <a:spcBef>
                <a:spcPts val="75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375"/>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375"/>
              </a:spcBef>
              <a:spcAft>
                <a:spcPts val="0"/>
              </a:spcAft>
              <a:buClr>
                <a:schemeClr val="dk1"/>
              </a:buClr>
              <a:buSzPts val="1500"/>
              <a:buChar char="•"/>
              <a:defRPr>
                <a:latin typeface="Calibri"/>
                <a:ea typeface="Calibri"/>
                <a:cs typeface="Calibri"/>
                <a:sym typeface="Calibri"/>
              </a:defRPr>
            </a:lvl3pPr>
            <a:lvl4pPr indent="-311150" lvl="3" marL="1828800" algn="l">
              <a:lnSpc>
                <a:spcPct val="90000"/>
              </a:lnSpc>
              <a:spcBef>
                <a:spcPts val="375"/>
              </a:spcBef>
              <a:spcAft>
                <a:spcPts val="0"/>
              </a:spcAft>
              <a:buClr>
                <a:schemeClr val="dk1"/>
              </a:buClr>
              <a:buSzPts val="1300"/>
              <a:buChar char="•"/>
              <a:defRPr>
                <a:latin typeface="Calibri"/>
                <a:ea typeface="Calibri"/>
                <a:cs typeface="Calibri"/>
                <a:sym typeface="Calibri"/>
              </a:defRPr>
            </a:lvl4pPr>
            <a:lvl5pPr indent="-311150" lvl="4" marL="2286000" algn="l">
              <a:lnSpc>
                <a:spcPct val="90000"/>
              </a:lnSpc>
              <a:spcBef>
                <a:spcPts val="375"/>
              </a:spcBef>
              <a:spcAft>
                <a:spcPts val="0"/>
              </a:spcAft>
              <a:buClr>
                <a:schemeClr val="dk1"/>
              </a:buClr>
              <a:buSzPts val="13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8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텍스트 및 내용" type="txAndObj">
  <p:cSld name="TEXT_AND_OBJECT">
    <p:spTree>
      <p:nvGrpSpPr>
        <p:cNvPr id="45" name="Shape 45"/>
        <p:cNvGrpSpPr/>
        <p:nvPr/>
      </p:nvGrpSpPr>
      <p:grpSpPr>
        <a:xfrm>
          <a:off x="0" y="0"/>
          <a:ext cx="0" cy="0"/>
          <a:chOff x="0" y="0"/>
          <a:chExt cx="0" cy="0"/>
        </a:xfrm>
      </p:grpSpPr>
      <p:sp>
        <p:nvSpPr>
          <p:cNvPr id="46" name="Google Shape;46;p91"/>
          <p:cNvSpPr txBox="1"/>
          <p:nvPr>
            <p:ph type="title"/>
          </p:nvPr>
        </p:nvSpPr>
        <p:spPr>
          <a:xfrm>
            <a:off x="457200" y="122238"/>
            <a:ext cx="7543800" cy="12954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7" name="Google Shape;47;p91"/>
          <p:cNvSpPr txBox="1"/>
          <p:nvPr>
            <p:ph idx="1" type="body"/>
          </p:nvPr>
        </p:nvSpPr>
        <p:spPr>
          <a:xfrm>
            <a:off x="457200" y="1719263"/>
            <a:ext cx="4038600" cy="441166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 name="Google Shape;48;p91"/>
          <p:cNvSpPr txBox="1"/>
          <p:nvPr>
            <p:ph idx="2" type="body"/>
          </p:nvPr>
        </p:nvSpPr>
        <p:spPr>
          <a:xfrm>
            <a:off x="4648200" y="1719263"/>
            <a:ext cx="4038600" cy="441166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9" name="Google Shape;49;p9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9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텍스트 및 내용 2개" type="txAndTwoObj">
  <p:cSld name="TEXT_AND_TWO_OBJECTS">
    <p:spTree>
      <p:nvGrpSpPr>
        <p:cNvPr id="52" name="Shape 52"/>
        <p:cNvGrpSpPr/>
        <p:nvPr/>
      </p:nvGrpSpPr>
      <p:grpSpPr>
        <a:xfrm>
          <a:off x="0" y="0"/>
          <a:ext cx="0" cy="0"/>
          <a:chOff x="0" y="0"/>
          <a:chExt cx="0" cy="0"/>
        </a:xfrm>
      </p:grpSpPr>
      <p:sp>
        <p:nvSpPr>
          <p:cNvPr id="53" name="Google Shape;53;p92"/>
          <p:cNvSpPr txBox="1"/>
          <p:nvPr>
            <p:ph type="title"/>
          </p:nvPr>
        </p:nvSpPr>
        <p:spPr>
          <a:xfrm>
            <a:off x="457200" y="122238"/>
            <a:ext cx="7543800" cy="12954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4" name="Google Shape;54;p92"/>
          <p:cNvSpPr txBox="1"/>
          <p:nvPr>
            <p:ph idx="1" type="body"/>
          </p:nvPr>
        </p:nvSpPr>
        <p:spPr>
          <a:xfrm>
            <a:off x="457200" y="1719263"/>
            <a:ext cx="4038600" cy="441166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92"/>
          <p:cNvSpPr txBox="1"/>
          <p:nvPr>
            <p:ph idx="2" type="body"/>
          </p:nvPr>
        </p:nvSpPr>
        <p:spPr>
          <a:xfrm>
            <a:off x="4648200" y="1719263"/>
            <a:ext cx="4038600" cy="21288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92"/>
          <p:cNvSpPr txBox="1"/>
          <p:nvPr>
            <p:ph idx="3" type="body"/>
          </p:nvPr>
        </p:nvSpPr>
        <p:spPr>
          <a:xfrm>
            <a:off x="4648200" y="4000500"/>
            <a:ext cx="4038600" cy="21304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7" name="Google Shape;57;p9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86"/>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11" name="Google Shape;11;p86"/>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12" name="Google Shape;12;p86"/>
          <p:cNvPicPr preferRelativeResize="0"/>
          <p:nvPr/>
        </p:nvPicPr>
        <p:blipFill rotWithShape="1">
          <a:blip r:embed="rId3">
            <a:alphaModFix/>
          </a:blip>
          <a:srcRect b="0" l="0" r="0" t="0"/>
          <a:stretch/>
        </p:blipFill>
        <p:spPr>
          <a:xfrm>
            <a:off x="8355012" y="100012"/>
            <a:ext cx="788987" cy="865187"/>
          </a:xfrm>
          <a:prstGeom prst="rect">
            <a:avLst/>
          </a:prstGeom>
          <a:noFill/>
          <a:ln>
            <a:noFill/>
          </a:ln>
        </p:spPr>
      </p:pic>
      <p:sp>
        <p:nvSpPr>
          <p:cNvPr id="13" name="Google Shape;13;p8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4" name="Google Shape;14;p86"/>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 name="Google Shape;15;p8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 name="Google Shape;16;p8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cap="none" strike="noStrik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7" name="Google Shape;17;p8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 name="Shape 24"/>
        <p:cNvGrpSpPr/>
        <p:nvPr/>
      </p:nvGrpSpPr>
      <p:grpSpPr>
        <a:xfrm>
          <a:off x="0" y="0"/>
          <a:ext cx="0" cy="0"/>
          <a:chOff x="0" y="0"/>
          <a:chExt cx="0" cy="0"/>
        </a:xfrm>
      </p:grpSpPr>
      <p:pic>
        <p:nvPicPr>
          <p:cNvPr id="25" name="Google Shape;25;p88"/>
          <p:cNvPicPr preferRelativeResize="0"/>
          <p:nvPr/>
        </p:nvPicPr>
        <p:blipFill rotWithShape="1">
          <a:blip r:embed="rId1">
            <a:alphaModFix/>
          </a:blip>
          <a:srcRect b="0" l="0" r="0" t="0"/>
          <a:stretch/>
        </p:blipFill>
        <p:spPr>
          <a:xfrm>
            <a:off x="6945312" y="4127500"/>
            <a:ext cx="2200275" cy="2751137"/>
          </a:xfrm>
          <a:prstGeom prst="rect">
            <a:avLst/>
          </a:prstGeom>
          <a:noFill/>
          <a:ln>
            <a:noFill/>
          </a:ln>
        </p:spPr>
      </p:pic>
      <p:pic>
        <p:nvPicPr>
          <p:cNvPr id="26" name="Google Shape;26;p88"/>
          <p:cNvPicPr preferRelativeResize="0"/>
          <p:nvPr/>
        </p:nvPicPr>
        <p:blipFill rotWithShape="1">
          <a:blip r:embed="rId2">
            <a:alphaModFix/>
          </a:blip>
          <a:srcRect b="0" l="0" r="0" t="0"/>
          <a:stretch/>
        </p:blipFill>
        <p:spPr>
          <a:xfrm>
            <a:off x="11112" y="6015037"/>
            <a:ext cx="649287" cy="863600"/>
          </a:xfrm>
          <a:prstGeom prst="rect">
            <a:avLst/>
          </a:prstGeom>
          <a:noFill/>
          <a:ln>
            <a:noFill/>
          </a:ln>
        </p:spPr>
      </p:pic>
      <p:pic>
        <p:nvPicPr>
          <p:cNvPr id="27" name="Google Shape;27;p88"/>
          <p:cNvPicPr preferRelativeResize="0"/>
          <p:nvPr/>
        </p:nvPicPr>
        <p:blipFill rotWithShape="1">
          <a:blip r:embed="rId3">
            <a:alphaModFix/>
          </a:blip>
          <a:srcRect b="0" l="0" r="0" t="0"/>
          <a:stretch/>
        </p:blipFill>
        <p:spPr>
          <a:xfrm>
            <a:off x="8355012" y="100012"/>
            <a:ext cx="788987" cy="865187"/>
          </a:xfrm>
          <a:prstGeom prst="rect">
            <a:avLst/>
          </a:prstGeom>
          <a:noFill/>
          <a:ln>
            <a:noFill/>
          </a:ln>
        </p:spPr>
      </p:pic>
      <p:sp>
        <p:nvSpPr>
          <p:cNvPr id="28" name="Google Shape;28;p8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9" name="Google Shape;29;p8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0" name="Google Shape;30;p8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1" name="Google Shape;31;p8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cap="none" strike="noStrik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2" name="Google Shape;32;p8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cap="none" strike="noStrik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9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41" name="Google Shape;41;p9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 name="Google Shape;42;p9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43" name="Google Shape;43;p9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a:solidFill>
                  <a:srgbClr val="898989"/>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44" name="Google Shape;44;p9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1pPr>
            <a:lvl2pPr indent="0" lvl="1"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2pPr>
            <a:lvl3pPr indent="0" lvl="2"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3pPr>
            <a:lvl4pPr indent="0" lvl="3"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4pPr>
            <a:lvl5pPr indent="0" lvl="4"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5pPr>
            <a:lvl6pPr indent="0" lvl="5"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6pPr>
            <a:lvl7pPr indent="0" lvl="6"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7pPr>
            <a:lvl8pPr indent="0" lvl="7"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8pPr>
            <a:lvl9pPr indent="0" lvl="8" marL="0" marR="0" rtl="0" algn="r">
              <a:lnSpc>
                <a:spcPct val="100000"/>
              </a:lnSpc>
              <a:spcBef>
                <a:spcPts val="0"/>
              </a:spcBef>
              <a:spcAft>
                <a:spcPts val="0"/>
              </a:spcAft>
              <a:buClr>
                <a:srgbClr val="898989"/>
              </a:buClr>
              <a:buSzPts val="900"/>
              <a:buFont typeface="Gill Sans"/>
              <a:buNone/>
              <a:defRPr b="0" i="0" sz="900" u="none">
                <a:solidFill>
                  <a:srgbClr val="89898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en.wikipedia.org/wiki/Stream_ciph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en.wikipedia.org/wiki/Block_cipher" TargetMode="External"/><Relationship Id="rId4" Type="http://schemas.openxmlformats.org/officeDocument/2006/relationships/image" Target="../media/image5.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en.wikipedia.org/wiki/Block_cipher_mode_of_operat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en.wikipedia.org/wiki/Linear_feedback_shift_register" TargetMode="External"/><Relationship Id="rId4" Type="http://schemas.openxmlformats.org/officeDocument/2006/relationships/hyperlink" Target="http://en.wikipedia.org/wiki/Global_System_for_Mobile_Communications" TargetMode="External"/><Relationship Id="rId5" Type="http://schemas.openxmlformats.org/officeDocument/2006/relationships/hyperlink" Target="http://en.wikipedia.org/wiki/A5/2" TargetMode="External"/><Relationship Id="rId6" Type="http://schemas.openxmlformats.org/officeDocument/2006/relationships/hyperlink" Target="http://en.wikipedia.org/wiki/Secure_Sockets_Lay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en.wikipedia.org/wiki/A5/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lide28.xml" TargetMode="External"/><Relationship Id="rId4" Type="http://schemas.openxmlformats.org/officeDocument/2006/relationships/hyperlink" Target="http://slide30.xml" TargetMode="External"/><Relationship Id="rId5" Type="http://schemas.openxmlformats.org/officeDocument/2006/relationships/hyperlink" Target="http://slide31.xml" TargetMode="External"/><Relationship Id="rId6" Type="http://schemas.openxmlformats.org/officeDocument/2006/relationships/hyperlink" Target="http://slide33.xml" TargetMode="External"/><Relationship Id="rId7"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hyperlink" Target="http://slide27.x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lide28.xml" TargetMode="External"/><Relationship Id="rId4" Type="http://schemas.openxmlformats.org/officeDocument/2006/relationships/hyperlink" Target="http://slide30.xml" TargetMode="External"/><Relationship Id="rId5" Type="http://schemas.openxmlformats.org/officeDocument/2006/relationships/hyperlink" Target="http://slide31.xml" TargetMode="External"/><Relationship Id="rId6" Type="http://schemas.openxmlformats.org/officeDocument/2006/relationships/hyperlink" Target="http://slide33.xml" TargetMode="External"/><Relationship Id="rId7"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lide27.x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9.png"/><Relationship Id="rId4" Type="http://schemas.openxmlformats.org/officeDocument/2006/relationships/image" Target="../media/image3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0.png"/><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2.pn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3.png"/><Relationship Id="rId4" Type="http://schemas.openxmlformats.org/officeDocument/2006/relationships/image" Target="../media/image3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43.png"/><Relationship Id="rId4" Type="http://schemas.openxmlformats.org/officeDocument/2006/relationships/image" Target="../media/image30.png"/><Relationship Id="rId5" Type="http://schemas.openxmlformats.org/officeDocument/2006/relationships/image" Target="../media/image3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4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8.png"/><Relationship Id="rId4" Type="http://schemas.openxmlformats.org/officeDocument/2006/relationships/image" Target="../media/image46.png"/><Relationship Id="rId5" Type="http://schemas.openxmlformats.org/officeDocument/2006/relationships/image" Target="../media/image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4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41.png"/><Relationship Id="rId4" Type="http://schemas.openxmlformats.org/officeDocument/2006/relationships/image" Target="../media/image4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5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4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
          <p:cNvSpPr txBox="1"/>
          <p:nvPr>
            <p:ph type="ctrTitle"/>
          </p:nvPr>
        </p:nvSpPr>
        <p:spPr>
          <a:xfrm>
            <a:off x="315912" y="466725"/>
            <a:ext cx="8255000" cy="231933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500"/>
              <a:buFont typeface="Corbel"/>
              <a:buNone/>
            </a:pPr>
            <a:r>
              <a:rPr b="0" i="0" lang="en-US" sz="4500" u="none">
                <a:solidFill>
                  <a:schemeClr val="dk1"/>
                </a:solidFill>
                <a:latin typeface="Corbel"/>
                <a:ea typeface="Corbel"/>
                <a:cs typeface="Corbel"/>
                <a:sym typeface="Corbel"/>
              </a:rPr>
              <a:t>Chapter 3</a:t>
            </a:r>
            <a:br>
              <a:rPr b="0" i="0" lang="en-US" sz="4500" u="none">
                <a:solidFill>
                  <a:schemeClr val="dk1"/>
                </a:solidFill>
                <a:latin typeface="Corbel"/>
                <a:ea typeface="Corbel"/>
                <a:cs typeface="Corbel"/>
                <a:sym typeface="Corbel"/>
              </a:rPr>
            </a:br>
            <a:r>
              <a:rPr b="0" i="0" lang="en-US" sz="4500" u="none">
                <a:solidFill>
                  <a:schemeClr val="dk1"/>
                </a:solidFill>
                <a:latin typeface="Corbel"/>
                <a:ea typeface="Corbel"/>
                <a:cs typeface="Corbel"/>
                <a:sym typeface="Corbel"/>
              </a:rPr>
              <a:t>Symmetric Key Crypto</a:t>
            </a:r>
            <a:endParaRPr/>
          </a:p>
        </p:txBody>
      </p:sp>
      <p:sp>
        <p:nvSpPr>
          <p:cNvPr id="66" name="Google Shape;66;p1"/>
          <p:cNvSpPr txBox="1"/>
          <p:nvPr>
            <p:ph idx="1" type="subTitle"/>
          </p:nvPr>
        </p:nvSpPr>
        <p:spPr>
          <a:xfrm>
            <a:off x="1003300" y="3557587"/>
            <a:ext cx="6880225" cy="2149475"/>
          </a:xfrm>
          <a:prstGeom prst="rect">
            <a:avLst/>
          </a:prstGeom>
          <a:noFill/>
          <a:ln>
            <a:noFill/>
          </a:ln>
        </p:spPr>
        <p:txBody>
          <a:bodyPr anchorCtr="0" anchor="t" bIns="45700" lIns="91425" spcFirstLastPara="1" rIns="91425" wrap="square" tIns="45700">
            <a:noAutofit/>
          </a:bodyPr>
          <a:lstStyle/>
          <a:p>
            <a:pPr indent="-449262" lvl="0" marL="457200" rtl="0" algn="ctr">
              <a:lnSpc>
                <a:spcPct val="90000"/>
              </a:lnSpc>
              <a:spcBef>
                <a:spcPts val="0"/>
              </a:spcBef>
              <a:spcAft>
                <a:spcPts val="0"/>
              </a:spcAft>
              <a:buClr>
                <a:schemeClr val="dk1"/>
              </a:buClr>
              <a:buSzPts val="2000"/>
              <a:buNone/>
            </a:pPr>
            <a:r>
              <a:rPr b="0" i="0" lang="en-US" sz="2000" u="none">
                <a:solidFill>
                  <a:schemeClr val="dk1"/>
                </a:solidFill>
                <a:latin typeface="Corbel"/>
                <a:ea typeface="Corbel"/>
                <a:cs typeface="Corbel"/>
                <a:sym typeface="Corbel"/>
              </a:rPr>
              <a:t>Conducted by:</a:t>
            </a:r>
            <a:endParaRPr/>
          </a:p>
          <a:p>
            <a:pPr indent="-449262" lvl="0" marL="457200" rtl="0" algn="ctr">
              <a:lnSpc>
                <a:spcPct val="90000"/>
              </a:lnSpc>
              <a:spcBef>
                <a:spcPts val="300"/>
              </a:spcBef>
              <a:spcAft>
                <a:spcPts val="0"/>
              </a:spcAft>
              <a:buClr>
                <a:schemeClr val="dk1"/>
              </a:buClr>
              <a:buSzPts val="2000"/>
              <a:buNone/>
            </a:pPr>
            <a:r>
              <a:rPr b="0" i="0" lang="en-US" sz="2000" u="none">
                <a:solidFill>
                  <a:schemeClr val="dk1"/>
                </a:solidFill>
                <a:latin typeface="Corbel"/>
                <a:ea typeface="Corbel"/>
                <a:cs typeface="Corbel"/>
                <a:sym typeface="Corbel"/>
              </a:rPr>
              <a:t>Dr. Muhammad Iqbal Hossain</a:t>
            </a:r>
            <a:endParaRPr/>
          </a:p>
          <a:p>
            <a:pPr indent="-449262" lvl="0" marL="457200" rtl="0" algn="ctr">
              <a:lnSpc>
                <a:spcPct val="90000"/>
              </a:lnSpc>
              <a:spcBef>
                <a:spcPts val="300"/>
              </a:spcBef>
              <a:spcAft>
                <a:spcPts val="0"/>
              </a:spcAft>
              <a:buClr>
                <a:schemeClr val="dk1"/>
              </a:buClr>
              <a:buSzPts val="2000"/>
              <a:buNone/>
            </a:pPr>
            <a:r>
              <a:rPr b="0" i="0" lang="en-US" sz="2000" u="none">
                <a:solidFill>
                  <a:schemeClr val="dk1"/>
                </a:solidFill>
                <a:latin typeface="Corbel"/>
                <a:ea typeface="Corbel"/>
                <a:cs typeface="Corbel"/>
                <a:sym typeface="Corbel"/>
              </a:rPr>
              <a:t>Associate Professor</a:t>
            </a:r>
            <a:endParaRPr/>
          </a:p>
          <a:p>
            <a:pPr indent="-449262" lvl="0" marL="457200" rtl="0" algn="ctr">
              <a:lnSpc>
                <a:spcPct val="90000"/>
              </a:lnSpc>
              <a:spcBef>
                <a:spcPts val="300"/>
              </a:spcBef>
              <a:spcAft>
                <a:spcPts val="0"/>
              </a:spcAft>
              <a:buClr>
                <a:schemeClr val="dk1"/>
              </a:buClr>
              <a:buSzPts val="2000"/>
              <a:buNone/>
            </a:pPr>
            <a:r>
              <a:rPr b="0" i="0" lang="en-US" sz="2000" u="none">
                <a:solidFill>
                  <a:schemeClr val="dk1"/>
                </a:solidFill>
                <a:latin typeface="Corbel"/>
                <a:ea typeface="Corbel"/>
                <a:cs typeface="Corbel"/>
                <a:sym typeface="Corbel"/>
              </a:rPr>
              <a:t>Department of CSE, Brac University</a:t>
            </a:r>
            <a:endParaRPr/>
          </a:p>
        </p:txBody>
      </p:sp>
      <p:sp>
        <p:nvSpPr>
          <p:cNvPr id="67" name="Google Shape;67;p1"/>
          <p:cNvSpPr txBox="1"/>
          <p:nvPr/>
        </p:nvSpPr>
        <p:spPr>
          <a:xfrm>
            <a:off x="8374062"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68" name="Google Shape;68;p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txBox="1"/>
          <p:nvPr>
            <p:ph type="ctrTitle"/>
          </p:nvPr>
        </p:nvSpPr>
        <p:spPr>
          <a:xfrm>
            <a:off x="1125537" y="188912"/>
            <a:ext cx="6899275" cy="231933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500"/>
              <a:buFont typeface="Corbel"/>
              <a:buNone/>
            </a:pPr>
            <a:r>
              <a:rPr b="0" i="0" lang="en-US" sz="4500" u="none">
                <a:solidFill>
                  <a:schemeClr val="dk1"/>
                </a:solidFill>
                <a:latin typeface="Corbel"/>
                <a:ea typeface="Corbel"/>
                <a:cs typeface="Corbel"/>
                <a:sym typeface="Corbel"/>
              </a:rPr>
              <a:t>Appendix</a:t>
            </a:r>
            <a:endParaRPr/>
          </a:p>
        </p:txBody>
      </p:sp>
      <p:sp>
        <p:nvSpPr>
          <p:cNvPr id="74" name="Google Shape;74;p2"/>
          <p:cNvSpPr txBox="1"/>
          <p:nvPr>
            <p:ph idx="1" type="subTitle"/>
          </p:nvPr>
        </p:nvSpPr>
        <p:spPr>
          <a:xfrm>
            <a:off x="581025" y="3284537"/>
            <a:ext cx="7989887" cy="2667000"/>
          </a:xfrm>
          <a:prstGeom prst="rect">
            <a:avLst/>
          </a:prstGeom>
          <a:noFill/>
          <a:ln>
            <a:noFill/>
          </a:ln>
        </p:spPr>
        <p:txBody>
          <a:bodyPr anchorCtr="0" anchor="t" bIns="45700" lIns="91425" spcFirstLastPara="1" rIns="91425" wrap="square" tIns="45700">
            <a:normAutofit/>
          </a:bodyPr>
          <a:lstStyle/>
          <a:p>
            <a:pPr indent="-449262" lvl="0" marL="457200" rtl="0" algn="ctr">
              <a:lnSpc>
                <a:spcPct val="70000"/>
              </a:lnSpc>
              <a:spcBef>
                <a:spcPts val="0"/>
              </a:spcBef>
              <a:spcAft>
                <a:spcPts val="0"/>
              </a:spcAft>
              <a:buClr>
                <a:schemeClr val="dk1"/>
              </a:buClr>
              <a:buSzPts val="2400"/>
              <a:buNone/>
            </a:pPr>
            <a:r>
              <a:rPr b="0" i="0" lang="en-US" sz="2400" u="none">
                <a:solidFill>
                  <a:schemeClr val="dk1"/>
                </a:solidFill>
                <a:latin typeface="Corbel"/>
                <a:ea typeface="Corbel"/>
                <a:cs typeface="Corbel"/>
                <a:sym typeface="Corbel"/>
              </a:rPr>
              <a:t>Stream Ciphers</a:t>
            </a:r>
            <a:endParaRPr/>
          </a:p>
          <a:p>
            <a:pPr indent="-449262" lvl="0" marL="457200" rtl="0" algn="ctr">
              <a:lnSpc>
                <a:spcPct val="70000"/>
              </a:lnSpc>
              <a:spcBef>
                <a:spcPts val="700"/>
              </a:spcBef>
              <a:spcAft>
                <a:spcPts val="0"/>
              </a:spcAft>
              <a:buClr>
                <a:schemeClr val="dk1"/>
              </a:buClr>
              <a:buSzPts val="2400"/>
              <a:buNone/>
            </a:pPr>
            <a:r>
              <a:rPr b="0" i="0" lang="en-US" sz="2400" u="none">
                <a:solidFill>
                  <a:schemeClr val="dk1"/>
                </a:solidFill>
                <a:latin typeface="Corbel"/>
                <a:ea typeface="Corbel"/>
                <a:cs typeface="Corbel"/>
                <a:sym typeface="Corbel"/>
              </a:rPr>
              <a:t>Block Ciphers</a:t>
            </a:r>
            <a:endParaRPr/>
          </a:p>
          <a:p>
            <a:pPr indent="-449262" lvl="0" marL="457200" rtl="0" algn="ctr">
              <a:lnSpc>
                <a:spcPct val="70000"/>
              </a:lnSpc>
              <a:spcBef>
                <a:spcPts val="700"/>
              </a:spcBef>
              <a:spcAft>
                <a:spcPts val="0"/>
              </a:spcAft>
              <a:buClr>
                <a:schemeClr val="dk1"/>
              </a:buClr>
              <a:buSzPts val="2400"/>
              <a:buNone/>
            </a:pPr>
            <a:r>
              <a:rPr b="0" i="0" lang="en-US" sz="2400" u="none">
                <a:solidFill>
                  <a:schemeClr val="dk1"/>
                </a:solidFill>
                <a:latin typeface="Corbel"/>
                <a:ea typeface="Corbel"/>
                <a:cs typeface="Corbel"/>
                <a:sym typeface="Corbel"/>
              </a:rPr>
              <a:t>A5/1</a:t>
            </a:r>
            <a:endParaRPr/>
          </a:p>
          <a:p>
            <a:pPr indent="-449262" lvl="0" marL="457200" rtl="0" algn="ctr">
              <a:lnSpc>
                <a:spcPct val="70000"/>
              </a:lnSpc>
              <a:spcBef>
                <a:spcPts val="700"/>
              </a:spcBef>
              <a:spcAft>
                <a:spcPts val="0"/>
              </a:spcAft>
              <a:buClr>
                <a:schemeClr val="dk1"/>
              </a:buClr>
              <a:buSzPts val="2400"/>
              <a:buNone/>
            </a:pPr>
            <a:r>
              <a:rPr b="0" i="0" lang="en-US" sz="2400" u="none">
                <a:solidFill>
                  <a:schemeClr val="dk1"/>
                </a:solidFill>
                <a:latin typeface="Corbel"/>
                <a:ea typeface="Corbel"/>
                <a:cs typeface="Corbel"/>
                <a:sym typeface="Corbel"/>
              </a:rPr>
              <a:t>DES</a:t>
            </a:r>
            <a:endParaRPr/>
          </a:p>
          <a:p>
            <a:pPr indent="-449262" lvl="0" marL="457200" rtl="0" algn="ctr">
              <a:lnSpc>
                <a:spcPct val="70000"/>
              </a:lnSpc>
              <a:spcBef>
                <a:spcPts val="700"/>
              </a:spcBef>
              <a:spcAft>
                <a:spcPts val="0"/>
              </a:spcAft>
              <a:buClr>
                <a:schemeClr val="dk1"/>
              </a:buClr>
              <a:buSzPts val="2400"/>
              <a:buNone/>
            </a:pPr>
            <a:r>
              <a:rPr b="0" i="0" lang="en-US" sz="2400" u="none">
                <a:solidFill>
                  <a:schemeClr val="dk1"/>
                </a:solidFill>
                <a:latin typeface="Corbel"/>
                <a:ea typeface="Corbel"/>
                <a:cs typeface="Corbel"/>
                <a:sym typeface="Corbel"/>
              </a:rPr>
              <a:t>AES</a:t>
            </a:r>
            <a:endParaRPr/>
          </a:p>
          <a:p>
            <a:pPr indent="-449262" lvl="0" marL="457200" rtl="0" algn="ctr">
              <a:lnSpc>
                <a:spcPct val="70000"/>
              </a:lnSpc>
              <a:spcBef>
                <a:spcPts val="700"/>
              </a:spcBef>
              <a:spcAft>
                <a:spcPts val="0"/>
              </a:spcAft>
              <a:buClr>
                <a:schemeClr val="dk1"/>
              </a:buClr>
              <a:buSzPts val="2400"/>
              <a:buNone/>
            </a:pPr>
            <a:r>
              <a:rPr b="0" i="0" lang="en-US" sz="2400" u="none">
                <a:solidFill>
                  <a:schemeClr val="dk1"/>
                </a:solidFill>
                <a:latin typeface="Corbel"/>
                <a:ea typeface="Corbel"/>
                <a:cs typeface="Corbel"/>
                <a:sym typeface="Corbel"/>
              </a:rPr>
              <a:t>Block Cipher Modes</a:t>
            </a:r>
            <a:endParaRPr/>
          </a:p>
          <a:p>
            <a:pPr indent="-449262" lvl="0" marL="457200" rtl="0" algn="ctr">
              <a:lnSpc>
                <a:spcPct val="70000"/>
              </a:lnSpc>
              <a:spcBef>
                <a:spcPts val="700"/>
              </a:spcBef>
              <a:spcAft>
                <a:spcPts val="0"/>
              </a:spcAft>
              <a:buClr>
                <a:schemeClr val="dk1"/>
              </a:buClr>
              <a:buSzPts val="2400"/>
              <a:buNone/>
            </a:pPr>
            <a:r>
              <a:rPr b="0" i="0" lang="en-US" sz="2400" u="none">
                <a:solidFill>
                  <a:schemeClr val="dk1"/>
                </a:solidFill>
                <a:latin typeface="Corbel"/>
                <a:ea typeface="Corbel"/>
                <a:cs typeface="Corbel"/>
                <a:sym typeface="Corbel"/>
              </a:rPr>
              <a:t>MAC Integrity</a:t>
            </a:r>
            <a:endParaRPr/>
          </a:p>
        </p:txBody>
      </p:sp>
      <p:sp>
        <p:nvSpPr>
          <p:cNvPr id="75" name="Google Shape;75;p2"/>
          <p:cNvSpPr txBox="1"/>
          <p:nvPr/>
        </p:nvSpPr>
        <p:spPr>
          <a:xfrm>
            <a:off x="8374062"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76" name="Google Shape;76;p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type="title"/>
          </p:nvPr>
        </p:nvSpPr>
        <p:spPr>
          <a:xfrm>
            <a:off x="785812" y="357187"/>
            <a:ext cx="7143750" cy="10001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Symmetric Key Crypto</a:t>
            </a:r>
            <a:endParaRPr/>
          </a:p>
        </p:txBody>
      </p:sp>
      <p:sp>
        <p:nvSpPr>
          <p:cNvPr id="83" name="Google Shape;83;p3"/>
          <p:cNvSpPr txBox="1"/>
          <p:nvPr>
            <p:ph idx="1" type="body"/>
          </p:nvPr>
        </p:nvSpPr>
        <p:spPr>
          <a:xfrm>
            <a:off x="785812" y="1916112"/>
            <a:ext cx="7858125" cy="428148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3600" u="sng" cap="none" strike="noStrike">
                <a:solidFill>
                  <a:srgbClr val="FC0410"/>
                </a:solidFill>
                <a:latin typeface="Calibri"/>
                <a:ea typeface="Calibri"/>
                <a:cs typeface="Calibri"/>
                <a:sym typeface="Calibri"/>
                <a:hlinkClick r:id="rId3">
                  <a:extLst>
                    <a:ext uri="{A12FA001-AC4F-418D-AE19-62706E023703}">
                      <ahyp:hlinkClr val="tx"/>
                    </a:ext>
                  </a:extLst>
                </a:hlinkClick>
              </a:rPr>
              <a:t>Stream cipher</a:t>
            </a:r>
            <a:r>
              <a:rPr b="0" i="0" lang="en-US" sz="3600" u="none" cap="none" strike="noStrike">
                <a:solidFill>
                  <a:srgbClr val="FC0410"/>
                </a:solidFill>
                <a:latin typeface="Corbel"/>
                <a:ea typeface="Corbel"/>
                <a:cs typeface="Corbel"/>
                <a:sym typeface="Corbel"/>
              </a:rPr>
              <a:t> </a:t>
            </a:r>
            <a:r>
              <a:rPr b="0" i="0" lang="en-US" sz="3600" u="none" cap="none" strike="noStrike">
                <a:solidFill>
                  <a:schemeClr val="dk1"/>
                </a:solidFill>
                <a:latin typeface="Corbel"/>
                <a:ea typeface="Corbel"/>
                <a:cs typeface="Corbel"/>
                <a:sym typeface="Corbel"/>
              </a:rPr>
              <a:t>⎯ like a one-time pad</a:t>
            </a:r>
            <a:endParaRPr/>
          </a:p>
          <a:p>
            <a:pPr indent="-393700" lvl="1" marL="514350" marR="0" rtl="0" algn="l">
              <a:lnSpc>
                <a:spcPct val="90000"/>
              </a:lnSpc>
              <a:spcBef>
                <a:spcPts val="300"/>
              </a:spcBef>
              <a:spcAft>
                <a:spcPts val="0"/>
              </a:spcAft>
              <a:buClr>
                <a:srgbClr val="376092"/>
              </a:buClr>
              <a:buSzPts val="300"/>
              <a:buFont typeface="Arial"/>
              <a:buChar char="•"/>
            </a:pPr>
            <a:r>
              <a:t/>
            </a:r>
            <a:endParaRPr sz="3200">
              <a:latin typeface="Corbel"/>
              <a:ea typeface="Corbel"/>
              <a:cs typeface="Corbel"/>
              <a:sym typeface="Corbel"/>
            </a:endParaRPr>
          </a:p>
          <a:p>
            <a:pPr indent="-260350" lvl="1" marL="514350" marR="0" rtl="0" algn="l">
              <a:lnSpc>
                <a:spcPct val="90000"/>
              </a:lnSpc>
              <a:spcBef>
                <a:spcPts val="0"/>
              </a:spcBef>
              <a:spcAft>
                <a:spcPts val="0"/>
              </a:spcAft>
              <a:buClr>
                <a:schemeClr val="dk1"/>
              </a:buClr>
              <a:buSzPts val="3200"/>
              <a:buFont typeface="Corbel"/>
              <a:buChar char="•"/>
            </a:pPr>
            <a:r>
              <a:rPr b="0" i="0" lang="en-US" sz="3200" u="none" cap="none" strike="noStrike">
                <a:solidFill>
                  <a:schemeClr val="dk1"/>
                </a:solidFill>
                <a:latin typeface="Corbel"/>
                <a:ea typeface="Corbel"/>
                <a:cs typeface="Corbel"/>
                <a:sym typeface="Corbel"/>
              </a:rPr>
              <a:t>Key is relatively short</a:t>
            </a:r>
            <a:endParaRPr/>
          </a:p>
          <a:p>
            <a:pPr indent="-260350" lvl="1" marL="514350" marR="0" rtl="0" algn="l">
              <a:lnSpc>
                <a:spcPct val="90000"/>
              </a:lnSpc>
              <a:spcBef>
                <a:spcPts val="0"/>
              </a:spcBef>
              <a:spcAft>
                <a:spcPts val="0"/>
              </a:spcAft>
              <a:buSzPts val="3200"/>
              <a:buFont typeface="Corbel"/>
              <a:buChar char="•"/>
            </a:pPr>
            <a:r>
              <a:rPr b="0" i="0" lang="en-US" sz="3200" u="none" cap="none" strike="noStrike">
                <a:solidFill>
                  <a:schemeClr val="dk1"/>
                </a:solidFill>
                <a:latin typeface="Corbel"/>
                <a:ea typeface="Corbel"/>
                <a:cs typeface="Corbel"/>
                <a:sym typeface="Corbel"/>
              </a:rPr>
              <a:t>Key is stretched into a long </a:t>
            </a:r>
            <a:r>
              <a:rPr b="1" i="0" lang="en-US" sz="3200" u="none" cap="none" strike="noStrike">
                <a:solidFill>
                  <a:srgbClr val="0909B3"/>
                </a:solidFill>
                <a:latin typeface="Corbel"/>
                <a:ea typeface="Corbel"/>
                <a:cs typeface="Corbel"/>
                <a:sym typeface="Corbel"/>
              </a:rPr>
              <a:t>keystream</a:t>
            </a:r>
            <a:endParaRPr b="0" i="0" sz="3200" u="none" cap="none" strike="noStrike">
              <a:solidFill>
                <a:srgbClr val="0909B3"/>
              </a:solidFill>
              <a:latin typeface="Corbel"/>
              <a:ea typeface="Corbel"/>
              <a:cs typeface="Corbel"/>
              <a:sym typeface="Corbel"/>
            </a:endParaRPr>
          </a:p>
          <a:p>
            <a:pPr indent="-260350" lvl="1" marL="514350" marR="0" rtl="0" algn="l">
              <a:lnSpc>
                <a:spcPct val="90000"/>
              </a:lnSpc>
              <a:spcBef>
                <a:spcPts val="0"/>
              </a:spcBef>
              <a:spcAft>
                <a:spcPts val="0"/>
              </a:spcAft>
              <a:buClr>
                <a:schemeClr val="dk1"/>
              </a:buClr>
              <a:buSzPts val="3200"/>
              <a:buFont typeface="Corbel"/>
              <a:buChar char="•"/>
            </a:pPr>
            <a:r>
              <a:rPr b="0" i="0" lang="en-US" sz="3200" u="none" cap="none" strike="noStrike">
                <a:solidFill>
                  <a:schemeClr val="dk1"/>
                </a:solidFill>
                <a:latin typeface="Corbel"/>
                <a:ea typeface="Corbel"/>
                <a:cs typeface="Corbel"/>
                <a:sym typeface="Corbel"/>
              </a:rPr>
              <a:t>Keystream is then used like a one-time pad except provable security</a:t>
            </a:r>
            <a:endParaRPr/>
          </a:p>
          <a:p>
            <a:pPr indent="-260350" lvl="1" marL="514350" marR="0" rtl="0" algn="l">
              <a:lnSpc>
                <a:spcPct val="90000"/>
              </a:lnSpc>
              <a:spcBef>
                <a:spcPts val="0"/>
              </a:spcBef>
              <a:spcAft>
                <a:spcPts val="0"/>
              </a:spcAft>
              <a:buSzPts val="3200"/>
              <a:buFont typeface="Corbel"/>
              <a:buChar char="•"/>
            </a:pPr>
            <a:r>
              <a:rPr b="0" i="0" lang="en-US" sz="3200" u="none" cap="none" strike="noStrike">
                <a:solidFill>
                  <a:schemeClr val="dk1"/>
                </a:solidFill>
                <a:latin typeface="Corbel"/>
                <a:ea typeface="Corbel"/>
                <a:cs typeface="Corbel"/>
                <a:sym typeface="Corbel"/>
              </a:rPr>
              <a:t>Employ </a:t>
            </a:r>
            <a:r>
              <a:rPr b="0" i="0" lang="en-US" sz="3200" u="none" cap="none" strike="noStrike">
                <a:solidFill>
                  <a:srgbClr val="0909B3"/>
                </a:solidFill>
                <a:latin typeface="Corbel"/>
                <a:ea typeface="Corbel"/>
                <a:cs typeface="Corbel"/>
                <a:sym typeface="Corbel"/>
              </a:rPr>
              <a:t>confusion only</a:t>
            </a:r>
            <a:endParaRPr/>
          </a:p>
        </p:txBody>
      </p:sp>
      <p:sp>
        <p:nvSpPr>
          <p:cNvPr id="84" name="Google Shape;84;p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85" name="Google Shape;85;p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txBox="1"/>
          <p:nvPr>
            <p:ph type="title"/>
          </p:nvPr>
        </p:nvSpPr>
        <p:spPr>
          <a:xfrm>
            <a:off x="785812" y="357187"/>
            <a:ext cx="7143750" cy="10001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Symmetric Key Crypto</a:t>
            </a:r>
            <a:endParaRPr/>
          </a:p>
        </p:txBody>
      </p:sp>
      <p:sp>
        <p:nvSpPr>
          <p:cNvPr id="92" name="Google Shape;92;p4"/>
          <p:cNvSpPr txBox="1"/>
          <p:nvPr>
            <p:ph idx="1" type="body"/>
          </p:nvPr>
        </p:nvSpPr>
        <p:spPr>
          <a:xfrm>
            <a:off x="784225" y="1652587"/>
            <a:ext cx="8143875" cy="1852612"/>
          </a:xfrm>
          <a:prstGeom prst="rect">
            <a:avLst/>
          </a:prstGeom>
          <a:noFill/>
          <a:ln>
            <a:noFill/>
          </a:ln>
        </p:spPr>
        <p:txBody>
          <a:bodyPr anchorCtr="0" anchor="t" bIns="45700" lIns="91425" spcFirstLastPara="1" rIns="91425" wrap="square" tIns="45700">
            <a:noAutofit/>
          </a:bodyPr>
          <a:lstStyle/>
          <a:p>
            <a:pPr indent="-381000" lvl="0" marL="4572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Examples of Stream cipher</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A5/1: employed GSM cell phones</a:t>
            </a:r>
            <a:endParaRPr/>
          </a:p>
          <a:p>
            <a:pPr indent="-355600" lvl="2" marL="1371600" marR="0" rtl="0" algn="l">
              <a:lnSpc>
                <a:spcPct val="90000"/>
              </a:lnSpc>
              <a:spcBef>
                <a:spcPts val="0"/>
              </a:spcBef>
              <a:spcAft>
                <a:spcPts val="0"/>
              </a:spcAft>
              <a:buSzPts val="2000"/>
              <a:buFont typeface="Corbel"/>
              <a:buChar char="•"/>
            </a:pPr>
            <a:r>
              <a:rPr b="0" i="0" lang="en-US" sz="2000" u="none" cap="none" strike="noStrike">
                <a:solidFill>
                  <a:schemeClr val="dk1"/>
                </a:solidFill>
                <a:latin typeface="Corbel"/>
                <a:ea typeface="Corbel"/>
                <a:cs typeface="Corbel"/>
                <a:sym typeface="Corbel"/>
              </a:rPr>
              <a:t>Representative stream cipher based in </a:t>
            </a:r>
            <a:r>
              <a:rPr b="0" i="0" lang="en-US" sz="2000" u="none" cap="none" strike="noStrike">
                <a:solidFill>
                  <a:srgbClr val="FF0000"/>
                </a:solidFill>
                <a:latin typeface="Corbel"/>
                <a:ea typeface="Corbel"/>
                <a:cs typeface="Corbel"/>
                <a:sym typeface="Corbel"/>
              </a:rPr>
              <a:t>H/W </a:t>
            </a:r>
            <a:r>
              <a:rPr b="0" i="0" lang="en-US" sz="2000" u="none" cap="none" strike="noStrike">
                <a:solidFill>
                  <a:schemeClr val="dk1"/>
                </a:solidFill>
                <a:latin typeface="Corbel"/>
                <a:ea typeface="Corbel"/>
                <a:cs typeface="Corbel"/>
                <a:sym typeface="Corbel"/>
              </a:rPr>
              <a:t>(shift register)</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RC4: used SSL protocol (lookup table)</a:t>
            </a:r>
            <a:endParaRPr/>
          </a:p>
          <a:p>
            <a:pPr indent="-355600" lvl="2" marL="1371600" marR="0" rtl="0" algn="l">
              <a:lnSpc>
                <a:spcPct val="90000"/>
              </a:lnSpc>
              <a:spcBef>
                <a:spcPts val="0"/>
              </a:spcBef>
              <a:spcAft>
                <a:spcPts val="0"/>
              </a:spcAft>
              <a:buSzPts val="2000"/>
              <a:buFont typeface="Corbel"/>
              <a:buChar char="•"/>
            </a:pPr>
            <a:r>
              <a:rPr b="0" i="0" lang="en-US" sz="2000" u="none" cap="none" strike="noStrike">
                <a:solidFill>
                  <a:schemeClr val="dk1"/>
                </a:solidFill>
                <a:latin typeface="Corbel"/>
                <a:ea typeface="Corbel"/>
                <a:cs typeface="Corbel"/>
                <a:sym typeface="Corbel"/>
              </a:rPr>
              <a:t>Almost unique stream cipher since efficiently implemented in </a:t>
            </a:r>
            <a:r>
              <a:rPr b="0" i="0" lang="en-US" sz="2000" u="none" cap="none" strike="noStrike">
                <a:solidFill>
                  <a:srgbClr val="FF0000"/>
                </a:solidFill>
                <a:latin typeface="Corbel"/>
                <a:ea typeface="Corbel"/>
                <a:cs typeface="Corbel"/>
                <a:sym typeface="Corbel"/>
              </a:rPr>
              <a:t>S/W</a:t>
            </a:r>
            <a:endParaRPr/>
          </a:p>
        </p:txBody>
      </p:sp>
      <p:sp>
        <p:nvSpPr>
          <p:cNvPr id="93" name="Google Shape;93;p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pic>
        <p:nvPicPr>
          <p:cNvPr descr="C:\Documents and Settings\Administrator\바탕 화면\A5-1.png" id="94" name="Google Shape;94;p4"/>
          <p:cNvPicPr preferRelativeResize="0"/>
          <p:nvPr/>
        </p:nvPicPr>
        <p:blipFill rotWithShape="1">
          <a:blip r:embed="rId3">
            <a:alphaModFix/>
          </a:blip>
          <a:srcRect b="0" l="0" r="0" t="0"/>
          <a:stretch/>
        </p:blipFill>
        <p:spPr>
          <a:xfrm>
            <a:off x="1196975" y="4149725"/>
            <a:ext cx="3146425" cy="2033587"/>
          </a:xfrm>
          <a:prstGeom prst="rect">
            <a:avLst/>
          </a:prstGeom>
          <a:noFill/>
          <a:ln>
            <a:noFill/>
          </a:ln>
        </p:spPr>
      </p:pic>
      <p:pic>
        <p:nvPicPr>
          <p:cNvPr descr="C:\Documents and Settings\Administrator\바탕 화면\RC4.png" id="95" name="Google Shape;95;p4"/>
          <p:cNvPicPr preferRelativeResize="0"/>
          <p:nvPr/>
        </p:nvPicPr>
        <p:blipFill rotWithShape="1">
          <a:blip r:embed="rId4">
            <a:alphaModFix/>
          </a:blip>
          <a:srcRect b="0" l="0" r="0" t="0"/>
          <a:stretch/>
        </p:blipFill>
        <p:spPr>
          <a:xfrm>
            <a:off x="4856162" y="4149725"/>
            <a:ext cx="3959225" cy="1885950"/>
          </a:xfrm>
          <a:prstGeom prst="rect">
            <a:avLst/>
          </a:prstGeom>
          <a:noFill/>
          <a:ln>
            <a:noFill/>
          </a:ln>
        </p:spPr>
      </p:pic>
      <p:sp>
        <p:nvSpPr>
          <p:cNvPr id="96" name="Google Shape;96;p4"/>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type="title"/>
          </p:nvPr>
        </p:nvSpPr>
        <p:spPr>
          <a:xfrm>
            <a:off x="785812" y="357187"/>
            <a:ext cx="7143750" cy="10001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Symmetric Key Crypto</a:t>
            </a:r>
            <a:endParaRPr/>
          </a:p>
        </p:txBody>
      </p:sp>
      <p:sp>
        <p:nvSpPr>
          <p:cNvPr id="103" name="Google Shape;103;p5"/>
          <p:cNvSpPr txBox="1"/>
          <p:nvPr>
            <p:ph idx="1" type="body"/>
          </p:nvPr>
        </p:nvSpPr>
        <p:spPr>
          <a:xfrm>
            <a:off x="414337" y="1765300"/>
            <a:ext cx="8143875" cy="2138362"/>
          </a:xfrm>
          <a:prstGeom prst="rect">
            <a:avLst/>
          </a:prstGeom>
          <a:noFill/>
          <a:ln>
            <a:noFill/>
          </a:ln>
        </p:spPr>
        <p:txBody>
          <a:bodyPr anchorCtr="0" anchor="t" bIns="45700" lIns="91425" spcFirstLastPara="1" rIns="91425" wrap="square" tIns="45700">
            <a:noAutofit/>
          </a:bodyPr>
          <a:lstStyle/>
          <a:p>
            <a:pPr indent="-381000" lvl="0" marL="457200" marR="0" rtl="0" algn="l">
              <a:lnSpc>
                <a:spcPct val="90000"/>
              </a:lnSpc>
              <a:spcBef>
                <a:spcPts val="0"/>
              </a:spcBef>
              <a:spcAft>
                <a:spcPts val="0"/>
              </a:spcAft>
              <a:buSzPts val="2400"/>
              <a:buChar char="•"/>
            </a:pPr>
            <a:r>
              <a:rPr b="0" i="0" lang="en-US" sz="2400" u="sng" cap="none" strike="noStrike">
                <a:solidFill>
                  <a:srgbClr val="FC0410"/>
                </a:solidFill>
                <a:latin typeface="Calibri"/>
                <a:ea typeface="Calibri"/>
                <a:cs typeface="Calibri"/>
                <a:sym typeface="Calibri"/>
                <a:hlinkClick r:id="rId3">
                  <a:extLst>
                    <a:ext uri="{A12FA001-AC4F-418D-AE19-62706E023703}">
                      <ahyp:hlinkClr val="tx"/>
                    </a:ext>
                  </a:extLst>
                </a:hlinkClick>
              </a:rPr>
              <a:t>Block cipher </a:t>
            </a:r>
            <a:r>
              <a:rPr b="0" i="0" lang="en-US" sz="2400" u="none" cap="none" strike="noStrike">
                <a:solidFill>
                  <a:schemeClr val="dk1"/>
                </a:solidFill>
                <a:latin typeface="Corbel"/>
                <a:ea typeface="Corbel"/>
                <a:cs typeface="Corbel"/>
                <a:sym typeface="Corbel"/>
              </a:rPr>
              <a:t>⎯ based on codebook concept</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Block cipher key determines a “electronic” codebook</a:t>
            </a:r>
            <a:endParaRPr/>
          </a:p>
          <a:p>
            <a:pPr indent="-381000" lvl="1" marL="914400" marR="0" rtl="0" algn="l">
              <a:lnSpc>
                <a:spcPct val="90000"/>
              </a:lnSpc>
              <a:spcBef>
                <a:spcPts val="0"/>
              </a:spcBef>
              <a:spcAft>
                <a:spcPts val="0"/>
              </a:spcAft>
              <a:buClr>
                <a:srgbClr val="052BCD"/>
              </a:buClr>
              <a:buSzPts val="2400"/>
              <a:buFont typeface="Corbel"/>
              <a:buChar char="•"/>
            </a:pPr>
            <a:r>
              <a:rPr b="0" i="0" lang="en-US" sz="2400" u="none" cap="none" strike="noStrike">
                <a:solidFill>
                  <a:srgbClr val="052BCD"/>
                </a:solidFill>
                <a:latin typeface="Corbel"/>
                <a:ea typeface="Corbel"/>
                <a:cs typeface="Corbel"/>
                <a:sym typeface="Corbel"/>
              </a:rPr>
              <a:t>Each key yields a different codebook</a:t>
            </a:r>
            <a:endParaRPr/>
          </a:p>
          <a:p>
            <a:pPr indent="-381000" lvl="1" marL="914400" marR="0" rtl="0" algn="l">
              <a:lnSpc>
                <a:spcPct val="90000"/>
              </a:lnSpc>
              <a:spcBef>
                <a:spcPts val="0"/>
              </a:spcBef>
              <a:spcAft>
                <a:spcPts val="0"/>
              </a:spcAft>
              <a:buSzPts val="2400"/>
              <a:buFont typeface="Corbel"/>
              <a:buChar char="•"/>
            </a:pPr>
            <a:r>
              <a:rPr b="0" i="0" lang="en-US" sz="2400" u="none" cap="none" strike="noStrike">
                <a:solidFill>
                  <a:schemeClr val="dk1"/>
                </a:solidFill>
                <a:latin typeface="Corbel"/>
                <a:ea typeface="Corbel"/>
                <a:cs typeface="Corbel"/>
                <a:sym typeface="Corbel"/>
              </a:rPr>
              <a:t>Employ both </a:t>
            </a:r>
            <a:r>
              <a:rPr b="0" i="0" lang="en-US" sz="2400" u="none" cap="none" strike="noStrike">
                <a:solidFill>
                  <a:srgbClr val="0909B3"/>
                </a:solidFill>
                <a:latin typeface="Corbel"/>
                <a:ea typeface="Corbel"/>
                <a:cs typeface="Corbel"/>
                <a:sym typeface="Corbel"/>
              </a:rPr>
              <a:t>confusion(relation)</a:t>
            </a:r>
            <a:r>
              <a:rPr b="0" i="0" lang="en-US" sz="2400" u="none" cap="none" strike="noStrike">
                <a:solidFill>
                  <a:schemeClr val="dk1"/>
                </a:solidFill>
                <a:latin typeface="Corbel"/>
                <a:ea typeface="Corbel"/>
                <a:cs typeface="Corbel"/>
                <a:sym typeface="Corbel"/>
              </a:rPr>
              <a:t> and </a:t>
            </a:r>
            <a:r>
              <a:rPr b="0" i="0" lang="en-US" sz="2400" u="none" cap="none" strike="noStrike">
                <a:solidFill>
                  <a:srgbClr val="0909B3"/>
                </a:solidFill>
                <a:latin typeface="Corbel"/>
                <a:ea typeface="Corbel"/>
                <a:cs typeface="Corbel"/>
                <a:sym typeface="Corbel"/>
              </a:rPr>
              <a:t>diffusion(one-many)</a:t>
            </a:r>
            <a:endParaRPr/>
          </a:p>
        </p:txBody>
      </p:sp>
      <p:sp>
        <p:nvSpPr>
          <p:cNvPr id="104" name="Google Shape;104;p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pic>
        <p:nvPicPr>
          <p:cNvPr descr="C:\Documents and Settings\Administrator\바탕 화면\Encryption.png" id="105" name="Google Shape;105;p5"/>
          <p:cNvPicPr preferRelativeResize="0"/>
          <p:nvPr/>
        </p:nvPicPr>
        <p:blipFill rotWithShape="1">
          <a:blip r:embed="rId4">
            <a:alphaModFix/>
          </a:blip>
          <a:srcRect b="0" l="0" r="0" t="0"/>
          <a:stretch/>
        </p:blipFill>
        <p:spPr>
          <a:xfrm>
            <a:off x="1187450" y="4024312"/>
            <a:ext cx="2743200" cy="2322512"/>
          </a:xfrm>
          <a:prstGeom prst="rect">
            <a:avLst/>
          </a:prstGeom>
          <a:noFill/>
          <a:ln>
            <a:noFill/>
          </a:ln>
        </p:spPr>
      </p:pic>
      <p:pic>
        <p:nvPicPr>
          <p:cNvPr descr="C:\Documents and Settings\Administrator\바탕 화면\Decryption.png" id="106" name="Google Shape;106;p5"/>
          <p:cNvPicPr preferRelativeResize="0"/>
          <p:nvPr/>
        </p:nvPicPr>
        <p:blipFill rotWithShape="1">
          <a:blip r:embed="rId5">
            <a:alphaModFix/>
          </a:blip>
          <a:srcRect b="0" l="0" r="0" t="0"/>
          <a:stretch/>
        </p:blipFill>
        <p:spPr>
          <a:xfrm>
            <a:off x="5202237" y="4022725"/>
            <a:ext cx="2455862" cy="2000250"/>
          </a:xfrm>
          <a:prstGeom prst="rect">
            <a:avLst/>
          </a:prstGeom>
          <a:noFill/>
          <a:ln>
            <a:noFill/>
          </a:ln>
        </p:spPr>
      </p:pic>
      <p:sp>
        <p:nvSpPr>
          <p:cNvPr id="107" name="Google Shape;107;p5"/>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txBox="1"/>
          <p:nvPr>
            <p:ph type="title"/>
          </p:nvPr>
        </p:nvSpPr>
        <p:spPr>
          <a:xfrm>
            <a:off x="982662" y="292100"/>
            <a:ext cx="6561137"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b="0" i="0" lang="en-US" sz="4000" u="none">
                <a:solidFill>
                  <a:schemeClr val="lt1"/>
                </a:solidFill>
                <a:latin typeface="Arial"/>
                <a:ea typeface="Arial"/>
                <a:cs typeface="Arial"/>
                <a:sym typeface="Arial"/>
              </a:rPr>
              <a:t>Confusion and Diffusion</a:t>
            </a:r>
            <a:endParaRPr/>
          </a:p>
        </p:txBody>
      </p:sp>
      <p:sp>
        <p:nvSpPr>
          <p:cNvPr id="113" name="Google Shape;113;p6"/>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38100" lvl="0" marL="171450" marR="0" rtl="0" algn="l">
              <a:lnSpc>
                <a:spcPct val="90000"/>
              </a:lnSpc>
              <a:spcBef>
                <a:spcPts val="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p:txBody>
      </p:sp>
      <p:sp>
        <p:nvSpPr>
          <p:cNvPr id="114" name="Google Shape;114;p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cap="none" strike="noStrike">
                <a:solidFill>
                  <a:srgbClr val="000000"/>
                </a:solidFill>
                <a:latin typeface="Corbel"/>
                <a:ea typeface="Corbel"/>
                <a:cs typeface="Corbel"/>
                <a:sym typeface="Corbel"/>
              </a:rPr>
              <a:t>‹#›</a:t>
            </a:fld>
            <a:endParaRPr/>
          </a:p>
        </p:txBody>
      </p:sp>
      <p:pic>
        <p:nvPicPr>
          <p:cNvPr descr="Screen Clipping" id="115" name="Google Shape;115;p6"/>
          <p:cNvPicPr preferRelativeResize="0"/>
          <p:nvPr/>
        </p:nvPicPr>
        <p:blipFill rotWithShape="1">
          <a:blip r:embed="rId3">
            <a:alphaModFix/>
          </a:blip>
          <a:srcRect b="0" l="0" r="5112" t="22172"/>
          <a:stretch/>
        </p:blipFill>
        <p:spPr>
          <a:xfrm>
            <a:off x="-4762" y="1538287"/>
            <a:ext cx="9148762" cy="4051300"/>
          </a:xfrm>
          <a:prstGeom prst="rect">
            <a:avLst/>
          </a:prstGeom>
          <a:noFill/>
          <a:ln>
            <a:noFill/>
          </a:ln>
        </p:spPr>
      </p:pic>
      <p:sp>
        <p:nvSpPr>
          <p:cNvPr id="116" name="Google Shape;116;p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785812" y="357187"/>
            <a:ext cx="7143750" cy="10001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Symmetric Key Crypto</a:t>
            </a:r>
            <a:endParaRPr/>
          </a:p>
        </p:txBody>
      </p:sp>
      <p:sp>
        <p:nvSpPr>
          <p:cNvPr id="123" name="Google Shape;123;p7"/>
          <p:cNvSpPr txBox="1"/>
          <p:nvPr>
            <p:ph idx="1" type="body"/>
          </p:nvPr>
        </p:nvSpPr>
        <p:spPr>
          <a:xfrm>
            <a:off x="533400" y="2060575"/>
            <a:ext cx="8143875" cy="4210050"/>
          </a:xfrm>
          <a:prstGeom prst="rect">
            <a:avLst/>
          </a:prstGeom>
          <a:noFill/>
          <a:ln>
            <a:noFill/>
          </a:ln>
        </p:spPr>
        <p:txBody>
          <a:bodyPr anchorCtr="0" anchor="t" bIns="45700" lIns="91425" spcFirstLastPara="1" rIns="91425" wrap="square" tIns="45700">
            <a:normAutofit/>
          </a:bodyPr>
          <a:lstStyle/>
          <a:p>
            <a:pPr indent="0" lvl="0" marL="61911" marR="0" rtl="0" algn="l">
              <a:lnSpc>
                <a:spcPct val="90000"/>
              </a:lnSpc>
              <a:spcBef>
                <a:spcPts val="0"/>
              </a:spcBef>
              <a:spcAft>
                <a:spcPts val="0"/>
              </a:spcAft>
              <a:buClr>
                <a:srgbClr val="000000"/>
              </a:buClr>
              <a:buSzPts val="2800"/>
              <a:buFont typeface="Arial"/>
              <a:buNone/>
            </a:pPr>
            <a:r>
              <a:rPr b="0" i="0" lang="en-US" sz="2800" u="none">
                <a:solidFill>
                  <a:srgbClr val="000000"/>
                </a:solidFill>
                <a:latin typeface="Corbel"/>
                <a:ea typeface="Corbel"/>
                <a:cs typeface="Corbel"/>
                <a:sym typeface="Corbel"/>
              </a:rPr>
              <a:t>Examples of Block cipher</a:t>
            </a:r>
            <a:endParaRPr/>
          </a:p>
          <a:p>
            <a:pPr indent="-171450" lvl="1" marL="514350" marR="0" rtl="0" algn="l">
              <a:lnSpc>
                <a:spcPct val="90000"/>
              </a:lnSpc>
              <a:spcBef>
                <a:spcPts val="300"/>
              </a:spcBef>
              <a:spcAft>
                <a:spcPts val="0"/>
              </a:spcAft>
              <a:buClr>
                <a:srgbClr val="376092"/>
              </a:buClr>
              <a:buSzPts val="2400"/>
              <a:buFont typeface="Arial"/>
              <a:buChar char="•"/>
            </a:pPr>
            <a:r>
              <a:rPr b="0" i="0" lang="en-US" sz="2400" u="none" cap="none" strike="noStrike">
                <a:solidFill>
                  <a:srgbClr val="FF0000"/>
                </a:solidFill>
                <a:latin typeface="Corbel"/>
                <a:ea typeface="Corbel"/>
                <a:cs typeface="Corbel"/>
                <a:sym typeface="Corbel"/>
              </a:rPr>
              <a:t>Data Encryption Standard (DES)</a:t>
            </a:r>
            <a:r>
              <a:rPr b="0" i="0" lang="en-US" sz="2400" u="none" cap="none" strike="noStrike">
                <a:solidFill>
                  <a:srgbClr val="000000"/>
                </a:solidFill>
                <a:latin typeface="Corbel"/>
                <a:ea typeface="Corbel"/>
                <a:cs typeface="Corbel"/>
                <a:sym typeface="Corbel"/>
              </a:rPr>
              <a:t>: relatively simple, </a:t>
            </a:r>
            <a:endParaRPr/>
          </a:p>
          <a:p>
            <a:pPr indent="-171450" lvl="1" marL="514350" marR="0" rtl="0" algn="l">
              <a:lnSpc>
                <a:spcPct val="90000"/>
              </a:lnSpc>
              <a:spcBef>
                <a:spcPts val="300"/>
              </a:spcBef>
              <a:spcAft>
                <a:spcPts val="0"/>
              </a:spcAft>
              <a:buClr>
                <a:srgbClr val="376092"/>
              </a:buClr>
              <a:buSzPts val="2400"/>
              <a:buFont typeface="Arial"/>
              <a:buChar char="•"/>
            </a:pPr>
            <a:r>
              <a:rPr b="0" i="0" lang="en-US" sz="2400" u="none" cap="none" strike="noStrike">
                <a:solidFill>
                  <a:srgbClr val="FF0000"/>
                </a:solidFill>
                <a:latin typeface="Corbel"/>
                <a:ea typeface="Corbel"/>
                <a:cs typeface="Corbel"/>
                <a:sym typeface="Corbel"/>
              </a:rPr>
              <a:t>Advanced Encryption STD (AES)</a:t>
            </a:r>
            <a:r>
              <a:rPr b="0" i="0" lang="en-US" sz="2400" u="none" cap="none" strike="noStrike">
                <a:solidFill>
                  <a:srgbClr val="000000"/>
                </a:solidFill>
                <a:latin typeface="Corbel"/>
                <a:ea typeface="Corbel"/>
                <a:cs typeface="Corbel"/>
                <a:sym typeface="Corbel"/>
              </a:rPr>
              <a:t>  </a:t>
            </a:r>
            <a:endParaRPr/>
          </a:p>
          <a:p>
            <a:pPr indent="-171450" lvl="1" marL="514350" marR="0" rtl="0" algn="l">
              <a:lnSpc>
                <a:spcPct val="90000"/>
              </a:lnSpc>
              <a:spcBef>
                <a:spcPts val="300"/>
              </a:spcBef>
              <a:spcAft>
                <a:spcPts val="0"/>
              </a:spcAft>
              <a:buClr>
                <a:srgbClr val="376092"/>
              </a:buClr>
              <a:buSzPts val="2400"/>
              <a:buFont typeface="Arial"/>
              <a:buChar char="•"/>
            </a:pPr>
            <a:r>
              <a:rPr b="0" i="0" lang="en-US" sz="2400" u="none" cap="none" strike="noStrike">
                <a:solidFill>
                  <a:srgbClr val="000000"/>
                </a:solidFill>
                <a:latin typeface="Corbel"/>
                <a:ea typeface="Corbel"/>
                <a:cs typeface="Corbel"/>
                <a:sym typeface="Corbel"/>
              </a:rPr>
              <a:t>International Data Encryption Alg.(IEDA)</a:t>
            </a:r>
            <a:endParaRPr/>
          </a:p>
          <a:p>
            <a:pPr indent="-171450" lvl="1" marL="514350" marR="0" rtl="0" algn="l">
              <a:lnSpc>
                <a:spcPct val="90000"/>
              </a:lnSpc>
              <a:spcBef>
                <a:spcPts val="300"/>
              </a:spcBef>
              <a:spcAft>
                <a:spcPts val="0"/>
              </a:spcAft>
              <a:buClr>
                <a:srgbClr val="376092"/>
              </a:buClr>
              <a:buSzPts val="2400"/>
              <a:buFont typeface="Arial"/>
              <a:buChar char="•"/>
            </a:pPr>
            <a:r>
              <a:rPr b="0" i="0" lang="en-US" sz="2400" u="none" cap="none" strike="noStrike">
                <a:solidFill>
                  <a:srgbClr val="000000"/>
                </a:solidFill>
                <a:latin typeface="Corbel"/>
                <a:ea typeface="Corbel"/>
                <a:cs typeface="Corbel"/>
                <a:sym typeface="Corbel"/>
              </a:rPr>
              <a:t>Blowfish, </a:t>
            </a:r>
            <a:endParaRPr/>
          </a:p>
          <a:p>
            <a:pPr indent="-171450" lvl="1" marL="514350" marR="0" rtl="0" algn="l">
              <a:lnSpc>
                <a:spcPct val="90000"/>
              </a:lnSpc>
              <a:spcBef>
                <a:spcPts val="300"/>
              </a:spcBef>
              <a:spcAft>
                <a:spcPts val="0"/>
              </a:spcAft>
              <a:buClr>
                <a:srgbClr val="376092"/>
              </a:buClr>
              <a:buSzPts val="2400"/>
              <a:buFont typeface="Arial"/>
              <a:buChar char="•"/>
            </a:pPr>
            <a:r>
              <a:rPr b="0" i="0" lang="en-US" sz="2400" u="none" cap="none" strike="noStrike">
                <a:solidFill>
                  <a:srgbClr val="000000"/>
                </a:solidFill>
                <a:latin typeface="Corbel"/>
                <a:ea typeface="Corbel"/>
                <a:cs typeface="Corbel"/>
                <a:sym typeface="Corbel"/>
              </a:rPr>
              <a:t>RC6</a:t>
            </a:r>
            <a:endParaRPr/>
          </a:p>
          <a:p>
            <a:pPr indent="-171450" lvl="1" marL="514350" marR="0" rtl="0" algn="l">
              <a:lnSpc>
                <a:spcPct val="90000"/>
              </a:lnSpc>
              <a:spcBef>
                <a:spcPts val="300"/>
              </a:spcBef>
              <a:spcAft>
                <a:spcPts val="0"/>
              </a:spcAft>
              <a:buClr>
                <a:srgbClr val="376092"/>
              </a:buClr>
              <a:buSzPts val="2400"/>
              <a:buFont typeface="Arial"/>
              <a:buChar char="•"/>
            </a:pPr>
            <a:r>
              <a:rPr b="0" i="0" lang="en-US" sz="2400" u="none" cap="none" strike="noStrike">
                <a:solidFill>
                  <a:schemeClr val="dk1"/>
                </a:solidFill>
                <a:latin typeface="Corbel"/>
                <a:ea typeface="Corbel"/>
                <a:cs typeface="Corbel"/>
                <a:sym typeface="Corbel"/>
              </a:rPr>
              <a:t>Tiny Encryption Algorithm</a:t>
            </a:r>
            <a:endParaRPr/>
          </a:p>
          <a:p>
            <a:pPr indent="0" lvl="0" marL="61911" marR="0" rtl="0" algn="l">
              <a:lnSpc>
                <a:spcPct val="90000"/>
              </a:lnSpc>
              <a:spcBef>
                <a:spcPts val="700"/>
              </a:spcBef>
              <a:spcAft>
                <a:spcPts val="0"/>
              </a:spcAft>
              <a:buClr>
                <a:srgbClr val="376092"/>
              </a:buClr>
              <a:buSzPts val="2800"/>
              <a:buFont typeface="Arial"/>
              <a:buNone/>
            </a:pPr>
            <a:r>
              <a:t/>
            </a:r>
            <a:endParaRPr b="0" i="0" sz="2800" u="none">
              <a:solidFill>
                <a:srgbClr val="000000"/>
              </a:solidFill>
              <a:latin typeface="Corbel"/>
              <a:ea typeface="Corbel"/>
              <a:cs typeface="Corbel"/>
              <a:sym typeface="Corbel"/>
            </a:endParaRPr>
          </a:p>
          <a:p>
            <a:pPr indent="0" lvl="0" marL="171450" marR="0" rtl="0" algn="l">
              <a:lnSpc>
                <a:spcPct val="90000"/>
              </a:lnSpc>
              <a:spcBef>
                <a:spcPts val="750"/>
              </a:spcBef>
              <a:spcAft>
                <a:spcPts val="0"/>
              </a:spcAft>
              <a:buClr>
                <a:schemeClr val="dk1"/>
              </a:buClr>
              <a:buSzPts val="2800"/>
              <a:buFont typeface="Arial"/>
              <a:buNone/>
            </a:pPr>
            <a:r>
              <a:t/>
            </a:r>
            <a:endParaRPr b="0" i="0" sz="2800" u="none">
              <a:solidFill>
                <a:srgbClr val="000000"/>
              </a:solidFill>
              <a:latin typeface="Corbel"/>
              <a:ea typeface="Corbel"/>
              <a:cs typeface="Corbel"/>
              <a:sym typeface="Corbel"/>
            </a:endParaRPr>
          </a:p>
        </p:txBody>
      </p:sp>
      <p:sp>
        <p:nvSpPr>
          <p:cNvPr id="124" name="Google Shape;124;p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125" name="Google Shape;125;p7"/>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Symmetric Key Crypto</a:t>
            </a:r>
            <a:endParaRPr/>
          </a:p>
        </p:txBody>
      </p:sp>
      <p:sp>
        <p:nvSpPr>
          <p:cNvPr id="131" name="Google Shape;131;p8"/>
          <p:cNvSpPr txBox="1"/>
          <p:nvPr>
            <p:ph idx="1" type="body"/>
          </p:nvPr>
        </p:nvSpPr>
        <p:spPr>
          <a:xfrm>
            <a:off x="755650" y="1844675"/>
            <a:ext cx="8072437" cy="44116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rgbClr val="376092"/>
              </a:buClr>
              <a:buSzPts val="2400"/>
              <a:buFont typeface="Noto Sans Symbols"/>
              <a:buChar char="❑"/>
            </a:pPr>
            <a:r>
              <a:rPr b="0" i="0" lang="en-US" sz="2400" u="sng">
                <a:solidFill>
                  <a:srgbClr val="000000"/>
                </a:solidFill>
                <a:latin typeface="Calibri"/>
                <a:ea typeface="Calibri"/>
                <a:cs typeface="Calibri"/>
                <a:sym typeface="Calibri"/>
                <a:hlinkClick r:id="rId3">
                  <a:extLst>
                    <a:ext uri="{A12FA001-AC4F-418D-AE19-62706E023703}">
                      <ahyp:hlinkClr val="tx"/>
                    </a:ext>
                  </a:extLst>
                </a:hlinkClick>
              </a:rPr>
              <a:t>Mode of Operation of block cipher</a:t>
            </a:r>
            <a:endParaRPr/>
          </a:p>
          <a:p>
            <a:pPr indent="-342900" lvl="1" marL="666750" marR="0" rtl="0" algn="l">
              <a:lnSpc>
                <a:spcPct val="90000"/>
              </a:lnSpc>
              <a:spcBef>
                <a:spcPts val="300"/>
              </a:spcBef>
              <a:spcAft>
                <a:spcPts val="0"/>
              </a:spcAft>
              <a:buClr>
                <a:srgbClr val="376092"/>
              </a:buClr>
              <a:buSzPts val="2000"/>
              <a:buFont typeface="Arial"/>
              <a:buChar char="•"/>
            </a:pPr>
            <a:r>
              <a:rPr b="0" i="0" lang="en-US" sz="2000" u="none" cap="none" strike="noStrike">
                <a:solidFill>
                  <a:srgbClr val="000000"/>
                </a:solidFill>
                <a:latin typeface="Corbel"/>
                <a:ea typeface="Corbel"/>
                <a:cs typeface="Corbel"/>
                <a:sym typeface="Corbel"/>
              </a:rPr>
              <a:t>Examples of block cipher mode Op</a:t>
            </a:r>
            <a:endParaRPr/>
          </a:p>
          <a:p>
            <a:pPr indent="-285750" lvl="2" marL="914400" marR="0" rtl="0" algn="l">
              <a:lnSpc>
                <a:spcPct val="90000"/>
              </a:lnSpc>
              <a:spcBef>
                <a:spcPts val="300"/>
              </a:spcBef>
              <a:spcAft>
                <a:spcPts val="0"/>
              </a:spcAft>
              <a:buClr>
                <a:srgbClr val="376092"/>
              </a:buClr>
              <a:buSzPts val="1800"/>
              <a:buFont typeface="Arial"/>
              <a:buChar char="•"/>
            </a:pPr>
            <a:r>
              <a:rPr b="0" i="0" lang="en-US" sz="1800" u="none" cap="none" strike="noStrike">
                <a:solidFill>
                  <a:srgbClr val="FF0000"/>
                </a:solidFill>
                <a:latin typeface="Corbel"/>
                <a:ea typeface="Corbel"/>
                <a:cs typeface="Corbel"/>
                <a:sym typeface="Corbel"/>
              </a:rPr>
              <a:t>Electronic codebook (EOB)</a:t>
            </a:r>
            <a:endParaRPr/>
          </a:p>
          <a:p>
            <a:pPr indent="-285750" lvl="2" marL="914400" marR="0" rtl="0" algn="l">
              <a:lnSpc>
                <a:spcPct val="90000"/>
              </a:lnSpc>
              <a:spcBef>
                <a:spcPts val="300"/>
              </a:spcBef>
              <a:spcAft>
                <a:spcPts val="0"/>
              </a:spcAft>
              <a:buClr>
                <a:srgbClr val="376092"/>
              </a:buClr>
              <a:buSzPts val="1800"/>
              <a:buFont typeface="Arial"/>
              <a:buChar char="•"/>
            </a:pPr>
            <a:r>
              <a:rPr b="0" i="0" lang="en-US" sz="1800" u="none" cap="none" strike="noStrike">
                <a:solidFill>
                  <a:srgbClr val="FF0000"/>
                </a:solidFill>
                <a:latin typeface="Corbel"/>
                <a:ea typeface="Corbel"/>
                <a:cs typeface="Corbel"/>
                <a:sym typeface="Corbel"/>
              </a:rPr>
              <a:t>Cipher-block chaining (CBC)</a:t>
            </a:r>
            <a:endParaRPr/>
          </a:p>
          <a:p>
            <a:pPr indent="-285750" lvl="2" marL="914400" marR="0" rtl="0" algn="l">
              <a:lnSpc>
                <a:spcPct val="90000"/>
              </a:lnSpc>
              <a:spcBef>
                <a:spcPts val="300"/>
              </a:spcBef>
              <a:spcAft>
                <a:spcPts val="0"/>
              </a:spcAft>
              <a:buClr>
                <a:srgbClr val="376092"/>
              </a:buClr>
              <a:buSzPts val="1800"/>
              <a:buFont typeface="Arial"/>
              <a:buChar char="•"/>
            </a:pPr>
            <a:r>
              <a:rPr b="0" i="0" lang="en-US" sz="1800" u="none" cap="none" strike="noStrike">
                <a:solidFill>
                  <a:srgbClr val="000000"/>
                </a:solidFill>
                <a:latin typeface="Corbel"/>
                <a:ea typeface="Corbel"/>
                <a:cs typeface="Corbel"/>
                <a:sym typeface="Corbel"/>
              </a:rPr>
              <a:t>Cipher feedback (CFB)</a:t>
            </a:r>
            <a:endParaRPr/>
          </a:p>
          <a:p>
            <a:pPr indent="-285750" lvl="2" marL="914400" marR="0" rtl="0" algn="l">
              <a:lnSpc>
                <a:spcPct val="90000"/>
              </a:lnSpc>
              <a:spcBef>
                <a:spcPts val="300"/>
              </a:spcBef>
              <a:spcAft>
                <a:spcPts val="0"/>
              </a:spcAft>
              <a:buClr>
                <a:srgbClr val="376092"/>
              </a:buClr>
              <a:buSzPts val="1800"/>
              <a:buFont typeface="Arial"/>
              <a:buChar char="•"/>
            </a:pPr>
            <a:r>
              <a:rPr b="0" i="0" lang="en-US" sz="1800" u="none" cap="none" strike="noStrike">
                <a:solidFill>
                  <a:srgbClr val="000000"/>
                </a:solidFill>
                <a:latin typeface="Corbel"/>
                <a:ea typeface="Corbel"/>
                <a:cs typeface="Corbel"/>
                <a:sym typeface="Corbel"/>
              </a:rPr>
              <a:t>Output feedback (OFB)</a:t>
            </a:r>
            <a:endParaRPr/>
          </a:p>
          <a:p>
            <a:pPr indent="-285750" lvl="2" marL="914400" marR="0" rtl="0" algn="l">
              <a:lnSpc>
                <a:spcPct val="90000"/>
              </a:lnSpc>
              <a:spcBef>
                <a:spcPts val="300"/>
              </a:spcBef>
              <a:spcAft>
                <a:spcPts val="0"/>
              </a:spcAft>
              <a:buClr>
                <a:srgbClr val="376092"/>
              </a:buClr>
              <a:buSzPts val="1800"/>
              <a:buFont typeface="Arial"/>
              <a:buChar char="•"/>
            </a:pPr>
            <a:r>
              <a:rPr b="0" i="0" lang="en-US" sz="1800" u="none" cap="none" strike="noStrike">
                <a:solidFill>
                  <a:srgbClr val="FF0000"/>
                </a:solidFill>
                <a:latin typeface="Corbel"/>
                <a:ea typeface="Corbel"/>
                <a:cs typeface="Corbel"/>
                <a:sym typeface="Corbel"/>
              </a:rPr>
              <a:t>Counter (CTR)</a:t>
            </a:r>
            <a:endParaRPr/>
          </a:p>
          <a:p>
            <a:pPr indent="-342900" lvl="0" marL="342900" marR="0" rtl="0" algn="l">
              <a:lnSpc>
                <a:spcPct val="90000"/>
              </a:lnSpc>
              <a:spcBef>
                <a:spcPts val="700"/>
              </a:spcBef>
              <a:spcAft>
                <a:spcPts val="0"/>
              </a:spcAft>
              <a:buClr>
                <a:srgbClr val="376092"/>
              </a:buClr>
              <a:buSzPts val="2800"/>
              <a:buFont typeface="Noto Sans Symbols"/>
              <a:buChar char="❑"/>
            </a:pPr>
            <a:r>
              <a:rPr b="0" i="0" lang="en-US" sz="2800" u="none">
                <a:solidFill>
                  <a:srgbClr val="FF0000"/>
                </a:solidFill>
                <a:latin typeface="Corbel"/>
                <a:ea typeface="Corbel"/>
                <a:cs typeface="Corbel"/>
                <a:sym typeface="Corbel"/>
              </a:rPr>
              <a:t>Data integrity </a:t>
            </a:r>
            <a:r>
              <a:rPr b="0" i="0" lang="en-US" sz="2800" u="none">
                <a:solidFill>
                  <a:srgbClr val="000000"/>
                </a:solidFill>
                <a:latin typeface="Corbel"/>
                <a:ea typeface="Corbel"/>
                <a:cs typeface="Corbel"/>
                <a:sym typeface="Corbel"/>
              </a:rPr>
              <a:t>of block cipher</a:t>
            </a:r>
            <a:endParaRPr/>
          </a:p>
          <a:p>
            <a:pPr indent="-342900" lvl="1" marL="666750" marR="0" rtl="0" algn="l">
              <a:lnSpc>
                <a:spcPct val="90000"/>
              </a:lnSpc>
              <a:spcBef>
                <a:spcPts val="300"/>
              </a:spcBef>
              <a:spcAft>
                <a:spcPts val="0"/>
              </a:spcAft>
              <a:buClr>
                <a:srgbClr val="376092"/>
              </a:buClr>
              <a:buSzPts val="2200"/>
              <a:buFont typeface="Arial"/>
              <a:buChar char="•"/>
            </a:pPr>
            <a:r>
              <a:rPr b="0" i="0" lang="en-US" sz="2200" u="none" cap="none" strike="noStrike">
                <a:solidFill>
                  <a:srgbClr val="000000"/>
                </a:solidFill>
                <a:latin typeface="Corbel"/>
                <a:ea typeface="Corbel"/>
                <a:cs typeface="Corbel"/>
                <a:sym typeface="Corbel"/>
              </a:rPr>
              <a:t>Message Authentication code (MAC)</a:t>
            </a:r>
            <a:endParaRPr/>
          </a:p>
          <a:p>
            <a:pPr indent="-190500" lvl="0" marL="342900" marR="0" rtl="0" algn="l">
              <a:lnSpc>
                <a:spcPct val="90000"/>
              </a:lnSpc>
              <a:spcBef>
                <a:spcPts val="700"/>
              </a:spcBef>
              <a:spcAft>
                <a:spcPts val="0"/>
              </a:spcAft>
              <a:buClr>
                <a:srgbClr val="376092"/>
              </a:buClr>
              <a:buSzPts val="2400"/>
              <a:buFont typeface="Noto Sans Symbols"/>
              <a:buNone/>
            </a:pPr>
            <a:r>
              <a:t/>
            </a:r>
            <a:endParaRPr b="0" i="0" sz="2400" u="none">
              <a:solidFill>
                <a:srgbClr val="000000"/>
              </a:solidFill>
              <a:latin typeface="Corbel"/>
              <a:ea typeface="Corbel"/>
              <a:cs typeface="Corbel"/>
              <a:sym typeface="Corbel"/>
            </a:endParaRPr>
          </a:p>
          <a:p>
            <a:pPr indent="-19050" lvl="0" marL="171450" marR="0" rtl="0" algn="l">
              <a:lnSpc>
                <a:spcPct val="90000"/>
              </a:lnSpc>
              <a:spcBef>
                <a:spcPts val="750"/>
              </a:spcBef>
              <a:spcAft>
                <a:spcPts val="0"/>
              </a:spcAft>
              <a:buClr>
                <a:schemeClr val="dk1"/>
              </a:buClr>
              <a:buSzPts val="2400"/>
              <a:buFont typeface="Arial"/>
              <a:buNone/>
            </a:pPr>
            <a:r>
              <a:t/>
            </a:r>
            <a:endParaRPr b="0" i="0" sz="2400" u="none">
              <a:solidFill>
                <a:srgbClr val="000000"/>
              </a:solidFill>
              <a:latin typeface="Corbel"/>
              <a:ea typeface="Corbel"/>
              <a:cs typeface="Corbel"/>
              <a:sym typeface="Corbel"/>
            </a:endParaRPr>
          </a:p>
        </p:txBody>
      </p:sp>
      <p:sp>
        <p:nvSpPr>
          <p:cNvPr id="132" name="Google Shape;132;p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133" name="Google Shape;133;p8"/>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785812" y="122237"/>
            <a:ext cx="7215187" cy="12350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Stream Ciphers</a:t>
            </a:r>
            <a:endParaRPr/>
          </a:p>
        </p:txBody>
      </p:sp>
      <p:sp>
        <p:nvSpPr>
          <p:cNvPr id="140" name="Google Shape;140;p9"/>
          <p:cNvSpPr txBox="1"/>
          <p:nvPr>
            <p:ph idx="1" type="body"/>
          </p:nvPr>
        </p:nvSpPr>
        <p:spPr>
          <a:xfrm>
            <a:off x="684212" y="1773237"/>
            <a:ext cx="8072437" cy="4411662"/>
          </a:xfrm>
          <a:prstGeom prst="rect">
            <a:avLst/>
          </a:prstGeom>
          <a:noFill/>
          <a:ln>
            <a:noFill/>
          </a:ln>
        </p:spPr>
        <p:txBody>
          <a:bodyPr anchorCtr="0" anchor="t" bIns="45700" lIns="91425" spcFirstLastPara="1" rIns="91425" wrap="square" tIns="45700">
            <a:noAutofit/>
          </a:bodyPr>
          <a:lstStyle/>
          <a:p>
            <a:pPr indent="-171450" lvl="0" marL="171450" marR="0" rtl="0" algn="l">
              <a:lnSpc>
                <a:spcPct val="110000"/>
              </a:lnSpc>
              <a:spcBef>
                <a:spcPts val="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Not as popular today as block ciphers</a:t>
            </a:r>
            <a:endParaRPr/>
          </a:p>
          <a:p>
            <a:pPr indent="-171450" lvl="0" marL="171450" marR="0" rtl="0" algn="l">
              <a:lnSpc>
                <a:spcPct val="11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Key K of n bits stretches it into </a:t>
            </a:r>
            <a:r>
              <a:rPr b="0" i="0" lang="en-US" sz="2400" u="none">
                <a:solidFill>
                  <a:srgbClr val="1F49F9"/>
                </a:solidFill>
                <a:latin typeface="Corbel"/>
                <a:ea typeface="Corbel"/>
                <a:cs typeface="Corbel"/>
                <a:sym typeface="Corbel"/>
              </a:rPr>
              <a:t>a long keystream</a:t>
            </a:r>
            <a:endParaRPr/>
          </a:p>
          <a:p>
            <a:pPr indent="-171450" lvl="0" marL="171450" marR="0" rtl="0" algn="l">
              <a:lnSpc>
                <a:spcPct val="110000"/>
              </a:lnSpc>
              <a:spcBef>
                <a:spcPts val="300"/>
              </a:spcBef>
              <a:spcAft>
                <a:spcPts val="0"/>
              </a:spcAft>
              <a:buClr>
                <a:srgbClr val="376092"/>
              </a:buClr>
              <a:buSzPts val="300"/>
              <a:buFont typeface="Arial"/>
              <a:buChar char="•"/>
            </a:pPr>
            <a:r>
              <a:rPr b="0" i="0" lang="en-US" sz="2400" u="none">
                <a:solidFill>
                  <a:srgbClr val="002060"/>
                </a:solidFill>
                <a:latin typeface="Corbel"/>
                <a:ea typeface="Corbel"/>
                <a:cs typeface="Corbel"/>
                <a:sym typeface="Corbel"/>
              </a:rPr>
              <a:t>Function of stream cipher</a:t>
            </a:r>
            <a:endParaRPr/>
          </a:p>
          <a:p>
            <a:pPr indent="-393700" lvl="1" marL="514350" marR="0" rtl="0" algn="l">
              <a:lnSpc>
                <a:spcPct val="110000"/>
              </a:lnSpc>
              <a:spcBef>
                <a:spcPts val="300"/>
              </a:spcBef>
              <a:spcAft>
                <a:spcPts val="0"/>
              </a:spcAft>
              <a:buClr>
                <a:srgbClr val="376092"/>
              </a:buClr>
              <a:buSzPts val="300"/>
              <a:buFont typeface="Arial"/>
              <a:buChar char="•"/>
            </a:pPr>
            <a:r>
              <a:rPr b="0" i="0" lang="en-US" sz="2000" u="none" cap="none" strike="noStrike">
                <a:solidFill>
                  <a:srgbClr val="002060"/>
                </a:solidFill>
                <a:latin typeface="Corbel"/>
                <a:ea typeface="Corbel"/>
                <a:cs typeface="Corbel"/>
                <a:sym typeface="Corbel"/>
              </a:rPr>
              <a:t>StreamCipher(K) = S </a:t>
            </a:r>
            <a:r>
              <a:rPr b="0" i="0" lang="en-US" sz="3200" u="none" cap="none" strike="noStrike">
                <a:solidFill>
                  <a:srgbClr val="002060"/>
                </a:solidFill>
                <a:latin typeface="Corbel"/>
                <a:ea typeface="Corbel"/>
                <a:cs typeface="Corbel"/>
                <a:sym typeface="Corbel"/>
              </a:rPr>
              <a:t>where K:key, S:keystream</a:t>
            </a:r>
            <a:endParaRPr/>
          </a:p>
          <a:p>
            <a:pPr indent="-393700" lvl="1" marL="514350" marR="0" rtl="0" algn="l">
              <a:lnSpc>
                <a:spcPct val="110000"/>
              </a:lnSpc>
              <a:spcBef>
                <a:spcPts val="300"/>
              </a:spcBef>
              <a:spcAft>
                <a:spcPts val="0"/>
              </a:spcAft>
              <a:buClr>
                <a:srgbClr val="376092"/>
              </a:buClr>
              <a:buSzPts val="300"/>
              <a:buFont typeface="Arial"/>
              <a:buChar char="•"/>
            </a:pPr>
            <a:r>
              <a:rPr b="0" i="0" lang="en-US" sz="2000" u="none" cap="none" strike="noStrike">
                <a:solidFill>
                  <a:srgbClr val="002060"/>
                </a:solidFill>
                <a:latin typeface="Corbel"/>
                <a:ea typeface="Corbel"/>
                <a:cs typeface="Corbel"/>
                <a:sym typeface="Corbel"/>
              </a:rPr>
              <a:t>S is used like a one-time pad</a:t>
            </a:r>
            <a:endParaRPr/>
          </a:p>
          <a:p>
            <a:pPr indent="-393700" lvl="2" marL="857250" marR="0" rtl="0" algn="l">
              <a:lnSpc>
                <a:spcPct val="110000"/>
              </a:lnSpc>
              <a:spcBef>
                <a:spcPts val="300"/>
              </a:spcBef>
              <a:spcAft>
                <a:spcPts val="0"/>
              </a:spcAft>
              <a:buClr>
                <a:srgbClr val="376092"/>
              </a:buClr>
              <a:buSzPts val="300"/>
              <a:buFont typeface="Arial"/>
              <a:buChar char="•"/>
            </a:pPr>
            <a:r>
              <a:rPr b="0" i="0" lang="en-US" sz="1800" u="none" cap="none" strike="noStrike">
                <a:solidFill>
                  <a:srgbClr val="002060"/>
                </a:solidFill>
                <a:latin typeface="Corbel"/>
                <a:ea typeface="Corbel"/>
                <a:cs typeface="Corbel"/>
                <a:sym typeface="Corbel"/>
              </a:rPr>
              <a:t>c</a:t>
            </a:r>
            <a:r>
              <a:rPr b="0" baseline="-25000" i="0" lang="en-US" sz="1800" u="none" cap="none" strike="noStrike">
                <a:solidFill>
                  <a:srgbClr val="002060"/>
                </a:solidFill>
                <a:latin typeface="Corbel"/>
                <a:ea typeface="Corbel"/>
                <a:cs typeface="Corbel"/>
                <a:sym typeface="Corbel"/>
              </a:rPr>
              <a:t>0 </a:t>
            </a:r>
            <a:r>
              <a:rPr b="0" i="0" lang="en-US" sz="1800" u="none" cap="none" strike="noStrike">
                <a:solidFill>
                  <a:srgbClr val="002060"/>
                </a:solidFill>
                <a:latin typeface="Corbel"/>
                <a:ea typeface="Corbel"/>
                <a:cs typeface="Corbel"/>
                <a:sym typeface="Corbel"/>
              </a:rPr>
              <a:t>= p</a:t>
            </a:r>
            <a:r>
              <a:rPr b="0" baseline="-25000" i="0" lang="en-US" sz="1800" u="none" cap="none" strike="noStrike">
                <a:solidFill>
                  <a:srgbClr val="002060"/>
                </a:solidFill>
                <a:latin typeface="Corbel"/>
                <a:ea typeface="Corbel"/>
                <a:cs typeface="Corbel"/>
                <a:sym typeface="Corbel"/>
              </a:rPr>
              <a:t>0</a:t>
            </a:r>
            <a:r>
              <a:rPr b="0" i="0" lang="en-US" sz="1800" u="none" cap="none" strike="noStrike">
                <a:solidFill>
                  <a:srgbClr val="002060"/>
                </a:solidFill>
                <a:latin typeface="Corbel"/>
                <a:ea typeface="Corbel"/>
                <a:cs typeface="Corbel"/>
                <a:sym typeface="Corbel"/>
              </a:rPr>
              <a:t> ⊕ s</a:t>
            </a:r>
            <a:r>
              <a:rPr b="0" baseline="-25000" i="0" lang="en-US" sz="1800" u="none" cap="none" strike="noStrike">
                <a:solidFill>
                  <a:srgbClr val="002060"/>
                </a:solidFill>
                <a:latin typeface="Corbel"/>
                <a:ea typeface="Corbel"/>
                <a:cs typeface="Corbel"/>
                <a:sym typeface="Corbel"/>
              </a:rPr>
              <a:t>0</a:t>
            </a:r>
            <a:r>
              <a:rPr b="0" i="0" lang="en-US" sz="1800" u="none" cap="none" strike="noStrike">
                <a:solidFill>
                  <a:schemeClr val="dk1"/>
                </a:solidFill>
                <a:latin typeface="Corbel"/>
                <a:ea typeface="Corbel"/>
                <a:cs typeface="Corbel"/>
                <a:sym typeface="Corbel"/>
              </a:rPr>
              <a:t>, </a:t>
            </a:r>
            <a:r>
              <a:rPr b="0" i="0" lang="en-US" sz="1800" u="none" cap="none" strike="noStrike">
                <a:solidFill>
                  <a:srgbClr val="002060"/>
                </a:solidFill>
                <a:latin typeface="Corbel"/>
                <a:ea typeface="Corbel"/>
                <a:cs typeface="Corbel"/>
                <a:sym typeface="Corbel"/>
              </a:rPr>
              <a:t>c</a:t>
            </a:r>
            <a:r>
              <a:rPr b="0" baseline="-25000" i="0" lang="en-US" sz="1800" u="none" cap="none" strike="noStrike">
                <a:solidFill>
                  <a:srgbClr val="002060"/>
                </a:solidFill>
                <a:latin typeface="Corbel"/>
                <a:ea typeface="Corbel"/>
                <a:cs typeface="Corbel"/>
                <a:sym typeface="Corbel"/>
              </a:rPr>
              <a:t>1 </a:t>
            </a:r>
            <a:r>
              <a:rPr b="0" i="0" lang="en-US" sz="1800" u="none" cap="none" strike="noStrike">
                <a:solidFill>
                  <a:srgbClr val="002060"/>
                </a:solidFill>
                <a:latin typeface="Corbel"/>
                <a:ea typeface="Corbel"/>
                <a:cs typeface="Corbel"/>
                <a:sym typeface="Corbel"/>
              </a:rPr>
              <a:t>= p</a:t>
            </a:r>
            <a:r>
              <a:rPr b="0" baseline="-25000" i="0" lang="en-US" sz="1800" u="none" cap="none" strike="noStrike">
                <a:solidFill>
                  <a:srgbClr val="002060"/>
                </a:solidFill>
                <a:latin typeface="Corbel"/>
                <a:ea typeface="Corbel"/>
                <a:cs typeface="Corbel"/>
                <a:sym typeface="Corbel"/>
              </a:rPr>
              <a:t>1</a:t>
            </a:r>
            <a:r>
              <a:rPr b="0" i="0" lang="en-US" sz="1800" u="none" cap="none" strike="noStrike">
                <a:solidFill>
                  <a:srgbClr val="002060"/>
                </a:solidFill>
                <a:latin typeface="Corbel"/>
                <a:ea typeface="Corbel"/>
                <a:cs typeface="Corbel"/>
                <a:sym typeface="Corbel"/>
              </a:rPr>
              <a:t> ⊕ s</a:t>
            </a:r>
            <a:r>
              <a:rPr b="0" baseline="-25000" i="0" lang="en-US" sz="1800" u="none" cap="none" strike="noStrike">
                <a:solidFill>
                  <a:srgbClr val="002060"/>
                </a:solidFill>
                <a:latin typeface="Corbel"/>
                <a:ea typeface="Corbel"/>
                <a:cs typeface="Corbel"/>
                <a:sym typeface="Corbel"/>
              </a:rPr>
              <a:t>1</a:t>
            </a:r>
            <a:r>
              <a:rPr b="0" i="0" lang="en-US" sz="1800" u="none" cap="none" strike="noStrike">
                <a:solidFill>
                  <a:schemeClr val="dk1"/>
                </a:solidFill>
                <a:latin typeface="Corbel"/>
                <a:ea typeface="Corbel"/>
                <a:cs typeface="Corbel"/>
                <a:sym typeface="Corbel"/>
              </a:rPr>
              <a:t>, </a:t>
            </a:r>
            <a:r>
              <a:rPr b="0" i="0" lang="en-US" sz="1800" u="none" cap="none" strike="noStrike">
                <a:solidFill>
                  <a:srgbClr val="002060"/>
                </a:solidFill>
                <a:latin typeface="Corbel"/>
                <a:ea typeface="Corbel"/>
                <a:cs typeface="Corbel"/>
                <a:sym typeface="Corbel"/>
              </a:rPr>
              <a:t>c</a:t>
            </a:r>
            <a:r>
              <a:rPr b="0" baseline="-25000" i="0" lang="en-US" sz="1800" u="none" cap="none" strike="noStrike">
                <a:solidFill>
                  <a:srgbClr val="002060"/>
                </a:solidFill>
                <a:latin typeface="Corbel"/>
                <a:ea typeface="Corbel"/>
                <a:cs typeface="Corbel"/>
                <a:sym typeface="Corbel"/>
              </a:rPr>
              <a:t>2 </a:t>
            </a:r>
            <a:r>
              <a:rPr b="0" i="0" lang="en-US" sz="1800" u="none" cap="none" strike="noStrike">
                <a:solidFill>
                  <a:srgbClr val="002060"/>
                </a:solidFill>
                <a:latin typeface="Corbel"/>
                <a:ea typeface="Corbel"/>
                <a:cs typeface="Corbel"/>
                <a:sym typeface="Corbel"/>
              </a:rPr>
              <a:t>= p</a:t>
            </a:r>
            <a:r>
              <a:rPr b="0" baseline="-25000" i="0" lang="en-US" sz="1800" u="none" cap="none" strike="noStrike">
                <a:solidFill>
                  <a:srgbClr val="002060"/>
                </a:solidFill>
                <a:latin typeface="Corbel"/>
                <a:ea typeface="Corbel"/>
                <a:cs typeface="Corbel"/>
                <a:sym typeface="Corbel"/>
              </a:rPr>
              <a:t>2</a:t>
            </a:r>
            <a:r>
              <a:rPr b="0" i="0" lang="en-US" sz="1800" u="none" cap="none" strike="noStrike">
                <a:solidFill>
                  <a:srgbClr val="002060"/>
                </a:solidFill>
                <a:latin typeface="Corbel"/>
                <a:ea typeface="Corbel"/>
                <a:cs typeface="Corbel"/>
                <a:sym typeface="Corbel"/>
              </a:rPr>
              <a:t> ⊕ s</a:t>
            </a:r>
            <a:r>
              <a:rPr b="0" baseline="-25000" i="0" lang="en-US" sz="1800" u="none" cap="none" strike="noStrike">
                <a:solidFill>
                  <a:srgbClr val="002060"/>
                </a:solidFill>
                <a:latin typeface="Corbel"/>
                <a:ea typeface="Corbel"/>
                <a:cs typeface="Corbel"/>
                <a:sym typeface="Corbel"/>
              </a:rPr>
              <a:t>2</a:t>
            </a:r>
            <a:r>
              <a:rPr b="0" i="0" lang="en-US" sz="1800" u="none" cap="none" strike="noStrike">
                <a:solidFill>
                  <a:schemeClr val="dk1"/>
                </a:solidFill>
                <a:latin typeface="Corbel"/>
                <a:ea typeface="Corbel"/>
                <a:cs typeface="Corbel"/>
                <a:sym typeface="Corbel"/>
              </a:rPr>
              <a:t>, …</a:t>
            </a:r>
            <a:endParaRPr b="0" i="0" sz="1800" u="none" cap="none" strike="noStrike">
              <a:solidFill>
                <a:srgbClr val="1F49F9"/>
              </a:solidFill>
              <a:latin typeface="Corbel"/>
              <a:ea typeface="Corbel"/>
              <a:cs typeface="Corbel"/>
              <a:sym typeface="Corbel"/>
            </a:endParaRPr>
          </a:p>
          <a:p>
            <a:pPr indent="-393700" lvl="2" marL="857250" marR="0" rtl="0" algn="l">
              <a:lnSpc>
                <a:spcPct val="110000"/>
              </a:lnSpc>
              <a:spcBef>
                <a:spcPts val="300"/>
              </a:spcBef>
              <a:spcAft>
                <a:spcPts val="0"/>
              </a:spcAft>
              <a:buClr>
                <a:srgbClr val="376092"/>
              </a:buClr>
              <a:buSzPts val="300"/>
              <a:buFont typeface="Arial"/>
              <a:buChar char="•"/>
            </a:pPr>
            <a:r>
              <a:rPr b="0" i="0" lang="en-US" sz="1800" u="none" cap="none" strike="noStrike">
                <a:solidFill>
                  <a:srgbClr val="002060"/>
                </a:solidFill>
                <a:latin typeface="Corbel"/>
                <a:ea typeface="Corbel"/>
                <a:cs typeface="Corbel"/>
                <a:sym typeface="Corbel"/>
              </a:rPr>
              <a:t>p</a:t>
            </a:r>
            <a:r>
              <a:rPr b="0" baseline="-25000" i="0" lang="en-US" sz="1800" u="none" cap="none" strike="noStrike">
                <a:solidFill>
                  <a:srgbClr val="002060"/>
                </a:solidFill>
                <a:latin typeface="Corbel"/>
                <a:ea typeface="Corbel"/>
                <a:cs typeface="Corbel"/>
                <a:sym typeface="Corbel"/>
              </a:rPr>
              <a:t>0 </a:t>
            </a:r>
            <a:r>
              <a:rPr b="0" i="0" lang="en-US" sz="1800" u="none" cap="none" strike="noStrike">
                <a:solidFill>
                  <a:srgbClr val="002060"/>
                </a:solidFill>
                <a:latin typeface="Corbel"/>
                <a:ea typeface="Corbel"/>
                <a:cs typeface="Corbel"/>
                <a:sym typeface="Corbel"/>
              </a:rPr>
              <a:t>= c</a:t>
            </a:r>
            <a:r>
              <a:rPr b="0" baseline="-25000" i="0" lang="en-US" sz="1800" u="none" cap="none" strike="noStrike">
                <a:solidFill>
                  <a:srgbClr val="002060"/>
                </a:solidFill>
                <a:latin typeface="Corbel"/>
                <a:ea typeface="Corbel"/>
                <a:cs typeface="Corbel"/>
                <a:sym typeface="Corbel"/>
              </a:rPr>
              <a:t>0</a:t>
            </a:r>
            <a:r>
              <a:rPr b="0" i="0" lang="en-US" sz="1800" u="none" cap="none" strike="noStrike">
                <a:solidFill>
                  <a:srgbClr val="002060"/>
                </a:solidFill>
                <a:latin typeface="Corbel"/>
                <a:ea typeface="Corbel"/>
                <a:cs typeface="Corbel"/>
                <a:sym typeface="Corbel"/>
              </a:rPr>
              <a:t> ⊕ s</a:t>
            </a:r>
            <a:r>
              <a:rPr b="0" baseline="-25000" i="0" lang="en-US" sz="1800" u="none" cap="none" strike="noStrike">
                <a:solidFill>
                  <a:srgbClr val="002060"/>
                </a:solidFill>
                <a:latin typeface="Corbel"/>
                <a:ea typeface="Corbel"/>
                <a:cs typeface="Corbel"/>
                <a:sym typeface="Corbel"/>
              </a:rPr>
              <a:t>0</a:t>
            </a:r>
            <a:r>
              <a:rPr b="0" i="0" lang="en-US" sz="1800" u="none" cap="none" strike="noStrike">
                <a:solidFill>
                  <a:schemeClr val="dk1"/>
                </a:solidFill>
                <a:latin typeface="Corbel"/>
                <a:ea typeface="Corbel"/>
                <a:cs typeface="Corbel"/>
                <a:sym typeface="Corbel"/>
              </a:rPr>
              <a:t>, </a:t>
            </a:r>
            <a:r>
              <a:rPr b="0" i="0" lang="en-US" sz="1800" u="none" cap="none" strike="noStrike">
                <a:solidFill>
                  <a:srgbClr val="002060"/>
                </a:solidFill>
                <a:latin typeface="Corbel"/>
                <a:ea typeface="Corbel"/>
                <a:cs typeface="Corbel"/>
                <a:sym typeface="Corbel"/>
              </a:rPr>
              <a:t>p</a:t>
            </a:r>
            <a:r>
              <a:rPr b="0" baseline="-25000" i="0" lang="en-US" sz="1800" u="none" cap="none" strike="noStrike">
                <a:solidFill>
                  <a:srgbClr val="002060"/>
                </a:solidFill>
                <a:latin typeface="Corbel"/>
                <a:ea typeface="Corbel"/>
                <a:cs typeface="Corbel"/>
                <a:sym typeface="Corbel"/>
              </a:rPr>
              <a:t>1 </a:t>
            </a:r>
            <a:r>
              <a:rPr b="0" i="0" lang="en-US" sz="1800" u="none" cap="none" strike="noStrike">
                <a:solidFill>
                  <a:srgbClr val="002060"/>
                </a:solidFill>
                <a:latin typeface="Corbel"/>
                <a:ea typeface="Corbel"/>
                <a:cs typeface="Corbel"/>
                <a:sym typeface="Corbel"/>
              </a:rPr>
              <a:t>= c</a:t>
            </a:r>
            <a:r>
              <a:rPr b="0" baseline="-25000" i="0" lang="en-US" sz="1800" u="none" cap="none" strike="noStrike">
                <a:solidFill>
                  <a:srgbClr val="002060"/>
                </a:solidFill>
                <a:latin typeface="Corbel"/>
                <a:ea typeface="Corbel"/>
                <a:cs typeface="Corbel"/>
                <a:sym typeface="Corbel"/>
              </a:rPr>
              <a:t>1</a:t>
            </a:r>
            <a:r>
              <a:rPr b="0" i="0" lang="en-US" sz="1800" u="none" cap="none" strike="noStrike">
                <a:solidFill>
                  <a:srgbClr val="002060"/>
                </a:solidFill>
                <a:latin typeface="Corbel"/>
                <a:ea typeface="Corbel"/>
                <a:cs typeface="Corbel"/>
                <a:sym typeface="Corbel"/>
              </a:rPr>
              <a:t> ⊕ s</a:t>
            </a:r>
            <a:r>
              <a:rPr b="0" baseline="-25000" i="0" lang="en-US" sz="1800" u="none" cap="none" strike="noStrike">
                <a:solidFill>
                  <a:srgbClr val="002060"/>
                </a:solidFill>
                <a:latin typeface="Corbel"/>
                <a:ea typeface="Corbel"/>
                <a:cs typeface="Corbel"/>
                <a:sym typeface="Corbel"/>
              </a:rPr>
              <a:t>1</a:t>
            </a:r>
            <a:r>
              <a:rPr b="0" i="0" lang="en-US" sz="1800" u="none" cap="none" strike="noStrike">
                <a:solidFill>
                  <a:schemeClr val="dk1"/>
                </a:solidFill>
                <a:latin typeface="Corbel"/>
                <a:ea typeface="Corbel"/>
                <a:cs typeface="Corbel"/>
                <a:sym typeface="Corbel"/>
              </a:rPr>
              <a:t>, </a:t>
            </a:r>
            <a:r>
              <a:rPr b="0" i="0" lang="en-US" sz="1800" u="none" cap="none" strike="noStrike">
                <a:solidFill>
                  <a:srgbClr val="002060"/>
                </a:solidFill>
                <a:latin typeface="Corbel"/>
                <a:ea typeface="Corbel"/>
                <a:cs typeface="Corbel"/>
                <a:sym typeface="Corbel"/>
              </a:rPr>
              <a:t>p</a:t>
            </a:r>
            <a:r>
              <a:rPr b="0" baseline="-25000" i="0" lang="en-US" sz="1800" u="none" cap="none" strike="noStrike">
                <a:solidFill>
                  <a:srgbClr val="002060"/>
                </a:solidFill>
                <a:latin typeface="Corbel"/>
                <a:ea typeface="Corbel"/>
                <a:cs typeface="Corbel"/>
                <a:sym typeface="Corbel"/>
              </a:rPr>
              <a:t>2 </a:t>
            </a:r>
            <a:r>
              <a:rPr b="0" i="0" lang="en-US" sz="1800" u="none" cap="none" strike="noStrike">
                <a:solidFill>
                  <a:srgbClr val="002060"/>
                </a:solidFill>
                <a:latin typeface="Corbel"/>
                <a:ea typeface="Corbel"/>
                <a:cs typeface="Corbel"/>
                <a:sym typeface="Corbel"/>
              </a:rPr>
              <a:t>= c</a:t>
            </a:r>
            <a:r>
              <a:rPr b="0" baseline="-25000" i="0" lang="en-US" sz="1800" u="none" cap="none" strike="noStrike">
                <a:solidFill>
                  <a:srgbClr val="002060"/>
                </a:solidFill>
                <a:latin typeface="Corbel"/>
                <a:ea typeface="Corbel"/>
                <a:cs typeface="Corbel"/>
                <a:sym typeface="Corbel"/>
              </a:rPr>
              <a:t>2</a:t>
            </a:r>
            <a:r>
              <a:rPr b="0" i="0" lang="en-US" sz="1800" u="none" cap="none" strike="noStrike">
                <a:solidFill>
                  <a:srgbClr val="002060"/>
                </a:solidFill>
                <a:latin typeface="Corbel"/>
                <a:ea typeface="Corbel"/>
                <a:cs typeface="Corbel"/>
                <a:sym typeface="Corbel"/>
              </a:rPr>
              <a:t> ⊕ s</a:t>
            </a:r>
            <a:r>
              <a:rPr b="0" baseline="-25000" i="0" lang="en-US" sz="1800" u="none" cap="none" strike="noStrike">
                <a:solidFill>
                  <a:srgbClr val="002060"/>
                </a:solidFill>
                <a:latin typeface="Corbel"/>
                <a:ea typeface="Corbel"/>
                <a:cs typeface="Corbel"/>
                <a:sym typeface="Corbel"/>
              </a:rPr>
              <a:t>2</a:t>
            </a:r>
            <a:r>
              <a:rPr b="0" i="0" lang="en-US" sz="1800" u="none" cap="none" strike="noStrike">
                <a:solidFill>
                  <a:schemeClr val="dk1"/>
                </a:solidFill>
                <a:latin typeface="Corbel"/>
                <a:ea typeface="Corbel"/>
                <a:cs typeface="Corbel"/>
                <a:sym typeface="Corbel"/>
              </a:rPr>
              <a:t>, …</a:t>
            </a:r>
            <a:endParaRPr/>
          </a:p>
          <a:p>
            <a:pPr indent="-171450" lvl="0" marL="171450" marR="0" rtl="0" algn="l">
              <a:lnSpc>
                <a:spcPct val="11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Sender and receiver have same</a:t>
            </a:r>
            <a:r>
              <a:rPr b="0" i="0" lang="en-US" sz="2400" u="none">
                <a:solidFill>
                  <a:srgbClr val="FF0000"/>
                </a:solidFill>
                <a:latin typeface="Corbel"/>
                <a:ea typeface="Corbel"/>
                <a:cs typeface="Corbel"/>
                <a:sym typeface="Corbel"/>
              </a:rPr>
              <a:t> stream cipher algorithm</a:t>
            </a:r>
            <a:r>
              <a:rPr b="0" i="0" lang="en-US" sz="2400" u="none">
                <a:solidFill>
                  <a:schemeClr val="dk1"/>
                </a:solidFill>
                <a:latin typeface="Corbel"/>
                <a:ea typeface="Corbel"/>
                <a:cs typeface="Corbel"/>
                <a:sym typeface="Corbel"/>
              </a:rPr>
              <a:t> and both know </a:t>
            </a:r>
            <a:r>
              <a:rPr b="0" i="0" lang="en-US" sz="2400" u="none">
                <a:solidFill>
                  <a:srgbClr val="FF0000"/>
                </a:solidFill>
                <a:latin typeface="Corbel"/>
                <a:ea typeface="Corbel"/>
                <a:cs typeface="Corbel"/>
                <a:sym typeface="Corbel"/>
              </a:rPr>
              <a:t>the key K</a:t>
            </a:r>
            <a:endParaRPr/>
          </a:p>
        </p:txBody>
      </p:sp>
      <p:sp>
        <p:nvSpPr>
          <p:cNvPr id="141" name="Google Shape;141;p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142" name="Google Shape;142;p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785812" y="122237"/>
            <a:ext cx="7215187" cy="12350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Stream Ciphers</a:t>
            </a:r>
            <a:endParaRPr/>
          </a:p>
        </p:txBody>
      </p:sp>
      <p:sp>
        <p:nvSpPr>
          <p:cNvPr id="149" name="Google Shape;149;p10"/>
          <p:cNvSpPr txBox="1"/>
          <p:nvPr>
            <p:ph idx="1" type="body"/>
          </p:nvPr>
        </p:nvSpPr>
        <p:spPr>
          <a:xfrm>
            <a:off x="684212" y="1773237"/>
            <a:ext cx="8115300" cy="4411662"/>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A5/1</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Based on </a:t>
            </a:r>
            <a:r>
              <a:rPr b="0" i="0" lang="en-US" sz="2400" u="sng" cap="none" strike="noStrike">
                <a:solidFill>
                  <a:schemeClr val="dk1"/>
                </a:solidFill>
                <a:latin typeface="Calibri"/>
                <a:ea typeface="Calibri"/>
                <a:cs typeface="Calibri"/>
                <a:sym typeface="Calibri"/>
                <a:hlinkClick r:id="rId3">
                  <a:extLst>
                    <a:ext uri="{A12FA001-AC4F-418D-AE19-62706E023703}">
                      <ahyp:hlinkClr val="tx"/>
                    </a:ext>
                  </a:extLst>
                </a:hlinkClick>
              </a:rPr>
              <a:t>linear feedback shift registers</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Used in </a:t>
            </a:r>
            <a:r>
              <a:rPr b="0" i="0" lang="en-US" sz="2400" u="sng" cap="none" strike="noStrike">
                <a:solidFill>
                  <a:schemeClr val="dk1"/>
                </a:solidFill>
                <a:latin typeface="Calibri"/>
                <a:ea typeface="Calibri"/>
                <a:cs typeface="Calibri"/>
                <a:sym typeface="Calibri"/>
                <a:hlinkClick r:id="rId4">
                  <a:extLst>
                    <a:ext uri="{A12FA001-AC4F-418D-AE19-62706E023703}">
                      <ahyp:hlinkClr val="tx"/>
                    </a:ext>
                  </a:extLst>
                </a:hlinkClick>
              </a:rPr>
              <a:t>GSM mobile phone system</a:t>
            </a:r>
            <a:endParaRPr/>
          </a:p>
          <a:p>
            <a:pPr indent="-393700" lvl="2" marL="857250" marR="0" rtl="0" algn="l">
              <a:lnSpc>
                <a:spcPct val="90000"/>
              </a:lnSpc>
              <a:spcBef>
                <a:spcPts val="300"/>
              </a:spcBef>
              <a:spcAft>
                <a:spcPts val="0"/>
              </a:spcAft>
              <a:buClr>
                <a:srgbClr val="376092"/>
              </a:buClr>
              <a:buSzPts val="300"/>
              <a:buFont typeface="Arial"/>
              <a:buChar char="•"/>
            </a:pPr>
            <a:r>
              <a:rPr b="0" i="0" lang="en-US" sz="2000" u="none" cap="none" strike="noStrike">
                <a:solidFill>
                  <a:schemeClr val="dk1"/>
                </a:solidFill>
                <a:latin typeface="Corbel"/>
                <a:ea typeface="Corbel"/>
                <a:cs typeface="Corbel"/>
                <a:sym typeface="Corbel"/>
              </a:rPr>
              <a:t>A5/1 is used in Europe and the United States; </a:t>
            </a:r>
            <a:endParaRPr/>
          </a:p>
          <a:p>
            <a:pPr indent="-393700" lvl="2" marL="857250" marR="0" rtl="0" algn="l">
              <a:lnSpc>
                <a:spcPct val="90000"/>
              </a:lnSpc>
              <a:spcBef>
                <a:spcPts val="300"/>
              </a:spcBef>
              <a:spcAft>
                <a:spcPts val="0"/>
              </a:spcAft>
              <a:buClr>
                <a:srgbClr val="376092"/>
              </a:buClr>
              <a:buSzPts val="300"/>
              <a:buFont typeface="Arial"/>
              <a:buChar char="•"/>
            </a:pPr>
            <a:r>
              <a:rPr b="0" i="0" lang="en-US" sz="2000" u="sng" cap="none" strike="noStrike">
                <a:solidFill>
                  <a:schemeClr val="dk1"/>
                </a:solidFill>
                <a:latin typeface="Calibri"/>
                <a:ea typeface="Calibri"/>
                <a:cs typeface="Calibri"/>
                <a:sym typeface="Calibri"/>
                <a:hlinkClick r:id="rId5">
                  <a:extLst>
                    <a:ext uri="{A12FA001-AC4F-418D-AE19-62706E023703}">
                      <ahyp:hlinkClr val="tx"/>
                    </a:ext>
                  </a:extLst>
                </a:hlinkClick>
              </a:rPr>
              <a:t>A5/2</a:t>
            </a:r>
            <a:r>
              <a:rPr b="0" i="0" lang="en-US" sz="2000" u="none" cap="none" strike="noStrike">
                <a:solidFill>
                  <a:schemeClr val="dk1"/>
                </a:solidFill>
                <a:latin typeface="Corbel"/>
                <a:ea typeface="Corbel"/>
                <a:cs typeface="Corbel"/>
                <a:sym typeface="Corbel"/>
              </a:rPr>
              <a:t>, is used in countries that are not considered trustworthy enough to have strong crypto.</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RC4</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Based on a changing lookup table</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Used many places – </a:t>
            </a:r>
            <a:r>
              <a:rPr b="0" i="0" lang="en-US" sz="2400" u="sng" cap="none" strike="noStrike">
                <a:solidFill>
                  <a:schemeClr val="dk1"/>
                </a:solidFill>
                <a:latin typeface="Calibri"/>
                <a:ea typeface="Calibri"/>
                <a:cs typeface="Calibri"/>
                <a:sym typeface="Calibri"/>
                <a:hlinkClick r:id="rId6">
                  <a:extLst>
                    <a:ext uri="{A12FA001-AC4F-418D-AE19-62706E023703}">
                      <ahyp:hlinkClr val="tx"/>
                    </a:ext>
                  </a:extLst>
                </a:hlinkClick>
              </a:rPr>
              <a:t>SSL  </a:t>
            </a:r>
            <a:endParaRPr/>
          </a:p>
        </p:txBody>
      </p:sp>
      <p:sp>
        <p:nvSpPr>
          <p:cNvPr id="150" name="Google Shape;150;p1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151" name="Google Shape;151;p1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1"/>
          <p:cNvSpPr txBox="1"/>
          <p:nvPr>
            <p:ph type="title"/>
          </p:nvPr>
        </p:nvSpPr>
        <p:spPr>
          <a:xfrm>
            <a:off x="785812" y="428625"/>
            <a:ext cx="7143750" cy="92868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A5/1</a:t>
            </a:r>
            <a:endParaRPr/>
          </a:p>
        </p:txBody>
      </p:sp>
      <p:sp>
        <p:nvSpPr>
          <p:cNvPr id="158" name="Google Shape;158;p11"/>
          <p:cNvSpPr txBox="1"/>
          <p:nvPr>
            <p:ph idx="1" type="body"/>
          </p:nvPr>
        </p:nvSpPr>
        <p:spPr>
          <a:xfrm>
            <a:off x="581025" y="1844675"/>
            <a:ext cx="7989887" cy="4752975"/>
          </a:xfrm>
          <a:prstGeom prst="rect">
            <a:avLst/>
          </a:prstGeom>
          <a:noFill/>
          <a:ln>
            <a:noFill/>
          </a:ln>
        </p:spPr>
        <p:txBody>
          <a:bodyPr anchorCtr="0" anchor="t" bIns="45700" lIns="91425" spcFirstLastPara="1" rIns="91425" wrap="square" tIns="45700">
            <a:noAutofit/>
          </a:bodyPr>
          <a:lstStyle/>
          <a:p>
            <a:pPr indent="-342900" lvl="2" marL="342900" marR="0" rtl="0" algn="l">
              <a:lnSpc>
                <a:spcPct val="90000"/>
              </a:lnSpc>
              <a:spcBef>
                <a:spcPts val="0"/>
              </a:spcBef>
              <a:spcAft>
                <a:spcPts val="0"/>
              </a:spcAft>
              <a:buClr>
                <a:schemeClr val="dk2"/>
              </a:buClr>
              <a:buSzPts val="300"/>
              <a:buFont typeface="Arial"/>
              <a:buChar char="•"/>
            </a:pPr>
            <a:r>
              <a:rPr b="0" i="0" lang="en-US" sz="3000" u="sng" cap="none" strike="noStrike">
                <a:solidFill>
                  <a:schemeClr val="dk1"/>
                </a:solidFill>
                <a:latin typeface="Calibri"/>
                <a:ea typeface="Calibri"/>
                <a:cs typeface="Calibri"/>
                <a:sym typeface="Calibri"/>
                <a:hlinkClick r:id="rId3">
                  <a:extLst>
                    <a:ext uri="{A12FA001-AC4F-418D-AE19-62706E023703}">
                      <ahyp:hlinkClr val="tx"/>
                    </a:ext>
                  </a:extLst>
                </a:hlinkClick>
              </a:rPr>
              <a:t>A5/1</a:t>
            </a:r>
            <a:r>
              <a:rPr b="0" i="0" lang="en-US" sz="3000" u="none" cap="none" strike="noStrike">
                <a:solidFill>
                  <a:schemeClr val="dk1"/>
                </a:solidFill>
                <a:latin typeface="Corbel"/>
                <a:ea typeface="Corbel"/>
                <a:cs typeface="Corbel"/>
                <a:sym typeface="Corbel"/>
              </a:rPr>
              <a:t> is Representative stream cipher based in </a:t>
            </a:r>
            <a:r>
              <a:rPr b="0" i="0" lang="en-US" sz="3000" u="none" cap="none" strike="noStrike">
                <a:solidFill>
                  <a:srgbClr val="FF0000"/>
                </a:solidFill>
                <a:latin typeface="Corbel"/>
                <a:ea typeface="Corbel"/>
                <a:cs typeface="Corbel"/>
                <a:sym typeface="Corbel"/>
              </a:rPr>
              <a:t>H/W</a:t>
            </a:r>
            <a:endParaRPr b="0" i="0" sz="1800" u="none" cap="none" strike="noStrike">
              <a:solidFill>
                <a:schemeClr val="dk1"/>
              </a:solidFill>
              <a:latin typeface="Corbel"/>
              <a:ea typeface="Corbel"/>
              <a:cs typeface="Corbel"/>
              <a:sym typeface="Corbel"/>
            </a:endParaRPr>
          </a:p>
          <a:p>
            <a:pPr indent="-171450" lvl="0" marL="171450" marR="0" rtl="0" algn="l">
              <a:lnSpc>
                <a:spcPct val="90000"/>
              </a:lnSpc>
              <a:spcBef>
                <a:spcPts val="0"/>
              </a:spcBef>
              <a:spcAft>
                <a:spcPts val="0"/>
              </a:spcAft>
              <a:buClr>
                <a:srgbClr val="376092"/>
              </a:buClr>
              <a:buSzPts val="300"/>
              <a:buFont typeface="Arial"/>
              <a:buChar char="•"/>
            </a:pPr>
            <a:r>
              <a:rPr b="0" i="0" lang="en-US" sz="2200" u="none">
                <a:solidFill>
                  <a:schemeClr val="dk1"/>
                </a:solidFill>
                <a:latin typeface="Corbel"/>
                <a:ea typeface="Corbel"/>
                <a:cs typeface="Corbel"/>
                <a:sym typeface="Corbel"/>
              </a:rPr>
              <a:t>Consists of 3 </a:t>
            </a:r>
            <a:r>
              <a:rPr b="0" i="0" lang="en-US" sz="2200" u="none">
                <a:solidFill>
                  <a:srgbClr val="0B38F9"/>
                </a:solidFill>
                <a:latin typeface="Corbel"/>
                <a:ea typeface="Corbel"/>
                <a:cs typeface="Corbel"/>
                <a:sym typeface="Corbel"/>
              </a:rPr>
              <a:t>Linear feedback shift registers</a:t>
            </a:r>
            <a:endParaRPr/>
          </a:p>
          <a:p>
            <a:pPr indent="-393700" lvl="1" marL="514350" marR="0" rtl="0" algn="l">
              <a:lnSpc>
                <a:spcPct val="200000"/>
              </a:lnSpc>
              <a:spcBef>
                <a:spcPts val="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X:  19 bits </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chemeClr val="dk1"/>
                </a:solidFill>
                <a:latin typeface="Times New Roman"/>
                <a:ea typeface="Times New Roman"/>
                <a:cs typeface="Times New Roman"/>
                <a:sym typeface="Times New Roman"/>
              </a:rPr>
              <a:t>x</a:t>
            </a:r>
            <a:r>
              <a:rPr b="0" baseline="-25000" i="0" lang="en-US" sz="2400" u="none" cap="none" strike="noStrike">
                <a:solidFill>
                  <a:schemeClr val="dk1"/>
                </a:solidFill>
                <a:latin typeface="Times New Roman"/>
                <a:ea typeface="Times New Roman"/>
                <a:cs typeface="Times New Roman"/>
                <a:sym typeface="Times New Roman"/>
              </a:rPr>
              <a:t>0</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x</a:t>
            </a:r>
            <a:r>
              <a:rPr b="0" baseline="-25000" i="0" lang="en-US" sz="2400" u="none" cap="none" strike="noStrike">
                <a:solidFill>
                  <a:schemeClr val="dk1"/>
                </a:solidFill>
                <a:latin typeface="Times New Roman"/>
                <a:ea typeface="Times New Roman"/>
                <a:cs typeface="Times New Roman"/>
                <a:sym typeface="Times New Roman"/>
              </a:rPr>
              <a:t>1</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x</a:t>
            </a:r>
            <a:r>
              <a:rPr b="0" baseline="-25000" i="0" lang="en-US" sz="2400" u="none" cap="none" strike="noStrike">
                <a:solidFill>
                  <a:schemeClr val="dk1"/>
                </a:solidFill>
                <a:latin typeface="Times New Roman"/>
                <a:ea typeface="Times New Roman"/>
                <a:cs typeface="Times New Roman"/>
                <a:sym typeface="Times New Roman"/>
              </a:rPr>
              <a:t>2</a:t>
            </a:r>
            <a:r>
              <a:rPr b="0" i="0" lang="en-US" sz="2400" u="none" cap="none" strike="noStrike">
                <a:solidFill>
                  <a:schemeClr val="dk1"/>
                </a:solidFill>
                <a:latin typeface="Times New Roman"/>
                <a:ea typeface="Times New Roman"/>
                <a:cs typeface="Times New Roman"/>
                <a:sym typeface="Times New Roman"/>
              </a:rPr>
              <a:t>,</a:t>
            </a:r>
            <a:r>
              <a:rPr b="0" baseline="3000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 x</a:t>
            </a:r>
            <a:r>
              <a:rPr b="0" baseline="-25000" i="0" lang="en-US" sz="2400" u="none" cap="none" strike="noStrike">
                <a:solidFill>
                  <a:schemeClr val="dk1"/>
                </a:solidFill>
                <a:latin typeface="Times New Roman"/>
                <a:ea typeface="Times New Roman"/>
                <a:cs typeface="Times New Roman"/>
                <a:sym typeface="Times New Roman"/>
              </a:rPr>
              <a:t>18</a:t>
            </a:r>
            <a:r>
              <a:rPr b="0" i="0" lang="en-US" sz="2400" u="none" cap="none" strike="noStrike">
                <a:solidFill>
                  <a:schemeClr val="dk1"/>
                </a:solidFill>
                <a:latin typeface="Times New Roman"/>
                <a:ea typeface="Times New Roman"/>
                <a:cs typeface="Times New Roman"/>
                <a:sym typeface="Times New Roman"/>
              </a:rPr>
              <a:t>)</a:t>
            </a:r>
            <a:endParaRPr b="0" i="1" sz="2400" u="none" cap="none" strike="noStrike">
              <a:solidFill>
                <a:schemeClr val="dk1"/>
              </a:solidFill>
              <a:latin typeface="Times New Roman"/>
              <a:ea typeface="Times New Roman"/>
              <a:cs typeface="Times New Roman"/>
              <a:sym typeface="Times New Roman"/>
            </a:endParaRPr>
          </a:p>
          <a:p>
            <a:pPr indent="-393700" lvl="1" marL="514350" marR="0" rtl="0" algn="l">
              <a:lnSpc>
                <a:spcPct val="200000"/>
              </a:lnSpc>
              <a:spcBef>
                <a:spcPts val="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Y:  22 bits </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chemeClr val="dk1"/>
                </a:solidFill>
                <a:latin typeface="Times New Roman"/>
                <a:ea typeface="Times New Roman"/>
                <a:cs typeface="Times New Roman"/>
                <a:sym typeface="Times New Roman"/>
              </a:rPr>
              <a:t>y</a:t>
            </a:r>
            <a:r>
              <a:rPr b="0" baseline="-25000" i="0" lang="en-US" sz="2400" u="none" cap="none" strike="noStrike">
                <a:solidFill>
                  <a:schemeClr val="dk1"/>
                </a:solidFill>
                <a:latin typeface="Times New Roman"/>
                <a:ea typeface="Times New Roman"/>
                <a:cs typeface="Times New Roman"/>
                <a:sym typeface="Times New Roman"/>
              </a:rPr>
              <a:t>0</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y</a:t>
            </a:r>
            <a:r>
              <a:rPr b="0" baseline="-25000" i="0" lang="en-US" sz="2400" u="none" cap="none" strike="noStrike">
                <a:solidFill>
                  <a:schemeClr val="dk1"/>
                </a:solidFill>
                <a:latin typeface="Times New Roman"/>
                <a:ea typeface="Times New Roman"/>
                <a:cs typeface="Times New Roman"/>
                <a:sym typeface="Times New Roman"/>
              </a:rPr>
              <a:t>1</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y</a:t>
            </a:r>
            <a:r>
              <a:rPr b="0" baseline="-25000" i="0" lang="en-US" sz="2400" u="none" cap="none" strike="noStrike">
                <a:solidFill>
                  <a:schemeClr val="dk1"/>
                </a:solidFill>
                <a:latin typeface="Times New Roman"/>
                <a:ea typeface="Times New Roman"/>
                <a:cs typeface="Times New Roman"/>
                <a:sym typeface="Times New Roman"/>
              </a:rPr>
              <a:t>2</a:t>
            </a:r>
            <a:r>
              <a:rPr b="0" i="0" lang="en-US" sz="2400" u="none" cap="none" strike="noStrike">
                <a:solidFill>
                  <a:schemeClr val="dk1"/>
                </a:solidFill>
                <a:latin typeface="Times New Roman"/>
                <a:ea typeface="Times New Roman"/>
                <a:cs typeface="Times New Roman"/>
                <a:sym typeface="Times New Roman"/>
              </a:rPr>
              <a:t>,</a:t>
            </a:r>
            <a:r>
              <a:rPr b="0" baseline="3000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  y</a:t>
            </a:r>
            <a:r>
              <a:rPr b="0" baseline="-25000" i="0" lang="en-US" sz="2400" u="none" cap="none" strike="noStrike">
                <a:solidFill>
                  <a:schemeClr val="dk1"/>
                </a:solidFill>
                <a:latin typeface="Times New Roman"/>
                <a:ea typeface="Times New Roman"/>
                <a:cs typeface="Times New Roman"/>
                <a:sym typeface="Times New Roman"/>
              </a:rPr>
              <a:t>21</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393700" lvl="1" marL="514350" marR="0" rtl="0" algn="l">
              <a:lnSpc>
                <a:spcPct val="200000"/>
              </a:lnSpc>
              <a:spcBef>
                <a:spcPts val="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Z:  23 bits </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chemeClr val="dk1"/>
                </a:solidFill>
                <a:latin typeface="Times New Roman"/>
                <a:ea typeface="Times New Roman"/>
                <a:cs typeface="Times New Roman"/>
                <a:sym typeface="Times New Roman"/>
              </a:rPr>
              <a:t>z</a:t>
            </a:r>
            <a:r>
              <a:rPr b="0" baseline="-25000" i="0" lang="en-US" sz="2400" u="none" cap="none" strike="noStrike">
                <a:solidFill>
                  <a:schemeClr val="dk1"/>
                </a:solidFill>
                <a:latin typeface="Times New Roman"/>
                <a:ea typeface="Times New Roman"/>
                <a:cs typeface="Times New Roman"/>
                <a:sym typeface="Times New Roman"/>
              </a:rPr>
              <a:t>0</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z</a:t>
            </a:r>
            <a:r>
              <a:rPr b="0" baseline="-25000" i="0" lang="en-US" sz="2400" u="none" cap="none" strike="noStrike">
                <a:solidFill>
                  <a:schemeClr val="dk1"/>
                </a:solidFill>
                <a:latin typeface="Times New Roman"/>
                <a:ea typeface="Times New Roman"/>
                <a:cs typeface="Times New Roman"/>
                <a:sym typeface="Times New Roman"/>
              </a:rPr>
              <a:t>1</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z</a:t>
            </a:r>
            <a:r>
              <a:rPr b="0" baseline="-25000" i="0" lang="en-US" sz="2400" u="none" cap="none" strike="noStrike">
                <a:solidFill>
                  <a:schemeClr val="dk1"/>
                </a:solidFill>
                <a:latin typeface="Times New Roman"/>
                <a:ea typeface="Times New Roman"/>
                <a:cs typeface="Times New Roman"/>
                <a:sym typeface="Times New Roman"/>
              </a:rPr>
              <a:t>2</a:t>
            </a:r>
            <a:r>
              <a:rPr b="0" i="0" lang="en-US" sz="2400" u="none" cap="none" strike="noStrike">
                <a:solidFill>
                  <a:schemeClr val="dk1"/>
                </a:solidFill>
                <a:latin typeface="Times New Roman"/>
                <a:ea typeface="Times New Roman"/>
                <a:cs typeface="Times New Roman"/>
                <a:sym typeface="Times New Roman"/>
              </a:rPr>
              <a:t>,</a:t>
            </a:r>
            <a:r>
              <a:rPr b="0" baseline="3000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………….,z</a:t>
            </a:r>
            <a:r>
              <a:rPr b="0" baseline="-25000" i="0" lang="en-US" sz="2400" u="none" cap="none" strike="noStrike">
                <a:solidFill>
                  <a:schemeClr val="dk1"/>
                </a:solidFill>
                <a:latin typeface="Times New Roman"/>
                <a:ea typeface="Times New Roman"/>
                <a:cs typeface="Times New Roman"/>
                <a:sym typeface="Times New Roman"/>
              </a:rPr>
              <a:t>22</a:t>
            </a:r>
            <a:r>
              <a:rPr b="0" i="0" lang="en-US" sz="2400" u="none" cap="none" strike="noStrike">
                <a:solidFill>
                  <a:schemeClr val="dk1"/>
                </a:solidFill>
                <a:latin typeface="Times New Roman"/>
                <a:ea typeface="Times New Roman"/>
                <a:cs typeface="Times New Roman"/>
                <a:sym typeface="Times New Roman"/>
              </a:rPr>
              <a:t>)</a:t>
            </a:r>
            <a:endParaRPr/>
          </a:p>
          <a:p>
            <a:pPr indent="-393700" lvl="1" marL="514350" marR="0" rtl="0" algn="l">
              <a:lnSpc>
                <a:spcPct val="200000"/>
              </a:lnSpc>
              <a:spcBef>
                <a:spcPts val="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X+Y+Z = 64 bits</a:t>
            </a:r>
            <a:endParaRPr/>
          </a:p>
        </p:txBody>
      </p:sp>
      <p:sp>
        <p:nvSpPr>
          <p:cNvPr id="159" name="Google Shape;159;p1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160" name="Google Shape;160;p1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785812" y="381000"/>
            <a:ext cx="7072312" cy="97631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A5/1</a:t>
            </a:r>
            <a:endParaRPr/>
          </a:p>
        </p:txBody>
      </p:sp>
      <p:sp>
        <p:nvSpPr>
          <p:cNvPr id="166" name="Google Shape;166;p12"/>
          <p:cNvSpPr txBox="1"/>
          <p:nvPr>
            <p:ph idx="1" type="body"/>
          </p:nvPr>
        </p:nvSpPr>
        <p:spPr>
          <a:xfrm>
            <a:off x="1042975" y="1482588"/>
            <a:ext cx="7483500" cy="4740300"/>
          </a:xfrm>
          <a:prstGeom prst="rect">
            <a:avLst/>
          </a:prstGeom>
          <a:noFill/>
          <a:ln>
            <a:noFill/>
          </a:ln>
        </p:spPr>
        <p:txBody>
          <a:bodyPr anchorCtr="0" anchor="t" bIns="45700" lIns="91425" spcFirstLastPara="1" rIns="91425" wrap="square" tIns="45700">
            <a:normAutofit lnSpcReduction="10000"/>
          </a:bodyPr>
          <a:lstStyle/>
          <a:p>
            <a:pPr indent="-171450" lvl="0" marL="171450" marR="0" rtl="0" algn="l">
              <a:lnSpc>
                <a:spcPct val="100000"/>
              </a:lnSpc>
              <a:spcBef>
                <a:spcPts val="0"/>
              </a:spcBef>
              <a:spcAft>
                <a:spcPts val="0"/>
              </a:spcAft>
              <a:buClr>
                <a:srgbClr val="376092"/>
              </a:buClr>
              <a:buSzPts val="2600"/>
              <a:buFont typeface="Arial"/>
              <a:buChar char="•"/>
            </a:pPr>
            <a:r>
              <a:rPr b="0" i="0" lang="en-US" sz="2600" u="none">
                <a:solidFill>
                  <a:srgbClr val="000000"/>
                </a:solidFill>
                <a:latin typeface="Corbel"/>
                <a:ea typeface="Corbel"/>
                <a:cs typeface="Corbel"/>
                <a:sym typeface="Corbel"/>
              </a:rPr>
              <a:t>At each step: </a:t>
            </a:r>
            <a:r>
              <a:rPr b="0" i="1" lang="en-US" sz="2600" u="none">
                <a:solidFill>
                  <a:srgbClr val="000000"/>
                </a:solidFill>
                <a:latin typeface="Times New Roman"/>
                <a:ea typeface="Times New Roman"/>
                <a:cs typeface="Times New Roman"/>
                <a:sym typeface="Times New Roman"/>
              </a:rPr>
              <a:t>m</a:t>
            </a:r>
            <a:r>
              <a:rPr b="0" i="0" lang="en-US" sz="2600" u="none">
                <a:solidFill>
                  <a:srgbClr val="000000"/>
                </a:solidFill>
                <a:latin typeface="Times New Roman"/>
                <a:ea typeface="Times New Roman"/>
                <a:cs typeface="Times New Roman"/>
                <a:sym typeface="Times New Roman"/>
              </a:rPr>
              <a:t> = maj(</a:t>
            </a:r>
            <a:r>
              <a:rPr b="0" i="1" lang="en-US" sz="2600" u="none">
                <a:solidFill>
                  <a:srgbClr val="000000"/>
                </a:solidFill>
                <a:latin typeface="Times New Roman"/>
                <a:ea typeface="Times New Roman"/>
                <a:cs typeface="Times New Roman"/>
                <a:sym typeface="Times New Roman"/>
              </a:rPr>
              <a:t>x</a:t>
            </a:r>
            <a:r>
              <a:rPr b="0" baseline="-25000" i="0" lang="en-US" sz="2600" u="none">
                <a:solidFill>
                  <a:srgbClr val="000000"/>
                </a:solidFill>
                <a:latin typeface="Times New Roman"/>
                <a:ea typeface="Times New Roman"/>
                <a:cs typeface="Times New Roman"/>
                <a:sym typeface="Times New Roman"/>
              </a:rPr>
              <a:t>8</a:t>
            </a:r>
            <a:r>
              <a:rPr b="0" i="0" lang="en-US" sz="2600" u="none">
                <a:solidFill>
                  <a:srgbClr val="000000"/>
                </a:solidFill>
                <a:latin typeface="Times New Roman"/>
                <a:ea typeface="Times New Roman"/>
                <a:cs typeface="Times New Roman"/>
                <a:sym typeface="Times New Roman"/>
              </a:rPr>
              <a:t>, </a:t>
            </a:r>
            <a:r>
              <a:rPr b="0" i="1" lang="en-US" sz="2600" u="none">
                <a:solidFill>
                  <a:srgbClr val="000000"/>
                </a:solidFill>
                <a:latin typeface="Times New Roman"/>
                <a:ea typeface="Times New Roman"/>
                <a:cs typeface="Times New Roman"/>
                <a:sym typeface="Times New Roman"/>
              </a:rPr>
              <a:t>y</a:t>
            </a:r>
            <a:r>
              <a:rPr b="0" baseline="-25000" i="0" lang="en-US" sz="2600" u="none">
                <a:solidFill>
                  <a:srgbClr val="000000"/>
                </a:solidFill>
                <a:latin typeface="Times New Roman"/>
                <a:ea typeface="Times New Roman"/>
                <a:cs typeface="Times New Roman"/>
                <a:sym typeface="Times New Roman"/>
              </a:rPr>
              <a:t>10</a:t>
            </a:r>
            <a:r>
              <a:rPr b="0" i="0" lang="en-US" sz="2600" u="none">
                <a:solidFill>
                  <a:srgbClr val="000000"/>
                </a:solidFill>
                <a:latin typeface="Times New Roman"/>
                <a:ea typeface="Times New Roman"/>
                <a:cs typeface="Times New Roman"/>
                <a:sym typeface="Times New Roman"/>
              </a:rPr>
              <a:t>, </a:t>
            </a:r>
            <a:r>
              <a:rPr b="0" i="1" lang="en-US" sz="2600" u="none">
                <a:solidFill>
                  <a:srgbClr val="000000"/>
                </a:solidFill>
                <a:latin typeface="Times New Roman"/>
                <a:ea typeface="Times New Roman"/>
                <a:cs typeface="Times New Roman"/>
                <a:sym typeface="Times New Roman"/>
              </a:rPr>
              <a:t>z</a:t>
            </a:r>
            <a:r>
              <a:rPr b="0" baseline="-25000" i="0" lang="en-US" sz="2600" u="none">
                <a:solidFill>
                  <a:srgbClr val="000000"/>
                </a:solidFill>
                <a:latin typeface="Times New Roman"/>
                <a:ea typeface="Times New Roman"/>
                <a:cs typeface="Times New Roman"/>
                <a:sym typeface="Times New Roman"/>
              </a:rPr>
              <a:t>10</a:t>
            </a:r>
            <a:r>
              <a:rPr b="0" i="0" lang="en-US" sz="2600" u="none">
                <a:solidFill>
                  <a:srgbClr val="000000"/>
                </a:solidFill>
                <a:latin typeface="Times New Roman"/>
                <a:ea typeface="Times New Roman"/>
                <a:cs typeface="Times New Roman"/>
                <a:sym typeface="Times New Roman"/>
              </a:rPr>
              <a:t>)</a:t>
            </a:r>
            <a:r>
              <a:rPr b="0" i="0" lang="en-US" sz="2600" u="none">
                <a:solidFill>
                  <a:srgbClr val="000000"/>
                </a:solidFill>
                <a:latin typeface="Corbel"/>
                <a:ea typeface="Corbel"/>
                <a:cs typeface="Corbel"/>
                <a:sym typeface="Corbel"/>
              </a:rPr>
              <a:t> </a:t>
            </a:r>
            <a:endParaRPr b="0" i="0" sz="2600" u="none">
              <a:solidFill>
                <a:srgbClr val="000000"/>
              </a:solidFill>
              <a:latin typeface="Corbel"/>
              <a:ea typeface="Corbel"/>
              <a:cs typeface="Corbel"/>
              <a:sym typeface="Corbel"/>
            </a:endParaRPr>
          </a:p>
          <a:p>
            <a:pPr indent="-457200" lvl="1" marL="514350" marR="0" rtl="0" algn="l">
              <a:lnSpc>
                <a:spcPct val="100000"/>
              </a:lnSpc>
              <a:spcBef>
                <a:spcPts val="300"/>
              </a:spcBef>
              <a:spcAft>
                <a:spcPts val="0"/>
              </a:spcAft>
              <a:buClr>
                <a:srgbClr val="376092"/>
              </a:buClr>
              <a:buSzPts val="1800"/>
              <a:buFont typeface="Arial"/>
              <a:buChar char="•"/>
            </a:pPr>
            <a:r>
              <a:rPr b="0" i="0" lang="en-US" sz="1800" u="none" cap="none" strike="noStrike">
                <a:solidFill>
                  <a:srgbClr val="000000"/>
                </a:solidFill>
                <a:latin typeface="Corbel"/>
                <a:ea typeface="Corbel"/>
                <a:cs typeface="Corbel"/>
                <a:sym typeface="Corbel"/>
              </a:rPr>
              <a:t>Examples: </a:t>
            </a:r>
            <a:r>
              <a:rPr b="0" i="0" lang="en-US" sz="1800" u="none" cap="none" strike="noStrike">
                <a:solidFill>
                  <a:srgbClr val="000000"/>
                </a:solidFill>
                <a:latin typeface="Times New Roman"/>
                <a:ea typeface="Times New Roman"/>
                <a:cs typeface="Times New Roman"/>
                <a:sym typeface="Times New Roman"/>
              </a:rPr>
              <a:t>maj(0,1,0) = 0</a:t>
            </a:r>
            <a:r>
              <a:rPr b="0" i="0" lang="en-US" sz="1800" u="none" cap="none" strike="noStrike">
                <a:solidFill>
                  <a:srgbClr val="000000"/>
                </a:solidFill>
                <a:latin typeface="Corbel"/>
                <a:ea typeface="Corbel"/>
                <a:cs typeface="Corbel"/>
                <a:sym typeface="Corbel"/>
              </a:rPr>
              <a:t> and </a:t>
            </a:r>
            <a:r>
              <a:rPr b="0" i="0" lang="en-US" sz="1800" u="none" cap="none" strike="noStrike">
                <a:solidFill>
                  <a:srgbClr val="000000"/>
                </a:solidFill>
                <a:latin typeface="Times New Roman"/>
                <a:ea typeface="Times New Roman"/>
                <a:cs typeface="Times New Roman"/>
                <a:sym typeface="Times New Roman"/>
              </a:rPr>
              <a:t>maj(1,1,0) = 1</a:t>
            </a:r>
            <a:r>
              <a:rPr b="0" i="0" lang="en-US" sz="1800" u="none" cap="none" strike="noStrike">
                <a:solidFill>
                  <a:srgbClr val="000000"/>
                </a:solidFill>
                <a:latin typeface="Corbel"/>
                <a:ea typeface="Corbel"/>
                <a:cs typeface="Corbel"/>
                <a:sym typeface="Corbel"/>
              </a:rPr>
              <a:t> </a:t>
            </a:r>
            <a:endParaRPr b="0" i="0" sz="1800" u="none" cap="none" strike="noStrike">
              <a:solidFill>
                <a:srgbClr val="000000"/>
              </a:solidFill>
              <a:latin typeface="Corbel"/>
              <a:ea typeface="Corbel"/>
              <a:cs typeface="Corbel"/>
              <a:sym typeface="Corbel"/>
            </a:endParaRPr>
          </a:p>
          <a:p>
            <a:pPr indent="-171450" lvl="0" marL="171450" marR="0" rtl="0" algn="l">
              <a:lnSpc>
                <a:spcPct val="100000"/>
              </a:lnSpc>
              <a:spcBef>
                <a:spcPts val="700"/>
              </a:spcBef>
              <a:spcAft>
                <a:spcPts val="0"/>
              </a:spcAft>
              <a:buClr>
                <a:srgbClr val="376092"/>
              </a:buClr>
              <a:buSzPts val="2600"/>
              <a:buFont typeface="Arial"/>
              <a:buChar char="•"/>
            </a:pPr>
            <a:r>
              <a:rPr b="0" i="0" lang="en-US" sz="2600" u="none">
                <a:solidFill>
                  <a:srgbClr val="000000"/>
                </a:solidFill>
                <a:latin typeface="Corbel"/>
                <a:ea typeface="Corbel"/>
                <a:cs typeface="Corbel"/>
                <a:sym typeface="Corbel"/>
              </a:rPr>
              <a:t>If </a:t>
            </a:r>
            <a:r>
              <a:rPr b="0" i="1" lang="en-US" sz="2600" u="none">
                <a:solidFill>
                  <a:srgbClr val="000000"/>
                </a:solidFill>
                <a:latin typeface="Times New Roman"/>
                <a:ea typeface="Times New Roman"/>
                <a:cs typeface="Times New Roman"/>
                <a:sym typeface="Times New Roman"/>
              </a:rPr>
              <a:t>x</a:t>
            </a:r>
            <a:r>
              <a:rPr b="0" baseline="-25000" i="0" lang="en-US" sz="2600" u="none">
                <a:solidFill>
                  <a:srgbClr val="000000"/>
                </a:solidFill>
                <a:latin typeface="Times New Roman"/>
                <a:ea typeface="Times New Roman"/>
                <a:cs typeface="Times New Roman"/>
                <a:sym typeface="Times New Roman"/>
              </a:rPr>
              <a:t>8</a:t>
            </a:r>
            <a:r>
              <a:rPr b="0" i="0" lang="en-US" sz="2600" u="none">
                <a:solidFill>
                  <a:srgbClr val="000000"/>
                </a:solidFill>
                <a:latin typeface="Times New Roman"/>
                <a:ea typeface="Times New Roman"/>
                <a:cs typeface="Times New Roman"/>
                <a:sym typeface="Times New Roman"/>
              </a:rPr>
              <a:t> = </a:t>
            </a:r>
            <a:r>
              <a:rPr b="0" i="1" lang="en-US" sz="2600" u="none">
                <a:solidFill>
                  <a:srgbClr val="000000"/>
                </a:solidFill>
                <a:latin typeface="Times New Roman"/>
                <a:ea typeface="Times New Roman"/>
                <a:cs typeface="Times New Roman"/>
                <a:sym typeface="Times New Roman"/>
              </a:rPr>
              <a:t>m</a:t>
            </a:r>
            <a:r>
              <a:rPr b="0" i="0" lang="en-US" sz="2600" u="none">
                <a:solidFill>
                  <a:srgbClr val="000000"/>
                </a:solidFill>
                <a:latin typeface="Corbel"/>
                <a:ea typeface="Corbel"/>
                <a:cs typeface="Corbel"/>
                <a:sym typeface="Corbel"/>
              </a:rPr>
              <a:t> then  </a:t>
            </a:r>
            <a:endParaRPr/>
          </a:p>
          <a:p>
            <a:pPr indent="-457200" lvl="1" marL="514350" marR="0" rtl="0" algn="l">
              <a:lnSpc>
                <a:spcPct val="100000"/>
              </a:lnSpc>
              <a:spcBef>
                <a:spcPts val="300"/>
              </a:spcBef>
              <a:spcAft>
                <a:spcPts val="0"/>
              </a:spcAft>
              <a:buClr>
                <a:srgbClr val="376092"/>
              </a:buClr>
              <a:buSzPts val="2000"/>
              <a:buFont typeface="Arial"/>
              <a:buChar char="•"/>
            </a:pPr>
            <a:r>
              <a:rPr b="0" i="1" lang="en-US" sz="2000" u="none" cap="none" strike="noStrike">
                <a:solidFill>
                  <a:srgbClr val="000000"/>
                </a:solidFill>
                <a:latin typeface="Times New Roman"/>
                <a:ea typeface="Times New Roman"/>
                <a:cs typeface="Times New Roman"/>
                <a:sym typeface="Times New Roman"/>
              </a:rPr>
              <a:t>t</a:t>
            </a:r>
            <a:r>
              <a:rPr b="0" i="0" lang="en-US" sz="2000" u="none" cap="none" strike="noStrike">
                <a:solidFill>
                  <a:srgbClr val="000000"/>
                </a:solidFill>
                <a:latin typeface="Times New Roman"/>
                <a:ea typeface="Times New Roman"/>
                <a:cs typeface="Times New Roman"/>
                <a:sym typeface="Times New Roman"/>
              </a:rPr>
              <a:t> = </a:t>
            </a:r>
            <a:r>
              <a:rPr b="0" i="1" lang="en-US" sz="2000" u="none" cap="none" strike="noStrike">
                <a:solidFill>
                  <a:srgbClr val="000000"/>
                </a:solidFill>
                <a:latin typeface="Times New Roman"/>
                <a:ea typeface="Times New Roman"/>
                <a:cs typeface="Times New Roman"/>
                <a:sym typeface="Times New Roman"/>
              </a:rPr>
              <a:t>x</a:t>
            </a:r>
            <a:r>
              <a:rPr b="0" baseline="-25000" i="0" lang="en-US" sz="2000" u="none" cap="none" strike="noStrike">
                <a:solidFill>
                  <a:srgbClr val="000000"/>
                </a:solidFill>
                <a:latin typeface="Times New Roman"/>
                <a:ea typeface="Times New Roman"/>
                <a:cs typeface="Times New Roman"/>
                <a:sym typeface="Times New Roman"/>
              </a:rPr>
              <a:t>13</a:t>
            </a:r>
            <a:r>
              <a:rPr b="0" i="0" lang="en-US" sz="2000" u="none" cap="none" strike="noStrike">
                <a:solidFill>
                  <a:srgbClr val="000000"/>
                </a:solidFill>
                <a:latin typeface="Times New Roman"/>
                <a:ea typeface="Times New Roman"/>
                <a:cs typeface="Times New Roman"/>
                <a:sym typeface="Times New Roman"/>
              </a:rPr>
              <a:t> ⊕ </a:t>
            </a:r>
            <a:r>
              <a:rPr b="0" i="1" lang="en-US" sz="2000" u="none" cap="none" strike="noStrike">
                <a:solidFill>
                  <a:srgbClr val="000000"/>
                </a:solidFill>
                <a:latin typeface="Times New Roman"/>
                <a:ea typeface="Times New Roman"/>
                <a:cs typeface="Times New Roman"/>
                <a:sym typeface="Times New Roman"/>
              </a:rPr>
              <a:t>x</a:t>
            </a:r>
            <a:r>
              <a:rPr b="0" baseline="-25000" i="0" lang="en-US" sz="2000" u="none" cap="none" strike="noStrike">
                <a:solidFill>
                  <a:srgbClr val="000000"/>
                </a:solidFill>
                <a:latin typeface="Times New Roman"/>
                <a:ea typeface="Times New Roman"/>
                <a:cs typeface="Times New Roman"/>
                <a:sym typeface="Times New Roman"/>
              </a:rPr>
              <a:t>16</a:t>
            </a:r>
            <a:r>
              <a:rPr b="0" i="0" lang="en-US" sz="2000" u="none" cap="none" strike="noStrike">
                <a:solidFill>
                  <a:srgbClr val="000000"/>
                </a:solidFill>
                <a:latin typeface="Times New Roman"/>
                <a:ea typeface="Times New Roman"/>
                <a:cs typeface="Times New Roman"/>
                <a:sym typeface="Times New Roman"/>
              </a:rPr>
              <a:t> ⊕ </a:t>
            </a:r>
            <a:r>
              <a:rPr b="0" i="1" lang="en-US" sz="2000" u="none" cap="none" strike="noStrike">
                <a:solidFill>
                  <a:srgbClr val="000000"/>
                </a:solidFill>
                <a:latin typeface="Times New Roman"/>
                <a:ea typeface="Times New Roman"/>
                <a:cs typeface="Times New Roman"/>
                <a:sym typeface="Times New Roman"/>
              </a:rPr>
              <a:t>x</a:t>
            </a:r>
            <a:r>
              <a:rPr b="0" baseline="-25000" i="0" lang="en-US" sz="2000" u="none" cap="none" strike="noStrike">
                <a:solidFill>
                  <a:srgbClr val="000000"/>
                </a:solidFill>
                <a:latin typeface="Times New Roman"/>
                <a:ea typeface="Times New Roman"/>
                <a:cs typeface="Times New Roman"/>
                <a:sym typeface="Times New Roman"/>
              </a:rPr>
              <a:t>17</a:t>
            </a:r>
            <a:r>
              <a:rPr b="0" i="0" lang="en-US" sz="2000" u="none" cap="none" strike="noStrike">
                <a:solidFill>
                  <a:srgbClr val="000000"/>
                </a:solidFill>
                <a:latin typeface="Times New Roman"/>
                <a:ea typeface="Times New Roman"/>
                <a:cs typeface="Times New Roman"/>
                <a:sym typeface="Times New Roman"/>
              </a:rPr>
              <a:t> ⊕ </a:t>
            </a:r>
            <a:r>
              <a:rPr b="0" i="1" lang="en-US" sz="2000" u="none" cap="none" strike="noStrike">
                <a:solidFill>
                  <a:srgbClr val="000000"/>
                </a:solidFill>
                <a:latin typeface="Times New Roman"/>
                <a:ea typeface="Times New Roman"/>
                <a:cs typeface="Times New Roman"/>
                <a:sym typeface="Times New Roman"/>
              </a:rPr>
              <a:t>x</a:t>
            </a:r>
            <a:r>
              <a:rPr b="0" baseline="-25000" i="0" lang="en-US" sz="2000" u="none" cap="none" strike="noStrike">
                <a:solidFill>
                  <a:srgbClr val="000000"/>
                </a:solidFill>
                <a:latin typeface="Times New Roman"/>
                <a:ea typeface="Times New Roman"/>
                <a:cs typeface="Times New Roman"/>
                <a:sym typeface="Times New Roman"/>
              </a:rPr>
              <a:t>18</a:t>
            </a:r>
            <a:endParaRPr/>
          </a:p>
          <a:p>
            <a:pPr indent="-457200" lvl="1" marL="514350" marR="0" rtl="0" algn="l">
              <a:lnSpc>
                <a:spcPct val="100000"/>
              </a:lnSpc>
              <a:spcBef>
                <a:spcPts val="300"/>
              </a:spcBef>
              <a:spcAft>
                <a:spcPts val="0"/>
              </a:spcAft>
              <a:buClr>
                <a:srgbClr val="376092"/>
              </a:buClr>
              <a:buSzPts val="2000"/>
              <a:buFont typeface="Arial"/>
              <a:buChar char="•"/>
            </a:pPr>
            <a:r>
              <a:rPr b="0" i="1" lang="en-US" sz="2000" u="none" cap="none" strike="noStrike">
                <a:solidFill>
                  <a:srgbClr val="000000"/>
                </a:solidFill>
                <a:latin typeface="Times New Roman"/>
                <a:ea typeface="Times New Roman"/>
                <a:cs typeface="Times New Roman"/>
                <a:sym typeface="Times New Roman"/>
              </a:rPr>
              <a:t>x</a:t>
            </a:r>
            <a:r>
              <a:rPr b="0" baseline="-25000" i="1" lang="en-US" sz="2000" u="none" cap="none" strike="noStrike">
                <a:solidFill>
                  <a:srgbClr val="000000"/>
                </a:solidFill>
                <a:latin typeface="Times New Roman"/>
                <a:ea typeface="Times New Roman"/>
                <a:cs typeface="Times New Roman"/>
                <a:sym typeface="Times New Roman"/>
              </a:rPr>
              <a:t>i</a:t>
            </a:r>
            <a:r>
              <a:rPr b="0" i="0" lang="en-US" sz="2000" u="none" cap="none" strike="noStrike">
                <a:solidFill>
                  <a:srgbClr val="000000"/>
                </a:solidFill>
                <a:latin typeface="Times New Roman"/>
                <a:ea typeface="Times New Roman"/>
                <a:cs typeface="Times New Roman"/>
                <a:sym typeface="Times New Roman"/>
              </a:rPr>
              <a:t> = </a:t>
            </a:r>
            <a:r>
              <a:rPr b="0" i="1" lang="en-US" sz="2000" u="none" cap="none" strike="noStrike">
                <a:solidFill>
                  <a:srgbClr val="000000"/>
                </a:solidFill>
                <a:latin typeface="Times New Roman"/>
                <a:ea typeface="Times New Roman"/>
                <a:cs typeface="Times New Roman"/>
                <a:sym typeface="Times New Roman"/>
              </a:rPr>
              <a:t>x</a:t>
            </a:r>
            <a:r>
              <a:rPr b="0" baseline="-25000" i="1" lang="en-US" sz="2000" u="none" cap="none" strike="noStrike">
                <a:solidFill>
                  <a:srgbClr val="000000"/>
                </a:solidFill>
                <a:latin typeface="Times New Roman"/>
                <a:ea typeface="Times New Roman"/>
                <a:cs typeface="Times New Roman"/>
                <a:sym typeface="Times New Roman"/>
              </a:rPr>
              <a:t>i−</a:t>
            </a:r>
            <a:r>
              <a:rPr b="0" baseline="-25000" i="0" lang="en-US" sz="2000" u="none" cap="none" strike="noStrike">
                <a:solidFill>
                  <a:srgbClr val="000000"/>
                </a:solidFill>
                <a:latin typeface="Times New Roman"/>
                <a:ea typeface="Times New Roman"/>
                <a:cs typeface="Times New Roman"/>
                <a:sym typeface="Times New Roman"/>
              </a:rPr>
              <a:t>1   </a:t>
            </a:r>
            <a:r>
              <a:rPr b="0" i="0" lang="en-US" sz="2000" u="none" cap="none" strike="noStrike">
                <a:solidFill>
                  <a:srgbClr val="000000"/>
                </a:solidFill>
                <a:latin typeface="Times New Roman"/>
                <a:ea typeface="Times New Roman"/>
                <a:cs typeface="Times New Roman"/>
                <a:sym typeface="Times New Roman"/>
              </a:rPr>
              <a:t>for  </a:t>
            </a:r>
            <a:r>
              <a:rPr b="0" i="1" lang="en-US" sz="2000" u="none" cap="none" strike="noStrike">
                <a:solidFill>
                  <a:srgbClr val="000000"/>
                </a:solidFill>
                <a:latin typeface="Times New Roman"/>
                <a:ea typeface="Times New Roman"/>
                <a:cs typeface="Times New Roman"/>
                <a:sym typeface="Times New Roman"/>
              </a:rPr>
              <a:t>i</a:t>
            </a:r>
            <a:r>
              <a:rPr b="0" i="0" lang="en-US" sz="2000" u="none" cap="none" strike="noStrike">
                <a:solidFill>
                  <a:srgbClr val="000000"/>
                </a:solidFill>
                <a:latin typeface="Times New Roman"/>
                <a:ea typeface="Times New Roman"/>
                <a:cs typeface="Times New Roman"/>
                <a:sym typeface="Times New Roman"/>
              </a:rPr>
              <a:t>  =  18, 17, …, 1 and  </a:t>
            </a:r>
            <a:r>
              <a:rPr b="0" i="1" lang="en-US" sz="2000" u="none" cap="none" strike="noStrike">
                <a:solidFill>
                  <a:srgbClr val="000000"/>
                </a:solidFill>
                <a:latin typeface="Times New Roman"/>
                <a:ea typeface="Times New Roman"/>
                <a:cs typeface="Times New Roman"/>
                <a:sym typeface="Times New Roman"/>
              </a:rPr>
              <a:t>x</a:t>
            </a:r>
            <a:r>
              <a:rPr b="0" baseline="-25000" i="0" lang="en-US" sz="2000" u="none" cap="none" strike="noStrike">
                <a:solidFill>
                  <a:srgbClr val="000000"/>
                </a:solidFill>
                <a:latin typeface="Times New Roman"/>
                <a:ea typeface="Times New Roman"/>
                <a:cs typeface="Times New Roman"/>
                <a:sym typeface="Times New Roman"/>
              </a:rPr>
              <a:t>0</a:t>
            </a:r>
            <a:r>
              <a:rPr b="0" i="0" lang="en-US" sz="2000" u="none" cap="none" strike="noStrike">
                <a:solidFill>
                  <a:srgbClr val="000000"/>
                </a:solidFill>
                <a:latin typeface="Times New Roman"/>
                <a:ea typeface="Times New Roman"/>
                <a:cs typeface="Times New Roman"/>
                <a:sym typeface="Times New Roman"/>
              </a:rPr>
              <a:t> = </a:t>
            </a:r>
            <a:r>
              <a:rPr b="0" i="1" lang="en-US" sz="2000" u="none" cap="none" strike="noStrike">
                <a:solidFill>
                  <a:srgbClr val="000000"/>
                </a:solidFill>
                <a:latin typeface="Times New Roman"/>
                <a:ea typeface="Times New Roman"/>
                <a:cs typeface="Times New Roman"/>
                <a:sym typeface="Times New Roman"/>
              </a:rPr>
              <a:t>t</a:t>
            </a:r>
            <a:endParaRPr b="0" i="0" sz="2000" u="none" cap="none" strike="noStrike">
              <a:solidFill>
                <a:srgbClr val="000000"/>
              </a:solidFill>
              <a:latin typeface="Corbel"/>
              <a:ea typeface="Corbel"/>
              <a:cs typeface="Corbel"/>
              <a:sym typeface="Corbel"/>
            </a:endParaRPr>
          </a:p>
          <a:p>
            <a:pPr indent="-171450" lvl="0" marL="171450" marR="0" rtl="0" algn="l">
              <a:lnSpc>
                <a:spcPct val="100000"/>
              </a:lnSpc>
              <a:spcBef>
                <a:spcPts val="700"/>
              </a:spcBef>
              <a:spcAft>
                <a:spcPts val="0"/>
              </a:spcAft>
              <a:buClr>
                <a:srgbClr val="376092"/>
              </a:buClr>
              <a:buSzPts val="2600"/>
              <a:buFont typeface="Arial"/>
              <a:buChar char="•"/>
            </a:pPr>
            <a:r>
              <a:rPr b="0" i="0" lang="en-US" sz="2600" u="none">
                <a:solidFill>
                  <a:srgbClr val="000000"/>
                </a:solidFill>
                <a:latin typeface="Corbel"/>
                <a:ea typeface="Corbel"/>
                <a:cs typeface="Corbel"/>
                <a:sym typeface="Corbel"/>
              </a:rPr>
              <a:t>If </a:t>
            </a:r>
            <a:r>
              <a:rPr b="0" i="1" lang="en-US" sz="2600" u="none">
                <a:solidFill>
                  <a:srgbClr val="000000"/>
                </a:solidFill>
                <a:latin typeface="Times New Roman"/>
                <a:ea typeface="Times New Roman"/>
                <a:cs typeface="Times New Roman"/>
                <a:sym typeface="Times New Roman"/>
              </a:rPr>
              <a:t>y</a:t>
            </a:r>
            <a:r>
              <a:rPr b="0" baseline="-25000" i="0" lang="en-US" sz="2600" u="none">
                <a:solidFill>
                  <a:srgbClr val="000000"/>
                </a:solidFill>
                <a:latin typeface="Times New Roman"/>
                <a:ea typeface="Times New Roman"/>
                <a:cs typeface="Times New Roman"/>
                <a:sym typeface="Times New Roman"/>
              </a:rPr>
              <a:t>10</a:t>
            </a:r>
            <a:r>
              <a:rPr b="0" i="0" lang="en-US" sz="2600" u="none">
                <a:solidFill>
                  <a:srgbClr val="000000"/>
                </a:solidFill>
                <a:latin typeface="Times New Roman"/>
                <a:ea typeface="Times New Roman"/>
                <a:cs typeface="Times New Roman"/>
                <a:sym typeface="Times New Roman"/>
              </a:rPr>
              <a:t> = </a:t>
            </a:r>
            <a:r>
              <a:rPr b="0" i="1" lang="en-US" sz="2600" u="none">
                <a:solidFill>
                  <a:srgbClr val="000000"/>
                </a:solidFill>
                <a:latin typeface="Times New Roman"/>
                <a:ea typeface="Times New Roman"/>
                <a:cs typeface="Times New Roman"/>
                <a:sym typeface="Times New Roman"/>
              </a:rPr>
              <a:t>m</a:t>
            </a:r>
            <a:r>
              <a:rPr b="0" i="0" lang="en-US" sz="2600" u="none">
                <a:solidFill>
                  <a:srgbClr val="000000"/>
                </a:solidFill>
                <a:latin typeface="Corbel"/>
                <a:ea typeface="Corbel"/>
                <a:cs typeface="Corbel"/>
                <a:sym typeface="Corbel"/>
              </a:rPr>
              <a:t> then</a:t>
            </a:r>
            <a:endParaRPr/>
          </a:p>
          <a:p>
            <a:pPr indent="-457200" lvl="1" marL="514350" marR="0" rtl="0" algn="l">
              <a:lnSpc>
                <a:spcPct val="100000"/>
              </a:lnSpc>
              <a:spcBef>
                <a:spcPts val="300"/>
              </a:spcBef>
              <a:spcAft>
                <a:spcPts val="0"/>
              </a:spcAft>
              <a:buClr>
                <a:srgbClr val="376092"/>
              </a:buClr>
              <a:buSzPts val="1800"/>
              <a:buFont typeface="Arial"/>
              <a:buChar char="•"/>
            </a:pPr>
            <a:r>
              <a:rPr b="0" i="1" lang="en-US" sz="1800" u="none" cap="none" strike="noStrike">
                <a:solidFill>
                  <a:srgbClr val="000000"/>
                </a:solidFill>
                <a:latin typeface="Times New Roman"/>
                <a:ea typeface="Times New Roman"/>
                <a:cs typeface="Times New Roman"/>
                <a:sym typeface="Times New Roman"/>
              </a:rPr>
              <a:t>t</a:t>
            </a:r>
            <a:r>
              <a:rPr b="0" i="0" lang="en-US" sz="1800" u="none" cap="none" strike="noStrike">
                <a:solidFill>
                  <a:srgbClr val="000000"/>
                </a:solidFill>
                <a:latin typeface="Times New Roman"/>
                <a:ea typeface="Times New Roman"/>
                <a:cs typeface="Times New Roman"/>
                <a:sym typeface="Times New Roman"/>
              </a:rPr>
              <a:t> = </a:t>
            </a:r>
            <a:r>
              <a:rPr b="0" i="1" lang="en-US" sz="1800" u="none" cap="none" strike="noStrike">
                <a:solidFill>
                  <a:srgbClr val="000000"/>
                </a:solidFill>
                <a:latin typeface="Times New Roman"/>
                <a:ea typeface="Times New Roman"/>
                <a:cs typeface="Times New Roman"/>
                <a:sym typeface="Times New Roman"/>
              </a:rPr>
              <a:t>y</a:t>
            </a:r>
            <a:r>
              <a:rPr b="0" baseline="-25000" i="0" lang="en-US" sz="1800" u="none" cap="none" strike="noStrike">
                <a:solidFill>
                  <a:srgbClr val="000000"/>
                </a:solidFill>
                <a:latin typeface="Times New Roman"/>
                <a:ea typeface="Times New Roman"/>
                <a:cs typeface="Times New Roman"/>
                <a:sym typeface="Times New Roman"/>
              </a:rPr>
              <a:t>20</a:t>
            </a:r>
            <a:r>
              <a:rPr b="0" i="0" lang="en-US" sz="1800" u="none" cap="none" strike="noStrike">
                <a:solidFill>
                  <a:srgbClr val="000000"/>
                </a:solidFill>
                <a:latin typeface="Times New Roman"/>
                <a:ea typeface="Times New Roman"/>
                <a:cs typeface="Times New Roman"/>
                <a:sym typeface="Times New Roman"/>
              </a:rPr>
              <a:t> ⊕ </a:t>
            </a:r>
            <a:r>
              <a:rPr b="0" i="1" lang="en-US" sz="1800" u="none" cap="none" strike="noStrike">
                <a:solidFill>
                  <a:srgbClr val="000000"/>
                </a:solidFill>
                <a:latin typeface="Times New Roman"/>
                <a:ea typeface="Times New Roman"/>
                <a:cs typeface="Times New Roman"/>
                <a:sym typeface="Times New Roman"/>
              </a:rPr>
              <a:t>y</a:t>
            </a:r>
            <a:r>
              <a:rPr b="0" baseline="-25000" i="0" lang="en-US" sz="1800" u="none" cap="none" strike="noStrike">
                <a:solidFill>
                  <a:srgbClr val="000000"/>
                </a:solidFill>
                <a:latin typeface="Times New Roman"/>
                <a:ea typeface="Times New Roman"/>
                <a:cs typeface="Times New Roman"/>
                <a:sym typeface="Times New Roman"/>
              </a:rPr>
              <a:t>2</a:t>
            </a:r>
            <a:endParaRPr/>
          </a:p>
          <a:p>
            <a:pPr indent="-457200" lvl="1" marL="514350" marR="0" rtl="0" algn="l">
              <a:lnSpc>
                <a:spcPct val="100000"/>
              </a:lnSpc>
              <a:spcBef>
                <a:spcPts val="300"/>
              </a:spcBef>
              <a:spcAft>
                <a:spcPts val="0"/>
              </a:spcAft>
              <a:buClr>
                <a:srgbClr val="376092"/>
              </a:buClr>
              <a:buSzPts val="1800"/>
              <a:buFont typeface="Arial"/>
              <a:buChar char="•"/>
            </a:pPr>
            <a:r>
              <a:rPr b="0" i="1" lang="en-US" sz="1800" u="none" cap="none" strike="noStrike">
                <a:solidFill>
                  <a:srgbClr val="000000"/>
                </a:solidFill>
                <a:latin typeface="Times New Roman"/>
                <a:ea typeface="Times New Roman"/>
                <a:cs typeface="Times New Roman"/>
                <a:sym typeface="Times New Roman"/>
              </a:rPr>
              <a:t>y</a:t>
            </a:r>
            <a:r>
              <a:rPr b="0" baseline="-25000" i="1" lang="en-US" sz="1800" u="none" cap="none" strike="noStrike">
                <a:solidFill>
                  <a:srgbClr val="000000"/>
                </a:solidFill>
                <a:latin typeface="Times New Roman"/>
                <a:ea typeface="Times New Roman"/>
                <a:cs typeface="Times New Roman"/>
                <a:sym typeface="Times New Roman"/>
              </a:rPr>
              <a:t>i</a:t>
            </a:r>
            <a:r>
              <a:rPr b="0" i="0" lang="en-US" sz="1800" u="none" cap="none" strike="noStrike">
                <a:solidFill>
                  <a:srgbClr val="000000"/>
                </a:solidFill>
                <a:latin typeface="Times New Roman"/>
                <a:ea typeface="Times New Roman"/>
                <a:cs typeface="Times New Roman"/>
                <a:sym typeface="Times New Roman"/>
              </a:rPr>
              <a:t> = </a:t>
            </a:r>
            <a:r>
              <a:rPr b="0" i="1" lang="en-US" sz="1800" u="none" cap="none" strike="noStrike">
                <a:solidFill>
                  <a:srgbClr val="000000"/>
                </a:solidFill>
                <a:latin typeface="Times New Roman"/>
                <a:ea typeface="Times New Roman"/>
                <a:cs typeface="Times New Roman"/>
                <a:sym typeface="Times New Roman"/>
              </a:rPr>
              <a:t>y</a:t>
            </a:r>
            <a:r>
              <a:rPr b="0" baseline="-25000" i="1" lang="en-US" sz="1800" u="none" cap="none" strike="noStrike">
                <a:solidFill>
                  <a:srgbClr val="000000"/>
                </a:solidFill>
                <a:latin typeface="Times New Roman"/>
                <a:ea typeface="Times New Roman"/>
                <a:cs typeface="Times New Roman"/>
                <a:sym typeface="Times New Roman"/>
              </a:rPr>
              <a:t>i−</a:t>
            </a:r>
            <a:r>
              <a:rPr b="0" baseline="-25000" i="0" lang="en-US" sz="1800" u="none" cap="none" strike="noStrike">
                <a:solidFill>
                  <a:srgbClr val="000000"/>
                </a:solidFill>
                <a:latin typeface="Times New Roman"/>
                <a:ea typeface="Times New Roman"/>
                <a:cs typeface="Times New Roman"/>
                <a:sym typeface="Times New Roman"/>
              </a:rPr>
              <a:t>1  </a:t>
            </a:r>
            <a:r>
              <a:rPr b="0" i="0" lang="en-US" sz="1800" u="none" cap="none" strike="noStrike">
                <a:solidFill>
                  <a:srgbClr val="000000"/>
                </a:solidFill>
                <a:latin typeface="Times New Roman"/>
                <a:ea typeface="Times New Roman"/>
                <a:cs typeface="Times New Roman"/>
                <a:sym typeface="Times New Roman"/>
              </a:rPr>
              <a:t>for  </a:t>
            </a:r>
            <a:r>
              <a:rPr b="0" i="1" lang="en-US" sz="1800" u="none" cap="none" strike="noStrike">
                <a:solidFill>
                  <a:srgbClr val="000000"/>
                </a:solidFill>
                <a:latin typeface="Times New Roman"/>
                <a:ea typeface="Times New Roman"/>
                <a:cs typeface="Times New Roman"/>
                <a:sym typeface="Times New Roman"/>
              </a:rPr>
              <a:t>i</a:t>
            </a:r>
            <a:r>
              <a:rPr b="0" i="0" lang="en-US" sz="1800" u="none" cap="none" strike="noStrike">
                <a:solidFill>
                  <a:srgbClr val="000000"/>
                </a:solidFill>
                <a:latin typeface="Times New Roman"/>
                <a:ea typeface="Times New Roman"/>
                <a:cs typeface="Times New Roman"/>
                <a:sym typeface="Times New Roman"/>
              </a:rPr>
              <a:t>  =  21, 20, …, 1  and  </a:t>
            </a:r>
            <a:r>
              <a:rPr b="0" i="1" lang="en-US" sz="1800" u="none" cap="none" strike="noStrike">
                <a:solidFill>
                  <a:srgbClr val="000000"/>
                </a:solidFill>
                <a:latin typeface="Times New Roman"/>
                <a:ea typeface="Times New Roman"/>
                <a:cs typeface="Times New Roman"/>
                <a:sym typeface="Times New Roman"/>
              </a:rPr>
              <a:t>y</a:t>
            </a:r>
            <a:r>
              <a:rPr b="0" baseline="-25000" i="1" lang="en-US" sz="1800" u="none" cap="none" strike="noStrike">
                <a:solidFill>
                  <a:srgbClr val="000000"/>
                </a:solidFill>
                <a:latin typeface="Times New Roman"/>
                <a:ea typeface="Times New Roman"/>
                <a:cs typeface="Times New Roman"/>
                <a:sym typeface="Times New Roman"/>
              </a:rPr>
              <a:t>0</a:t>
            </a:r>
            <a:r>
              <a:rPr b="0" i="1" lang="en-US" sz="1800" u="none" cap="none" strike="noStrike">
                <a:solidFill>
                  <a:srgbClr val="000000"/>
                </a:solidFill>
                <a:latin typeface="Times New Roman"/>
                <a:ea typeface="Times New Roman"/>
                <a:cs typeface="Times New Roman"/>
                <a:sym typeface="Times New Roman"/>
              </a:rPr>
              <a:t> =</a:t>
            </a:r>
            <a:r>
              <a:rPr b="0" i="0" lang="en-US" sz="1800" u="none" cap="none" strike="noStrike">
                <a:solidFill>
                  <a:srgbClr val="000000"/>
                </a:solidFill>
                <a:latin typeface="Times New Roman"/>
                <a:ea typeface="Times New Roman"/>
                <a:cs typeface="Times New Roman"/>
                <a:sym typeface="Times New Roman"/>
              </a:rPr>
              <a:t> </a:t>
            </a:r>
            <a:r>
              <a:rPr b="0" i="1" lang="en-US" sz="1800" u="none" cap="none" strike="noStrike">
                <a:solidFill>
                  <a:srgbClr val="000000"/>
                </a:solidFill>
                <a:latin typeface="Times New Roman"/>
                <a:ea typeface="Times New Roman"/>
                <a:cs typeface="Times New Roman"/>
                <a:sym typeface="Times New Roman"/>
              </a:rPr>
              <a:t>t</a:t>
            </a:r>
            <a:endParaRPr b="0" i="0" sz="1800" u="none" cap="none" strike="noStrike">
              <a:solidFill>
                <a:srgbClr val="000000"/>
              </a:solidFill>
              <a:latin typeface="Corbel"/>
              <a:ea typeface="Corbel"/>
              <a:cs typeface="Corbel"/>
              <a:sym typeface="Corbel"/>
            </a:endParaRPr>
          </a:p>
          <a:p>
            <a:pPr indent="-171450" lvl="0" marL="171450" marR="0" rtl="0" algn="l">
              <a:lnSpc>
                <a:spcPct val="100000"/>
              </a:lnSpc>
              <a:spcBef>
                <a:spcPts val="700"/>
              </a:spcBef>
              <a:spcAft>
                <a:spcPts val="0"/>
              </a:spcAft>
              <a:buClr>
                <a:srgbClr val="376092"/>
              </a:buClr>
              <a:buSzPts val="2600"/>
              <a:buFont typeface="Arial"/>
              <a:buChar char="•"/>
            </a:pPr>
            <a:r>
              <a:rPr b="0" i="0" lang="en-US" sz="2600" u="none">
                <a:solidFill>
                  <a:srgbClr val="000000"/>
                </a:solidFill>
                <a:latin typeface="Corbel"/>
                <a:ea typeface="Corbel"/>
                <a:cs typeface="Corbel"/>
                <a:sym typeface="Corbel"/>
              </a:rPr>
              <a:t>If </a:t>
            </a:r>
            <a:r>
              <a:rPr b="0" i="1" lang="en-US" sz="2600" u="none">
                <a:solidFill>
                  <a:srgbClr val="000000"/>
                </a:solidFill>
                <a:latin typeface="Times New Roman"/>
                <a:ea typeface="Times New Roman"/>
                <a:cs typeface="Times New Roman"/>
                <a:sym typeface="Times New Roman"/>
              </a:rPr>
              <a:t>z</a:t>
            </a:r>
            <a:r>
              <a:rPr b="0" baseline="-25000" i="0" lang="en-US" sz="2600" u="none">
                <a:solidFill>
                  <a:srgbClr val="000000"/>
                </a:solidFill>
                <a:latin typeface="Times New Roman"/>
                <a:ea typeface="Times New Roman"/>
                <a:cs typeface="Times New Roman"/>
                <a:sym typeface="Times New Roman"/>
              </a:rPr>
              <a:t>10</a:t>
            </a:r>
            <a:r>
              <a:rPr b="0" i="0" lang="en-US" sz="2600" u="none">
                <a:solidFill>
                  <a:srgbClr val="000000"/>
                </a:solidFill>
                <a:latin typeface="Times New Roman"/>
                <a:ea typeface="Times New Roman"/>
                <a:cs typeface="Times New Roman"/>
                <a:sym typeface="Times New Roman"/>
              </a:rPr>
              <a:t> = </a:t>
            </a:r>
            <a:r>
              <a:rPr b="0" i="1" lang="en-US" sz="2600" u="none">
                <a:solidFill>
                  <a:srgbClr val="000000"/>
                </a:solidFill>
                <a:latin typeface="Times New Roman"/>
                <a:ea typeface="Times New Roman"/>
                <a:cs typeface="Times New Roman"/>
                <a:sym typeface="Times New Roman"/>
              </a:rPr>
              <a:t>m</a:t>
            </a:r>
            <a:r>
              <a:rPr b="0" i="0" lang="en-US" sz="2600" u="none">
                <a:solidFill>
                  <a:srgbClr val="000000"/>
                </a:solidFill>
                <a:latin typeface="Corbel"/>
                <a:ea typeface="Corbel"/>
                <a:cs typeface="Corbel"/>
                <a:sym typeface="Corbel"/>
              </a:rPr>
              <a:t> then</a:t>
            </a:r>
            <a:endParaRPr/>
          </a:p>
          <a:p>
            <a:pPr indent="-457200" lvl="1" marL="514350" marR="0" rtl="0" algn="l">
              <a:lnSpc>
                <a:spcPct val="100000"/>
              </a:lnSpc>
              <a:spcBef>
                <a:spcPts val="300"/>
              </a:spcBef>
              <a:spcAft>
                <a:spcPts val="0"/>
              </a:spcAft>
              <a:buClr>
                <a:srgbClr val="376092"/>
              </a:buClr>
              <a:buSzPts val="1800"/>
              <a:buFont typeface="Arial"/>
              <a:buChar char="•"/>
            </a:pPr>
            <a:r>
              <a:rPr b="0" i="1" lang="en-US" sz="1800" u="none" cap="none" strike="noStrike">
                <a:solidFill>
                  <a:srgbClr val="000000"/>
                </a:solidFill>
                <a:latin typeface="Times New Roman"/>
                <a:ea typeface="Times New Roman"/>
                <a:cs typeface="Times New Roman"/>
                <a:sym typeface="Times New Roman"/>
              </a:rPr>
              <a:t>t = </a:t>
            </a:r>
            <a:r>
              <a:rPr b="0" i="0" lang="en-US" sz="1800" u="none" cap="none" strike="noStrike">
                <a:solidFill>
                  <a:srgbClr val="000000"/>
                </a:solidFill>
                <a:latin typeface="Times New Roman"/>
                <a:ea typeface="Times New Roman"/>
                <a:cs typeface="Times New Roman"/>
                <a:sym typeface="Times New Roman"/>
              </a:rPr>
              <a:t>z</a:t>
            </a:r>
            <a:r>
              <a:rPr b="0" baseline="-25000" i="0" lang="en-US" sz="1800" u="none" cap="none" strike="noStrike">
                <a:solidFill>
                  <a:srgbClr val="000000"/>
                </a:solidFill>
                <a:latin typeface="Times New Roman"/>
                <a:ea typeface="Times New Roman"/>
                <a:cs typeface="Times New Roman"/>
                <a:sym typeface="Times New Roman"/>
              </a:rPr>
              <a:t>7</a:t>
            </a:r>
            <a:r>
              <a:rPr b="0" i="0" lang="en-US" sz="1800" u="none" cap="none" strike="noStrike">
                <a:solidFill>
                  <a:srgbClr val="000000"/>
                </a:solidFill>
                <a:latin typeface="Times New Roman"/>
                <a:ea typeface="Times New Roman"/>
                <a:cs typeface="Times New Roman"/>
                <a:sym typeface="Times New Roman"/>
              </a:rPr>
              <a:t> ⊕ </a:t>
            </a:r>
            <a:r>
              <a:rPr b="0" i="1" lang="en-US" sz="1800" u="none" cap="none" strike="noStrike">
                <a:solidFill>
                  <a:srgbClr val="000000"/>
                </a:solidFill>
                <a:latin typeface="Times New Roman"/>
                <a:ea typeface="Times New Roman"/>
                <a:cs typeface="Times New Roman"/>
                <a:sym typeface="Times New Roman"/>
              </a:rPr>
              <a:t>z</a:t>
            </a:r>
            <a:r>
              <a:rPr b="0" baseline="-25000" i="0" lang="en-US" sz="1800" u="none" cap="none" strike="noStrike">
                <a:solidFill>
                  <a:srgbClr val="000000"/>
                </a:solidFill>
                <a:latin typeface="Times New Roman"/>
                <a:ea typeface="Times New Roman"/>
                <a:cs typeface="Times New Roman"/>
                <a:sym typeface="Times New Roman"/>
              </a:rPr>
              <a:t>20</a:t>
            </a:r>
            <a:r>
              <a:rPr b="0" i="0" lang="en-US" sz="1800" u="none" cap="none" strike="noStrike">
                <a:solidFill>
                  <a:srgbClr val="000000"/>
                </a:solidFill>
                <a:latin typeface="Times New Roman"/>
                <a:ea typeface="Times New Roman"/>
                <a:cs typeface="Times New Roman"/>
                <a:sym typeface="Times New Roman"/>
              </a:rPr>
              <a:t> ⊕ </a:t>
            </a:r>
            <a:r>
              <a:rPr b="0" i="1" lang="en-US" sz="1800" u="none" cap="none" strike="noStrike">
                <a:solidFill>
                  <a:srgbClr val="000000"/>
                </a:solidFill>
                <a:latin typeface="Times New Roman"/>
                <a:ea typeface="Times New Roman"/>
                <a:cs typeface="Times New Roman"/>
                <a:sym typeface="Times New Roman"/>
              </a:rPr>
              <a:t>z</a:t>
            </a:r>
            <a:r>
              <a:rPr b="0" baseline="-25000" i="0" lang="en-US" sz="1800" u="none" cap="none" strike="noStrike">
                <a:solidFill>
                  <a:srgbClr val="000000"/>
                </a:solidFill>
                <a:latin typeface="Times New Roman"/>
                <a:ea typeface="Times New Roman"/>
                <a:cs typeface="Times New Roman"/>
                <a:sym typeface="Times New Roman"/>
              </a:rPr>
              <a:t>21</a:t>
            </a:r>
            <a:r>
              <a:rPr b="0" i="0" lang="en-US" sz="1800" u="none" cap="none" strike="noStrike">
                <a:solidFill>
                  <a:srgbClr val="000000"/>
                </a:solidFill>
                <a:latin typeface="Times New Roman"/>
                <a:ea typeface="Times New Roman"/>
                <a:cs typeface="Times New Roman"/>
                <a:sym typeface="Times New Roman"/>
              </a:rPr>
              <a:t> ⊕ </a:t>
            </a:r>
            <a:r>
              <a:rPr b="0" i="1" lang="en-US" sz="1800" u="none" cap="none" strike="noStrike">
                <a:solidFill>
                  <a:srgbClr val="000000"/>
                </a:solidFill>
                <a:latin typeface="Times New Roman"/>
                <a:ea typeface="Times New Roman"/>
                <a:cs typeface="Times New Roman"/>
                <a:sym typeface="Times New Roman"/>
              </a:rPr>
              <a:t>z</a:t>
            </a:r>
            <a:r>
              <a:rPr b="0" baseline="-25000" i="0" lang="en-US" sz="1800" u="none" cap="none" strike="noStrike">
                <a:solidFill>
                  <a:srgbClr val="000000"/>
                </a:solidFill>
                <a:latin typeface="Times New Roman"/>
                <a:ea typeface="Times New Roman"/>
                <a:cs typeface="Times New Roman"/>
                <a:sym typeface="Times New Roman"/>
              </a:rPr>
              <a:t>22</a:t>
            </a:r>
            <a:endParaRPr/>
          </a:p>
          <a:p>
            <a:pPr indent="-457200" lvl="1" marL="514350" marR="0" rtl="0" algn="l">
              <a:lnSpc>
                <a:spcPct val="100000"/>
              </a:lnSpc>
              <a:spcBef>
                <a:spcPts val="300"/>
              </a:spcBef>
              <a:spcAft>
                <a:spcPts val="0"/>
              </a:spcAft>
              <a:buClr>
                <a:srgbClr val="376092"/>
              </a:buClr>
              <a:buSzPts val="1800"/>
              <a:buFont typeface="Arial"/>
              <a:buChar char="•"/>
            </a:pPr>
            <a:r>
              <a:rPr b="0" i="1" lang="en-US" sz="1800" u="none" cap="none" strike="noStrike">
                <a:solidFill>
                  <a:srgbClr val="000000"/>
                </a:solidFill>
                <a:latin typeface="Times New Roman"/>
                <a:ea typeface="Times New Roman"/>
                <a:cs typeface="Times New Roman"/>
                <a:sym typeface="Times New Roman"/>
              </a:rPr>
              <a:t>z</a:t>
            </a:r>
            <a:r>
              <a:rPr b="0" baseline="-25000" i="1" lang="en-US" sz="1800" u="none" cap="none" strike="noStrike">
                <a:solidFill>
                  <a:srgbClr val="000000"/>
                </a:solidFill>
                <a:latin typeface="Times New Roman"/>
                <a:ea typeface="Times New Roman"/>
                <a:cs typeface="Times New Roman"/>
                <a:sym typeface="Times New Roman"/>
              </a:rPr>
              <a:t>i</a:t>
            </a:r>
            <a:r>
              <a:rPr b="0" i="0" lang="en-US" sz="1800" u="none" cap="none" strike="noStrike">
                <a:solidFill>
                  <a:srgbClr val="000000"/>
                </a:solidFill>
                <a:latin typeface="Times New Roman"/>
                <a:ea typeface="Times New Roman"/>
                <a:cs typeface="Times New Roman"/>
                <a:sym typeface="Times New Roman"/>
              </a:rPr>
              <a:t> = </a:t>
            </a:r>
            <a:r>
              <a:rPr b="0" i="1" lang="en-US" sz="1800" u="none" cap="none" strike="noStrike">
                <a:solidFill>
                  <a:srgbClr val="000000"/>
                </a:solidFill>
                <a:latin typeface="Times New Roman"/>
                <a:ea typeface="Times New Roman"/>
                <a:cs typeface="Times New Roman"/>
                <a:sym typeface="Times New Roman"/>
              </a:rPr>
              <a:t>z</a:t>
            </a:r>
            <a:r>
              <a:rPr b="0" baseline="-25000" i="1" lang="en-US" sz="1800" u="none" cap="none" strike="noStrike">
                <a:solidFill>
                  <a:srgbClr val="000000"/>
                </a:solidFill>
                <a:latin typeface="Times New Roman"/>
                <a:ea typeface="Times New Roman"/>
                <a:cs typeface="Times New Roman"/>
                <a:sym typeface="Times New Roman"/>
              </a:rPr>
              <a:t>i−</a:t>
            </a:r>
            <a:r>
              <a:rPr b="0" baseline="-25000" i="0" lang="en-US" sz="1800" u="none" cap="none" strike="noStrike">
                <a:solidFill>
                  <a:srgbClr val="000000"/>
                </a:solidFill>
                <a:latin typeface="Times New Roman"/>
                <a:ea typeface="Times New Roman"/>
                <a:cs typeface="Times New Roman"/>
                <a:sym typeface="Times New Roman"/>
              </a:rPr>
              <a:t>1  </a:t>
            </a:r>
            <a:r>
              <a:rPr b="0" i="0" lang="en-US" sz="1800" u="none" cap="none" strike="noStrike">
                <a:solidFill>
                  <a:srgbClr val="000000"/>
                </a:solidFill>
                <a:latin typeface="Times New Roman"/>
                <a:ea typeface="Times New Roman"/>
                <a:cs typeface="Times New Roman"/>
                <a:sym typeface="Times New Roman"/>
              </a:rPr>
              <a:t>for  </a:t>
            </a:r>
            <a:r>
              <a:rPr b="0" i="1" lang="en-US" sz="1800" u="none" cap="none" strike="noStrike">
                <a:solidFill>
                  <a:srgbClr val="000000"/>
                </a:solidFill>
                <a:latin typeface="Times New Roman"/>
                <a:ea typeface="Times New Roman"/>
                <a:cs typeface="Times New Roman"/>
                <a:sym typeface="Times New Roman"/>
              </a:rPr>
              <a:t>i</a:t>
            </a:r>
            <a:r>
              <a:rPr b="0" i="0" lang="en-US" sz="1800" u="none" cap="none" strike="noStrike">
                <a:solidFill>
                  <a:srgbClr val="000000"/>
                </a:solidFill>
                <a:latin typeface="Times New Roman"/>
                <a:ea typeface="Times New Roman"/>
                <a:cs typeface="Times New Roman"/>
                <a:sym typeface="Times New Roman"/>
              </a:rPr>
              <a:t> =  22, 21, …, 1  and  </a:t>
            </a:r>
            <a:r>
              <a:rPr b="0" i="1" lang="en-US" sz="1800" u="none" cap="none" strike="noStrike">
                <a:solidFill>
                  <a:srgbClr val="000000"/>
                </a:solidFill>
                <a:latin typeface="Times New Roman"/>
                <a:ea typeface="Times New Roman"/>
                <a:cs typeface="Times New Roman"/>
                <a:sym typeface="Times New Roman"/>
              </a:rPr>
              <a:t>z</a:t>
            </a:r>
            <a:r>
              <a:rPr b="0" baseline="-25000" i="0" lang="en-US" sz="1800" u="none" cap="none" strike="noStrike">
                <a:solidFill>
                  <a:srgbClr val="000000"/>
                </a:solidFill>
                <a:latin typeface="Times New Roman"/>
                <a:ea typeface="Times New Roman"/>
                <a:cs typeface="Times New Roman"/>
                <a:sym typeface="Times New Roman"/>
              </a:rPr>
              <a:t>0</a:t>
            </a:r>
            <a:r>
              <a:rPr b="0" i="0" lang="en-US" sz="1800" u="none" cap="none" strike="noStrike">
                <a:solidFill>
                  <a:srgbClr val="000000"/>
                </a:solidFill>
                <a:latin typeface="Times New Roman"/>
                <a:ea typeface="Times New Roman"/>
                <a:cs typeface="Times New Roman"/>
                <a:sym typeface="Times New Roman"/>
              </a:rPr>
              <a:t> = </a:t>
            </a:r>
            <a:r>
              <a:rPr b="0" i="1" lang="en-US" sz="1800" u="none" cap="none" strike="noStrike">
                <a:solidFill>
                  <a:srgbClr val="000000"/>
                </a:solidFill>
                <a:latin typeface="Times New Roman"/>
                <a:ea typeface="Times New Roman"/>
                <a:cs typeface="Times New Roman"/>
                <a:sym typeface="Times New Roman"/>
              </a:rPr>
              <a:t>t</a:t>
            </a:r>
            <a:endParaRPr b="0" i="0" sz="1800" u="none" cap="none" strike="noStrike">
              <a:solidFill>
                <a:srgbClr val="000000"/>
              </a:solidFill>
              <a:latin typeface="Corbel"/>
              <a:ea typeface="Corbel"/>
              <a:cs typeface="Corbel"/>
              <a:sym typeface="Corbel"/>
            </a:endParaRPr>
          </a:p>
          <a:p>
            <a:pPr indent="-171450" lvl="0" marL="171450" marR="0" rtl="0" algn="l">
              <a:lnSpc>
                <a:spcPct val="80000"/>
              </a:lnSpc>
              <a:spcBef>
                <a:spcPts val="700"/>
              </a:spcBef>
              <a:spcAft>
                <a:spcPts val="0"/>
              </a:spcAft>
              <a:buClr>
                <a:schemeClr val="dk1"/>
              </a:buClr>
              <a:buSzPts val="2600"/>
              <a:buFont typeface="Arial"/>
              <a:buNone/>
            </a:pPr>
            <a:r>
              <a:t/>
            </a:r>
            <a:endParaRPr b="1" i="0" sz="2600" u="none">
              <a:solidFill>
                <a:srgbClr val="FF0000"/>
              </a:solidFill>
              <a:latin typeface="Corbel"/>
              <a:ea typeface="Corbel"/>
              <a:cs typeface="Corbel"/>
              <a:sym typeface="Corbel"/>
            </a:endParaRPr>
          </a:p>
          <a:p>
            <a:pPr indent="-171450" lvl="0" marL="171450" marR="0" rtl="0" algn="l">
              <a:lnSpc>
                <a:spcPct val="80000"/>
              </a:lnSpc>
              <a:spcBef>
                <a:spcPts val="700"/>
              </a:spcBef>
              <a:spcAft>
                <a:spcPts val="0"/>
              </a:spcAft>
              <a:buClr>
                <a:srgbClr val="FF0000"/>
              </a:buClr>
              <a:buSzPts val="2600"/>
              <a:buFont typeface="Arial"/>
              <a:buNone/>
            </a:pPr>
            <a:r>
              <a:rPr b="1" i="0" lang="en-US" sz="2600" u="none">
                <a:solidFill>
                  <a:srgbClr val="FF0000"/>
                </a:solidFill>
                <a:latin typeface="Corbel"/>
                <a:ea typeface="Corbel"/>
                <a:cs typeface="Corbel"/>
                <a:sym typeface="Corbel"/>
              </a:rPr>
              <a:t>Keystream bit is  </a:t>
            </a:r>
            <a:r>
              <a:rPr b="1" i="1" lang="en-US" sz="2600" u="none">
                <a:solidFill>
                  <a:srgbClr val="FF0000"/>
                </a:solidFill>
                <a:latin typeface="Times New Roman"/>
                <a:ea typeface="Times New Roman"/>
                <a:cs typeface="Times New Roman"/>
                <a:sym typeface="Times New Roman"/>
              </a:rPr>
              <a:t>x</a:t>
            </a:r>
            <a:r>
              <a:rPr b="1" baseline="-25000" i="0" lang="en-US" sz="2600" u="none">
                <a:solidFill>
                  <a:srgbClr val="FF0000"/>
                </a:solidFill>
                <a:latin typeface="Times New Roman"/>
                <a:ea typeface="Times New Roman"/>
                <a:cs typeface="Times New Roman"/>
                <a:sym typeface="Times New Roman"/>
              </a:rPr>
              <a:t>18</a:t>
            </a:r>
            <a:r>
              <a:rPr b="1" i="0" lang="en-US" sz="2600" u="none">
                <a:solidFill>
                  <a:srgbClr val="FF0000"/>
                </a:solidFill>
                <a:latin typeface="Times New Roman"/>
                <a:ea typeface="Times New Roman"/>
                <a:cs typeface="Times New Roman"/>
                <a:sym typeface="Times New Roman"/>
              </a:rPr>
              <a:t> ⊕ </a:t>
            </a:r>
            <a:r>
              <a:rPr b="1" i="1" lang="en-US" sz="2600" u="none">
                <a:solidFill>
                  <a:srgbClr val="FF0000"/>
                </a:solidFill>
                <a:latin typeface="Times New Roman"/>
                <a:ea typeface="Times New Roman"/>
                <a:cs typeface="Times New Roman"/>
                <a:sym typeface="Times New Roman"/>
              </a:rPr>
              <a:t>y</a:t>
            </a:r>
            <a:r>
              <a:rPr b="1" baseline="-25000" i="0" lang="en-US" sz="2600" u="none">
                <a:solidFill>
                  <a:srgbClr val="FF0000"/>
                </a:solidFill>
                <a:latin typeface="Times New Roman"/>
                <a:ea typeface="Times New Roman"/>
                <a:cs typeface="Times New Roman"/>
                <a:sym typeface="Times New Roman"/>
              </a:rPr>
              <a:t>21</a:t>
            </a:r>
            <a:r>
              <a:rPr b="1" i="0" lang="en-US" sz="2600" u="none">
                <a:solidFill>
                  <a:srgbClr val="FF0000"/>
                </a:solidFill>
                <a:latin typeface="Times New Roman"/>
                <a:ea typeface="Times New Roman"/>
                <a:cs typeface="Times New Roman"/>
                <a:sym typeface="Times New Roman"/>
              </a:rPr>
              <a:t> ⊕ </a:t>
            </a:r>
            <a:r>
              <a:rPr b="1" i="1" lang="en-US" sz="2600" u="none">
                <a:solidFill>
                  <a:srgbClr val="FF0000"/>
                </a:solidFill>
                <a:latin typeface="Times New Roman"/>
                <a:ea typeface="Times New Roman"/>
                <a:cs typeface="Times New Roman"/>
                <a:sym typeface="Times New Roman"/>
              </a:rPr>
              <a:t>z</a:t>
            </a:r>
            <a:r>
              <a:rPr b="1" baseline="-25000" i="0" lang="en-US" sz="2600" u="none">
                <a:solidFill>
                  <a:srgbClr val="FF0000"/>
                </a:solidFill>
                <a:latin typeface="Times New Roman"/>
                <a:ea typeface="Times New Roman"/>
                <a:cs typeface="Times New Roman"/>
                <a:sym typeface="Times New Roman"/>
              </a:rPr>
              <a:t>22</a:t>
            </a:r>
            <a:r>
              <a:rPr b="1" i="0" lang="en-US" sz="2600" u="none">
                <a:solidFill>
                  <a:srgbClr val="FF0000"/>
                </a:solidFill>
                <a:latin typeface="Times New Roman"/>
                <a:ea typeface="Times New Roman"/>
                <a:cs typeface="Times New Roman"/>
                <a:sym typeface="Times New Roman"/>
              </a:rPr>
              <a:t> </a:t>
            </a:r>
            <a:endParaRPr/>
          </a:p>
        </p:txBody>
      </p:sp>
      <p:sp>
        <p:nvSpPr>
          <p:cNvPr id="167" name="Google Shape;167;p1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sp>
        <p:nvSpPr>
          <p:cNvPr id="168" name="Google Shape;168;p1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785812" y="404812"/>
            <a:ext cx="7143750" cy="9525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A5/1</a:t>
            </a:r>
            <a:endParaRPr/>
          </a:p>
        </p:txBody>
      </p:sp>
      <p:sp>
        <p:nvSpPr>
          <p:cNvPr id="175" name="Google Shape;175;p13"/>
          <p:cNvSpPr txBox="1"/>
          <p:nvPr>
            <p:ph idx="1" type="body"/>
          </p:nvPr>
        </p:nvSpPr>
        <p:spPr>
          <a:xfrm>
            <a:off x="785812" y="5049837"/>
            <a:ext cx="7746900" cy="16431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80000"/>
              </a:lnSpc>
              <a:spcBef>
                <a:spcPts val="0"/>
              </a:spcBef>
              <a:spcAft>
                <a:spcPts val="0"/>
              </a:spcAft>
              <a:buClr>
                <a:srgbClr val="376092"/>
              </a:buClr>
              <a:buSzPts val="300"/>
              <a:buFont typeface="Arial"/>
              <a:buChar char="•"/>
            </a:pPr>
            <a:r>
              <a:rPr b="0" i="0" lang="en-US" sz="2000" u="none">
                <a:solidFill>
                  <a:schemeClr val="dk1"/>
                </a:solidFill>
                <a:latin typeface="Corbel"/>
                <a:ea typeface="Corbel"/>
                <a:cs typeface="Corbel"/>
                <a:sym typeface="Corbel"/>
              </a:rPr>
              <a:t>Each value is a single bit</a:t>
            </a:r>
            <a:endParaRPr/>
          </a:p>
          <a:p>
            <a:pPr indent="-171450" lvl="0" marL="171450" marR="0" rtl="0" algn="l">
              <a:lnSpc>
                <a:spcPct val="80000"/>
              </a:lnSpc>
              <a:spcBef>
                <a:spcPts val="300"/>
              </a:spcBef>
              <a:spcAft>
                <a:spcPts val="0"/>
              </a:spcAft>
              <a:buClr>
                <a:srgbClr val="376092"/>
              </a:buClr>
              <a:buSzPts val="300"/>
              <a:buFont typeface="Arial"/>
              <a:buChar char="•"/>
            </a:pPr>
            <a:r>
              <a:rPr b="0" i="0" lang="en-US" sz="2000" u="none">
                <a:solidFill>
                  <a:srgbClr val="FF0000"/>
                </a:solidFill>
                <a:latin typeface="Corbel"/>
                <a:ea typeface="Corbel"/>
                <a:cs typeface="Corbel"/>
                <a:sym typeface="Corbel"/>
              </a:rPr>
              <a:t>Key is used as </a:t>
            </a:r>
            <a:r>
              <a:rPr b="1" i="0" lang="en-US" sz="2000" u="none">
                <a:solidFill>
                  <a:srgbClr val="FF0000"/>
                </a:solidFill>
                <a:latin typeface="Corbel"/>
                <a:ea typeface="Corbel"/>
                <a:cs typeface="Corbel"/>
                <a:sym typeface="Corbel"/>
              </a:rPr>
              <a:t>initial fill</a:t>
            </a:r>
            <a:r>
              <a:rPr b="0" i="0" lang="en-US" sz="2000" u="none">
                <a:solidFill>
                  <a:srgbClr val="FF0000"/>
                </a:solidFill>
                <a:latin typeface="Corbel"/>
                <a:ea typeface="Corbel"/>
                <a:cs typeface="Corbel"/>
                <a:sym typeface="Corbel"/>
              </a:rPr>
              <a:t> of registers</a:t>
            </a:r>
            <a:endParaRPr/>
          </a:p>
          <a:p>
            <a:pPr indent="-171450" lvl="0" marL="171450" marR="0" rtl="0" algn="l">
              <a:lnSpc>
                <a:spcPct val="80000"/>
              </a:lnSpc>
              <a:spcBef>
                <a:spcPts val="300"/>
              </a:spcBef>
              <a:spcAft>
                <a:spcPts val="0"/>
              </a:spcAft>
              <a:buClr>
                <a:srgbClr val="376092"/>
              </a:buClr>
              <a:buSzPts val="300"/>
              <a:buFont typeface="Arial"/>
              <a:buChar char="•"/>
            </a:pPr>
            <a:r>
              <a:rPr b="0" i="0" lang="en-US" sz="2000" u="none">
                <a:solidFill>
                  <a:schemeClr val="dk1"/>
                </a:solidFill>
                <a:latin typeface="Corbel"/>
                <a:ea typeface="Corbel"/>
                <a:cs typeface="Corbel"/>
                <a:sym typeface="Corbel"/>
              </a:rPr>
              <a:t>Each register steps or not, based on </a:t>
            </a:r>
            <a:r>
              <a:rPr b="0" i="0" lang="en-US" sz="2000" u="none">
                <a:solidFill>
                  <a:schemeClr val="dk1"/>
                </a:solidFill>
                <a:latin typeface="Times New Roman"/>
                <a:ea typeface="Times New Roman"/>
                <a:cs typeface="Times New Roman"/>
                <a:sym typeface="Times New Roman"/>
              </a:rPr>
              <a:t>(</a:t>
            </a:r>
            <a:r>
              <a:rPr b="0" i="1" lang="en-US" sz="2000" u="none">
                <a:solidFill>
                  <a:schemeClr val="dk1"/>
                </a:solidFill>
                <a:latin typeface="Times New Roman"/>
                <a:ea typeface="Times New Roman"/>
                <a:cs typeface="Times New Roman"/>
                <a:sym typeface="Times New Roman"/>
              </a:rPr>
              <a:t>x</a:t>
            </a:r>
            <a:r>
              <a:rPr b="0" baseline="-25000" i="0" lang="en-US" sz="2000" u="none">
                <a:solidFill>
                  <a:schemeClr val="dk1"/>
                </a:solidFill>
                <a:latin typeface="Times New Roman"/>
                <a:ea typeface="Times New Roman"/>
                <a:cs typeface="Times New Roman"/>
                <a:sym typeface="Times New Roman"/>
              </a:rPr>
              <a:t>8</a:t>
            </a:r>
            <a:r>
              <a:rPr b="0" i="0" lang="en-US" sz="2000" u="none">
                <a:solidFill>
                  <a:schemeClr val="dk1"/>
                </a:solidFill>
                <a:latin typeface="Times New Roman"/>
                <a:ea typeface="Times New Roman"/>
                <a:cs typeface="Times New Roman"/>
                <a:sym typeface="Times New Roman"/>
              </a:rPr>
              <a:t>, </a:t>
            </a:r>
            <a:r>
              <a:rPr b="0" i="1" lang="en-US" sz="2000" u="none">
                <a:solidFill>
                  <a:schemeClr val="dk1"/>
                </a:solidFill>
                <a:latin typeface="Times New Roman"/>
                <a:ea typeface="Times New Roman"/>
                <a:cs typeface="Times New Roman"/>
                <a:sym typeface="Times New Roman"/>
              </a:rPr>
              <a:t>y</a:t>
            </a:r>
            <a:r>
              <a:rPr b="0" baseline="-25000" i="0" lang="en-US" sz="2000" u="none">
                <a:solidFill>
                  <a:schemeClr val="dk1"/>
                </a:solidFill>
                <a:latin typeface="Times New Roman"/>
                <a:ea typeface="Times New Roman"/>
                <a:cs typeface="Times New Roman"/>
                <a:sym typeface="Times New Roman"/>
              </a:rPr>
              <a:t>10</a:t>
            </a:r>
            <a:r>
              <a:rPr b="0" i="0" lang="en-US" sz="2000" u="none">
                <a:solidFill>
                  <a:schemeClr val="dk1"/>
                </a:solidFill>
                <a:latin typeface="Times New Roman"/>
                <a:ea typeface="Times New Roman"/>
                <a:cs typeface="Times New Roman"/>
                <a:sym typeface="Times New Roman"/>
              </a:rPr>
              <a:t>, </a:t>
            </a:r>
            <a:r>
              <a:rPr b="0" i="1" lang="en-US" sz="2000" u="none">
                <a:solidFill>
                  <a:schemeClr val="dk1"/>
                </a:solidFill>
                <a:latin typeface="Times New Roman"/>
                <a:ea typeface="Times New Roman"/>
                <a:cs typeface="Times New Roman"/>
                <a:sym typeface="Times New Roman"/>
              </a:rPr>
              <a:t>z</a:t>
            </a:r>
            <a:r>
              <a:rPr b="0" baseline="-25000" i="0" lang="en-US" sz="2000" u="none">
                <a:solidFill>
                  <a:schemeClr val="dk1"/>
                </a:solidFill>
                <a:latin typeface="Times New Roman"/>
                <a:ea typeface="Times New Roman"/>
                <a:cs typeface="Times New Roman"/>
                <a:sym typeface="Times New Roman"/>
              </a:rPr>
              <a:t>10</a:t>
            </a:r>
            <a:r>
              <a:rPr b="0" i="0" lang="en-US" sz="2000" u="none">
                <a:solidFill>
                  <a:schemeClr val="dk1"/>
                </a:solidFill>
                <a:latin typeface="Times New Roman"/>
                <a:ea typeface="Times New Roman"/>
                <a:cs typeface="Times New Roman"/>
                <a:sym typeface="Times New Roman"/>
              </a:rPr>
              <a:t>)</a:t>
            </a:r>
            <a:endParaRPr/>
          </a:p>
          <a:p>
            <a:pPr indent="-171450" lvl="0" marL="171450" marR="0" rtl="0" algn="l">
              <a:lnSpc>
                <a:spcPct val="80000"/>
              </a:lnSpc>
              <a:spcBef>
                <a:spcPts val="300"/>
              </a:spcBef>
              <a:spcAft>
                <a:spcPts val="0"/>
              </a:spcAft>
              <a:buClr>
                <a:srgbClr val="376092"/>
              </a:buClr>
              <a:buSzPts val="300"/>
              <a:buFont typeface="Arial"/>
              <a:buChar char="•"/>
            </a:pPr>
            <a:r>
              <a:rPr b="0" i="0" lang="en-US" sz="2000" u="none">
                <a:solidFill>
                  <a:schemeClr val="dk1"/>
                </a:solidFill>
                <a:latin typeface="Corbel"/>
                <a:ea typeface="Corbel"/>
                <a:cs typeface="Corbel"/>
                <a:sym typeface="Corbel"/>
              </a:rPr>
              <a:t>Keystream bit is XOR of right bits of registers</a:t>
            </a:r>
            <a:endParaRPr/>
          </a:p>
        </p:txBody>
      </p:sp>
      <p:sp>
        <p:nvSpPr>
          <p:cNvPr id="176" name="Google Shape;176;p1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a:p>
        </p:txBody>
      </p:sp>
      <p:graphicFrame>
        <p:nvGraphicFramePr>
          <p:cNvPr id="177" name="Google Shape;177;p13"/>
          <p:cNvGraphicFramePr/>
          <p:nvPr/>
        </p:nvGraphicFramePr>
        <p:xfrm>
          <a:off x="1130300" y="3013075"/>
          <a:ext cx="3000000" cy="3000000"/>
        </p:xfrm>
        <a:graphic>
          <a:graphicData uri="http://schemas.openxmlformats.org/drawingml/2006/table">
            <a:tbl>
              <a:tblPr>
                <a:noFill/>
                <a:tableStyleId>{544FB276-6C9D-4771-A9D3-37D8E1AA6F45}</a:tableStyleId>
              </a:tblPr>
              <a:tblGrid>
                <a:gridCol w="295275"/>
                <a:gridCol w="293675"/>
                <a:gridCol w="295275"/>
                <a:gridCol w="293675"/>
                <a:gridCol w="295275"/>
                <a:gridCol w="292100"/>
                <a:gridCol w="295275"/>
                <a:gridCol w="293675"/>
                <a:gridCol w="295275"/>
                <a:gridCol w="293675"/>
                <a:gridCol w="295275"/>
                <a:gridCol w="295275"/>
                <a:gridCol w="293675"/>
                <a:gridCol w="295275"/>
                <a:gridCol w="293675"/>
                <a:gridCol w="295275"/>
                <a:gridCol w="292100"/>
                <a:gridCol w="295275"/>
                <a:gridCol w="293675"/>
                <a:gridCol w="295275"/>
                <a:gridCol w="293675"/>
                <a:gridCol w="295275"/>
              </a:tblGrid>
              <a:tr h="304800">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0</a:t>
                      </a:r>
                      <a:endParaRPr/>
                    </a:p>
                  </a:txBody>
                  <a:tcPr marT="45725" marB="45725" marR="0" marL="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2</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3</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4</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5</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6</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7</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8</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9</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00"/>
                        </a:buClr>
                        <a:buSzPts val="1100"/>
                        <a:buFont typeface="Times New Roman"/>
                        <a:buNone/>
                      </a:pPr>
                      <a:r>
                        <a:rPr b="1" i="1" lang="en-US" sz="1100" u="none" cap="none" strike="noStrike">
                          <a:solidFill>
                            <a:srgbClr val="FF0000"/>
                          </a:solidFill>
                          <a:latin typeface="Times New Roman"/>
                          <a:ea typeface="Times New Roman"/>
                          <a:cs typeface="Times New Roman"/>
                          <a:sym typeface="Times New Roman"/>
                        </a:rPr>
                        <a:t>y</a:t>
                      </a:r>
                      <a:r>
                        <a:rPr b="1" baseline="-25000" i="1" lang="en-US" sz="1100" u="none" cap="none" strike="noStrike">
                          <a:solidFill>
                            <a:srgbClr val="FF0000"/>
                          </a:solidFill>
                          <a:latin typeface="Times New Roman"/>
                          <a:ea typeface="Times New Roman"/>
                          <a:cs typeface="Times New Roman"/>
                          <a:sym typeface="Times New Roman"/>
                        </a:rPr>
                        <a:t>10</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11</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12</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13</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14</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15</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16</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17</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18</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19</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20</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y</a:t>
                      </a:r>
                      <a:r>
                        <a:rPr b="0" baseline="-25000" i="1" lang="en-US" sz="1100" u="none" cap="none" strike="noStrike">
                          <a:solidFill>
                            <a:schemeClr val="dk1"/>
                          </a:solidFill>
                          <a:latin typeface="Times New Roman"/>
                          <a:ea typeface="Times New Roman"/>
                          <a:cs typeface="Times New Roman"/>
                          <a:sym typeface="Times New Roman"/>
                        </a:rPr>
                        <a:t>21</a:t>
                      </a:r>
                      <a:endParaRPr/>
                    </a:p>
                  </a:txBody>
                  <a:tcPr marT="45725" marB="45725" marR="0" marL="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78" name="Google Shape;178;p13"/>
          <p:cNvGraphicFramePr/>
          <p:nvPr/>
        </p:nvGraphicFramePr>
        <p:xfrm>
          <a:off x="1130300" y="4156075"/>
          <a:ext cx="3000000" cy="3000000"/>
        </p:xfrm>
        <a:graphic>
          <a:graphicData uri="http://schemas.openxmlformats.org/drawingml/2006/table">
            <a:tbl>
              <a:tblPr>
                <a:noFill/>
                <a:tableStyleId>{544FB276-6C9D-4771-A9D3-37D8E1AA6F45}</a:tableStyleId>
              </a:tblPr>
              <a:tblGrid>
                <a:gridCol w="292100"/>
                <a:gridCol w="290500"/>
                <a:gridCol w="292100"/>
                <a:gridCol w="292100"/>
                <a:gridCol w="292100"/>
                <a:gridCol w="290500"/>
                <a:gridCol w="292100"/>
                <a:gridCol w="292100"/>
                <a:gridCol w="290500"/>
                <a:gridCol w="292100"/>
                <a:gridCol w="292100"/>
                <a:gridCol w="288925"/>
                <a:gridCol w="292100"/>
                <a:gridCol w="292100"/>
                <a:gridCol w="290500"/>
                <a:gridCol w="292100"/>
                <a:gridCol w="292100"/>
                <a:gridCol w="292100"/>
                <a:gridCol w="290500"/>
                <a:gridCol w="292100"/>
                <a:gridCol w="292100"/>
                <a:gridCol w="290500"/>
                <a:gridCol w="292100"/>
              </a:tblGrid>
              <a:tr h="304800">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0</a:t>
                      </a:r>
                      <a:endParaRPr/>
                    </a:p>
                  </a:txBody>
                  <a:tcPr marT="45725" marB="45725" marR="0" marL="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2</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3</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4</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5</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6</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7</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8</a:t>
                      </a:r>
                      <a:r>
                        <a:rPr b="0" i="1" lang="en-US" sz="1100" u="none" cap="none" strike="noStrike">
                          <a:solidFill>
                            <a:schemeClr val="dk1"/>
                          </a:solidFill>
                          <a:latin typeface="Times New Roman"/>
                          <a:ea typeface="Times New Roman"/>
                          <a:cs typeface="Times New Roman"/>
                          <a:sym typeface="Times New Roman"/>
                        </a:rPr>
                        <a:t> </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9</a:t>
                      </a:r>
                      <a:r>
                        <a:rPr b="0" i="1" lang="en-US" sz="1100" u="none" cap="none" strike="noStrike">
                          <a:solidFill>
                            <a:schemeClr val="dk1"/>
                          </a:solidFill>
                          <a:latin typeface="Times New Roman"/>
                          <a:ea typeface="Times New Roman"/>
                          <a:cs typeface="Times New Roman"/>
                          <a:sym typeface="Times New Roman"/>
                        </a:rPr>
                        <a:t> </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00"/>
                        </a:buClr>
                        <a:buSzPts val="1100"/>
                        <a:buFont typeface="Times New Roman"/>
                        <a:buNone/>
                      </a:pPr>
                      <a:r>
                        <a:rPr b="1" i="1" lang="en-US" sz="1100" u="none" cap="none" strike="noStrike">
                          <a:solidFill>
                            <a:srgbClr val="FF0000"/>
                          </a:solidFill>
                          <a:latin typeface="Times New Roman"/>
                          <a:ea typeface="Times New Roman"/>
                          <a:cs typeface="Times New Roman"/>
                          <a:sym typeface="Times New Roman"/>
                        </a:rPr>
                        <a:t>z</a:t>
                      </a:r>
                      <a:r>
                        <a:rPr b="1" baseline="-25000" i="1" lang="en-US" sz="1100" u="none" cap="none" strike="noStrike">
                          <a:solidFill>
                            <a:srgbClr val="FF0000"/>
                          </a:solidFill>
                          <a:latin typeface="Times New Roman"/>
                          <a:ea typeface="Times New Roman"/>
                          <a:cs typeface="Times New Roman"/>
                          <a:sym typeface="Times New Roman"/>
                        </a:rPr>
                        <a:t>10</a:t>
                      </a:r>
                      <a:r>
                        <a:rPr b="0" i="1" lang="en-US" sz="1100" u="none" cap="none" strike="noStrike">
                          <a:solidFill>
                            <a:schemeClr val="dk1"/>
                          </a:solidFill>
                          <a:latin typeface="Times New Roman"/>
                          <a:ea typeface="Times New Roman"/>
                          <a:cs typeface="Times New Roman"/>
                          <a:sym typeface="Times New Roman"/>
                        </a:rPr>
                        <a:t> </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11</a:t>
                      </a:r>
                      <a:r>
                        <a:rPr b="0" i="1" lang="en-US" sz="1100" u="none" cap="none" strike="noStrike">
                          <a:solidFill>
                            <a:schemeClr val="dk1"/>
                          </a:solidFill>
                          <a:latin typeface="Times New Roman"/>
                          <a:ea typeface="Times New Roman"/>
                          <a:cs typeface="Times New Roman"/>
                          <a:sym typeface="Times New Roman"/>
                        </a:rPr>
                        <a:t> </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12</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13</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14</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15</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16</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17</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18</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19</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20</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21</a:t>
                      </a:r>
                      <a:endParaRPr/>
                    </a:p>
                  </a:txBody>
                  <a:tcPr marT="45725" marB="45725"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z</a:t>
                      </a:r>
                      <a:r>
                        <a:rPr b="0" baseline="-25000" i="1" lang="en-US" sz="1100" u="none" cap="none" strike="noStrike">
                          <a:solidFill>
                            <a:schemeClr val="dk1"/>
                          </a:solidFill>
                          <a:latin typeface="Times New Roman"/>
                          <a:ea typeface="Times New Roman"/>
                          <a:cs typeface="Times New Roman"/>
                          <a:sym typeface="Times New Roman"/>
                        </a:rPr>
                        <a:t>22</a:t>
                      </a:r>
                      <a:endParaRPr/>
                    </a:p>
                  </a:txBody>
                  <a:tcPr marT="45725" marB="45725" marR="0" marL="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79" name="Google Shape;179;p13"/>
          <p:cNvSpPr txBox="1"/>
          <p:nvPr/>
        </p:nvSpPr>
        <p:spPr>
          <a:xfrm>
            <a:off x="642937" y="1916112"/>
            <a:ext cx="4286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X</a:t>
            </a:r>
            <a:endParaRPr/>
          </a:p>
        </p:txBody>
      </p:sp>
      <p:sp>
        <p:nvSpPr>
          <p:cNvPr id="180" name="Google Shape;180;p13"/>
          <p:cNvSpPr txBox="1"/>
          <p:nvPr/>
        </p:nvSpPr>
        <p:spPr>
          <a:xfrm>
            <a:off x="642937" y="2924175"/>
            <a:ext cx="4286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Y</a:t>
            </a:r>
            <a:endParaRPr/>
          </a:p>
        </p:txBody>
      </p:sp>
      <p:sp>
        <p:nvSpPr>
          <p:cNvPr id="181" name="Google Shape;181;p13"/>
          <p:cNvSpPr txBox="1"/>
          <p:nvPr/>
        </p:nvSpPr>
        <p:spPr>
          <a:xfrm>
            <a:off x="684212" y="4075112"/>
            <a:ext cx="3698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Z</a:t>
            </a:r>
            <a:endParaRPr/>
          </a:p>
        </p:txBody>
      </p:sp>
      <p:sp>
        <p:nvSpPr>
          <p:cNvPr id="182" name="Google Shape;182;p13"/>
          <p:cNvSpPr txBox="1"/>
          <p:nvPr/>
        </p:nvSpPr>
        <p:spPr>
          <a:xfrm>
            <a:off x="6235700" y="2403475"/>
            <a:ext cx="3794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a:t>
            </a:r>
            <a:endParaRPr/>
          </a:p>
        </p:txBody>
      </p:sp>
      <p:sp>
        <p:nvSpPr>
          <p:cNvPr id="183" name="Google Shape;183;p13"/>
          <p:cNvSpPr txBox="1"/>
          <p:nvPr/>
        </p:nvSpPr>
        <p:spPr>
          <a:xfrm>
            <a:off x="6999287" y="3470275"/>
            <a:ext cx="3794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a:t>
            </a:r>
            <a:endParaRPr/>
          </a:p>
        </p:txBody>
      </p:sp>
      <p:sp>
        <p:nvSpPr>
          <p:cNvPr id="184" name="Google Shape;184;p13"/>
          <p:cNvSpPr txBox="1"/>
          <p:nvPr/>
        </p:nvSpPr>
        <p:spPr>
          <a:xfrm>
            <a:off x="8293100" y="2997200"/>
            <a:ext cx="3794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a:t>
            </a:r>
            <a:endParaRPr/>
          </a:p>
        </p:txBody>
      </p:sp>
      <p:sp>
        <p:nvSpPr>
          <p:cNvPr id="185" name="Google Shape;185;p13"/>
          <p:cNvSpPr txBox="1"/>
          <p:nvPr/>
        </p:nvSpPr>
        <p:spPr>
          <a:xfrm>
            <a:off x="6800850" y="3319462"/>
            <a:ext cx="184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graphicFrame>
        <p:nvGraphicFramePr>
          <p:cNvPr id="186" name="Google Shape;186;p13"/>
          <p:cNvGraphicFramePr/>
          <p:nvPr/>
        </p:nvGraphicFramePr>
        <p:xfrm>
          <a:off x="1130300" y="1971675"/>
          <a:ext cx="3000000" cy="3000000"/>
        </p:xfrm>
        <a:graphic>
          <a:graphicData uri="http://schemas.openxmlformats.org/drawingml/2006/table">
            <a:tbl>
              <a:tblPr>
                <a:noFill/>
                <a:tableStyleId>{544FB276-6C9D-4771-A9D3-37D8E1AA6F45}</a:tableStyleId>
              </a:tblPr>
              <a:tblGrid>
                <a:gridCol w="320675"/>
                <a:gridCol w="320675"/>
                <a:gridCol w="320675"/>
                <a:gridCol w="320675"/>
                <a:gridCol w="322250"/>
                <a:gridCol w="320675"/>
                <a:gridCol w="320675"/>
                <a:gridCol w="320675"/>
                <a:gridCol w="320675"/>
                <a:gridCol w="320675"/>
                <a:gridCol w="320675"/>
                <a:gridCol w="320675"/>
                <a:gridCol w="320675"/>
                <a:gridCol w="320675"/>
                <a:gridCol w="322250"/>
                <a:gridCol w="320675"/>
                <a:gridCol w="320675"/>
                <a:gridCol w="320675"/>
                <a:gridCol w="320675"/>
              </a:tblGrid>
              <a:tr h="279400">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2</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3</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4</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5</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6</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7</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00"/>
                        </a:buClr>
                        <a:buSzPts val="1100"/>
                        <a:buFont typeface="Times New Roman"/>
                        <a:buNone/>
                      </a:pPr>
                      <a:r>
                        <a:rPr b="1" i="1" lang="en-US" sz="1100" u="none" cap="none" strike="noStrike">
                          <a:solidFill>
                            <a:srgbClr val="FF0000"/>
                          </a:solidFill>
                          <a:latin typeface="Times New Roman"/>
                          <a:ea typeface="Times New Roman"/>
                          <a:cs typeface="Times New Roman"/>
                          <a:sym typeface="Times New Roman"/>
                        </a:rPr>
                        <a:t>x</a:t>
                      </a:r>
                      <a:r>
                        <a:rPr b="1" baseline="-25000" i="1" lang="en-US" sz="1100" u="none" cap="none" strike="noStrike">
                          <a:solidFill>
                            <a:srgbClr val="FF0000"/>
                          </a:solidFill>
                          <a:latin typeface="Times New Roman"/>
                          <a:ea typeface="Times New Roman"/>
                          <a:cs typeface="Times New Roman"/>
                          <a:sym typeface="Times New Roman"/>
                        </a:rPr>
                        <a:t>8</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9</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12</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13</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14</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15</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16</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17</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Times New Roman"/>
                        <a:buNone/>
                      </a:pPr>
                      <a:r>
                        <a:rPr b="0" i="1" lang="en-US" sz="1100" u="none" cap="none" strike="noStrike">
                          <a:solidFill>
                            <a:schemeClr val="dk1"/>
                          </a:solidFill>
                          <a:latin typeface="Times New Roman"/>
                          <a:ea typeface="Times New Roman"/>
                          <a:cs typeface="Times New Roman"/>
                          <a:sym typeface="Times New Roman"/>
                        </a:rPr>
                        <a:t>x</a:t>
                      </a:r>
                      <a:r>
                        <a:rPr b="0" baseline="-25000" i="1" lang="en-US" sz="1100" u="none" cap="none" strike="noStrike">
                          <a:solidFill>
                            <a:schemeClr val="dk1"/>
                          </a:solidFill>
                          <a:latin typeface="Times New Roman"/>
                          <a:ea typeface="Times New Roman"/>
                          <a:cs typeface="Times New Roman"/>
                          <a:sym typeface="Times New Roman"/>
                        </a:rPr>
                        <a:t>18</a:t>
                      </a:r>
                      <a:endParaRPr/>
                    </a:p>
                  </a:txBody>
                  <a:tcPr marT="0" marB="0" marR="0" marL="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187" name="Google Shape;187;p13"/>
          <p:cNvCxnSpPr/>
          <p:nvPr/>
        </p:nvCxnSpPr>
        <p:spPr>
          <a:xfrm>
            <a:off x="6388100" y="2251075"/>
            <a:ext cx="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188" name="Google Shape;188;p13"/>
          <p:cNvCxnSpPr/>
          <p:nvPr/>
        </p:nvCxnSpPr>
        <p:spPr>
          <a:xfrm flipH="1">
            <a:off x="6464300" y="2251075"/>
            <a:ext cx="3048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189" name="Google Shape;189;p13"/>
          <p:cNvCxnSpPr/>
          <p:nvPr/>
        </p:nvCxnSpPr>
        <p:spPr>
          <a:xfrm flipH="1">
            <a:off x="6540500" y="2251075"/>
            <a:ext cx="5334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190" name="Google Shape;190;p13"/>
          <p:cNvCxnSpPr/>
          <p:nvPr/>
        </p:nvCxnSpPr>
        <p:spPr>
          <a:xfrm>
            <a:off x="5397500" y="2251075"/>
            <a:ext cx="9144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191" name="Google Shape;191;p13"/>
          <p:cNvCxnSpPr/>
          <p:nvPr/>
        </p:nvCxnSpPr>
        <p:spPr>
          <a:xfrm rot="10800000">
            <a:off x="1282700" y="2555875"/>
            <a:ext cx="5029200" cy="0"/>
          </a:xfrm>
          <a:prstGeom prst="straightConnector1">
            <a:avLst/>
          </a:prstGeom>
          <a:noFill/>
          <a:ln cap="flat" cmpd="sng" w="9525">
            <a:solidFill>
              <a:schemeClr val="dk1"/>
            </a:solidFill>
            <a:prstDash val="solid"/>
            <a:miter lim="800000"/>
            <a:headEnd len="med" w="med" type="none"/>
            <a:tailEnd len="med" w="med" type="none"/>
          </a:ln>
        </p:spPr>
      </p:cxnSp>
      <p:cxnSp>
        <p:nvCxnSpPr>
          <p:cNvPr id="192" name="Google Shape;192;p13"/>
          <p:cNvCxnSpPr/>
          <p:nvPr/>
        </p:nvCxnSpPr>
        <p:spPr>
          <a:xfrm rot="10800000">
            <a:off x="1282700" y="2251075"/>
            <a:ext cx="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193" name="Google Shape;193;p13"/>
          <p:cNvCxnSpPr/>
          <p:nvPr/>
        </p:nvCxnSpPr>
        <p:spPr>
          <a:xfrm>
            <a:off x="7150100" y="3317875"/>
            <a:ext cx="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194" name="Google Shape;194;p13"/>
          <p:cNvCxnSpPr/>
          <p:nvPr/>
        </p:nvCxnSpPr>
        <p:spPr>
          <a:xfrm flipH="1">
            <a:off x="7226300" y="3317875"/>
            <a:ext cx="2286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195" name="Google Shape;195;p13"/>
          <p:cNvCxnSpPr/>
          <p:nvPr/>
        </p:nvCxnSpPr>
        <p:spPr>
          <a:xfrm rot="10800000">
            <a:off x="1282700" y="3622675"/>
            <a:ext cx="5791200" cy="0"/>
          </a:xfrm>
          <a:prstGeom prst="straightConnector1">
            <a:avLst/>
          </a:prstGeom>
          <a:noFill/>
          <a:ln cap="flat" cmpd="sng" w="9525">
            <a:solidFill>
              <a:schemeClr val="dk1"/>
            </a:solidFill>
            <a:prstDash val="solid"/>
            <a:miter lim="800000"/>
            <a:headEnd len="med" w="med" type="none"/>
            <a:tailEnd len="med" w="med" type="none"/>
          </a:ln>
        </p:spPr>
      </p:cxnSp>
      <p:cxnSp>
        <p:nvCxnSpPr>
          <p:cNvPr id="196" name="Google Shape;196;p13"/>
          <p:cNvCxnSpPr/>
          <p:nvPr/>
        </p:nvCxnSpPr>
        <p:spPr>
          <a:xfrm rot="10800000">
            <a:off x="1282700" y="3317875"/>
            <a:ext cx="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197" name="Google Shape;197;p13"/>
          <p:cNvCxnSpPr/>
          <p:nvPr/>
        </p:nvCxnSpPr>
        <p:spPr>
          <a:xfrm>
            <a:off x="7073900" y="4460875"/>
            <a:ext cx="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198" name="Google Shape;198;p13"/>
          <p:cNvCxnSpPr/>
          <p:nvPr/>
        </p:nvCxnSpPr>
        <p:spPr>
          <a:xfrm flipH="1">
            <a:off x="7150100" y="4460875"/>
            <a:ext cx="2286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199" name="Google Shape;199;p13"/>
          <p:cNvCxnSpPr/>
          <p:nvPr/>
        </p:nvCxnSpPr>
        <p:spPr>
          <a:xfrm flipH="1">
            <a:off x="7226300" y="4460875"/>
            <a:ext cx="4572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00" name="Google Shape;200;p13"/>
          <p:cNvCxnSpPr/>
          <p:nvPr/>
        </p:nvCxnSpPr>
        <p:spPr>
          <a:xfrm rot="10800000">
            <a:off x="1282700" y="4765675"/>
            <a:ext cx="5715000" cy="0"/>
          </a:xfrm>
          <a:prstGeom prst="straightConnector1">
            <a:avLst/>
          </a:prstGeom>
          <a:noFill/>
          <a:ln cap="flat" cmpd="sng" w="9525">
            <a:solidFill>
              <a:schemeClr val="dk1"/>
            </a:solidFill>
            <a:prstDash val="solid"/>
            <a:miter lim="800000"/>
            <a:headEnd len="med" w="med" type="none"/>
            <a:tailEnd len="med" w="med" type="none"/>
          </a:ln>
        </p:spPr>
      </p:cxnSp>
      <p:cxnSp>
        <p:nvCxnSpPr>
          <p:cNvPr id="201" name="Google Shape;201;p13"/>
          <p:cNvCxnSpPr/>
          <p:nvPr/>
        </p:nvCxnSpPr>
        <p:spPr>
          <a:xfrm rot="10800000">
            <a:off x="1282700" y="4460875"/>
            <a:ext cx="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02" name="Google Shape;202;p13"/>
          <p:cNvCxnSpPr/>
          <p:nvPr/>
        </p:nvCxnSpPr>
        <p:spPr>
          <a:xfrm>
            <a:off x="7607300" y="3165475"/>
            <a:ext cx="7620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203" name="Google Shape;203;p13"/>
          <p:cNvCxnSpPr/>
          <p:nvPr/>
        </p:nvCxnSpPr>
        <p:spPr>
          <a:xfrm>
            <a:off x="3340100" y="4613275"/>
            <a:ext cx="3657600" cy="76200"/>
          </a:xfrm>
          <a:prstGeom prst="straightConnector1">
            <a:avLst/>
          </a:prstGeom>
          <a:noFill/>
          <a:ln cap="flat" cmpd="sng" w="9525">
            <a:solidFill>
              <a:schemeClr val="dk1"/>
            </a:solidFill>
            <a:prstDash val="solid"/>
            <a:miter lim="800000"/>
            <a:headEnd len="med" w="med" type="none"/>
            <a:tailEnd len="med" w="med" type="triangle"/>
          </a:ln>
        </p:spPr>
      </p:cxnSp>
      <p:cxnSp>
        <p:nvCxnSpPr>
          <p:cNvPr id="204" name="Google Shape;204;p13"/>
          <p:cNvCxnSpPr/>
          <p:nvPr/>
        </p:nvCxnSpPr>
        <p:spPr>
          <a:xfrm flipH="1" rot="10800000">
            <a:off x="7835900" y="3241675"/>
            <a:ext cx="533400" cy="1066800"/>
          </a:xfrm>
          <a:prstGeom prst="straightConnector1">
            <a:avLst/>
          </a:prstGeom>
          <a:noFill/>
          <a:ln cap="flat" cmpd="sng" w="9525">
            <a:solidFill>
              <a:schemeClr val="dk1"/>
            </a:solidFill>
            <a:prstDash val="solid"/>
            <a:miter lim="800000"/>
            <a:headEnd len="med" w="med" type="none"/>
            <a:tailEnd len="med" w="med" type="triangle"/>
          </a:ln>
        </p:spPr>
      </p:cxnSp>
      <p:cxnSp>
        <p:nvCxnSpPr>
          <p:cNvPr id="205" name="Google Shape;205;p13"/>
          <p:cNvCxnSpPr/>
          <p:nvPr/>
        </p:nvCxnSpPr>
        <p:spPr>
          <a:xfrm>
            <a:off x="7226300" y="2098675"/>
            <a:ext cx="1143000" cy="990600"/>
          </a:xfrm>
          <a:prstGeom prst="straightConnector1">
            <a:avLst/>
          </a:prstGeom>
          <a:noFill/>
          <a:ln cap="flat" cmpd="sng" w="9525">
            <a:solidFill>
              <a:schemeClr val="dk1"/>
            </a:solidFill>
            <a:prstDash val="solid"/>
            <a:miter lim="800000"/>
            <a:headEnd len="med" w="med" type="none"/>
            <a:tailEnd len="med" w="med" type="triangle"/>
          </a:ln>
        </p:spPr>
      </p:cxnSp>
      <p:cxnSp>
        <p:nvCxnSpPr>
          <p:cNvPr id="206" name="Google Shape;206;p13"/>
          <p:cNvCxnSpPr/>
          <p:nvPr/>
        </p:nvCxnSpPr>
        <p:spPr>
          <a:xfrm>
            <a:off x="8597900" y="3165475"/>
            <a:ext cx="3810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207" name="Google Shape;207;p13"/>
          <p:cNvCxnSpPr/>
          <p:nvPr/>
        </p:nvCxnSpPr>
        <p:spPr>
          <a:xfrm>
            <a:off x="3340100" y="4460875"/>
            <a:ext cx="0" cy="152400"/>
          </a:xfrm>
          <a:prstGeom prst="straightConnector1">
            <a:avLst/>
          </a:prstGeom>
          <a:noFill/>
          <a:ln cap="flat" cmpd="sng" w="9525">
            <a:solidFill>
              <a:schemeClr val="dk1"/>
            </a:solidFill>
            <a:prstDash val="solid"/>
            <a:miter lim="800000"/>
            <a:headEnd len="med" w="med" type="none"/>
            <a:tailEnd len="med" w="med" type="none"/>
          </a:ln>
        </p:spPr>
      </p:cxnSp>
      <p:sp>
        <p:nvSpPr>
          <p:cNvPr id="208" name="Google Shape;208;p13"/>
          <p:cNvSpPr txBox="1"/>
          <p:nvPr/>
        </p:nvSpPr>
        <p:spPr>
          <a:xfrm>
            <a:off x="6921500" y="4613275"/>
            <a:ext cx="379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a:t>
            </a:r>
            <a:endParaRPr/>
          </a:p>
        </p:txBody>
      </p:sp>
      <p:sp>
        <p:nvSpPr>
          <p:cNvPr id="209" name="Google Shape;209;p1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ph type="title"/>
          </p:nvPr>
        </p:nvSpPr>
        <p:spPr>
          <a:xfrm>
            <a:off x="785812" y="404812"/>
            <a:ext cx="7143750" cy="9525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A5/1</a:t>
            </a:r>
            <a:endParaRPr/>
          </a:p>
        </p:txBody>
      </p:sp>
      <p:sp>
        <p:nvSpPr>
          <p:cNvPr id="216" name="Google Shape;216;p14"/>
          <p:cNvSpPr txBox="1"/>
          <p:nvPr>
            <p:ph idx="1" type="body"/>
          </p:nvPr>
        </p:nvSpPr>
        <p:spPr>
          <a:xfrm>
            <a:off x="1071562" y="4878387"/>
            <a:ext cx="7670700" cy="1562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In this example, </a:t>
            </a:r>
            <a:r>
              <a:rPr b="0" i="1" lang="en-US" sz="2400" u="none">
                <a:solidFill>
                  <a:schemeClr val="dk1"/>
                </a:solidFill>
                <a:latin typeface="Times New Roman"/>
                <a:ea typeface="Times New Roman"/>
                <a:cs typeface="Times New Roman"/>
                <a:sym typeface="Times New Roman"/>
              </a:rPr>
              <a:t>m</a:t>
            </a:r>
            <a:r>
              <a:rPr b="0" i="0" lang="en-US" sz="2400" u="none">
                <a:solidFill>
                  <a:schemeClr val="dk1"/>
                </a:solidFill>
                <a:latin typeface="Times New Roman"/>
                <a:ea typeface="Times New Roman"/>
                <a:cs typeface="Times New Roman"/>
                <a:sym typeface="Times New Roman"/>
              </a:rPr>
              <a:t> = maj(</a:t>
            </a:r>
            <a:r>
              <a:rPr b="0" i="1" lang="en-US" sz="2400" u="none">
                <a:solidFill>
                  <a:schemeClr val="dk1"/>
                </a:solidFill>
                <a:latin typeface="Times New Roman"/>
                <a:ea typeface="Times New Roman"/>
                <a:cs typeface="Times New Roman"/>
                <a:sym typeface="Times New Roman"/>
              </a:rPr>
              <a:t>x</a:t>
            </a:r>
            <a:r>
              <a:rPr b="0" baseline="-25000" i="0" lang="en-US" sz="2400" u="none">
                <a:solidFill>
                  <a:schemeClr val="dk1"/>
                </a:solidFill>
                <a:latin typeface="Times New Roman"/>
                <a:ea typeface="Times New Roman"/>
                <a:cs typeface="Times New Roman"/>
                <a:sym typeface="Times New Roman"/>
              </a:rPr>
              <a:t>8</a:t>
            </a:r>
            <a:r>
              <a:rPr b="0" i="0" lang="en-US" sz="2400" u="none">
                <a:solidFill>
                  <a:schemeClr val="dk1"/>
                </a:solidFill>
                <a:latin typeface="Times New Roman"/>
                <a:ea typeface="Times New Roman"/>
                <a:cs typeface="Times New Roman"/>
                <a:sym typeface="Times New Roman"/>
              </a:rPr>
              <a:t>, </a:t>
            </a:r>
            <a:r>
              <a:rPr b="0" i="1" lang="en-US" sz="2400" u="none">
                <a:solidFill>
                  <a:schemeClr val="dk1"/>
                </a:solidFill>
                <a:latin typeface="Times New Roman"/>
                <a:ea typeface="Times New Roman"/>
                <a:cs typeface="Times New Roman"/>
                <a:sym typeface="Times New Roman"/>
              </a:rPr>
              <a:t>y</a:t>
            </a:r>
            <a:r>
              <a:rPr b="0" baseline="-25000" i="0" lang="en-US" sz="2400" u="none">
                <a:solidFill>
                  <a:schemeClr val="dk1"/>
                </a:solidFill>
                <a:latin typeface="Times New Roman"/>
                <a:ea typeface="Times New Roman"/>
                <a:cs typeface="Times New Roman"/>
                <a:sym typeface="Times New Roman"/>
              </a:rPr>
              <a:t>10</a:t>
            </a:r>
            <a:r>
              <a:rPr b="0" i="0" lang="en-US" sz="2400" u="none">
                <a:solidFill>
                  <a:schemeClr val="dk1"/>
                </a:solidFill>
                <a:latin typeface="Times New Roman"/>
                <a:ea typeface="Times New Roman"/>
                <a:cs typeface="Times New Roman"/>
                <a:sym typeface="Times New Roman"/>
              </a:rPr>
              <a:t>, </a:t>
            </a:r>
            <a:r>
              <a:rPr b="0" i="1" lang="en-US" sz="2400" u="none">
                <a:solidFill>
                  <a:schemeClr val="dk1"/>
                </a:solidFill>
                <a:latin typeface="Times New Roman"/>
                <a:ea typeface="Times New Roman"/>
                <a:cs typeface="Times New Roman"/>
                <a:sym typeface="Times New Roman"/>
              </a:rPr>
              <a:t>z</a:t>
            </a:r>
            <a:r>
              <a:rPr b="0" baseline="-25000" i="0" lang="en-US" sz="2400" u="none">
                <a:solidFill>
                  <a:schemeClr val="dk1"/>
                </a:solidFill>
                <a:latin typeface="Times New Roman"/>
                <a:ea typeface="Times New Roman"/>
                <a:cs typeface="Times New Roman"/>
                <a:sym typeface="Times New Roman"/>
              </a:rPr>
              <a:t>10</a:t>
            </a:r>
            <a:r>
              <a:rPr b="0" i="0" lang="en-US" sz="2400" u="none">
                <a:solidFill>
                  <a:schemeClr val="dk1"/>
                </a:solidFill>
                <a:latin typeface="Times New Roman"/>
                <a:ea typeface="Times New Roman"/>
                <a:cs typeface="Times New Roman"/>
                <a:sym typeface="Times New Roman"/>
              </a:rPr>
              <a:t>)</a:t>
            </a:r>
            <a:r>
              <a:rPr b="0" i="0" lang="en-US" sz="2400" u="none">
                <a:solidFill>
                  <a:schemeClr val="dk1"/>
                </a:solidFill>
                <a:latin typeface="Corbel"/>
                <a:ea typeface="Corbel"/>
                <a:cs typeface="Corbel"/>
                <a:sym typeface="Corbel"/>
              </a:rPr>
              <a:t> </a:t>
            </a:r>
            <a:r>
              <a:rPr b="0" i="0" lang="en-US" sz="2400" u="none">
                <a:solidFill>
                  <a:schemeClr val="dk1"/>
                </a:solidFill>
                <a:latin typeface="Times New Roman"/>
                <a:ea typeface="Times New Roman"/>
                <a:cs typeface="Times New Roman"/>
                <a:sym typeface="Times New Roman"/>
              </a:rPr>
              <a:t>= maj(</a:t>
            </a:r>
            <a:r>
              <a:rPr b="1" i="0" lang="en-US" sz="2400" u="none">
                <a:solidFill>
                  <a:srgbClr val="FF0000"/>
                </a:solidFill>
                <a:latin typeface="Times New Roman"/>
                <a:ea typeface="Times New Roman"/>
                <a:cs typeface="Times New Roman"/>
                <a:sym typeface="Times New Roman"/>
              </a:rPr>
              <a:t>1</a:t>
            </a:r>
            <a:r>
              <a:rPr b="0" i="0" lang="en-US" sz="2400" u="none">
                <a:solidFill>
                  <a:schemeClr val="dk1"/>
                </a:solidFill>
                <a:latin typeface="Times New Roman"/>
                <a:ea typeface="Times New Roman"/>
                <a:cs typeface="Times New Roman"/>
                <a:sym typeface="Times New Roman"/>
              </a:rPr>
              <a:t>,</a:t>
            </a:r>
            <a:r>
              <a:rPr b="1" i="0" lang="en-US" sz="2400" u="none">
                <a:solidFill>
                  <a:srgbClr val="FF0000"/>
                </a:solidFill>
                <a:latin typeface="Times New Roman"/>
                <a:ea typeface="Times New Roman"/>
                <a:cs typeface="Times New Roman"/>
                <a:sym typeface="Times New Roman"/>
              </a:rPr>
              <a:t>0</a:t>
            </a:r>
            <a:r>
              <a:rPr b="0" i="0" lang="en-US" sz="2400" u="none">
                <a:solidFill>
                  <a:schemeClr val="dk1"/>
                </a:solidFill>
                <a:latin typeface="Times New Roman"/>
                <a:ea typeface="Times New Roman"/>
                <a:cs typeface="Times New Roman"/>
                <a:sym typeface="Times New Roman"/>
              </a:rPr>
              <a:t>,</a:t>
            </a:r>
            <a:r>
              <a:rPr b="1" i="0" lang="en-US" sz="2400" u="none">
                <a:solidFill>
                  <a:srgbClr val="FF0000"/>
                </a:solidFill>
                <a:latin typeface="Times New Roman"/>
                <a:ea typeface="Times New Roman"/>
                <a:cs typeface="Times New Roman"/>
                <a:sym typeface="Times New Roman"/>
              </a:rPr>
              <a:t>1</a:t>
            </a:r>
            <a:r>
              <a:rPr b="0" i="0" lang="en-US" sz="2400" u="none">
                <a:solidFill>
                  <a:schemeClr val="dk1"/>
                </a:solidFill>
                <a:latin typeface="Times New Roman"/>
                <a:ea typeface="Times New Roman"/>
                <a:cs typeface="Times New Roman"/>
                <a:sym typeface="Times New Roman"/>
              </a:rPr>
              <a:t>) = </a:t>
            </a:r>
            <a:r>
              <a:rPr b="1" i="0" lang="en-US" sz="2400" u="none">
                <a:solidFill>
                  <a:srgbClr val="0909B3"/>
                </a:solidFill>
                <a:latin typeface="Times New Roman"/>
                <a:ea typeface="Times New Roman"/>
                <a:cs typeface="Times New Roman"/>
                <a:sym typeface="Times New Roman"/>
              </a:rPr>
              <a:t>1</a:t>
            </a:r>
            <a:r>
              <a:rPr b="0" i="0" lang="en-US" sz="2400" u="none">
                <a:solidFill>
                  <a:schemeClr val="dk1"/>
                </a:solidFill>
                <a:latin typeface="Corbel"/>
                <a:ea typeface="Corbel"/>
                <a:cs typeface="Corbel"/>
                <a:sym typeface="Corbel"/>
              </a:rPr>
              <a:t> </a:t>
            </a:r>
            <a:endParaRPr/>
          </a:p>
          <a:p>
            <a:pPr indent="-342900" lvl="0" marL="342900" marR="0" rtl="0" algn="l">
              <a:lnSpc>
                <a:spcPct val="8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Register </a:t>
            </a:r>
            <a:r>
              <a:rPr b="0" i="0" lang="en-US" sz="2400" u="none">
                <a:solidFill>
                  <a:schemeClr val="dk1"/>
                </a:solidFill>
                <a:latin typeface="Times"/>
                <a:ea typeface="Times"/>
                <a:cs typeface="Times"/>
                <a:sym typeface="Times"/>
              </a:rPr>
              <a:t>X</a:t>
            </a:r>
            <a:r>
              <a:rPr b="0" i="0" lang="en-US" sz="2400" u="none">
                <a:solidFill>
                  <a:schemeClr val="dk1"/>
                </a:solidFill>
                <a:latin typeface="Corbel"/>
                <a:ea typeface="Corbel"/>
                <a:cs typeface="Corbel"/>
                <a:sym typeface="Corbel"/>
              </a:rPr>
              <a:t> steps, </a:t>
            </a:r>
            <a:r>
              <a:rPr b="0" i="0" lang="en-US" sz="2400" u="none">
                <a:solidFill>
                  <a:schemeClr val="dk1"/>
                </a:solidFill>
                <a:latin typeface="Times"/>
                <a:ea typeface="Times"/>
                <a:cs typeface="Times"/>
                <a:sym typeface="Times"/>
              </a:rPr>
              <a:t>Y</a:t>
            </a:r>
            <a:r>
              <a:rPr b="0" i="0" lang="en-US" sz="2400" u="none">
                <a:solidFill>
                  <a:schemeClr val="dk1"/>
                </a:solidFill>
                <a:latin typeface="Corbel"/>
                <a:ea typeface="Corbel"/>
                <a:cs typeface="Corbel"/>
                <a:sym typeface="Corbel"/>
              </a:rPr>
              <a:t> does not step, and </a:t>
            </a:r>
            <a:r>
              <a:rPr b="0" i="0" lang="en-US" sz="2400" u="none">
                <a:solidFill>
                  <a:schemeClr val="dk1"/>
                </a:solidFill>
                <a:latin typeface="Times"/>
                <a:ea typeface="Times"/>
                <a:cs typeface="Times"/>
                <a:sym typeface="Times"/>
              </a:rPr>
              <a:t>Z</a:t>
            </a:r>
            <a:r>
              <a:rPr b="0" i="0" lang="en-US" sz="2400" u="none">
                <a:solidFill>
                  <a:schemeClr val="dk1"/>
                </a:solidFill>
                <a:latin typeface="Corbel"/>
                <a:ea typeface="Corbel"/>
                <a:cs typeface="Corbel"/>
                <a:sym typeface="Corbel"/>
              </a:rPr>
              <a:t> steps</a:t>
            </a:r>
            <a:endParaRPr/>
          </a:p>
          <a:p>
            <a:pPr indent="-342900" lvl="0" marL="342900" marR="0" rtl="0" algn="l">
              <a:lnSpc>
                <a:spcPct val="8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Keystream bit is XOR of right bits of registers</a:t>
            </a:r>
            <a:endParaRPr/>
          </a:p>
          <a:p>
            <a:pPr indent="-342900" lvl="0" marL="342900" marR="0" rtl="0" algn="l">
              <a:lnSpc>
                <a:spcPct val="8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Here, keystream bit will be </a:t>
            </a:r>
            <a:r>
              <a:rPr b="0" i="0" lang="en-US" sz="2400" u="none">
                <a:solidFill>
                  <a:schemeClr val="dk1"/>
                </a:solidFill>
                <a:latin typeface="Times"/>
                <a:ea typeface="Times"/>
                <a:cs typeface="Times"/>
                <a:sym typeface="Times"/>
              </a:rPr>
              <a:t>0 ⊕ 1 ⊕ 0 = 1</a:t>
            </a:r>
            <a:endParaRPr/>
          </a:p>
        </p:txBody>
      </p:sp>
      <p:sp>
        <p:nvSpPr>
          <p:cNvPr id="217" name="Google Shape;217;p1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aphicFrame>
        <p:nvGraphicFramePr>
          <p:cNvPr id="218" name="Google Shape;218;p14"/>
          <p:cNvGraphicFramePr/>
          <p:nvPr/>
        </p:nvGraphicFramePr>
        <p:xfrm>
          <a:off x="1130300" y="2755900"/>
          <a:ext cx="3000000" cy="3000000"/>
        </p:xfrm>
        <a:graphic>
          <a:graphicData uri="http://schemas.openxmlformats.org/drawingml/2006/table">
            <a:tbl>
              <a:tblPr>
                <a:noFill/>
                <a:tableStyleId>{544FB276-6C9D-4771-A9D3-37D8E1AA6F45}</a:tableStyleId>
              </a:tblPr>
              <a:tblGrid>
                <a:gridCol w="295275"/>
                <a:gridCol w="293675"/>
                <a:gridCol w="295275"/>
                <a:gridCol w="293675"/>
                <a:gridCol w="295275"/>
                <a:gridCol w="292100"/>
                <a:gridCol w="295275"/>
                <a:gridCol w="293675"/>
                <a:gridCol w="295275"/>
                <a:gridCol w="293675"/>
                <a:gridCol w="295275"/>
                <a:gridCol w="295275"/>
                <a:gridCol w="293675"/>
                <a:gridCol w="295275"/>
                <a:gridCol w="293675"/>
                <a:gridCol w="295275"/>
                <a:gridCol w="292100"/>
                <a:gridCol w="295275"/>
                <a:gridCol w="293675"/>
                <a:gridCol w="295275"/>
                <a:gridCol w="293675"/>
                <a:gridCol w="295275"/>
              </a:tblGrid>
              <a:tr h="304800">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00"/>
                        </a:buClr>
                        <a:buSzPts val="1700"/>
                        <a:buFont typeface="Times New Roman"/>
                        <a:buNone/>
                      </a:pPr>
                      <a:r>
                        <a:rPr b="1" i="0" lang="en-US" sz="1700" u="none" cap="none" strike="noStrike">
                          <a:solidFill>
                            <a:srgbClr val="FF0000"/>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19" name="Google Shape;219;p14"/>
          <p:cNvGraphicFramePr/>
          <p:nvPr/>
        </p:nvGraphicFramePr>
        <p:xfrm>
          <a:off x="1130300" y="3898900"/>
          <a:ext cx="3000000" cy="3000000"/>
        </p:xfrm>
        <a:graphic>
          <a:graphicData uri="http://schemas.openxmlformats.org/drawingml/2006/table">
            <a:tbl>
              <a:tblPr>
                <a:noFill/>
                <a:tableStyleId>{544FB276-6C9D-4771-A9D3-37D8E1AA6F45}</a:tableStyleId>
              </a:tblPr>
              <a:tblGrid>
                <a:gridCol w="292100"/>
                <a:gridCol w="290500"/>
                <a:gridCol w="292100"/>
                <a:gridCol w="292100"/>
                <a:gridCol w="292100"/>
                <a:gridCol w="290500"/>
                <a:gridCol w="292100"/>
                <a:gridCol w="292100"/>
                <a:gridCol w="290500"/>
                <a:gridCol w="292100"/>
                <a:gridCol w="292100"/>
                <a:gridCol w="288925"/>
                <a:gridCol w="292100"/>
                <a:gridCol w="292100"/>
                <a:gridCol w="290500"/>
                <a:gridCol w="292100"/>
                <a:gridCol w="292100"/>
                <a:gridCol w="292100"/>
                <a:gridCol w="290500"/>
                <a:gridCol w="292100"/>
                <a:gridCol w="292100"/>
                <a:gridCol w="290500"/>
                <a:gridCol w="292100"/>
              </a:tblGrid>
              <a:tr h="304800">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00"/>
                        </a:buClr>
                        <a:buSzPts val="1700"/>
                        <a:buFont typeface="Times New Roman"/>
                        <a:buNone/>
                      </a:pPr>
                      <a:r>
                        <a:rPr b="1" i="0" lang="en-US" sz="1700" u="none" cap="none" strike="noStrike">
                          <a:solidFill>
                            <a:srgbClr val="FF0000"/>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20" name="Google Shape;220;p14"/>
          <p:cNvSpPr txBox="1"/>
          <p:nvPr/>
        </p:nvSpPr>
        <p:spPr>
          <a:xfrm>
            <a:off x="642937" y="1673225"/>
            <a:ext cx="4587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X</a:t>
            </a:r>
            <a:endParaRPr/>
          </a:p>
        </p:txBody>
      </p:sp>
      <p:sp>
        <p:nvSpPr>
          <p:cNvPr id="221" name="Google Shape;221;p14"/>
          <p:cNvSpPr txBox="1"/>
          <p:nvPr/>
        </p:nvSpPr>
        <p:spPr>
          <a:xfrm>
            <a:off x="642937" y="2667000"/>
            <a:ext cx="4286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Y</a:t>
            </a:r>
            <a:endParaRPr/>
          </a:p>
        </p:txBody>
      </p:sp>
      <p:sp>
        <p:nvSpPr>
          <p:cNvPr id="222" name="Google Shape;222;p14"/>
          <p:cNvSpPr txBox="1"/>
          <p:nvPr/>
        </p:nvSpPr>
        <p:spPr>
          <a:xfrm>
            <a:off x="684212" y="3817937"/>
            <a:ext cx="3698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Z</a:t>
            </a:r>
            <a:endParaRPr/>
          </a:p>
        </p:txBody>
      </p:sp>
      <p:sp>
        <p:nvSpPr>
          <p:cNvPr id="223" name="Google Shape;223;p14"/>
          <p:cNvSpPr txBox="1"/>
          <p:nvPr/>
        </p:nvSpPr>
        <p:spPr>
          <a:xfrm>
            <a:off x="6235700" y="2146300"/>
            <a:ext cx="3794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a:t>
            </a:r>
            <a:endParaRPr/>
          </a:p>
        </p:txBody>
      </p:sp>
      <p:sp>
        <p:nvSpPr>
          <p:cNvPr id="224" name="Google Shape;224;p14"/>
          <p:cNvSpPr txBox="1"/>
          <p:nvPr/>
        </p:nvSpPr>
        <p:spPr>
          <a:xfrm>
            <a:off x="6999287" y="3213100"/>
            <a:ext cx="3794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a:t>
            </a:r>
            <a:endParaRPr/>
          </a:p>
        </p:txBody>
      </p:sp>
      <p:sp>
        <p:nvSpPr>
          <p:cNvPr id="225" name="Google Shape;225;p14"/>
          <p:cNvSpPr txBox="1"/>
          <p:nvPr/>
        </p:nvSpPr>
        <p:spPr>
          <a:xfrm>
            <a:off x="8256587" y="2695575"/>
            <a:ext cx="4175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t>
            </a:r>
            <a:endParaRPr/>
          </a:p>
        </p:txBody>
      </p:sp>
      <p:sp>
        <p:nvSpPr>
          <p:cNvPr id="226" name="Google Shape;226;p14"/>
          <p:cNvSpPr txBox="1"/>
          <p:nvPr/>
        </p:nvSpPr>
        <p:spPr>
          <a:xfrm>
            <a:off x="6800850" y="3062287"/>
            <a:ext cx="184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graphicFrame>
        <p:nvGraphicFramePr>
          <p:cNvPr id="227" name="Google Shape;227;p14"/>
          <p:cNvGraphicFramePr/>
          <p:nvPr/>
        </p:nvGraphicFramePr>
        <p:xfrm>
          <a:off x="1130300" y="1714500"/>
          <a:ext cx="3000000" cy="3000000"/>
        </p:xfrm>
        <a:graphic>
          <a:graphicData uri="http://schemas.openxmlformats.org/drawingml/2006/table">
            <a:tbl>
              <a:tblPr>
                <a:noFill/>
                <a:tableStyleId>{544FB276-6C9D-4771-A9D3-37D8E1AA6F45}</a:tableStyleId>
              </a:tblPr>
              <a:tblGrid>
                <a:gridCol w="320675"/>
                <a:gridCol w="320675"/>
                <a:gridCol w="320675"/>
                <a:gridCol w="320675"/>
                <a:gridCol w="322250"/>
                <a:gridCol w="320675"/>
                <a:gridCol w="320675"/>
                <a:gridCol w="320675"/>
                <a:gridCol w="320675"/>
                <a:gridCol w="320675"/>
                <a:gridCol w="320675"/>
                <a:gridCol w="320675"/>
                <a:gridCol w="320675"/>
                <a:gridCol w="320675"/>
                <a:gridCol w="322250"/>
                <a:gridCol w="320675"/>
                <a:gridCol w="320675"/>
                <a:gridCol w="320675"/>
                <a:gridCol w="320675"/>
              </a:tblGrid>
              <a:tr h="279400">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00"/>
                        </a:buClr>
                        <a:buSzPts val="1700"/>
                        <a:buFont typeface="Times New Roman"/>
                        <a:buNone/>
                      </a:pPr>
                      <a:r>
                        <a:rPr b="1" i="0" lang="en-US" sz="1700" u="none" cap="none" strike="noStrike">
                          <a:solidFill>
                            <a:srgbClr val="FF0000"/>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0</a:t>
                      </a:r>
                      <a:endParaRPr/>
                    </a:p>
                  </a:txBody>
                  <a:tcPr marT="0" marB="0" marR="0" marL="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700"/>
                        <a:buFont typeface="Times New Roman"/>
                        <a:buNone/>
                      </a:pPr>
                      <a:r>
                        <a:rPr b="0" i="0" lang="en-US" sz="1700" u="none" cap="none" strike="noStrike">
                          <a:solidFill>
                            <a:schemeClr val="dk1"/>
                          </a:solidFill>
                          <a:latin typeface="Times New Roman"/>
                          <a:ea typeface="Times New Roman"/>
                          <a:cs typeface="Times New Roman"/>
                          <a:sym typeface="Times New Roman"/>
                        </a:rPr>
                        <a:t>1</a:t>
                      </a:r>
                      <a:endParaRPr/>
                    </a:p>
                  </a:txBody>
                  <a:tcPr marT="0" marB="0" marR="0" marL="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228" name="Google Shape;228;p14"/>
          <p:cNvCxnSpPr/>
          <p:nvPr/>
        </p:nvCxnSpPr>
        <p:spPr>
          <a:xfrm>
            <a:off x="6388100" y="1993900"/>
            <a:ext cx="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229" name="Google Shape;229;p14"/>
          <p:cNvCxnSpPr/>
          <p:nvPr/>
        </p:nvCxnSpPr>
        <p:spPr>
          <a:xfrm flipH="1">
            <a:off x="6464300" y="1993900"/>
            <a:ext cx="3048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230" name="Google Shape;230;p14"/>
          <p:cNvCxnSpPr/>
          <p:nvPr/>
        </p:nvCxnSpPr>
        <p:spPr>
          <a:xfrm flipH="1">
            <a:off x="6540500" y="1993900"/>
            <a:ext cx="5334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31" name="Google Shape;231;p14"/>
          <p:cNvCxnSpPr/>
          <p:nvPr/>
        </p:nvCxnSpPr>
        <p:spPr>
          <a:xfrm>
            <a:off x="5397500" y="1993900"/>
            <a:ext cx="9144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232" name="Google Shape;232;p14"/>
          <p:cNvCxnSpPr/>
          <p:nvPr/>
        </p:nvCxnSpPr>
        <p:spPr>
          <a:xfrm rot="10800000">
            <a:off x="1282700" y="2298700"/>
            <a:ext cx="5029200" cy="0"/>
          </a:xfrm>
          <a:prstGeom prst="straightConnector1">
            <a:avLst/>
          </a:prstGeom>
          <a:noFill/>
          <a:ln cap="flat" cmpd="sng" w="9525">
            <a:solidFill>
              <a:schemeClr val="dk1"/>
            </a:solidFill>
            <a:prstDash val="solid"/>
            <a:miter lim="800000"/>
            <a:headEnd len="med" w="med" type="none"/>
            <a:tailEnd len="med" w="med" type="none"/>
          </a:ln>
        </p:spPr>
      </p:cxnSp>
      <p:cxnSp>
        <p:nvCxnSpPr>
          <p:cNvPr id="233" name="Google Shape;233;p14"/>
          <p:cNvCxnSpPr/>
          <p:nvPr/>
        </p:nvCxnSpPr>
        <p:spPr>
          <a:xfrm rot="10800000">
            <a:off x="1282700" y="1993900"/>
            <a:ext cx="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34" name="Google Shape;234;p14"/>
          <p:cNvCxnSpPr/>
          <p:nvPr/>
        </p:nvCxnSpPr>
        <p:spPr>
          <a:xfrm>
            <a:off x="7150100" y="3060700"/>
            <a:ext cx="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235" name="Google Shape;235;p14"/>
          <p:cNvCxnSpPr/>
          <p:nvPr/>
        </p:nvCxnSpPr>
        <p:spPr>
          <a:xfrm flipH="1">
            <a:off x="7226300" y="3060700"/>
            <a:ext cx="22860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236" name="Google Shape;236;p14"/>
          <p:cNvCxnSpPr/>
          <p:nvPr/>
        </p:nvCxnSpPr>
        <p:spPr>
          <a:xfrm rot="10800000">
            <a:off x="1282700" y="3365500"/>
            <a:ext cx="5791200" cy="0"/>
          </a:xfrm>
          <a:prstGeom prst="straightConnector1">
            <a:avLst/>
          </a:prstGeom>
          <a:noFill/>
          <a:ln cap="flat" cmpd="sng" w="9525">
            <a:solidFill>
              <a:schemeClr val="dk1"/>
            </a:solidFill>
            <a:prstDash val="solid"/>
            <a:miter lim="800000"/>
            <a:headEnd len="med" w="med" type="none"/>
            <a:tailEnd len="med" w="med" type="none"/>
          </a:ln>
        </p:spPr>
      </p:cxnSp>
      <p:cxnSp>
        <p:nvCxnSpPr>
          <p:cNvPr id="237" name="Google Shape;237;p14"/>
          <p:cNvCxnSpPr/>
          <p:nvPr/>
        </p:nvCxnSpPr>
        <p:spPr>
          <a:xfrm rot="10800000">
            <a:off x="1282700" y="3060700"/>
            <a:ext cx="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38" name="Google Shape;238;p14"/>
          <p:cNvCxnSpPr/>
          <p:nvPr/>
        </p:nvCxnSpPr>
        <p:spPr>
          <a:xfrm>
            <a:off x="7073900" y="4203700"/>
            <a:ext cx="0" cy="228600"/>
          </a:xfrm>
          <a:prstGeom prst="straightConnector1">
            <a:avLst/>
          </a:prstGeom>
          <a:noFill/>
          <a:ln cap="flat" cmpd="sng" w="9525">
            <a:solidFill>
              <a:schemeClr val="dk1"/>
            </a:solidFill>
            <a:prstDash val="solid"/>
            <a:miter lim="800000"/>
            <a:headEnd len="med" w="med" type="none"/>
            <a:tailEnd len="med" w="med" type="triangle"/>
          </a:ln>
        </p:spPr>
      </p:cxnSp>
      <p:cxnSp>
        <p:nvCxnSpPr>
          <p:cNvPr id="239" name="Google Shape;239;p14"/>
          <p:cNvCxnSpPr/>
          <p:nvPr/>
        </p:nvCxnSpPr>
        <p:spPr>
          <a:xfrm flipH="1">
            <a:off x="7226300" y="4203700"/>
            <a:ext cx="4572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40" name="Google Shape;240;p14"/>
          <p:cNvCxnSpPr/>
          <p:nvPr/>
        </p:nvCxnSpPr>
        <p:spPr>
          <a:xfrm rot="10800000">
            <a:off x="1282700" y="4508500"/>
            <a:ext cx="5715000" cy="0"/>
          </a:xfrm>
          <a:prstGeom prst="straightConnector1">
            <a:avLst/>
          </a:prstGeom>
          <a:noFill/>
          <a:ln cap="flat" cmpd="sng" w="9525">
            <a:solidFill>
              <a:schemeClr val="dk1"/>
            </a:solidFill>
            <a:prstDash val="solid"/>
            <a:miter lim="800000"/>
            <a:headEnd len="med" w="med" type="none"/>
            <a:tailEnd len="med" w="med" type="none"/>
          </a:ln>
        </p:spPr>
      </p:cxnSp>
      <p:cxnSp>
        <p:nvCxnSpPr>
          <p:cNvPr id="241" name="Google Shape;241;p14"/>
          <p:cNvCxnSpPr/>
          <p:nvPr/>
        </p:nvCxnSpPr>
        <p:spPr>
          <a:xfrm rot="10800000">
            <a:off x="1282700" y="4203700"/>
            <a:ext cx="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42" name="Google Shape;242;p14"/>
          <p:cNvCxnSpPr/>
          <p:nvPr/>
        </p:nvCxnSpPr>
        <p:spPr>
          <a:xfrm>
            <a:off x="7607300" y="2908300"/>
            <a:ext cx="7620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243" name="Google Shape;243;p14"/>
          <p:cNvCxnSpPr/>
          <p:nvPr/>
        </p:nvCxnSpPr>
        <p:spPr>
          <a:xfrm>
            <a:off x="3340100" y="4356100"/>
            <a:ext cx="3657600" cy="76200"/>
          </a:xfrm>
          <a:prstGeom prst="straightConnector1">
            <a:avLst/>
          </a:prstGeom>
          <a:noFill/>
          <a:ln cap="flat" cmpd="sng" w="9525">
            <a:solidFill>
              <a:schemeClr val="dk1"/>
            </a:solidFill>
            <a:prstDash val="solid"/>
            <a:miter lim="800000"/>
            <a:headEnd len="med" w="med" type="none"/>
            <a:tailEnd len="med" w="med" type="triangle"/>
          </a:ln>
        </p:spPr>
      </p:cxnSp>
      <p:cxnSp>
        <p:nvCxnSpPr>
          <p:cNvPr id="244" name="Google Shape;244;p14"/>
          <p:cNvCxnSpPr/>
          <p:nvPr/>
        </p:nvCxnSpPr>
        <p:spPr>
          <a:xfrm flipH="1" rot="10800000">
            <a:off x="7835900" y="2984500"/>
            <a:ext cx="533400" cy="1066800"/>
          </a:xfrm>
          <a:prstGeom prst="straightConnector1">
            <a:avLst/>
          </a:prstGeom>
          <a:noFill/>
          <a:ln cap="flat" cmpd="sng" w="9525">
            <a:solidFill>
              <a:schemeClr val="dk1"/>
            </a:solidFill>
            <a:prstDash val="solid"/>
            <a:miter lim="800000"/>
            <a:headEnd len="med" w="med" type="none"/>
            <a:tailEnd len="med" w="med" type="triangle"/>
          </a:ln>
        </p:spPr>
      </p:cxnSp>
      <p:cxnSp>
        <p:nvCxnSpPr>
          <p:cNvPr id="245" name="Google Shape;245;p14"/>
          <p:cNvCxnSpPr/>
          <p:nvPr/>
        </p:nvCxnSpPr>
        <p:spPr>
          <a:xfrm>
            <a:off x="7226300" y="1841500"/>
            <a:ext cx="1143000" cy="990600"/>
          </a:xfrm>
          <a:prstGeom prst="straightConnector1">
            <a:avLst/>
          </a:prstGeom>
          <a:noFill/>
          <a:ln cap="flat" cmpd="sng" w="9525">
            <a:solidFill>
              <a:schemeClr val="dk1"/>
            </a:solidFill>
            <a:prstDash val="solid"/>
            <a:miter lim="800000"/>
            <a:headEnd len="med" w="med" type="none"/>
            <a:tailEnd len="med" w="med" type="triangle"/>
          </a:ln>
        </p:spPr>
      </p:cxnSp>
      <p:cxnSp>
        <p:nvCxnSpPr>
          <p:cNvPr id="246" name="Google Shape;246;p14"/>
          <p:cNvCxnSpPr/>
          <p:nvPr/>
        </p:nvCxnSpPr>
        <p:spPr>
          <a:xfrm>
            <a:off x="8521700" y="2908300"/>
            <a:ext cx="3810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247" name="Google Shape;247;p14"/>
          <p:cNvCxnSpPr/>
          <p:nvPr/>
        </p:nvCxnSpPr>
        <p:spPr>
          <a:xfrm>
            <a:off x="3340100" y="4203700"/>
            <a:ext cx="0" cy="152400"/>
          </a:xfrm>
          <a:prstGeom prst="straightConnector1">
            <a:avLst/>
          </a:prstGeom>
          <a:noFill/>
          <a:ln cap="flat" cmpd="sng" w="9525">
            <a:solidFill>
              <a:schemeClr val="dk1"/>
            </a:solidFill>
            <a:prstDash val="solid"/>
            <a:miter lim="800000"/>
            <a:headEnd len="med" w="med" type="none"/>
            <a:tailEnd len="med" w="med" type="none"/>
          </a:ln>
        </p:spPr>
      </p:cxnSp>
      <p:cxnSp>
        <p:nvCxnSpPr>
          <p:cNvPr id="248" name="Google Shape;248;p14"/>
          <p:cNvCxnSpPr/>
          <p:nvPr/>
        </p:nvCxnSpPr>
        <p:spPr>
          <a:xfrm flipH="1">
            <a:off x="7150100" y="4203700"/>
            <a:ext cx="228600" cy="228600"/>
          </a:xfrm>
          <a:prstGeom prst="straightConnector1">
            <a:avLst/>
          </a:prstGeom>
          <a:noFill/>
          <a:ln cap="flat" cmpd="sng" w="9525">
            <a:solidFill>
              <a:schemeClr val="dk1"/>
            </a:solidFill>
            <a:prstDash val="solid"/>
            <a:miter lim="800000"/>
            <a:headEnd len="med" w="med" type="none"/>
            <a:tailEnd len="med" w="med" type="triangle"/>
          </a:ln>
        </p:spPr>
      </p:cxnSp>
      <p:sp>
        <p:nvSpPr>
          <p:cNvPr id="249" name="Google Shape;249;p14"/>
          <p:cNvSpPr txBox="1"/>
          <p:nvPr/>
        </p:nvSpPr>
        <p:spPr>
          <a:xfrm>
            <a:off x="6921500" y="4327525"/>
            <a:ext cx="379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a:t>
            </a:r>
            <a:endParaRPr/>
          </a:p>
        </p:txBody>
      </p:sp>
      <p:sp>
        <p:nvSpPr>
          <p:cNvPr id="250" name="Google Shape;250;p14"/>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5"/>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Shift Register Crypto</a:t>
            </a:r>
            <a:endParaRPr/>
          </a:p>
        </p:txBody>
      </p:sp>
      <p:sp>
        <p:nvSpPr>
          <p:cNvPr id="256" name="Google Shape;256;p15"/>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Shift register crypto efficient in hardware</a:t>
            </a:r>
            <a:endParaRPr/>
          </a:p>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Often, slow if implemented in software</a:t>
            </a:r>
            <a:endParaRPr/>
          </a:p>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In the past, very, very popular</a:t>
            </a:r>
            <a:endParaRPr/>
          </a:p>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Today, more is done in software due to fast processors</a:t>
            </a:r>
            <a:endParaRPr/>
          </a:p>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Shift register crypto still used some</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Especially in resource-constrained devices</a:t>
            </a:r>
            <a:endParaRPr/>
          </a:p>
        </p:txBody>
      </p:sp>
      <p:sp>
        <p:nvSpPr>
          <p:cNvPr id="257" name="Google Shape;257;p1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258" name="Google Shape;258;p15"/>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title"/>
          </p:nvPr>
        </p:nvSpPr>
        <p:spPr>
          <a:xfrm>
            <a:off x="581025" y="687387"/>
            <a:ext cx="7989887" cy="72548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RC4</a:t>
            </a:r>
            <a:endParaRPr/>
          </a:p>
        </p:txBody>
      </p:sp>
      <p:sp>
        <p:nvSpPr>
          <p:cNvPr id="264" name="Google Shape;264;p16"/>
          <p:cNvSpPr txBox="1"/>
          <p:nvPr>
            <p:ph idx="1" type="body"/>
          </p:nvPr>
        </p:nvSpPr>
        <p:spPr>
          <a:xfrm>
            <a:off x="615950" y="1700212"/>
            <a:ext cx="7989887" cy="4176712"/>
          </a:xfrm>
          <a:prstGeom prst="rect">
            <a:avLst/>
          </a:prstGeom>
          <a:noFill/>
          <a:ln>
            <a:noFill/>
          </a:ln>
        </p:spPr>
        <p:txBody>
          <a:bodyPr anchorCtr="0" anchor="t" bIns="45700" lIns="91425" spcFirstLastPara="1" rIns="91425" wrap="square" tIns="45700">
            <a:noAutofit/>
          </a:bodyPr>
          <a:lstStyle/>
          <a:p>
            <a:pPr indent="-381000" lvl="0" marL="457200" marR="0" rtl="0" algn="l">
              <a:lnSpc>
                <a:spcPct val="100000"/>
              </a:lnSpc>
              <a:spcBef>
                <a:spcPts val="0"/>
              </a:spcBef>
              <a:spcAft>
                <a:spcPts val="0"/>
              </a:spcAft>
              <a:buClr>
                <a:schemeClr val="dk1"/>
              </a:buClr>
              <a:buSzPts val="2400"/>
              <a:buFont typeface="Corbel"/>
              <a:buChar char="•"/>
            </a:pPr>
            <a:r>
              <a:rPr b="0" i="0" lang="en-US" sz="2400" u="none">
                <a:solidFill>
                  <a:schemeClr val="dk1"/>
                </a:solidFill>
                <a:latin typeface="Corbel"/>
                <a:ea typeface="Corbel"/>
                <a:cs typeface="Corbel"/>
                <a:sym typeface="Corbel"/>
              </a:rPr>
              <a:t>A self-modifying lookup table</a:t>
            </a:r>
            <a:endParaRPr/>
          </a:p>
          <a:p>
            <a:pPr indent="-381000" lvl="0" marL="457200" marR="0" rtl="0" algn="l">
              <a:lnSpc>
                <a:spcPct val="100000"/>
              </a:lnSpc>
              <a:spcBef>
                <a:spcPts val="0"/>
              </a:spcBef>
              <a:spcAft>
                <a:spcPts val="0"/>
              </a:spcAft>
              <a:buClr>
                <a:schemeClr val="dk1"/>
              </a:buClr>
              <a:buSzPts val="2400"/>
              <a:buChar char="•"/>
            </a:pPr>
            <a:r>
              <a:rPr b="0" i="0" lang="en-US" sz="2400" u="none">
                <a:solidFill>
                  <a:schemeClr val="dk1"/>
                </a:solidFill>
                <a:latin typeface="Corbel"/>
                <a:ea typeface="Corbel"/>
                <a:cs typeface="Corbel"/>
                <a:sym typeface="Corbel"/>
              </a:rPr>
              <a:t>Table always contains a permutation of the byte values </a:t>
            </a:r>
            <a:r>
              <a:rPr b="0" i="0" lang="en-US" sz="2400" u="none">
                <a:solidFill>
                  <a:schemeClr val="dk1"/>
                </a:solidFill>
                <a:latin typeface="Times"/>
                <a:ea typeface="Times"/>
                <a:cs typeface="Times"/>
                <a:sym typeface="Times"/>
              </a:rPr>
              <a:t>0,1,…,255</a:t>
            </a:r>
            <a:endParaRPr/>
          </a:p>
          <a:p>
            <a:pPr indent="-381000" lvl="0" marL="457200" marR="0" rtl="0" algn="l">
              <a:lnSpc>
                <a:spcPct val="100000"/>
              </a:lnSpc>
              <a:spcBef>
                <a:spcPts val="0"/>
              </a:spcBef>
              <a:spcAft>
                <a:spcPts val="0"/>
              </a:spcAft>
              <a:buClr>
                <a:schemeClr val="dk1"/>
              </a:buClr>
              <a:buSzPts val="2400"/>
              <a:buFont typeface="Corbel"/>
              <a:buChar char="•"/>
            </a:pPr>
            <a:r>
              <a:rPr b="0" i="0" lang="en-US" sz="2400" u="none">
                <a:solidFill>
                  <a:schemeClr val="dk1"/>
                </a:solidFill>
                <a:latin typeface="Corbel"/>
                <a:ea typeface="Corbel"/>
                <a:cs typeface="Corbel"/>
                <a:sym typeface="Corbel"/>
              </a:rPr>
              <a:t>Initialize the permutation using key</a:t>
            </a:r>
            <a:endParaRPr/>
          </a:p>
          <a:p>
            <a:pPr indent="-381000" lvl="0" marL="457200" marR="0" rtl="0" algn="l">
              <a:lnSpc>
                <a:spcPct val="100000"/>
              </a:lnSpc>
              <a:spcBef>
                <a:spcPts val="0"/>
              </a:spcBef>
              <a:spcAft>
                <a:spcPts val="0"/>
              </a:spcAft>
              <a:buClr>
                <a:schemeClr val="dk1"/>
              </a:buClr>
              <a:buSzPts val="2400"/>
              <a:buFont typeface="Corbel"/>
              <a:buChar char="•"/>
            </a:pPr>
            <a:r>
              <a:rPr b="0" i="0" lang="en-US" sz="2400" u="none">
                <a:solidFill>
                  <a:schemeClr val="dk1"/>
                </a:solidFill>
                <a:latin typeface="Corbel"/>
                <a:ea typeface="Corbel"/>
                <a:cs typeface="Corbel"/>
                <a:sym typeface="Corbel"/>
              </a:rPr>
              <a:t>At each step, RC4 does the following</a:t>
            </a:r>
            <a:endParaRPr/>
          </a:p>
          <a:p>
            <a:pPr indent="-355600" lvl="1" marL="914400" marR="0" rtl="0" algn="l">
              <a:lnSpc>
                <a:spcPct val="100000"/>
              </a:lnSpc>
              <a:spcBef>
                <a:spcPts val="0"/>
              </a:spcBef>
              <a:spcAft>
                <a:spcPts val="0"/>
              </a:spcAft>
              <a:buClr>
                <a:schemeClr val="dk1"/>
              </a:buClr>
              <a:buSzPts val="2000"/>
              <a:buFont typeface="Corbel"/>
              <a:buChar char="•"/>
            </a:pPr>
            <a:r>
              <a:rPr b="0" i="0" lang="en-US" sz="2000" u="none" cap="none" strike="noStrike">
                <a:solidFill>
                  <a:schemeClr val="dk1"/>
                </a:solidFill>
                <a:latin typeface="Corbel"/>
                <a:ea typeface="Corbel"/>
                <a:cs typeface="Corbel"/>
                <a:sym typeface="Corbel"/>
              </a:rPr>
              <a:t>Swaps elements in current lookup table</a:t>
            </a:r>
            <a:endParaRPr/>
          </a:p>
          <a:p>
            <a:pPr indent="-355600" lvl="1" marL="914400" marR="0" rtl="0" algn="l">
              <a:lnSpc>
                <a:spcPct val="100000"/>
              </a:lnSpc>
              <a:spcBef>
                <a:spcPts val="0"/>
              </a:spcBef>
              <a:spcAft>
                <a:spcPts val="0"/>
              </a:spcAft>
              <a:buClr>
                <a:schemeClr val="dk1"/>
              </a:buClr>
              <a:buSzPts val="2000"/>
              <a:buFont typeface="Corbel"/>
              <a:buChar char="•"/>
            </a:pPr>
            <a:r>
              <a:rPr b="0" i="0" lang="en-US" sz="2000" u="none" cap="none" strike="noStrike">
                <a:solidFill>
                  <a:schemeClr val="dk1"/>
                </a:solidFill>
                <a:latin typeface="Corbel"/>
                <a:ea typeface="Corbel"/>
                <a:cs typeface="Corbel"/>
                <a:sym typeface="Corbel"/>
              </a:rPr>
              <a:t>Selects a keystream byte from table</a:t>
            </a:r>
            <a:endParaRPr/>
          </a:p>
          <a:p>
            <a:pPr indent="-381000" lvl="0" marL="457200" marR="0" rtl="0" algn="l">
              <a:lnSpc>
                <a:spcPct val="100000"/>
              </a:lnSpc>
              <a:spcBef>
                <a:spcPts val="0"/>
              </a:spcBef>
              <a:spcAft>
                <a:spcPts val="0"/>
              </a:spcAft>
              <a:buSzPts val="2400"/>
              <a:buFont typeface="Corbel"/>
              <a:buChar char="•"/>
            </a:pPr>
            <a:r>
              <a:rPr b="0" i="0" lang="en-US" sz="2400" u="none">
                <a:solidFill>
                  <a:schemeClr val="dk1"/>
                </a:solidFill>
                <a:latin typeface="Corbel"/>
                <a:ea typeface="Corbel"/>
                <a:cs typeface="Corbel"/>
                <a:sym typeface="Corbel"/>
              </a:rPr>
              <a:t>Each step of RC4 produces a </a:t>
            </a:r>
            <a:r>
              <a:rPr b="1" i="0" lang="en-US" sz="2400" u="none">
                <a:solidFill>
                  <a:schemeClr val="hlink"/>
                </a:solidFill>
                <a:latin typeface="Corbel"/>
                <a:ea typeface="Corbel"/>
                <a:cs typeface="Corbel"/>
                <a:sym typeface="Corbel"/>
              </a:rPr>
              <a:t>byte</a:t>
            </a:r>
            <a:endParaRPr b="0" i="0" sz="2400" u="none">
              <a:solidFill>
                <a:schemeClr val="dk1"/>
              </a:solidFill>
              <a:latin typeface="Corbel"/>
              <a:ea typeface="Corbel"/>
              <a:cs typeface="Corbel"/>
              <a:sym typeface="Corbel"/>
            </a:endParaRPr>
          </a:p>
          <a:p>
            <a:pPr indent="-355600" lvl="1" marL="914400" marR="0" rtl="0" algn="l">
              <a:lnSpc>
                <a:spcPct val="100000"/>
              </a:lnSpc>
              <a:spcBef>
                <a:spcPts val="0"/>
              </a:spcBef>
              <a:spcAft>
                <a:spcPts val="0"/>
              </a:spcAft>
              <a:buClr>
                <a:schemeClr val="dk1"/>
              </a:buClr>
              <a:buSzPts val="2000"/>
              <a:buFont typeface="Corbel"/>
              <a:buChar char="•"/>
            </a:pPr>
            <a:r>
              <a:rPr b="0" i="0" lang="en-US" sz="2000" u="none" cap="none" strike="noStrike">
                <a:solidFill>
                  <a:schemeClr val="dk1"/>
                </a:solidFill>
                <a:latin typeface="Corbel"/>
                <a:ea typeface="Corbel"/>
                <a:cs typeface="Corbel"/>
                <a:sym typeface="Corbel"/>
              </a:rPr>
              <a:t>Efficient in software</a:t>
            </a:r>
            <a:endParaRPr/>
          </a:p>
          <a:p>
            <a:pPr indent="-381000" lvl="0" marL="457200" marR="0" rtl="0" algn="l">
              <a:lnSpc>
                <a:spcPct val="100000"/>
              </a:lnSpc>
              <a:spcBef>
                <a:spcPts val="0"/>
              </a:spcBef>
              <a:spcAft>
                <a:spcPts val="0"/>
              </a:spcAft>
              <a:buClr>
                <a:schemeClr val="dk1"/>
              </a:buClr>
              <a:buSzPts val="2400"/>
              <a:buFont typeface="Corbel"/>
              <a:buChar char="•"/>
            </a:pPr>
            <a:r>
              <a:rPr b="0" i="0" lang="en-US" sz="2400" u="none">
                <a:solidFill>
                  <a:schemeClr val="dk1"/>
                </a:solidFill>
                <a:latin typeface="Corbel"/>
                <a:ea typeface="Corbel"/>
                <a:cs typeface="Corbel"/>
                <a:sym typeface="Corbel"/>
              </a:rPr>
              <a:t>Each step of A5/1 produces only a bit</a:t>
            </a:r>
            <a:endParaRPr/>
          </a:p>
          <a:p>
            <a:pPr indent="-355600" lvl="1" marL="914400" marR="0" rtl="0" algn="l">
              <a:lnSpc>
                <a:spcPct val="100000"/>
              </a:lnSpc>
              <a:spcBef>
                <a:spcPts val="0"/>
              </a:spcBef>
              <a:spcAft>
                <a:spcPts val="0"/>
              </a:spcAft>
              <a:buClr>
                <a:schemeClr val="dk1"/>
              </a:buClr>
              <a:buSzPts val="2000"/>
              <a:buFont typeface="Corbel"/>
              <a:buChar char="•"/>
            </a:pPr>
            <a:r>
              <a:rPr b="0" i="0" lang="en-US" sz="2000" u="none" cap="none" strike="noStrike">
                <a:solidFill>
                  <a:schemeClr val="dk1"/>
                </a:solidFill>
                <a:latin typeface="Corbel"/>
                <a:ea typeface="Corbel"/>
                <a:cs typeface="Corbel"/>
                <a:sym typeface="Corbel"/>
              </a:rPr>
              <a:t>Efficient in hardware</a:t>
            </a:r>
            <a:endParaRPr/>
          </a:p>
          <a:p>
            <a:pPr indent="-44450" lvl="0" marL="171450" marR="0" rtl="0" algn="l">
              <a:lnSpc>
                <a:spcPct val="90000"/>
              </a:lnSpc>
              <a:spcBef>
                <a:spcPts val="750"/>
              </a:spcBef>
              <a:spcAft>
                <a:spcPts val="0"/>
              </a:spcAft>
              <a:buClr>
                <a:schemeClr val="dk1"/>
              </a:buClr>
              <a:buSzPts val="2000"/>
              <a:buFont typeface="Arial"/>
              <a:buNone/>
            </a:pPr>
            <a:r>
              <a:t/>
            </a:r>
            <a:endParaRPr b="0" i="0" sz="2000" u="none" cap="none" strike="noStrike">
              <a:solidFill>
                <a:schemeClr val="dk1"/>
              </a:solidFill>
              <a:latin typeface="Corbel"/>
              <a:ea typeface="Corbel"/>
              <a:cs typeface="Corbel"/>
              <a:sym typeface="Corbel"/>
            </a:endParaRPr>
          </a:p>
        </p:txBody>
      </p:sp>
      <p:sp>
        <p:nvSpPr>
          <p:cNvPr id="265" name="Google Shape;265;p1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266" name="Google Shape;266;p1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txBox="1"/>
          <p:nvPr>
            <p:ph type="title"/>
          </p:nvPr>
        </p:nvSpPr>
        <p:spPr>
          <a:xfrm>
            <a:off x="785812" y="157162"/>
            <a:ext cx="7005637" cy="120015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RC4</a:t>
            </a:r>
            <a:endParaRPr/>
          </a:p>
        </p:txBody>
      </p:sp>
      <p:sp>
        <p:nvSpPr>
          <p:cNvPr id="272" name="Google Shape;272;p17"/>
          <p:cNvSpPr txBox="1"/>
          <p:nvPr>
            <p:ph idx="1" type="body"/>
          </p:nvPr>
        </p:nvSpPr>
        <p:spPr>
          <a:xfrm>
            <a:off x="785812" y="1700212"/>
            <a:ext cx="7670800" cy="2014537"/>
          </a:xfrm>
          <a:prstGeom prst="rect">
            <a:avLst/>
          </a:prstGeom>
          <a:noFill/>
          <a:ln>
            <a:noFill/>
          </a:ln>
        </p:spPr>
        <p:txBody>
          <a:bodyPr anchorCtr="0" anchor="t" bIns="45700" lIns="91425" spcFirstLastPara="1" rIns="91425" wrap="square" tIns="45700">
            <a:noAutofit/>
          </a:bodyPr>
          <a:lstStyle/>
          <a:p>
            <a:pPr indent="-393700" lvl="0" marL="457200" marR="0" rtl="0" algn="l">
              <a:lnSpc>
                <a:spcPct val="90000"/>
              </a:lnSpc>
              <a:spcBef>
                <a:spcPts val="0"/>
              </a:spcBef>
              <a:spcAft>
                <a:spcPts val="0"/>
              </a:spcAft>
              <a:buSzPts val="2600"/>
              <a:buFont typeface="Corbel"/>
              <a:buChar char="•"/>
            </a:pPr>
            <a:r>
              <a:rPr b="0" i="0" lang="en-US" sz="2600" u="none">
                <a:solidFill>
                  <a:schemeClr val="dk1"/>
                </a:solidFill>
                <a:latin typeface="Corbel"/>
                <a:ea typeface="Corbel"/>
                <a:cs typeface="Corbel"/>
                <a:sym typeface="Corbel"/>
              </a:rPr>
              <a:t>RC4 Optimized for </a:t>
            </a:r>
            <a:r>
              <a:rPr b="0" i="0" lang="en-US" sz="2600" u="none">
                <a:solidFill>
                  <a:srgbClr val="1F49F9"/>
                </a:solidFill>
                <a:latin typeface="Corbel"/>
                <a:ea typeface="Corbel"/>
                <a:cs typeface="Corbel"/>
                <a:sym typeface="Corbel"/>
              </a:rPr>
              <a:t>software implementation</a:t>
            </a:r>
            <a:r>
              <a:rPr b="0" i="0" lang="en-US" sz="2600" u="none">
                <a:solidFill>
                  <a:schemeClr val="dk1"/>
                </a:solidFill>
                <a:latin typeface="Corbel"/>
                <a:ea typeface="Corbel"/>
                <a:cs typeface="Corbel"/>
                <a:sym typeface="Corbel"/>
              </a:rPr>
              <a:t>, whereas A5/1 </a:t>
            </a:r>
            <a:r>
              <a:rPr b="0" i="0" lang="en-US" sz="2600" u="none">
                <a:solidFill>
                  <a:srgbClr val="1F49F9"/>
                </a:solidFill>
                <a:latin typeface="Corbel"/>
                <a:ea typeface="Corbel"/>
                <a:cs typeface="Corbel"/>
                <a:sym typeface="Corbel"/>
              </a:rPr>
              <a:t>for hardware</a:t>
            </a:r>
            <a:endParaRPr/>
          </a:p>
          <a:p>
            <a:pPr indent="-393700" lvl="0" marL="457200" marR="0" rtl="0" algn="l">
              <a:lnSpc>
                <a:spcPct val="90000"/>
              </a:lnSpc>
              <a:spcBef>
                <a:spcPts val="0"/>
              </a:spcBef>
              <a:spcAft>
                <a:spcPts val="0"/>
              </a:spcAft>
              <a:buSzPts val="2600"/>
              <a:buFont typeface="Corbel"/>
              <a:buChar char="•"/>
            </a:pPr>
            <a:r>
              <a:rPr b="0" i="0" lang="en-US" sz="2600" u="none">
                <a:solidFill>
                  <a:schemeClr val="dk1"/>
                </a:solidFill>
                <a:latin typeface="Corbel"/>
                <a:ea typeface="Corbel"/>
                <a:cs typeface="Corbel"/>
                <a:sym typeface="Corbel"/>
              </a:rPr>
              <a:t>RC4 produces </a:t>
            </a:r>
            <a:r>
              <a:rPr b="0" i="0" lang="en-US" sz="2600" u="none">
                <a:solidFill>
                  <a:srgbClr val="1F49F9"/>
                </a:solidFill>
                <a:latin typeface="Corbel"/>
                <a:ea typeface="Corbel"/>
                <a:cs typeface="Corbel"/>
                <a:sym typeface="Corbel"/>
              </a:rPr>
              <a:t>a keystream BYTE at each step</a:t>
            </a:r>
            <a:r>
              <a:rPr b="0" i="0" lang="en-US" sz="2600" u="none">
                <a:solidFill>
                  <a:schemeClr val="dk1"/>
                </a:solidFill>
                <a:latin typeface="Corbel"/>
                <a:ea typeface="Corbel"/>
                <a:cs typeface="Corbel"/>
                <a:sym typeface="Corbel"/>
              </a:rPr>
              <a:t>, whereas A5/1 only produce </a:t>
            </a:r>
            <a:r>
              <a:rPr b="0" i="0" lang="en-US" sz="2600" u="none">
                <a:solidFill>
                  <a:srgbClr val="1F49F9"/>
                </a:solidFill>
                <a:latin typeface="Corbel"/>
                <a:ea typeface="Corbel"/>
                <a:cs typeface="Corbel"/>
                <a:sym typeface="Corbel"/>
              </a:rPr>
              <a:t>a single keystream bit</a:t>
            </a:r>
            <a:endParaRPr/>
          </a:p>
        </p:txBody>
      </p:sp>
      <p:sp>
        <p:nvSpPr>
          <p:cNvPr id="273" name="Google Shape;273;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C:\Documents and Settings\Administrator\바탕 화면\RC4.png" id="274" name="Google Shape;274;p17"/>
          <p:cNvPicPr preferRelativeResize="0"/>
          <p:nvPr/>
        </p:nvPicPr>
        <p:blipFill rotWithShape="1">
          <a:blip r:embed="rId3">
            <a:alphaModFix/>
          </a:blip>
          <a:srcRect b="0" l="0" r="0" t="0"/>
          <a:stretch/>
        </p:blipFill>
        <p:spPr>
          <a:xfrm>
            <a:off x="1941512" y="3832225"/>
            <a:ext cx="5359400" cy="2551112"/>
          </a:xfrm>
          <a:prstGeom prst="rect">
            <a:avLst/>
          </a:prstGeom>
          <a:noFill/>
          <a:ln>
            <a:noFill/>
          </a:ln>
        </p:spPr>
      </p:pic>
      <p:sp>
        <p:nvSpPr>
          <p:cNvPr id="275" name="Google Shape;275;p17"/>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8"/>
          <p:cNvSpPr txBox="1"/>
          <p:nvPr>
            <p:ph type="title"/>
          </p:nvPr>
        </p:nvSpPr>
        <p:spPr>
          <a:xfrm>
            <a:off x="785812" y="157162"/>
            <a:ext cx="7005637" cy="120015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RC4</a:t>
            </a:r>
            <a:endParaRPr/>
          </a:p>
        </p:txBody>
      </p:sp>
      <p:sp>
        <p:nvSpPr>
          <p:cNvPr id="281" name="Google Shape;281;p18"/>
          <p:cNvSpPr txBox="1"/>
          <p:nvPr>
            <p:ph idx="1" type="body"/>
          </p:nvPr>
        </p:nvSpPr>
        <p:spPr>
          <a:xfrm>
            <a:off x="785812" y="1700212"/>
            <a:ext cx="7670800" cy="4249737"/>
          </a:xfrm>
          <a:prstGeom prst="rect">
            <a:avLst/>
          </a:prstGeom>
          <a:noFill/>
          <a:ln>
            <a:noFill/>
          </a:ln>
        </p:spPr>
        <p:txBody>
          <a:bodyPr anchorCtr="0" anchor="t" bIns="45700" lIns="91425" spcFirstLastPara="1" rIns="91425" wrap="square" tIns="45700">
            <a:noAutofit/>
          </a:bodyPr>
          <a:lstStyle/>
          <a:p>
            <a:pPr indent="-431800" lvl="0" marL="457200" marR="0" rtl="0" algn="l">
              <a:lnSpc>
                <a:spcPct val="90000"/>
              </a:lnSpc>
              <a:spcBef>
                <a:spcPts val="0"/>
              </a:spcBef>
              <a:spcAft>
                <a:spcPts val="0"/>
              </a:spcAft>
              <a:buSzPts val="3200"/>
              <a:buFont typeface="Corbel"/>
              <a:buChar char="•"/>
            </a:pPr>
            <a:r>
              <a:rPr b="0" i="0" lang="en-US" sz="3200" u="none">
                <a:solidFill>
                  <a:schemeClr val="dk1"/>
                </a:solidFill>
                <a:latin typeface="Corbel"/>
                <a:ea typeface="Corbel"/>
                <a:cs typeface="Corbel"/>
                <a:sym typeface="Corbel"/>
              </a:rPr>
              <a:t>RC4 is </a:t>
            </a:r>
            <a:r>
              <a:rPr b="0" i="0" lang="en-US" sz="3200" u="none">
                <a:solidFill>
                  <a:srgbClr val="1F49F9"/>
                </a:solidFill>
                <a:latin typeface="Corbel"/>
                <a:ea typeface="Corbel"/>
                <a:cs typeface="Corbel"/>
                <a:sym typeface="Corbel"/>
              </a:rPr>
              <a:t>remarkably simple</a:t>
            </a:r>
            <a:endParaRPr/>
          </a:p>
          <a:p>
            <a:pPr indent="-406400" lvl="1" marL="914400" marR="0" rtl="0" algn="l">
              <a:lnSpc>
                <a:spcPct val="90000"/>
              </a:lnSpc>
              <a:spcBef>
                <a:spcPts val="0"/>
              </a:spcBef>
              <a:spcAft>
                <a:spcPts val="0"/>
              </a:spcAft>
              <a:buClr>
                <a:srgbClr val="1F49F9"/>
              </a:buClr>
              <a:buSzPts val="2800"/>
              <a:buFont typeface="Corbel"/>
              <a:buChar char="•"/>
            </a:pPr>
            <a:r>
              <a:rPr b="0" i="0" lang="en-US" sz="2800" u="none" cap="none" strike="noStrike">
                <a:solidFill>
                  <a:srgbClr val="1F49F9"/>
                </a:solidFill>
                <a:latin typeface="Corbel"/>
                <a:ea typeface="Corbel"/>
                <a:cs typeface="Corbel"/>
                <a:sym typeface="Corbel"/>
              </a:rPr>
              <a:t>Because it is essentially just lookup table containing permutation of the 256(2</a:t>
            </a:r>
            <a:r>
              <a:rPr b="0" baseline="30000" i="0" lang="en-US" sz="2800" u="none" cap="none" strike="noStrike">
                <a:solidFill>
                  <a:srgbClr val="1F49F9"/>
                </a:solidFill>
                <a:latin typeface="Corbel"/>
                <a:ea typeface="Corbel"/>
                <a:cs typeface="Corbel"/>
                <a:sym typeface="Corbel"/>
              </a:rPr>
              <a:t>8</a:t>
            </a:r>
            <a:r>
              <a:rPr b="0" i="0" lang="en-US" sz="2800" u="none" cap="none" strike="noStrike">
                <a:solidFill>
                  <a:srgbClr val="1F49F9"/>
                </a:solidFill>
                <a:latin typeface="Corbel"/>
                <a:ea typeface="Corbel"/>
                <a:cs typeface="Corbel"/>
                <a:sym typeface="Corbel"/>
              </a:rPr>
              <a:t>)-byte values</a:t>
            </a:r>
            <a:endParaRPr/>
          </a:p>
          <a:p>
            <a:pPr indent="-406400" lvl="1" marL="914400" marR="0" rtl="0" algn="l">
              <a:lnSpc>
                <a:spcPct val="90000"/>
              </a:lnSpc>
              <a:spcBef>
                <a:spcPts val="0"/>
              </a:spcBef>
              <a:spcAft>
                <a:spcPts val="0"/>
              </a:spcAft>
              <a:buClr>
                <a:srgbClr val="1F49F9"/>
              </a:buClr>
              <a:buSzPts val="2800"/>
              <a:buFont typeface="Corbel"/>
              <a:buChar char="•"/>
            </a:pPr>
            <a:r>
              <a:rPr b="0" i="0" lang="en-US" sz="2800" u="none" cap="none" strike="noStrike">
                <a:solidFill>
                  <a:srgbClr val="1F49F9"/>
                </a:solidFill>
                <a:latin typeface="Corbel"/>
                <a:ea typeface="Corbel"/>
                <a:cs typeface="Corbel"/>
                <a:sym typeface="Corbel"/>
              </a:rPr>
              <a:t>Each time a byte of keystream is produced, the lookup table is modified in such a way that the table always contains a permutation of {0,1,2,…256}</a:t>
            </a:r>
            <a:endParaRPr/>
          </a:p>
        </p:txBody>
      </p:sp>
      <p:sp>
        <p:nvSpPr>
          <p:cNvPr id="282" name="Google Shape;282;p1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283" name="Google Shape;283;p18"/>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Stream Ciphers</a:t>
            </a:r>
            <a:endParaRPr/>
          </a:p>
        </p:txBody>
      </p:sp>
      <p:sp>
        <p:nvSpPr>
          <p:cNvPr id="290" name="Google Shape;290;p19"/>
          <p:cNvSpPr txBox="1"/>
          <p:nvPr>
            <p:ph idx="1" type="body"/>
          </p:nvPr>
        </p:nvSpPr>
        <p:spPr>
          <a:xfrm>
            <a:off x="684200" y="1720587"/>
            <a:ext cx="7455000" cy="44655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Stream ciphers were big in the past</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Efficient in hardware</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Speed needed to keep up with voice, etc.</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Today, processors are fast, so software-based crypto is fast enough</a:t>
            </a:r>
            <a:endParaRPr/>
          </a:p>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Future of stream ciphers?</a:t>
            </a:r>
            <a:endParaRPr/>
          </a:p>
          <a:p>
            <a:pPr indent="-381000" lvl="1" marL="914400" marR="0" rtl="0" algn="l">
              <a:lnSpc>
                <a:spcPct val="90000"/>
              </a:lnSpc>
              <a:spcBef>
                <a:spcPts val="0"/>
              </a:spcBef>
              <a:spcAft>
                <a:spcPts val="0"/>
              </a:spcAft>
              <a:buSzPts val="2400"/>
              <a:buFont typeface="Corbel"/>
              <a:buChar char="•"/>
            </a:pPr>
            <a:r>
              <a:rPr b="0" i="0" lang="en-US" sz="2400" u="none" cap="none" strike="noStrike">
                <a:solidFill>
                  <a:schemeClr val="dk1"/>
                </a:solidFill>
                <a:latin typeface="Corbel"/>
                <a:ea typeface="Corbel"/>
                <a:cs typeface="Corbel"/>
                <a:sym typeface="Corbel"/>
              </a:rPr>
              <a:t>Shamir: </a:t>
            </a:r>
            <a:r>
              <a:rPr b="0" i="0" lang="en-US" sz="2400" u="none" cap="none" strike="noStrike">
                <a:solidFill>
                  <a:srgbClr val="FF0000"/>
                </a:solidFill>
                <a:latin typeface="Corbel"/>
                <a:ea typeface="Corbel"/>
                <a:cs typeface="Corbel"/>
                <a:sym typeface="Corbel"/>
              </a:rPr>
              <a:t>“the death of stream ciphers”</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May be exaggerated…</a:t>
            </a:r>
            <a:endParaRPr/>
          </a:p>
        </p:txBody>
      </p:sp>
      <p:sp>
        <p:nvSpPr>
          <p:cNvPr id="291" name="Google Shape;291;p1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292" name="Google Shape;292;p1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a:solidFill>
                <a:schemeClr val="lt1"/>
              </a:solidFill>
            </a:endParaRPr>
          </a:p>
        </p:txBody>
      </p:sp>
      <p:sp>
        <p:nvSpPr>
          <p:cNvPr id="298" name="Google Shape;298;p2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299" name="Google Shape;299;p20"/>
          <p:cNvSpPr txBox="1"/>
          <p:nvPr/>
        </p:nvSpPr>
        <p:spPr>
          <a:xfrm>
            <a:off x="2771775" y="3716337"/>
            <a:ext cx="3705225" cy="769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Gill Sans"/>
              <a:buNone/>
            </a:pPr>
            <a:r>
              <a:rPr b="0" i="0" lang="en-US" sz="4400" u="none">
                <a:solidFill>
                  <a:schemeClr val="dk1"/>
                </a:solidFill>
                <a:latin typeface="Gill Sans"/>
                <a:ea typeface="Gill Sans"/>
                <a:cs typeface="Gill Sans"/>
                <a:sym typeface="Gill Sans"/>
              </a:rPr>
              <a:t>End of segment</a:t>
            </a:r>
            <a:endParaRPr/>
          </a:p>
        </p:txBody>
      </p:sp>
      <p:sp>
        <p:nvSpPr>
          <p:cNvPr id="300" name="Google Shape;300;p2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1"/>
          <p:cNvSpPr txBox="1"/>
          <p:nvPr>
            <p:ph type="title"/>
          </p:nvPr>
        </p:nvSpPr>
        <p:spPr>
          <a:xfrm>
            <a:off x="2022475" y="2057400"/>
            <a:ext cx="4997450"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Corbel"/>
              <a:buNone/>
            </a:pPr>
            <a:r>
              <a:rPr b="0" i="0" lang="en-US" sz="4800" u="none">
                <a:solidFill>
                  <a:schemeClr val="lt1"/>
                </a:solidFill>
                <a:latin typeface="Corbel"/>
                <a:ea typeface="Corbel"/>
                <a:cs typeface="Corbel"/>
                <a:sym typeface="Corbel"/>
              </a:rPr>
              <a:t>Block Ciphers</a:t>
            </a:r>
            <a:endParaRPr/>
          </a:p>
        </p:txBody>
      </p:sp>
      <p:sp>
        <p:nvSpPr>
          <p:cNvPr id="306" name="Google Shape;306;p2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307" name="Google Shape;307;p21"/>
          <p:cNvSpPr txBox="1"/>
          <p:nvPr/>
        </p:nvSpPr>
        <p:spPr>
          <a:xfrm>
            <a:off x="2022475" y="3170237"/>
            <a:ext cx="7143750" cy="857250"/>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BLOCK CIPHER AND DES</a:t>
            </a:r>
            <a:endParaRPr/>
          </a:p>
        </p:txBody>
      </p:sp>
      <p:sp>
        <p:nvSpPr>
          <p:cNvPr id="308" name="Google Shape;308;p2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2"/>
          <p:cNvSpPr txBox="1"/>
          <p:nvPr>
            <p:ph type="title"/>
          </p:nvPr>
        </p:nvSpPr>
        <p:spPr>
          <a:xfrm>
            <a:off x="827087" y="260350"/>
            <a:ext cx="7143750" cy="9366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Block Cipher</a:t>
            </a:r>
            <a:endParaRPr/>
          </a:p>
        </p:txBody>
      </p:sp>
      <p:sp>
        <p:nvSpPr>
          <p:cNvPr id="315" name="Google Shape;315;p22"/>
          <p:cNvSpPr txBox="1"/>
          <p:nvPr>
            <p:ph idx="1" type="body"/>
          </p:nvPr>
        </p:nvSpPr>
        <p:spPr>
          <a:xfrm>
            <a:off x="550862" y="1919287"/>
            <a:ext cx="7899400" cy="17811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Plaintext and ciphertext consists of </a:t>
            </a:r>
            <a:r>
              <a:rPr b="0" i="0" lang="en-US" sz="2400" u="none">
                <a:solidFill>
                  <a:srgbClr val="1F49F9"/>
                </a:solidFill>
                <a:latin typeface="Corbel"/>
                <a:ea typeface="Corbel"/>
                <a:cs typeface="Corbel"/>
                <a:sym typeface="Corbel"/>
              </a:rPr>
              <a:t>fixed sized blocks</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400" u="none">
                <a:solidFill>
                  <a:srgbClr val="FF0000"/>
                </a:solidFill>
                <a:latin typeface="Corbel"/>
                <a:ea typeface="Corbel"/>
                <a:cs typeface="Corbel"/>
                <a:sym typeface="Corbel"/>
              </a:rPr>
              <a:t>Design goal</a:t>
            </a:r>
            <a:r>
              <a:rPr b="0" i="0" lang="en-US" sz="2400" u="none">
                <a:solidFill>
                  <a:schemeClr val="dk1"/>
                </a:solidFill>
                <a:latin typeface="Corbel"/>
                <a:ea typeface="Corbel"/>
                <a:cs typeface="Corbel"/>
                <a:sym typeface="Corbel"/>
              </a:rPr>
              <a:t>: security and efficiency</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000" u="none" cap="none" strike="noStrike">
                <a:solidFill>
                  <a:schemeClr val="dk1"/>
                </a:solidFill>
                <a:latin typeface="Corbel"/>
                <a:ea typeface="Corbel"/>
                <a:cs typeface="Corbel"/>
                <a:sym typeface="Corbel"/>
              </a:rPr>
              <a:t>It is not easy to design a block cipher that is secure and efficient</a:t>
            </a:r>
            <a:endParaRPr/>
          </a:p>
          <a:p>
            <a:pPr indent="-44450" lvl="0" marL="171450" marR="0" rtl="0" algn="l">
              <a:lnSpc>
                <a:spcPct val="90000"/>
              </a:lnSpc>
              <a:spcBef>
                <a:spcPts val="750"/>
              </a:spcBef>
              <a:spcAft>
                <a:spcPts val="0"/>
              </a:spcAft>
              <a:buClr>
                <a:schemeClr val="dk1"/>
              </a:buClr>
              <a:buSzPts val="2000"/>
              <a:buFont typeface="Arial"/>
              <a:buNone/>
            </a:pPr>
            <a:r>
              <a:t/>
            </a:r>
            <a:endParaRPr b="0" i="0" sz="2000" u="none" cap="none" strike="noStrike">
              <a:solidFill>
                <a:schemeClr val="dk1"/>
              </a:solidFill>
              <a:latin typeface="Corbel"/>
              <a:ea typeface="Corbel"/>
              <a:cs typeface="Corbel"/>
              <a:sym typeface="Corbel"/>
            </a:endParaRPr>
          </a:p>
        </p:txBody>
      </p:sp>
      <p:sp>
        <p:nvSpPr>
          <p:cNvPr id="316" name="Google Shape;316;p2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C:\Documents and Settings\Administrator\바탕 화면\Encryption.png" id="317" name="Google Shape;317;p22"/>
          <p:cNvPicPr preferRelativeResize="0"/>
          <p:nvPr/>
        </p:nvPicPr>
        <p:blipFill rotWithShape="1">
          <a:blip r:embed="rId3">
            <a:alphaModFix/>
          </a:blip>
          <a:srcRect b="0" l="0" r="0" t="0"/>
          <a:stretch/>
        </p:blipFill>
        <p:spPr>
          <a:xfrm>
            <a:off x="1285875" y="3571875"/>
            <a:ext cx="2857500" cy="2419350"/>
          </a:xfrm>
          <a:prstGeom prst="rect">
            <a:avLst/>
          </a:prstGeom>
          <a:noFill/>
          <a:ln>
            <a:noFill/>
          </a:ln>
        </p:spPr>
      </p:pic>
      <p:pic>
        <p:nvPicPr>
          <p:cNvPr descr="C:\Documents and Settings\Administrator\바탕 화면\Decryption.png" id="318" name="Google Shape;318;p22"/>
          <p:cNvPicPr preferRelativeResize="0"/>
          <p:nvPr/>
        </p:nvPicPr>
        <p:blipFill rotWithShape="1">
          <a:blip r:embed="rId4">
            <a:alphaModFix/>
          </a:blip>
          <a:srcRect b="0" l="0" r="0" t="0"/>
          <a:stretch/>
        </p:blipFill>
        <p:spPr>
          <a:xfrm>
            <a:off x="4643437" y="3643312"/>
            <a:ext cx="2571750" cy="2228850"/>
          </a:xfrm>
          <a:prstGeom prst="rect">
            <a:avLst/>
          </a:prstGeom>
          <a:noFill/>
          <a:ln>
            <a:noFill/>
          </a:ln>
        </p:spPr>
      </p:pic>
      <p:sp>
        <p:nvSpPr>
          <p:cNvPr id="319" name="Google Shape;319;p2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3"/>
          <p:cNvSpPr txBox="1"/>
          <p:nvPr>
            <p:ph type="title"/>
          </p:nvPr>
        </p:nvSpPr>
        <p:spPr>
          <a:xfrm>
            <a:off x="785812" y="500062"/>
            <a:ext cx="7143750" cy="85725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(Iterated) Block Cipher</a:t>
            </a:r>
            <a:endParaRPr/>
          </a:p>
        </p:txBody>
      </p:sp>
      <p:sp>
        <p:nvSpPr>
          <p:cNvPr id="326" name="Google Shape;326;p23"/>
          <p:cNvSpPr txBox="1"/>
          <p:nvPr>
            <p:ph idx="1" type="body"/>
          </p:nvPr>
        </p:nvSpPr>
        <p:spPr>
          <a:xfrm>
            <a:off x="611187" y="1125537"/>
            <a:ext cx="4870450" cy="4410075"/>
          </a:xfrm>
          <a:prstGeom prst="rect">
            <a:avLst/>
          </a:prstGeom>
          <a:noFill/>
          <a:ln>
            <a:noFill/>
          </a:ln>
        </p:spPr>
        <p:txBody>
          <a:bodyPr anchorCtr="0" anchor="t" bIns="45700" lIns="91425" spcFirstLastPara="1" rIns="91425" wrap="square" tIns="45700">
            <a:normAutofit/>
          </a:bodyPr>
          <a:lstStyle/>
          <a:p>
            <a:pPr indent="-152400" lvl="0" marL="171450" marR="0" rtl="0" algn="l">
              <a:lnSpc>
                <a:spcPct val="120000"/>
              </a:lnSpc>
              <a:spcBef>
                <a:spcPts val="0"/>
              </a:spcBef>
              <a:spcAft>
                <a:spcPts val="0"/>
              </a:spcAft>
              <a:buClr>
                <a:srgbClr val="376092"/>
              </a:buClr>
              <a:buSzPts val="300"/>
              <a:buFont typeface="Arial"/>
              <a:buNone/>
            </a:pPr>
            <a:r>
              <a:t/>
            </a:r>
            <a:endParaRPr b="0" i="0" sz="2200" u="none">
              <a:solidFill>
                <a:schemeClr val="dk1"/>
              </a:solidFill>
              <a:latin typeface="Corbel"/>
              <a:ea typeface="Corbel"/>
              <a:cs typeface="Corbel"/>
              <a:sym typeface="Corbel"/>
            </a:endParaRPr>
          </a:p>
          <a:p>
            <a:pPr indent="-171450" lvl="0" marL="171450" marR="0" rtl="0" algn="l">
              <a:lnSpc>
                <a:spcPct val="120000"/>
              </a:lnSpc>
              <a:spcBef>
                <a:spcPts val="300"/>
              </a:spcBef>
              <a:spcAft>
                <a:spcPts val="0"/>
              </a:spcAft>
              <a:buClr>
                <a:srgbClr val="376092"/>
              </a:buClr>
              <a:buSzPts val="300"/>
              <a:buFont typeface="Arial"/>
              <a:buChar char="•"/>
            </a:pPr>
            <a:r>
              <a:rPr b="0" i="0" lang="en-US" sz="2200" u="none">
                <a:solidFill>
                  <a:schemeClr val="dk1"/>
                </a:solidFill>
                <a:latin typeface="Corbel"/>
                <a:ea typeface="Corbel"/>
                <a:cs typeface="Corbel"/>
                <a:sym typeface="Corbel"/>
              </a:rPr>
              <a:t>Plaintext and Ciphertext consist of fixed-sized blocks</a:t>
            </a:r>
            <a:endParaRPr/>
          </a:p>
          <a:p>
            <a:pPr indent="-171450" lvl="0" marL="171450" marR="0" rtl="0" algn="l">
              <a:lnSpc>
                <a:spcPct val="120000"/>
              </a:lnSpc>
              <a:spcBef>
                <a:spcPts val="300"/>
              </a:spcBef>
              <a:spcAft>
                <a:spcPts val="0"/>
              </a:spcAft>
              <a:buClr>
                <a:srgbClr val="376092"/>
              </a:buClr>
              <a:buSzPts val="300"/>
              <a:buFont typeface="Arial"/>
              <a:buChar char="•"/>
            </a:pPr>
            <a:r>
              <a:rPr b="0" i="0" lang="en-US" sz="2200" u="none">
                <a:solidFill>
                  <a:schemeClr val="dk1"/>
                </a:solidFill>
                <a:latin typeface="Corbel"/>
                <a:ea typeface="Corbel"/>
                <a:cs typeface="Corbel"/>
                <a:sym typeface="Corbel"/>
              </a:rPr>
              <a:t>Ciphertext obtained from plaintext by iterating a </a:t>
            </a:r>
            <a:r>
              <a:rPr b="0" i="0" lang="en-US" sz="2200" u="none">
                <a:solidFill>
                  <a:srgbClr val="FC0410"/>
                </a:solidFill>
                <a:latin typeface="Corbel"/>
                <a:ea typeface="Corbel"/>
                <a:cs typeface="Corbel"/>
                <a:sym typeface="Corbel"/>
              </a:rPr>
              <a:t>round function</a:t>
            </a:r>
            <a:endParaRPr/>
          </a:p>
          <a:p>
            <a:pPr indent="-171450" lvl="0" marL="171450" marR="0" rtl="0" algn="l">
              <a:lnSpc>
                <a:spcPct val="120000"/>
              </a:lnSpc>
              <a:spcBef>
                <a:spcPts val="300"/>
              </a:spcBef>
              <a:spcAft>
                <a:spcPts val="0"/>
              </a:spcAft>
              <a:buClr>
                <a:srgbClr val="376092"/>
              </a:buClr>
              <a:buSzPts val="300"/>
              <a:buFont typeface="Arial"/>
              <a:buChar char="•"/>
            </a:pPr>
            <a:r>
              <a:rPr b="0" i="0" lang="en-US" sz="2200" u="none">
                <a:solidFill>
                  <a:schemeClr val="dk1"/>
                </a:solidFill>
                <a:latin typeface="Corbel"/>
                <a:ea typeface="Corbel"/>
                <a:cs typeface="Corbel"/>
                <a:sym typeface="Corbel"/>
              </a:rPr>
              <a:t>Input to round function consists of key and the output of previous round</a:t>
            </a:r>
            <a:endParaRPr/>
          </a:p>
          <a:p>
            <a:pPr indent="-171450" lvl="0" marL="171450" marR="0" rtl="0" algn="l">
              <a:lnSpc>
                <a:spcPct val="120000"/>
              </a:lnSpc>
              <a:spcBef>
                <a:spcPts val="300"/>
              </a:spcBef>
              <a:spcAft>
                <a:spcPts val="0"/>
              </a:spcAft>
              <a:buClr>
                <a:srgbClr val="376092"/>
              </a:buClr>
              <a:buSzPts val="300"/>
              <a:buFont typeface="Arial"/>
              <a:buChar char="•"/>
            </a:pPr>
            <a:r>
              <a:rPr b="0" i="0" lang="en-US" sz="2200" u="none">
                <a:solidFill>
                  <a:schemeClr val="dk1"/>
                </a:solidFill>
                <a:latin typeface="Corbel"/>
                <a:ea typeface="Corbel"/>
                <a:cs typeface="Corbel"/>
                <a:sym typeface="Corbel"/>
              </a:rPr>
              <a:t>Usually implemented in software</a:t>
            </a:r>
            <a:endParaRPr/>
          </a:p>
          <a:p>
            <a:pPr indent="-171450" lvl="0" marL="171450" marR="0" rtl="0" algn="l">
              <a:lnSpc>
                <a:spcPct val="120000"/>
              </a:lnSpc>
              <a:spcBef>
                <a:spcPts val="300"/>
              </a:spcBef>
              <a:spcAft>
                <a:spcPts val="0"/>
              </a:spcAft>
              <a:buClr>
                <a:srgbClr val="376092"/>
              </a:buClr>
              <a:buSzPts val="300"/>
              <a:buFont typeface="Arial"/>
              <a:buChar char="•"/>
            </a:pPr>
            <a:r>
              <a:rPr b="0" i="0" lang="en-US" sz="2200" u="none">
                <a:solidFill>
                  <a:schemeClr val="dk1"/>
                </a:solidFill>
                <a:latin typeface="Corbel"/>
                <a:ea typeface="Corbel"/>
                <a:cs typeface="Corbel"/>
                <a:sym typeface="Corbel"/>
              </a:rPr>
              <a:t>Typical Type is Feistel Cipher</a:t>
            </a:r>
            <a:endParaRPr/>
          </a:p>
        </p:txBody>
      </p:sp>
      <p:sp>
        <p:nvSpPr>
          <p:cNvPr id="327" name="Google Shape;327;p2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C:\Documents and Settings\Administrator\바탕 화면\Feistel.png" id="328" name="Google Shape;328;p23"/>
          <p:cNvPicPr preferRelativeResize="0"/>
          <p:nvPr/>
        </p:nvPicPr>
        <p:blipFill rotWithShape="1">
          <a:blip r:embed="rId3">
            <a:alphaModFix/>
          </a:blip>
          <a:srcRect b="0" l="0" r="0" t="0"/>
          <a:stretch/>
        </p:blipFill>
        <p:spPr>
          <a:xfrm>
            <a:off x="5414962" y="1657350"/>
            <a:ext cx="3714750" cy="4794250"/>
          </a:xfrm>
          <a:prstGeom prst="rect">
            <a:avLst/>
          </a:prstGeom>
          <a:noFill/>
          <a:ln>
            <a:noFill/>
          </a:ln>
        </p:spPr>
      </p:pic>
      <p:sp>
        <p:nvSpPr>
          <p:cNvPr id="329" name="Google Shape;329;p2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6"/>
          <p:cNvSpPr txBox="1"/>
          <p:nvPr>
            <p:ph type="title"/>
          </p:nvPr>
        </p:nvSpPr>
        <p:spPr>
          <a:xfrm>
            <a:off x="581025" y="687387"/>
            <a:ext cx="7989887" cy="67786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Data Encryption Standard (DES)</a:t>
            </a:r>
            <a:endParaRPr/>
          </a:p>
        </p:txBody>
      </p:sp>
      <p:sp>
        <p:nvSpPr>
          <p:cNvPr id="336" name="Google Shape;336;p26"/>
          <p:cNvSpPr txBox="1"/>
          <p:nvPr>
            <p:ph idx="1" type="body"/>
          </p:nvPr>
        </p:nvSpPr>
        <p:spPr>
          <a:xfrm>
            <a:off x="785812" y="1714500"/>
            <a:ext cx="7672387" cy="4313237"/>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DES developed in 1970’s</a:t>
            </a:r>
            <a:endParaRPr sz="2500"/>
          </a:p>
          <a:p>
            <a:pPr indent="-406400" lvl="0" marL="457200" marR="0" rtl="0" algn="l">
              <a:lnSpc>
                <a:spcPct val="90000"/>
              </a:lnSpc>
              <a:spcBef>
                <a:spcPts val="0"/>
              </a:spcBef>
              <a:spcAft>
                <a:spcPts val="0"/>
              </a:spcAft>
              <a:buClr>
                <a:srgbClr val="FC0410"/>
              </a:buClr>
              <a:buSzPts val="2800"/>
              <a:buFont typeface="Corbel"/>
              <a:buChar char="•"/>
            </a:pPr>
            <a:r>
              <a:rPr b="0" i="0" lang="en-US" sz="2800" u="none">
                <a:solidFill>
                  <a:srgbClr val="FC0410"/>
                </a:solidFill>
                <a:latin typeface="Corbel"/>
                <a:ea typeface="Corbel"/>
                <a:cs typeface="Corbel"/>
                <a:sym typeface="Corbel"/>
              </a:rPr>
              <a:t>Based on IBM Lucifer cipher</a:t>
            </a:r>
            <a:endParaRPr sz="2500"/>
          </a:p>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U.S. government standard</a:t>
            </a:r>
            <a:endParaRPr sz="2500"/>
          </a:p>
          <a:p>
            <a:pPr indent="-406400" lvl="0" marL="457200" marR="0" rtl="0" algn="l">
              <a:lnSpc>
                <a:spcPct val="9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DES development was controversial</a:t>
            </a:r>
            <a:endParaRPr sz="2500"/>
          </a:p>
          <a:p>
            <a:pPr indent="-381000" lvl="1" marL="914400" marR="0" rtl="0" algn="l">
              <a:lnSpc>
                <a:spcPct val="90000"/>
              </a:lnSpc>
              <a:spcBef>
                <a:spcPts val="0"/>
              </a:spcBef>
              <a:spcAft>
                <a:spcPts val="0"/>
              </a:spcAft>
              <a:buClr>
                <a:srgbClr val="0909B3"/>
              </a:buClr>
              <a:buSzPts val="2400"/>
              <a:buFont typeface="Corbel"/>
              <a:buChar char="•"/>
            </a:pPr>
            <a:r>
              <a:rPr b="0" i="0" lang="en-US" sz="2400" u="none" cap="none" strike="noStrike">
                <a:solidFill>
                  <a:srgbClr val="0909B3"/>
                </a:solidFill>
                <a:latin typeface="Corbel"/>
                <a:ea typeface="Corbel"/>
                <a:cs typeface="Corbel"/>
                <a:sym typeface="Corbel"/>
              </a:rPr>
              <a:t>NSA was secretly involved</a:t>
            </a:r>
            <a:endParaRPr sz="2200"/>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Design process not open</a:t>
            </a:r>
            <a:endParaRPr sz="2200"/>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Key length was reduced</a:t>
            </a:r>
            <a:endParaRPr sz="2200"/>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Subtle changes to Lucifer algorithm</a:t>
            </a:r>
            <a:endParaRPr sz="2200"/>
          </a:p>
        </p:txBody>
      </p:sp>
      <p:sp>
        <p:nvSpPr>
          <p:cNvPr id="337" name="Google Shape;337;p2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338" name="Google Shape;338;p2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7"/>
          <p:cNvSpPr txBox="1"/>
          <p:nvPr>
            <p:ph type="title"/>
          </p:nvPr>
        </p:nvSpPr>
        <p:spPr>
          <a:xfrm>
            <a:off x="785812" y="457200"/>
            <a:ext cx="7143750" cy="90011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DES Numerology </a:t>
            </a:r>
            <a:endParaRPr/>
          </a:p>
        </p:txBody>
      </p:sp>
      <p:sp>
        <p:nvSpPr>
          <p:cNvPr id="345" name="Google Shape;345;p27"/>
          <p:cNvSpPr txBox="1"/>
          <p:nvPr>
            <p:ph idx="1" type="body"/>
          </p:nvPr>
        </p:nvSpPr>
        <p:spPr>
          <a:xfrm>
            <a:off x="611187" y="1700212"/>
            <a:ext cx="7670800" cy="408305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5000"/>
              </a:lnSpc>
              <a:spcBef>
                <a:spcPts val="0"/>
              </a:spcBef>
              <a:spcAft>
                <a:spcPts val="0"/>
              </a:spcAft>
              <a:buClr>
                <a:srgbClr val="376092"/>
              </a:buClr>
              <a:buSzPts val="300"/>
              <a:buFont typeface="Arial"/>
              <a:buChar char="•"/>
            </a:pPr>
            <a:r>
              <a:rPr b="0" i="0" lang="en-US" sz="2600" u="none">
                <a:solidFill>
                  <a:schemeClr val="dk1"/>
                </a:solidFill>
                <a:latin typeface="Corbel"/>
                <a:ea typeface="Corbel"/>
                <a:cs typeface="Corbel"/>
                <a:sym typeface="Corbel"/>
              </a:rPr>
              <a:t>DES is a </a:t>
            </a:r>
            <a:r>
              <a:rPr b="0" i="0" lang="en-US" sz="2600" u="none">
                <a:solidFill>
                  <a:srgbClr val="FF0000"/>
                </a:solidFill>
                <a:latin typeface="Corbel"/>
                <a:ea typeface="Corbel"/>
                <a:cs typeface="Corbel"/>
                <a:sym typeface="Corbel"/>
              </a:rPr>
              <a:t>Feistel cipher</a:t>
            </a:r>
            <a:endParaRPr/>
          </a:p>
          <a:p>
            <a:pPr indent="-393700" lvl="1" marL="514350" marR="0" rtl="0" algn="l">
              <a:lnSpc>
                <a:spcPct val="95000"/>
              </a:lnSpc>
              <a:spcBef>
                <a:spcPts val="300"/>
              </a:spcBef>
              <a:spcAft>
                <a:spcPts val="0"/>
              </a:spcAft>
              <a:buClr>
                <a:srgbClr val="376092"/>
              </a:buClr>
              <a:buSzPts val="300"/>
              <a:buFont typeface="Arial"/>
              <a:buChar char="•"/>
            </a:pPr>
            <a:r>
              <a:rPr b="0" i="0" lang="en-US" sz="2200" u="none" cap="none" strike="noStrike">
                <a:solidFill>
                  <a:schemeClr val="dk1"/>
                </a:solidFill>
                <a:latin typeface="Corbel"/>
                <a:ea typeface="Corbel"/>
                <a:cs typeface="Corbel"/>
                <a:sym typeface="Corbel"/>
              </a:rPr>
              <a:t>64 bit block length</a:t>
            </a:r>
            <a:endParaRPr/>
          </a:p>
          <a:p>
            <a:pPr indent="-393700" lvl="1" marL="514350" marR="0" rtl="0" algn="l">
              <a:lnSpc>
                <a:spcPct val="95000"/>
              </a:lnSpc>
              <a:spcBef>
                <a:spcPts val="300"/>
              </a:spcBef>
              <a:spcAft>
                <a:spcPts val="0"/>
              </a:spcAft>
              <a:buClr>
                <a:srgbClr val="376092"/>
              </a:buClr>
              <a:buSzPts val="300"/>
              <a:buFont typeface="Arial"/>
              <a:buChar char="•"/>
            </a:pPr>
            <a:r>
              <a:rPr b="0" i="0" lang="en-US" sz="2200" u="none" cap="none" strike="noStrike">
                <a:solidFill>
                  <a:schemeClr val="dk1"/>
                </a:solidFill>
                <a:latin typeface="Corbel"/>
                <a:ea typeface="Corbel"/>
                <a:cs typeface="Corbel"/>
                <a:sym typeface="Corbel"/>
              </a:rPr>
              <a:t>56 bit key length</a:t>
            </a:r>
            <a:endParaRPr/>
          </a:p>
          <a:p>
            <a:pPr indent="-393700" lvl="1" marL="514350" marR="0" rtl="0" algn="l">
              <a:lnSpc>
                <a:spcPct val="95000"/>
              </a:lnSpc>
              <a:spcBef>
                <a:spcPts val="300"/>
              </a:spcBef>
              <a:spcAft>
                <a:spcPts val="0"/>
              </a:spcAft>
              <a:buClr>
                <a:srgbClr val="376092"/>
              </a:buClr>
              <a:buSzPts val="300"/>
              <a:buFont typeface="Arial"/>
              <a:buChar char="•"/>
            </a:pPr>
            <a:r>
              <a:rPr b="0" i="0" lang="en-US" sz="2200" u="none" cap="none" strike="noStrike">
                <a:solidFill>
                  <a:schemeClr val="dk1"/>
                </a:solidFill>
                <a:latin typeface="Corbel"/>
                <a:ea typeface="Corbel"/>
                <a:cs typeface="Corbel"/>
                <a:sym typeface="Corbel"/>
              </a:rPr>
              <a:t>16 rounds</a:t>
            </a:r>
            <a:endParaRPr/>
          </a:p>
          <a:p>
            <a:pPr indent="-393700" lvl="1" marL="514350" marR="0" rtl="0" algn="l">
              <a:lnSpc>
                <a:spcPct val="95000"/>
              </a:lnSpc>
              <a:spcBef>
                <a:spcPts val="300"/>
              </a:spcBef>
              <a:spcAft>
                <a:spcPts val="0"/>
              </a:spcAft>
              <a:buClr>
                <a:srgbClr val="376092"/>
              </a:buClr>
              <a:buSzPts val="300"/>
              <a:buFont typeface="Arial"/>
              <a:buChar char="•"/>
            </a:pPr>
            <a:r>
              <a:rPr b="0" i="0" lang="en-US" sz="2200" u="none" cap="none" strike="noStrike">
                <a:solidFill>
                  <a:schemeClr val="dk1"/>
                </a:solidFill>
                <a:latin typeface="Corbel"/>
                <a:ea typeface="Corbel"/>
                <a:cs typeface="Corbel"/>
                <a:sym typeface="Corbel"/>
              </a:rPr>
              <a:t>48 bits of key used each round (subkey)</a:t>
            </a:r>
            <a:endParaRPr/>
          </a:p>
          <a:p>
            <a:pPr indent="-171450" lvl="0" marL="171450" marR="0" rtl="0" algn="l">
              <a:lnSpc>
                <a:spcPct val="95000"/>
              </a:lnSpc>
              <a:spcBef>
                <a:spcPts val="300"/>
              </a:spcBef>
              <a:spcAft>
                <a:spcPts val="0"/>
              </a:spcAft>
              <a:buClr>
                <a:srgbClr val="376092"/>
              </a:buClr>
              <a:buSzPts val="300"/>
              <a:buFont typeface="Arial"/>
              <a:buChar char="•"/>
            </a:pPr>
            <a:r>
              <a:rPr b="0" i="0" lang="en-US" sz="2600" u="none">
                <a:solidFill>
                  <a:schemeClr val="dk1"/>
                </a:solidFill>
                <a:latin typeface="Corbel"/>
                <a:ea typeface="Corbel"/>
                <a:cs typeface="Corbel"/>
                <a:sym typeface="Corbel"/>
              </a:rPr>
              <a:t>Each round is simple (for a block cipher)</a:t>
            </a:r>
            <a:endParaRPr/>
          </a:p>
          <a:p>
            <a:pPr indent="-171450" lvl="0" marL="171450" marR="0" rtl="0" algn="l">
              <a:lnSpc>
                <a:spcPct val="95000"/>
              </a:lnSpc>
              <a:spcBef>
                <a:spcPts val="300"/>
              </a:spcBef>
              <a:spcAft>
                <a:spcPts val="0"/>
              </a:spcAft>
              <a:buClr>
                <a:srgbClr val="376092"/>
              </a:buClr>
              <a:buSzPts val="300"/>
              <a:buFont typeface="Arial"/>
              <a:buChar char="•"/>
            </a:pPr>
            <a:r>
              <a:rPr b="0" i="0" lang="en-US" sz="2600" u="none">
                <a:solidFill>
                  <a:schemeClr val="dk1"/>
                </a:solidFill>
                <a:latin typeface="Corbel"/>
                <a:ea typeface="Corbel"/>
                <a:cs typeface="Corbel"/>
                <a:sym typeface="Corbel"/>
              </a:rPr>
              <a:t>Security depends primarily on </a:t>
            </a:r>
            <a:r>
              <a:rPr b="0" i="0" lang="en-US" sz="2600" u="none">
                <a:solidFill>
                  <a:srgbClr val="FF0000"/>
                </a:solidFill>
                <a:latin typeface="Corbel"/>
                <a:ea typeface="Corbel"/>
                <a:cs typeface="Corbel"/>
                <a:sym typeface="Corbel"/>
              </a:rPr>
              <a:t>“S-boxes”</a:t>
            </a:r>
            <a:endParaRPr/>
          </a:p>
          <a:p>
            <a:pPr indent="-393700" lvl="1" marL="514350" marR="0" rtl="0" algn="l">
              <a:lnSpc>
                <a:spcPct val="95000"/>
              </a:lnSpc>
              <a:spcBef>
                <a:spcPts val="300"/>
              </a:spcBef>
              <a:spcAft>
                <a:spcPts val="0"/>
              </a:spcAft>
              <a:buClr>
                <a:srgbClr val="376092"/>
              </a:buClr>
              <a:buSzPts val="300"/>
              <a:buFont typeface="Arial"/>
              <a:buChar char="•"/>
            </a:pPr>
            <a:r>
              <a:rPr b="0" i="0" lang="en-US" sz="2200" u="none" cap="none" strike="noStrike">
                <a:solidFill>
                  <a:schemeClr val="dk1"/>
                </a:solidFill>
                <a:latin typeface="Corbel"/>
                <a:ea typeface="Corbel"/>
                <a:cs typeface="Corbel"/>
                <a:sym typeface="Corbel"/>
              </a:rPr>
              <a:t>Each S-boxes maps 6 bits to 4 bits</a:t>
            </a:r>
            <a:endParaRPr/>
          </a:p>
          <a:p>
            <a:pPr indent="-393700" lvl="1" marL="514350" marR="0" rtl="0" algn="l">
              <a:lnSpc>
                <a:spcPct val="95000"/>
              </a:lnSpc>
              <a:spcBef>
                <a:spcPts val="300"/>
              </a:spcBef>
              <a:spcAft>
                <a:spcPts val="0"/>
              </a:spcAft>
              <a:buClr>
                <a:srgbClr val="376092"/>
              </a:buClr>
              <a:buSzPts val="300"/>
              <a:buFont typeface="Arial"/>
              <a:buChar char="•"/>
            </a:pPr>
            <a:r>
              <a:rPr b="0" i="0" lang="en-US" sz="2200" u="none" cap="none" strike="noStrike">
                <a:solidFill>
                  <a:schemeClr val="dk1"/>
                </a:solidFill>
                <a:latin typeface="Corbel"/>
                <a:ea typeface="Corbel"/>
                <a:cs typeface="Corbel"/>
                <a:sym typeface="Corbel"/>
              </a:rPr>
              <a:t>Total 8 S-boxes</a:t>
            </a:r>
            <a:endParaRPr/>
          </a:p>
        </p:txBody>
      </p:sp>
      <p:sp>
        <p:nvSpPr>
          <p:cNvPr id="346" name="Google Shape;346;p2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descr="des_block" id="347" name="Google Shape;347;p27"/>
          <p:cNvPicPr preferRelativeResize="0"/>
          <p:nvPr/>
        </p:nvPicPr>
        <p:blipFill rotWithShape="1">
          <a:blip r:embed="rId3">
            <a:alphaModFix/>
          </a:blip>
          <a:srcRect b="0" l="0" r="0" t="0"/>
          <a:stretch/>
        </p:blipFill>
        <p:spPr>
          <a:xfrm>
            <a:off x="6589712" y="2000250"/>
            <a:ext cx="2422525" cy="2592387"/>
          </a:xfrm>
          <a:prstGeom prst="rect">
            <a:avLst/>
          </a:prstGeom>
          <a:noFill/>
          <a:ln>
            <a:noFill/>
          </a:ln>
        </p:spPr>
      </p:pic>
      <p:sp>
        <p:nvSpPr>
          <p:cNvPr id="348" name="Google Shape;348;p27"/>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8"/>
          <p:cNvSpPr txBox="1"/>
          <p:nvPr>
            <p:ph type="title"/>
          </p:nvPr>
        </p:nvSpPr>
        <p:spPr>
          <a:xfrm>
            <a:off x="785812" y="122237"/>
            <a:ext cx="6162675" cy="12350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One Round of DES</a:t>
            </a:r>
            <a:endParaRPr/>
          </a:p>
        </p:txBody>
      </p:sp>
      <p:sp>
        <p:nvSpPr>
          <p:cNvPr id="354" name="Google Shape;354;p2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pSp>
        <p:nvGrpSpPr>
          <p:cNvPr id="355" name="Google Shape;355;p28"/>
          <p:cNvGrpSpPr/>
          <p:nvPr/>
        </p:nvGrpSpPr>
        <p:grpSpPr>
          <a:xfrm>
            <a:off x="2990850" y="1884362"/>
            <a:ext cx="5761037" cy="4487862"/>
            <a:chOff x="1489075" y="1703388"/>
            <a:chExt cx="5761038" cy="4487862"/>
          </a:xfrm>
        </p:grpSpPr>
        <p:sp>
          <p:nvSpPr>
            <p:cNvPr id="356" name="Google Shape;356;p28"/>
            <p:cNvSpPr txBox="1"/>
            <p:nvPr/>
          </p:nvSpPr>
          <p:spPr>
            <a:xfrm>
              <a:off x="1560513" y="1703388"/>
              <a:ext cx="431800"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a:t>
              </a:r>
              <a:endParaRPr/>
            </a:p>
          </p:txBody>
        </p:sp>
        <p:sp>
          <p:nvSpPr>
            <p:cNvPr id="357" name="Google Shape;357;p28"/>
            <p:cNvSpPr/>
            <p:nvPr/>
          </p:nvSpPr>
          <p:spPr>
            <a:xfrm>
              <a:off x="2208213" y="2640013"/>
              <a:ext cx="1368414" cy="431784"/>
            </a:xfrm>
            <a:custGeom>
              <a:rect b="b" l="l" r="r" t="t"/>
              <a:pathLst>
                <a:path extrusionOk="0" h="21600" w="21600">
                  <a:moveTo>
                    <a:pt x="0" y="0"/>
                  </a:moveTo>
                  <a:lnTo>
                    <a:pt x="5400" y="21600"/>
                  </a:lnTo>
                  <a:lnTo>
                    <a:pt x="16200" y="21600"/>
                  </a:lnTo>
                  <a:lnTo>
                    <a:pt x="21600" y="0"/>
                  </a:lnTo>
                  <a:lnTo>
                    <a:pt x="0" y="0"/>
                  </a:lnTo>
                  <a:close/>
                </a:path>
              </a:pathLst>
            </a:cu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3">
                    <a:extLst>
                      <a:ext uri="{A12FA001-AC4F-418D-AE19-62706E023703}">
                        <ahyp:hlinkClr val="tx"/>
                      </a:ext>
                    </a:extLst>
                  </a:hlinkClick>
                </a:rPr>
                <a:t>expend</a:t>
              </a:r>
              <a:endParaRPr/>
            </a:p>
          </p:txBody>
        </p:sp>
        <p:sp>
          <p:nvSpPr>
            <p:cNvPr id="358" name="Google Shape;358;p28"/>
            <p:cNvSpPr txBox="1"/>
            <p:nvPr/>
          </p:nvSpPr>
          <p:spPr>
            <a:xfrm>
              <a:off x="4792663" y="2486025"/>
              <a:ext cx="935037"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a:t>
              </a:r>
              <a:endParaRPr/>
            </a:p>
          </p:txBody>
        </p:sp>
        <p:sp>
          <p:nvSpPr>
            <p:cNvPr id="359" name="Google Shape;359;p28"/>
            <p:cNvSpPr txBox="1"/>
            <p:nvPr/>
          </p:nvSpPr>
          <p:spPr>
            <a:xfrm>
              <a:off x="2668588" y="1703388"/>
              <a:ext cx="431800"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R</a:t>
              </a:r>
              <a:endParaRPr/>
            </a:p>
          </p:txBody>
        </p:sp>
        <p:sp>
          <p:nvSpPr>
            <p:cNvPr id="360" name="Google Shape;360;p28"/>
            <p:cNvSpPr/>
            <p:nvPr/>
          </p:nvSpPr>
          <p:spPr>
            <a:xfrm>
              <a:off x="2179638" y="3900488"/>
              <a:ext cx="1439862" cy="431800"/>
            </a:xfrm>
            <a:custGeom>
              <a:rect b="b" l="l" r="r" t="t"/>
              <a:pathLst>
                <a:path extrusionOk="0" h="21600" w="21600">
                  <a:moveTo>
                    <a:pt x="0" y="0"/>
                  </a:moveTo>
                  <a:lnTo>
                    <a:pt x="5400" y="21600"/>
                  </a:lnTo>
                  <a:lnTo>
                    <a:pt x="16200" y="21600"/>
                  </a:lnTo>
                  <a:lnTo>
                    <a:pt x="21600" y="0"/>
                  </a:lnTo>
                  <a:lnTo>
                    <a:pt x="0" y="0"/>
                  </a:lnTo>
                  <a:close/>
                </a:path>
              </a:pathLst>
            </a:cu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4">
                    <a:extLst>
                      <a:ext uri="{A12FA001-AC4F-418D-AE19-62706E023703}">
                        <ahyp:hlinkClr val="tx"/>
                      </a:ext>
                    </a:extLst>
                  </a:hlinkClick>
                </a:rPr>
                <a:t>S-boxes(8)</a:t>
              </a:r>
              <a:endParaRPr/>
            </a:p>
          </p:txBody>
        </p:sp>
        <p:sp>
          <p:nvSpPr>
            <p:cNvPr id="361" name="Google Shape;361;p28"/>
            <p:cNvSpPr txBox="1"/>
            <p:nvPr/>
          </p:nvSpPr>
          <p:spPr>
            <a:xfrm>
              <a:off x="2424113" y="4656138"/>
              <a:ext cx="936625"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5">
                    <a:extLst>
                      <a:ext uri="{A12FA001-AC4F-418D-AE19-62706E023703}">
                        <ahyp:hlinkClr val="tx"/>
                      </a:ext>
                    </a:extLst>
                  </a:hlinkClick>
                </a:rPr>
                <a:t>P Box</a:t>
              </a:r>
              <a:endParaRPr/>
            </a:p>
          </p:txBody>
        </p:sp>
        <p:sp>
          <p:nvSpPr>
            <p:cNvPr id="362" name="Google Shape;362;p28"/>
            <p:cNvSpPr txBox="1"/>
            <p:nvPr/>
          </p:nvSpPr>
          <p:spPr>
            <a:xfrm>
              <a:off x="1631950" y="5759450"/>
              <a:ext cx="431800"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a:t>
              </a:r>
              <a:endParaRPr/>
            </a:p>
          </p:txBody>
        </p:sp>
        <p:sp>
          <p:nvSpPr>
            <p:cNvPr id="363" name="Google Shape;363;p28"/>
            <p:cNvSpPr txBox="1"/>
            <p:nvPr/>
          </p:nvSpPr>
          <p:spPr>
            <a:xfrm>
              <a:off x="2638425" y="5756275"/>
              <a:ext cx="431800"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R</a:t>
              </a:r>
              <a:endParaRPr/>
            </a:p>
          </p:txBody>
        </p:sp>
        <p:sp>
          <p:nvSpPr>
            <p:cNvPr id="364" name="Google Shape;364;p28"/>
            <p:cNvSpPr/>
            <p:nvPr/>
          </p:nvSpPr>
          <p:spPr>
            <a:xfrm>
              <a:off x="2757488" y="3360738"/>
              <a:ext cx="215900" cy="215900"/>
            </a:xfrm>
            <a:prstGeom prst="flowChartOr">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365" name="Google Shape;365;p28"/>
            <p:cNvSpPr/>
            <p:nvPr/>
          </p:nvSpPr>
          <p:spPr>
            <a:xfrm>
              <a:off x="2747963" y="5313363"/>
              <a:ext cx="215900" cy="215900"/>
            </a:xfrm>
            <a:prstGeom prst="flowChartOr">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366" name="Google Shape;366;p28"/>
            <p:cNvSpPr txBox="1"/>
            <p:nvPr/>
          </p:nvSpPr>
          <p:spPr>
            <a:xfrm>
              <a:off x="4945063" y="1703388"/>
              <a:ext cx="2016125"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key</a:t>
              </a:r>
              <a:endParaRPr/>
            </a:p>
          </p:txBody>
        </p:sp>
        <p:sp>
          <p:nvSpPr>
            <p:cNvPr id="367" name="Google Shape;367;p28"/>
            <p:cNvSpPr txBox="1"/>
            <p:nvPr/>
          </p:nvSpPr>
          <p:spPr>
            <a:xfrm>
              <a:off x="6167438" y="2495550"/>
              <a:ext cx="935037"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R</a:t>
              </a:r>
              <a:endParaRPr/>
            </a:p>
          </p:txBody>
        </p:sp>
        <p:sp>
          <p:nvSpPr>
            <p:cNvPr id="368" name="Google Shape;368;p28"/>
            <p:cNvSpPr/>
            <p:nvPr/>
          </p:nvSpPr>
          <p:spPr>
            <a:xfrm>
              <a:off x="5232400" y="3216275"/>
              <a:ext cx="1439863" cy="431800"/>
            </a:xfrm>
            <a:custGeom>
              <a:rect b="b" l="l" r="r" t="t"/>
              <a:pathLst>
                <a:path extrusionOk="0" h="21600" w="21600">
                  <a:moveTo>
                    <a:pt x="0" y="0"/>
                  </a:moveTo>
                  <a:lnTo>
                    <a:pt x="5400" y="21600"/>
                  </a:lnTo>
                  <a:lnTo>
                    <a:pt x="16200" y="21600"/>
                  </a:lnTo>
                  <a:lnTo>
                    <a:pt x="21600" y="0"/>
                  </a:lnTo>
                  <a:lnTo>
                    <a:pt x="0" y="0"/>
                  </a:lnTo>
                  <a:close/>
                </a:path>
              </a:pathLst>
            </a:cu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6">
                    <a:extLst>
                      <a:ext uri="{A12FA001-AC4F-418D-AE19-62706E023703}">
                        <ahyp:hlinkClr val="tx"/>
                      </a:ext>
                    </a:extLst>
                  </a:hlinkClick>
                </a:rPr>
                <a:t>Compress</a:t>
              </a:r>
              <a:endParaRPr/>
            </a:p>
          </p:txBody>
        </p:sp>
        <p:sp>
          <p:nvSpPr>
            <p:cNvPr id="369" name="Google Shape;369;p28"/>
            <p:cNvSpPr txBox="1"/>
            <p:nvPr/>
          </p:nvSpPr>
          <p:spPr>
            <a:xfrm>
              <a:off x="4945063" y="5735638"/>
              <a:ext cx="2087562"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key</a:t>
              </a:r>
              <a:endParaRPr/>
            </a:p>
          </p:txBody>
        </p:sp>
        <p:cxnSp>
          <p:nvCxnSpPr>
            <p:cNvPr id="370" name="Google Shape;370;p28"/>
            <p:cNvCxnSpPr/>
            <p:nvPr/>
          </p:nvCxnSpPr>
          <p:spPr>
            <a:xfrm>
              <a:off x="1784350" y="2138363"/>
              <a:ext cx="488950" cy="3286125"/>
            </a:xfrm>
            <a:prstGeom prst="straightConnector1">
              <a:avLst/>
            </a:prstGeom>
            <a:noFill/>
            <a:ln cap="flat" cmpd="sng" w="9525">
              <a:solidFill>
                <a:schemeClr val="dk1"/>
              </a:solidFill>
              <a:prstDash val="solid"/>
              <a:miter lim="800000"/>
              <a:headEnd len="med" w="med" type="none"/>
              <a:tailEnd len="med" w="med" type="none"/>
            </a:ln>
          </p:spPr>
        </p:cxnSp>
        <p:cxnSp>
          <p:nvCxnSpPr>
            <p:cNvPr id="371" name="Google Shape;371;p28"/>
            <p:cNvCxnSpPr/>
            <p:nvPr/>
          </p:nvCxnSpPr>
          <p:spPr>
            <a:xfrm>
              <a:off x="2268538" y="5427663"/>
              <a:ext cx="485775" cy="3175"/>
            </a:xfrm>
            <a:prstGeom prst="straightConnector1">
              <a:avLst/>
            </a:prstGeom>
            <a:noFill/>
            <a:ln cap="flat" cmpd="sng" w="9525">
              <a:solidFill>
                <a:schemeClr val="dk1"/>
              </a:solidFill>
              <a:prstDash val="solid"/>
              <a:miter lim="800000"/>
              <a:headEnd len="med" w="med" type="none"/>
              <a:tailEnd len="med" w="med" type="triangle"/>
            </a:ln>
          </p:spPr>
        </p:cxnSp>
        <p:cxnSp>
          <p:nvCxnSpPr>
            <p:cNvPr id="372" name="Google Shape;372;p28"/>
            <p:cNvCxnSpPr/>
            <p:nvPr/>
          </p:nvCxnSpPr>
          <p:spPr>
            <a:xfrm>
              <a:off x="2887663" y="2130425"/>
              <a:ext cx="0" cy="496888"/>
            </a:xfrm>
            <a:prstGeom prst="straightConnector1">
              <a:avLst/>
            </a:prstGeom>
            <a:noFill/>
            <a:ln cap="flat" cmpd="sng" w="9525">
              <a:solidFill>
                <a:schemeClr val="dk1"/>
              </a:solidFill>
              <a:prstDash val="solid"/>
              <a:miter lim="800000"/>
              <a:headEnd len="med" w="med" type="none"/>
              <a:tailEnd len="med" w="med" type="triangle"/>
            </a:ln>
          </p:spPr>
        </p:cxnSp>
        <p:cxnSp>
          <p:nvCxnSpPr>
            <p:cNvPr id="373" name="Google Shape;373;p28"/>
            <p:cNvCxnSpPr/>
            <p:nvPr/>
          </p:nvCxnSpPr>
          <p:spPr>
            <a:xfrm>
              <a:off x="2870200" y="3070225"/>
              <a:ext cx="0" cy="273050"/>
            </a:xfrm>
            <a:prstGeom prst="straightConnector1">
              <a:avLst/>
            </a:prstGeom>
            <a:noFill/>
            <a:ln cap="flat" cmpd="sng" w="9525">
              <a:solidFill>
                <a:schemeClr val="dk1"/>
              </a:solidFill>
              <a:prstDash val="solid"/>
              <a:miter lim="800000"/>
              <a:headEnd len="med" w="med" type="none"/>
              <a:tailEnd len="med" w="med" type="triangle"/>
            </a:ln>
          </p:spPr>
        </p:cxnSp>
        <p:cxnSp>
          <p:nvCxnSpPr>
            <p:cNvPr id="374" name="Google Shape;374;p28"/>
            <p:cNvCxnSpPr/>
            <p:nvPr/>
          </p:nvCxnSpPr>
          <p:spPr>
            <a:xfrm>
              <a:off x="2860675" y="3605213"/>
              <a:ext cx="9525" cy="300037"/>
            </a:xfrm>
            <a:prstGeom prst="straightConnector1">
              <a:avLst/>
            </a:prstGeom>
            <a:noFill/>
            <a:ln cap="flat" cmpd="sng" w="9525">
              <a:solidFill>
                <a:schemeClr val="dk1"/>
              </a:solidFill>
              <a:prstDash val="solid"/>
              <a:miter lim="800000"/>
              <a:headEnd len="med" w="med" type="none"/>
              <a:tailEnd len="med" w="med" type="triangle"/>
            </a:ln>
          </p:spPr>
        </p:cxnSp>
        <p:cxnSp>
          <p:nvCxnSpPr>
            <p:cNvPr id="375" name="Google Shape;375;p28"/>
            <p:cNvCxnSpPr/>
            <p:nvPr/>
          </p:nvCxnSpPr>
          <p:spPr>
            <a:xfrm rot="10800000">
              <a:off x="2987675" y="3451225"/>
              <a:ext cx="24003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376" name="Google Shape;376;p28"/>
            <p:cNvCxnSpPr/>
            <p:nvPr/>
          </p:nvCxnSpPr>
          <p:spPr>
            <a:xfrm>
              <a:off x="5522913" y="2138363"/>
              <a:ext cx="0" cy="344487"/>
            </a:xfrm>
            <a:prstGeom prst="straightConnector1">
              <a:avLst/>
            </a:prstGeom>
            <a:noFill/>
            <a:ln cap="flat" cmpd="sng" w="9525">
              <a:solidFill>
                <a:schemeClr val="dk1"/>
              </a:solidFill>
              <a:prstDash val="solid"/>
              <a:miter lim="800000"/>
              <a:headEnd len="med" w="med" type="none"/>
              <a:tailEnd len="med" w="med" type="triangle"/>
            </a:ln>
          </p:spPr>
        </p:cxnSp>
        <p:cxnSp>
          <p:nvCxnSpPr>
            <p:cNvPr id="377" name="Google Shape;377;p28"/>
            <p:cNvCxnSpPr/>
            <p:nvPr/>
          </p:nvCxnSpPr>
          <p:spPr>
            <a:xfrm>
              <a:off x="6384925" y="2135188"/>
              <a:ext cx="0" cy="344487"/>
            </a:xfrm>
            <a:prstGeom prst="straightConnector1">
              <a:avLst/>
            </a:prstGeom>
            <a:noFill/>
            <a:ln cap="flat" cmpd="sng" w="9525">
              <a:solidFill>
                <a:schemeClr val="dk1"/>
              </a:solidFill>
              <a:prstDash val="solid"/>
              <a:miter lim="800000"/>
              <a:headEnd len="med" w="med" type="none"/>
              <a:tailEnd len="med" w="med" type="triangle"/>
            </a:ln>
          </p:spPr>
        </p:cxnSp>
        <p:cxnSp>
          <p:nvCxnSpPr>
            <p:cNvPr id="378" name="Google Shape;378;p28"/>
            <p:cNvCxnSpPr/>
            <p:nvPr/>
          </p:nvCxnSpPr>
          <p:spPr>
            <a:xfrm>
              <a:off x="5511800" y="2919413"/>
              <a:ext cx="9525" cy="280987"/>
            </a:xfrm>
            <a:prstGeom prst="straightConnector1">
              <a:avLst/>
            </a:prstGeom>
            <a:noFill/>
            <a:ln cap="flat" cmpd="sng" w="9525">
              <a:solidFill>
                <a:schemeClr val="dk1"/>
              </a:solidFill>
              <a:prstDash val="solid"/>
              <a:miter lim="800000"/>
              <a:headEnd len="med" w="med" type="none"/>
              <a:tailEnd len="med" w="med" type="triangle"/>
            </a:ln>
          </p:spPr>
        </p:cxnSp>
        <p:cxnSp>
          <p:nvCxnSpPr>
            <p:cNvPr id="379" name="Google Shape;379;p28"/>
            <p:cNvCxnSpPr/>
            <p:nvPr/>
          </p:nvCxnSpPr>
          <p:spPr>
            <a:xfrm>
              <a:off x="6373813" y="2930525"/>
              <a:ext cx="4762" cy="285750"/>
            </a:xfrm>
            <a:prstGeom prst="straightConnector1">
              <a:avLst/>
            </a:prstGeom>
            <a:noFill/>
            <a:ln cap="flat" cmpd="sng" w="9525">
              <a:solidFill>
                <a:schemeClr val="dk1"/>
              </a:solidFill>
              <a:prstDash val="solid"/>
              <a:miter lim="800000"/>
              <a:headEnd len="med" w="med" type="none"/>
              <a:tailEnd len="med" w="med" type="triangle"/>
            </a:ln>
          </p:spPr>
        </p:cxnSp>
        <p:cxnSp>
          <p:nvCxnSpPr>
            <p:cNvPr id="380" name="Google Shape;380;p28"/>
            <p:cNvCxnSpPr/>
            <p:nvPr/>
          </p:nvCxnSpPr>
          <p:spPr>
            <a:xfrm>
              <a:off x="5160963" y="2927350"/>
              <a:ext cx="0" cy="2806700"/>
            </a:xfrm>
            <a:prstGeom prst="straightConnector1">
              <a:avLst/>
            </a:prstGeom>
            <a:noFill/>
            <a:ln cap="flat" cmpd="sng" w="9525">
              <a:solidFill>
                <a:schemeClr val="dk1"/>
              </a:solidFill>
              <a:prstDash val="solid"/>
              <a:miter lim="800000"/>
              <a:headEnd len="med" w="med" type="none"/>
              <a:tailEnd len="med" w="med" type="triangle"/>
            </a:ln>
          </p:spPr>
        </p:cxnSp>
        <p:cxnSp>
          <p:nvCxnSpPr>
            <p:cNvPr id="381" name="Google Shape;381;p28"/>
            <p:cNvCxnSpPr/>
            <p:nvPr/>
          </p:nvCxnSpPr>
          <p:spPr>
            <a:xfrm>
              <a:off x="6816725" y="2927350"/>
              <a:ext cx="0" cy="2806700"/>
            </a:xfrm>
            <a:prstGeom prst="straightConnector1">
              <a:avLst/>
            </a:prstGeom>
            <a:noFill/>
            <a:ln cap="flat" cmpd="sng" w="9525">
              <a:solidFill>
                <a:schemeClr val="dk1"/>
              </a:solidFill>
              <a:prstDash val="solid"/>
              <a:miter lim="800000"/>
              <a:headEnd len="med" w="med" type="none"/>
              <a:tailEnd len="med" w="med" type="triangle"/>
            </a:ln>
          </p:spPr>
        </p:cxnSp>
        <p:cxnSp>
          <p:nvCxnSpPr>
            <p:cNvPr id="382" name="Google Shape;382;p28"/>
            <p:cNvCxnSpPr/>
            <p:nvPr/>
          </p:nvCxnSpPr>
          <p:spPr>
            <a:xfrm>
              <a:off x="2857500" y="4324350"/>
              <a:ext cx="9525" cy="344488"/>
            </a:xfrm>
            <a:prstGeom prst="straightConnector1">
              <a:avLst/>
            </a:prstGeom>
            <a:noFill/>
            <a:ln cap="flat" cmpd="sng" w="9525">
              <a:solidFill>
                <a:schemeClr val="dk1"/>
              </a:solidFill>
              <a:prstDash val="solid"/>
              <a:miter lim="800000"/>
              <a:headEnd len="med" w="med" type="none"/>
              <a:tailEnd len="med" w="med" type="triangle"/>
            </a:ln>
          </p:spPr>
        </p:cxnSp>
        <p:cxnSp>
          <p:nvCxnSpPr>
            <p:cNvPr id="383" name="Google Shape;383;p28"/>
            <p:cNvCxnSpPr/>
            <p:nvPr/>
          </p:nvCxnSpPr>
          <p:spPr>
            <a:xfrm>
              <a:off x="2857500" y="5519738"/>
              <a:ext cx="3175" cy="238125"/>
            </a:xfrm>
            <a:prstGeom prst="straightConnector1">
              <a:avLst/>
            </a:prstGeom>
            <a:noFill/>
            <a:ln cap="flat" cmpd="sng" w="9525">
              <a:solidFill>
                <a:schemeClr val="dk1"/>
              </a:solidFill>
              <a:prstDash val="solid"/>
              <a:miter lim="800000"/>
              <a:headEnd len="med" w="med" type="none"/>
              <a:tailEnd len="med" w="med" type="triangle"/>
            </a:ln>
          </p:spPr>
        </p:cxnSp>
        <p:cxnSp>
          <p:nvCxnSpPr>
            <p:cNvPr id="384" name="Google Shape;384;p28"/>
            <p:cNvCxnSpPr/>
            <p:nvPr/>
          </p:nvCxnSpPr>
          <p:spPr>
            <a:xfrm>
              <a:off x="2852738" y="5083175"/>
              <a:ext cx="1587" cy="215900"/>
            </a:xfrm>
            <a:prstGeom prst="straightConnector1">
              <a:avLst/>
            </a:prstGeom>
            <a:noFill/>
            <a:ln cap="flat" cmpd="sng" w="9525">
              <a:solidFill>
                <a:schemeClr val="dk1"/>
              </a:solidFill>
              <a:prstDash val="solid"/>
              <a:miter lim="800000"/>
              <a:headEnd len="med" w="med" type="none"/>
              <a:tailEnd len="med" w="med" type="triangle"/>
            </a:ln>
          </p:spPr>
        </p:cxnSp>
        <p:cxnSp>
          <p:nvCxnSpPr>
            <p:cNvPr id="385" name="Google Shape;385;p28"/>
            <p:cNvCxnSpPr/>
            <p:nvPr/>
          </p:nvCxnSpPr>
          <p:spPr>
            <a:xfrm rot="10800000">
              <a:off x="2190750" y="2347913"/>
              <a:ext cx="685800" cy="3175"/>
            </a:xfrm>
            <a:prstGeom prst="straightConnector1">
              <a:avLst/>
            </a:prstGeom>
            <a:noFill/>
            <a:ln cap="flat" cmpd="sng" w="9525">
              <a:solidFill>
                <a:schemeClr val="dk1"/>
              </a:solidFill>
              <a:prstDash val="solid"/>
              <a:miter lim="800000"/>
              <a:headEnd len="med" w="med" type="none"/>
              <a:tailEnd len="med" w="med" type="none"/>
            </a:ln>
          </p:spPr>
        </p:cxnSp>
        <p:cxnSp>
          <p:nvCxnSpPr>
            <p:cNvPr id="386" name="Google Shape;386;p28"/>
            <p:cNvCxnSpPr/>
            <p:nvPr/>
          </p:nvCxnSpPr>
          <p:spPr>
            <a:xfrm flipH="1">
              <a:off x="1865313" y="2338388"/>
              <a:ext cx="330200" cy="3400425"/>
            </a:xfrm>
            <a:prstGeom prst="straightConnector1">
              <a:avLst/>
            </a:prstGeom>
            <a:noFill/>
            <a:ln cap="flat" cmpd="sng" w="9525">
              <a:solidFill>
                <a:schemeClr val="dk1"/>
              </a:solidFill>
              <a:prstDash val="solid"/>
              <a:miter lim="800000"/>
              <a:headEnd len="med" w="med" type="none"/>
              <a:tailEnd len="med" w="med" type="triangle"/>
            </a:ln>
          </p:spPr>
        </p:cxnSp>
        <p:sp>
          <p:nvSpPr>
            <p:cNvPr id="387" name="Google Shape;387;p28"/>
            <p:cNvSpPr txBox="1"/>
            <p:nvPr/>
          </p:nvSpPr>
          <p:spPr>
            <a:xfrm>
              <a:off x="3819525" y="3186113"/>
              <a:ext cx="433388"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48</a:t>
              </a:r>
              <a:endParaRPr/>
            </a:p>
          </p:txBody>
        </p:sp>
        <p:sp>
          <p:nvSpPr>
            <p:cNvPr id="388" name="Google Shape;388;p28"/>
            <p:cNvSpPr txBox="1"/>
            <p:nvPr/>
          </p:nvSpPr>
          <p:spPr>
            <a:xfrm>
              <a:off x="1489075" y="2208213"/>
              <a:ext cx="433388"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389" name="Google Shape;389;p28"/>
            <p:cNvSpPr txBox="1"/>
            <p:nvPr/>
          </p:nvSpPr>
          <p:spPr>
            <a:xfrm>
              <a:off x="2928938" y="2208213"/>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390" name="Google Shape;390;p28"/>
            <p:cNvSpPr txBox="1"/>
            <p:nvPr/>
          </p:nvSpPr>
          <p:spPr>
            <a:xfrm>
              <a:off x="1560492" y="5418151"/>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391" name="Google Shape;391;p28"/>
            <p:cNvSpPr txBox="1"/>
            <p:nvPr/>
          </p:nvSpPr>
          <p:spPr>
            <a:xfrm>
              <a:off x="2857500" y="3071813"/>
              <a:ext cx="433388"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48</a:t>
              </a:r>
              <a:endParaRPr/>
            </a:p>
          </p:txBody>
        </p:sp>
        <p:sp>
          <p:nvSpPr>
            <p:cNvPr id="392" name="Google Shape;392;p28"/>
            <p:cNvSpPr txBox="1"/>
            <p:nvPr/>
          </p:nvSpPr>
          <p:spPr>
            <a:xfrm>
              <a:off x="2828925" y="4368800"/>
              <a:ext cx="4333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393" name="Google Shape;393;p28"/>
            <p:cNvSpPr txBox="1"/>
            <p:nvPr/>
          </p:nvSpPr>
          <p:spPr>
            <a:xfrm>
              <a:off x="2846388" y="5087938"/>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394" name="Google Shape;394;p28"/>
            <p:cNvSpPr txBox="1"/>
            <p:nvPr/>
          </p:nvSpPr>
          <p:spPr>
            <a:xfrm>
              <a:off x="2843213" y="5491163"/>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395" name="Google Shape;395;p28"/>
            <p:cNvSpPr txBox="1"/>
            <p:nvPr/>
          </p:nvSpPr>
          <p:spPr>
            <a:xfrm>
              <a:off x="2857500" y="3557588"/>
              <a:ext cx="433388"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48</a:t>
              </a:r>
              <a:endParaRPr/>
            </a:p>
          </p:txBody>
        </p:sp>
        <p:sp>
          <p:nvSpPr>
            <p:cNvPr id="396" name="Google Shape;396;p28"/>
            <p:cNvSpPr txBox="1"/>
            <p:nvPr/>
          </p:nvSpPr>
          <p:spPr>
            <a:xfrm>
              <a:off x="5494338" y="2911475"/>
              <a:ext cx="4333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397" name="Google Shape;397;p28"/>
            <p:cNvSpPr txBox="1"/>
            <p:nvPr/>
          </p:nvSpPr>
          <p:spPr>
            <a:xfrm>
              <a:off x="6399213" y="2135188"/>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398" name="Google Shape;398;p28"/>
            <p:cNvSpPr txBox="1"/>
            <p:nvPr/>
          </p:nvSpPr>
          <p:spPr>
            <a:xfrm>
              <a:off x="5160963" y="2135188"/>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399" name="Google Shape;399;p28"/>
            <p:cNvSpPr txBox="1"/>
            <p:nvPr/>
          </p:nvSpPr>
          <p:spPr>
            <a:xfrm>
              <a:off x="6024563" y="2927350"/>
              <a:ext cx="4333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400" name="Google Shape;400;p28"/>
            <p:cNvSpPr txBox="1"/>
            <p:nvPr/>
          </p:nvSpPr>
          <p:spPr>
            <a:xfrm>
              <a:off x="4800600" y="4368800"/>
              <a:ext cx="4333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401" name="Google Shape;401;p28"/>
            <p:cNvSpPr txBox="1"/>
            <p:nvPr/>
          </p:nvSpPr>
          <p:spPr>
            <a:xfrm>
              <a:off x="6816725" y="4295775"/>
              <a:ext cx="4333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grpSp>
      <p:pic>
        <p:nvPicPr>
          <p:cNvPr descr="des_block" id="402" name="Google Shape;402;p28"/>
          <p:cNvPicPr preferRelativeResize="0"/>
          <p:nvPr/>
        </p:nvPicPr>
        <p:blipFill rotWithShape="1">
          <a:blip r:embed="rId7">
            <a:alphaModFix/>
          </a:blip>
          <a:srcRect b="0" l="0" r="0" t="0"/>
          <a:stretch/>
        </p:blipFill>
        <p:spPr>
          <a:xfrm>
            <a:off x="666750" y="2832100"/>
            <a:ext cx="1949450" cy="2085975"/>
          </a:xfrm>
          <a:prstGeom prst="rect">
            <a:avLst/>
          </a:prstGeom>
          <a:noFill/>
          <a:ln>
            <a:noFill/>
          </a:ln>
        </p:spPr>
      </p:pic>
      <p:sp>
        <p:nvSpPr>
          <p:cNvPr id="403" name="Google Shape;403;p28"/>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9"/>
          <p:cNvSpPr txBox="1"/>
          <p:nvPr>
            <p:ph type="title"/>
          </p:nvPr>
        </p:nvSpPr>
        <p:spPr>
          <a:xfrm>
            <a:off x="468312" y="404812"/>
            <a:ext cx="7886700" cy="10620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Initial permutation</a:t>
            </a:r>
            <a:endParaRPr/>
          </a:p>
        </p:txBody>
      </p:sp>
      <p:pic>
        <p:nvPicPr>
          <p:cNvPr descr="Screen Clipping" id="409" name="Google Shape;409;p29"/>
          <p:cNvPicPr preferRelativeResize="0"/>
          <p:nvPr>
            <p:ph idx="1" type="body"/>
          </p:nvPr>
        </p:nvPicPr>
        <p:blipFill rotWithShape="1">
          <a:blip r:embed="rId3">
            <a:alphaModFix/>
          </a:blip>
          <a:srcRect b="0" l="0" r="0" t="0"/>
          <a:stretch/>
        </p:blipFill>
        <p:spPr>
          <a:xfrm>
            <a:off x="152400" y="1916112"/>
            <a:ext cx="2448000" cy="4732200"/>
          </a:xfrm>
          <a:prstGeom prst="rect">
            <a:avLst/>
          </a:prstGeom>
          <a:noFill/>
          <a:ln>
            <a:noFill/>
          </a:ln>
        </p:spPr>
      </p:pic>
      <p:sp>
        <p:nvSpPr>
          <p:cNvPr id="410" name="Google Shape;410;p2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descr="Screen Clipping" id="411" name="Google Shape;411;p29"/>
          <p:cNvPicPr preferRelativeResize="0"/>
          <p:nvPr/>
        </p:nvPicPr>
        <p:blipFill rotWithShape="1">
          <a:blip r:embed="rId4">
            <a:alphaModFix/>
          </a:blip>
          <a:srcRect b="0" l="0" r="0" t="0"/>
          <a:stretch/>
        </p:blipFill>
        <p:spPr>
          <a:xfrm>
            <a:off x="3016250" y="2620962"/>
            <a:ext cx="2736850" cy="2835275"/>
          </a:xfrm>
          <a:prstGeom prst="rect">
            <a:avLst/>
          </a:prstGeom>
          <a:noFill/>
          <a:ln>
            <a:noFill/>
          </a:ln>
        </p:spPr>
      </p:pic>
      <p:pic>
        <p:nvPicPr>
          <p:cNvPr descr="Screen Clipping" id="412" name="Google Shape;412;p29"/>
          <p:cNvPicPr preferRelativeResize="0"/>
          <p:nvPr/>
        </p:nvPicPr>
        <p:blipFill rotWithShape="1">
          <a:blip r:embed="rId5">
            <a:alphaModFix/>
          </a:blip>
          <a:srcRect b="0" l="0" r="0" t="0"/>
          <a:stretch/>
        </p:blipFill>
        <p:spPr>
          <a:xfrm>
            <a:off x="5878512" y="2660650"/>
            <a:ext cx="2679700" cy="2767012"/>
          </a:xfrm>
          <a:prstGeom prst="rect">
            <a:avLst/>
          </a:prstGeom>
          <a:noFill/>
          <a:ln>
            <a:noFill/>
          </a:ln>
        </p:spPr>
      </p:pic>
      <p:sp>
        <p:nvSpPr>
          <p:cNvPr id="413" name="Google Shape;413;p2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0"/>
          <p:cNvSpPr txBox="1"/>
          <p:nvPr>
            <p:ph type="title"/>
          </p:nvPr>
        </p:nvSpPr>
        <p:spPr>
          <a:xfrm>
            <a:off x="649287" y="415925"/>
            <a:ext cx="5854700" cy="8080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Corbel"/>
              <a:buNone/>
            </a:pPr>
            <a:r>
              <a:rPr b="0" i="0" lang="en-US" sz="3600" u="none">
                <a:solidFill>
                  <a:schemeClr val="lt1"/>
                </a:solidFill>
                <a:latin typeface="Corbel"/>
                <a:ea typeface="Corbel"/>
                <a:cs typeface="Corbel"/>
                <a:sym typeface="Corbel"/>
              </a:rPr>
              <a:t>DES Expansion Permutation</a:t>
            </a:r>
            <a:endParaRPr/>
          </a:p>
        </p:txBody>
      </p:sp>
      <p:sp>
        <p:nvSpPr>
          <p:cNvPr id="420" name="Google Shape;420;p30"/>
          <p:cNvSpPr txBox="1"/>
          <p:nvPr>
            <p:ph idx="1" type="body"/>
          </p:nvPr>
        </p:nvSpPr>
        <p:spPr>
          <a:xfrm>
            <a:off x="785812" y="1595437"/>
            <a:ext cx="3098800" cy="492125"/>
          </a:xfrm>
          <a:prstGeom prst="rect">
            <a:avLst/>
          </a:prstGeom>
          <a:noFill/>
          <a:ln>
            <a:noFill/>
          </a:ln>
        </p:spPr>
        <p:txBody>
          <a:bodyPr anchorCtr="0" anchor="t" bIns="45700" lIns="91425" spcFirstLastPara="1" rIns="91425" wrap="square" tIns="45700">
            <a:noAutofit/>
          </a:bodyPr>
          <a:lstStyle/>
          <a:p>
            <a:pPr indent="-449262" lvl="0" marL="457200" rtl="0" algn="l">
              <a:lnSpc>
                <a:spcPct val="90000"/>
              </a:lnSpc>
              <a:spcBef>
                <a:spcPts val="0"/>
              </a:spcBef>
              <a:spcAft>
                <a:spcPts val="0"/>
              </a:spcAft>
              <a:buClr>
                <a:srgbClr val="376092"/>
              </a:buClr>
              <a:buSzPts val="400"/>
              <a:buFont typeface="Arial"/>
              <a:buChar char="•"/>
            </a:pPr>
            <a:r>
              <a:rPr b="0" i="0" lang="en-US" sz="2600" u="none">
                <a:solidFill>
                  <a:schemeClr val="dk1"/>
                </a:solidFill>
                <a:latin typeface="Corbel"/>
                <a:ea typeface="Corbel"/>
                <a:cs typeface="Corbel"/>
                <a:sym typeface="Corbel"/>
              </a:rPr>
              <a:t>Input 32 bits</a:t>
            </a:r>
            <a:endParaRPr/>
          </a:p>
        </p:txBody>
      </p:sp>
      <p:graphicFrame>
        <p:nvGraphicFramePr>
          <p:cNvPr id="421" name="Google Shape;421;p30"/>
          <p:cNvGraphicFramePr/>
          <p:nvPr/>
        </p:nvGraphicFramePr>
        <p:xfrm>
          <a:off x="827087" y="2111375"/>
          <a:ext cx="3000000" cy="3000000"/>
        </p:xfrm>
        <a:graphic>
          <a:graphicData uri="http://schemas.openxmlformats.org/drawingml/2006/table">
            <a:tbl>
              <a:tblPr>
                <a:noFill/>
                <a:tableStyleId>{544FB276-6C9D-4771-A9D3-37D8E1AA6F45}</a:tableStyleId>
              </a:tblPr>
              <a:tblGrid>
                <a:gridCol w="485775"/>
                <a:gridCol w="485775"/>
                <a:gridCol w="485775"/>
                <a:gridCol w="485775"/>
                <a:gridCol w="485775"/>
                <a:gridCol w="485775"/>
                <a:gridCol w="485775"/>
                <a:gridCol w="485775"/>
                <a:gridCol w="485775"/>
                <a:gridCol w="485775"/>
                <a:gridCol w="485775"/>
                <a:gridCol w="485775"/>
                <a:gridCol w="485775"/>
                <a:gridCol w="485775"/>
                <a:gridCol w="485775"/>
                <a:gridCol w="485775"/>
              </a:tblGrid>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3</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4</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5</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6</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7</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8</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9</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12</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13</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14</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15</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r>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925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16</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17</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18</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19</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22</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23</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24</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25</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26</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27</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28</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29</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30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31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r>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0</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cap="none" strike="noStrike">
                          <a:solidFill>
                            <a:schemeClr val="dk1"/>
                          </a:solidFill>
                          <a:latin typeface="Comic Sans MS"/>
                          <a:ea typeface="Comic Sans MS"/>
                          <a:cs typeface="Comic Sans MS"/>
                          <a:sym typeface="Comic Sans MS"/>
                        </a:rPr>
                        <a:t>1</a:t>
                      </a:r>
                      <a:endParaRPr/>
                    </a:p>
                  </a:txBody>
                  <a:tcPr marT="45675" marB="4567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22" name="Google Shape;422;p3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423" name="Google Shape;423;p30"/>
          <p:cNvSpPr txBox="1"/>
          <p:nvPr/>
        </p:nvSpPr>
        <p:spPr>
          <a:xfrm>
            <a:off x="1966912" y="3656012"/>
            <a:ext cx="3209925" cy="5032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820"/>
              <a:buFont typeface="Noto Sans Symbols"/>
              <a:buChar char="●"/>
            </a:pPr>
            <a:r>
              <a:rPr b="0" i="0" lang="en-US" sz="2600" u="none">
                <a:solidFill>
                  <a:schemeClr val="dk1"/>
                </a:solidFill>
                <a:latin typeface="Comic Sans MS"/>
                <a:ea typeface="Comic Sans MS"/>
                <a:cs typeface="Comic Sans MS"/>
                <a:sym typeface="Comic Sans MS"/>
              </a:rPr>
              <a:t>Output 48 bits</a:t>
            </a:r>
            <a:endParaRPr/>
          </a:p>
        </p:txBody>
      </p:sp>
      <p:sp>
        <p:nvSpPr>
          <p:cNvPr id="424" name="Google Shape;424;p30"/>
          <p:cNvSpPr/>
          <p:nvPr/>
        </p:nvSpPr>
        <p:spPr>
          <a:xfrm>
            <a:off x="6640512" y="466725"/>
            <a:ext cx="1368414" cy="431784"/>
          </a:xfrm>
          <a:custGeom>
            <a:rect b="b" l="l" r="r" t="t"/>
            <a:pathLst>
              <a:path extrusionOk="0" h="21600" w="21600">
                <a:moveTo>
                  <a:pt x="0" y="0"/>
                </a:moveTo>
                <a:lnTo>
                  <a:pt x="5400" y="21600"/>
                </a:lnTo>
                <a:lnTo>
                  <a:pt x="16200" y="21600"/>
                </a:lnTo>
                <a:lnTo>
                  <a:pt x="21600" y="0"/>
                </a:lnTo>
                <a:lnTo>
                  <a:pt x="0" y="0"/>
                </a:lnTo>
                <a:close/>
              </a:path>
            </a:pathLst>
          </a:cu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expend</a:t>
            </a:r>
            <a:endParaRPr/>
          </a:p>
        </p:txBody>
      </p:sp>
      <p:cxnSp>
        <p:nvCxnSpPr>
          <p:cNvPr id="425" name="Google Shape;425;p30"/>
          <p:cNvCxnSpPr/>
          <p:nvPr/>
        </p:nvCxnSpPr>
        <p:spPr>
          <a:xfrm>
            <a:off x="7273925" y="120650"/>
            <a:ext cx="0" cy="346075"/>
          </a:xfrm>
          <a:prstGeom prst="straightConnector1">
            <a:avLst/>
          </a:prstGeom>
          <a:noFill/>
          <a:ln cap="flat" cmpd="sng" w="9525">
            <a:solidFill>
              <a:schemeClr val="dk1"/>
            </a:solidFill>
            <a:prstDash val="solid"/>
            <a:miter lim="800000"/>
            <a:headEnd len="med" w="med" type="none"/>
            <a:tailEnd len="med" w="med" type="stealth"/>
          </a:ln>
        </p:spPr>
      </p:cxnSp>
      <p:cxnSp>
        <p:nvCxnSpPr>
          <p:cNvPr id="426" name="Google Shape;426;p30"/>
          <p:cNvCxnSpPr/>
          <p:nvPr/>
        </p:nvCxnSpPr>
        <p:spPr>
          <a:xfrm>
            <a:off x="7273925" y="898525"/>
            <a:ext cx="0" cy="301500"/>
          </a:xfrm>
          <a:prstGeom prst="straightConnector1">
            <a:avLst/>
          </a:prstGeom>
          <a:noFill/>
          <a:ln cap="flat" cmpd="sng" w="9525">
            <a:solidFill>
              <a:schemeClr val="dk1"/>
            </a:solidFill>
            <a:prstDash val="solid"/>
            <a:miter lim="800000"/>
            <a:headEnd len="med" w="med" type="none"/>
            <a:tailEnd len="med" w="med" type="stealth"/>
          </a:ln>
        </p:spPr>
      </p:cxnSp>
      <p:sp>
        <p:nvSpPr>
          <p:cNvPr id="427" name="Google Shape;427;p30"/>
          <p:cNvSpPr txBox="1"/>
          <p:nvPr/>
        </p:nvSpPr>
        <p:spPr>
          <a:xfrm>
            <a:off x="7305675" y="6350"/>
            <a:ext cx="4159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32</a:t>
            </a:r>
            <a:endParaRPr/>
          </a:p>
        </p:txBody>
      </p:sp>
      <p:sp>
        <p:nvSpPr>
          <p:cNvPr id="428" name="Google Shape;428;p30"/>
          <p:cNvSpPr txBox="1"/>
          <p:nvPr/>
        </p:nvSpPr>
        <p:spPr>
          <a:xfrm>
            <a:off x="7593012" y="1638300"/>
            <a:ext cx="4159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48</a:t>
            </a:r>
            <a:endParaRPr/>
          </a:p>
        </p:txBody>
      </p:sp>
      <p:sp>
        <p:nvSpPr>
          <p:cNvPr id="429" name="Google Shape;429;p30"/>
          <p:cNvSpPr txBox="1"/>
          <p:nvPr/>
        </p:nvSpPr>
        <p:spPr>
          <a:xfrm>
            <a:off x="71437" y="2087562"/>
            <a:ext cx="6953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30" name="Google Shape;430;p30"/>
          <p:cNvSpPr txBox="1"/>
          <p:nvPr/>
        </p:nvSpPr>
        <p:spPr>
          <a:xfrm>
            <a:off x="92075" y="2813050"/>
            <a:ext cx="6937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graphicFrame>
        <p:nvGraphicFramePr>
          <p:cNvPr id="431" name="Google Shape;431;p30"/>
          <p:cNvGraphicFramePr/>
          <p:nvPr/>
        </p:nvGraphicFramePr>
        <p:xfrm>
          <a:off x="2052637" y="4221162"/>
          <a:ext cx="3000000" cy="3000000"/>
        </p:xfrm>
        <a:graphic>
          <a:graphicData uri="http://schemas.openxmlformats.org/drawingml/2006/table">
            <a:tbl>
              <a:tblPr>
                <a:noFill/>
                <a:tableStyleId>{544FB276-6C9D-4771-A9D3-37D8E1AA6F45}</a:tableStyleId>
              </a:tblPr>
              <a:tblGrid>
                <a:gridCol w="463550"/>
                <a:gridCol w="512750"/>
                <a:gridCol w="522275"/>
                <a:gridCol w="520700"/>
                <a:gridCol w="522275"/>
                <a:gridCol w="522275"/>
                <a:gridCol w="520700"/>
                <a:gridCol w="522275"/>
                <a:gridCol w="520700"/>
                <a:gridCol w="522275"/>
                <a:gridCol w="520700"/>
                <a:gridCol w="522275"/>
              </a:tblGrid>
              <a:tr h="304800">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r>
              <a:tr h="304800">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r>
              <a:tr h="304800">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r>
              <a:tr h="304800">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r>
              <a:tr h="304800">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32" name="Google Shape;432;p30"/>
          <p:cNvSpPr txBox="1"/>
          <p:nvPr/>
        </p:nvSpPr>
        <p:spPr>
          <a:xfrm>
            <a:off x="1363662" y="4194175"/>
            <a:ext cx="6953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33" name="Google Shape;433;p30"/>
          <p:cNvSpPr txBox="1"/>
          <p:nvPr/>
        </p:nvSpPr>
        <p:spPr>
          <a:xfrm>
            <a:off x="1352550" y="4799012"/>
            <a:ext cx="6953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34" name="Google Shape;434;p30"/>
          <p:cNvSpPr txBox="1"/>
          <p:nvPr/>
        </p:nvSpPr>
        <p:spPr>
          <a:xfrm>
            <a:off x="1368425" y="5384800"/>
            <a:ext cx="6937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35" name="Google Shape;435;p30"/>
          <p:cNvSpPr txBox="1"/>
          <p:nvPr/>
        </p:nvSpPr>
        <p:spPr>
          <a:xfrm>
            <a:off x="1352550" y="6032500"/>
            <a:ext cx="6953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36" name="Google Shape;436;p3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1"/>
          <p:cNvSpPr txBox="1"/>
          <p:nvPr>
            <p:ph type="title"/>
          </p:nvPr>
        </p:nvSpPr>
        <p:spPr>
          <a:xfrm>
            <a:off x="649287" y="415925"/>
            <a:ext cx="7739062" cy="8080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orbel"/>
              <a:buNone/>
            </a:pPr>
            <a:r>
              <a:rPr b="0" i="0" lang="en-US" sz="3600" u="none">
                <a:solidFill>
                  <a:schemeClr val="lt1"/>
                </a:solidFill>
                <a:latin typeface="Corbel"/>
                <a:ea typeface="Corbel"/>
                <a:cs typeface="Corbel"/>
                <a:sym typeface="Corbel"/>
              </a:rPr>
              <a:t>DES Expansion Permutation</a:t>
            </a:r>
            <a:endParaRPr/>
          </a:p>
        </p:txBody>
      </p:sp>
      <p:sp>
        <p:nvSpPr>
          <p:cNvPr id="442" name="Google Shape;442;p31"/>
          <p:cNvSpPr txBox="1"/>
          <p:nvPr>
            <p:ph idx="1" type="body"/>
          </p:nvPr>
        </p:nvSpPr>
        <p:spPr>
          <a:xfrm>
            <a:off x="660400" y="1462087"/>
            <a:ext cx="3098800" cy="490537"/>
          </a:xfrm>
          <a:prstGeom prst="rect">
            <a:avLst/>
          </a:prstGeom>
          <a:noFill/>
          <a:ln>
            <a:noFill/>
          </a:ln>
        </p:spPr>
        <p:txBody>
          <a:bodyPr anchorCtr="0" anchor="t" bIns="45700" lIns="91425" spcFirstLastPara="1" rIns="91425" wrap="square" tIns="45700">
            <a:noAutofit/>
          </a:bodyPr>
          <a:lstStyle/>
          <a:p>
            <a:pPr indent="-449262" lvl="0" marL="457200" rtl="0" algn="l">
              <a:lnSpc>
                <a:spcPct val="90000"/>
              </a:lnSpc>
              <a:spcBef>
                <a:spcPts val="0"/>
              </a:spcBef>
              <a:spcAft>
                <a:spcPts val="0"/>
              </a:spcAft>
              <a:buClr>
                <a:srgbClr val="376092"/>
              </a:buClr>
              <a:buSzPts val="400"/>
              <a:buFont typeface="Arial"/>
              <a:buChar char="•"/>
            </a:pPr>
            <a:r>
              <a:rPr b="0" i="0" lang="en-US" sz="2600" u="none">
                <a:solidFill>
                  <a:schemeClr val="dk1"/>
                </a:solidFill>
                <a:latin typeface="Corbel"/>
                <a:ea typeface="Corbel"/>
                <a:cs typeface="Corbel"/>
                <a:sym typeface="Corbel"/>
              </a:rPr>
              <a:t>Input 32 bits</a:t>
            </a:r>
            <a:endParaRPr/>
          </a:p>
        </p:txBody>
      </p:sp>
      <p:graphicFrame>
        <p:nvGraphicFramePr>
          <p:cNvPr id="443" name="Google Shape;443;p31"/>
          <p:cNvGraphicFramePr/>
          <p:nvPr/>
        </p:nvGraphicFramePr>
        <p:xfrm>
          <a:off x="1187450" y="2060575"/>
          <a:ext cx="3000000" cy="3000000"/>
        </p:xfrm>
        <a:graphic>
          <a:graphicData uri="http://schemas.openxmlformats.org/drawingml/2006/table">
            <a:tbl>
              <a:tblPr>
                <a:noFill/>
                <a:tableStyleId>{544FB276-6C9D-4771-A9D3-37D8E1AA6F45}</a:tableStyleId>
              </a:tblPr>
              <a:tblGrid>
                <a:gridCol w="485775"/>
                <a:gridCol w="485775"/>
                <a:gridCol w="485775"/>
                <a:gridCol w="485775"/>
                <a:gridCol w="485775"/>
                <a:gridCol w="485775"/>
                <a:gridCol w="485775"/>
                <a:gridCol w="485775"/>
                <a:gridCol w="485775"/>
                <a:gridCol w="485775"/>
                <a:gridCol w="485775"/>
                <a:gridCol w="485775"/>
                <a:gridCol w="485775"/>
                <a:gridCol w="485775"/>
                <a:gridCol w="485775"/>
                <a:gridCol w="485775"/>
              </a:tblGrid>
              <a:tr h="304800">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r>
              <a:tr h="304800">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31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DD7EE"/>
                    </a:solidFill>
                  </a:tcPr>
                </a:tc>
              </a:tr>
              <a:tr h="304800">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44" name="Google Shape;444;p3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445" name="Google Shape;445;p31"/>
          <p:cNvSpPr txBox="1"/>
          <p:nvPr/>
        </p:nvSpPr>
        <p:spPr>
          <a:xfrm>
            <a:off x="660400" y="3411537"/>
            <a:ext cx="3209925" cy="5032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400"/>
              <a:buFont typeface="Noto Sans Symbols"/>
              <a:buChar char="●"/>
            </a:pPr>
            <a:r>
              <a:rPr b="0" i="0" lang="en-US" sz="2000" u="none">
                <a:solidFill>
                  <a:schemeClr val="dk1"/>
                </a:solidFill>
                <a:latin typeface="Comic Sans MS"/>
                <a:ea typeface="Comic Sans MS"/>
                <a:cs typeface="Comic Sans MS"/>
                <a:sym typeface="Comic Sans MS"/>
              </a:rPr>
              <a:t>Output 48 bits</a:t>
            </a:r>
            <a:endParaRPr/>
          </a:p>
        </p:txBody>
      </p:sp>
      <p:graphicFrame>
        <p:nvGraphicFramePr>
          <p:cNvPr id="446" name="Google Shape;446;p31"/>
          <p:cNvGraphicFramePr/>
          <p:nvPr/>
        </p:nvGraphicFramePr>
        <p:xfrm>
          <a:off x="1309687" y="3832225"/>
          <a:ext cx="3000000" cy="3000000"/>
        </p:xfrm>
        <a:graphic>
          <a:graphicData uri="http://schemas.openxmlformats.org/drawingml/2006/table">
            <a:tbl>
              <a:tblPr>
                <a:noFill/>
                <a:tableStyleId>{544FB276-6C9D-4771-A9D3-37D8E1AA6F45}</a:tableStyleId>
              </a:tblPr>
              <a:tblGrid>
                <a:gridCol w="463550"/>
                <a:gridCol w="512750"/>
                <a:gridCol w="522275"/>
                <a:gridCol w="520700"/>
                <a:gridCol w="522275"/>
                <a:gridCol w="522275"/>
                <a:gridCol w="520700"/>
                <a:gridCol w="522275"/>
                <a:gridCol w="520700"/>
                <a:gridCol w="522275"/>
                <a:gridCol w="520700"/>
                <a:gridCol w="522275"/>
              </a:tblGrid>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r>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 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 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 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r>
              <a:tr h="34925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 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 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r>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r>
              <a:tr h="35082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47" name="Google Shape;447;p31"/>
          <p:cNvSpPr txBox="1"/>
          <p:nvPr/>
        </p:nvSpPr>
        <p:spPr>
          <a:xfrm>
            <a:off x="517525" y="2001837"/>
            <a:ext cx="6937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48" name="Google Shape;448;p31"/>
          <p:cNvSpPr txBox="1"/>
          <p:nvPr/>
        </p:nvSpPr>
        <p:spPr>
          <a:xfrm>
            <a:off x="493712" y="2606675"/>
            <a:ext cx="6937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49" name="Google Shape;449;p31"/>
          <p:cNvSpPr txBox="1"/>
          <p:nvPr/>
        </p:nvSpPr>
        <p:spPr>
          <a:xfrm>
            <a:off x="619125" y="3832225"/>
            <a:ext cx="6937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50" name="Google Shape;450;p31"/>
          <p:cNvSpPr txBox="1"/>
          <p:nvPr/>
        </p:nvSpPr>
        <p:spPr>
          <a:xfrm>
            <a:off x="606425" y="4497387"/>
            <a:ext cx="6953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51" name="Google Shape;451;p31"/>
          <p:cNvSpPr txBox="1"/>
          <p:nvPr/>
        </p:nvSpPr>
        <p:spPr>
          <a:xfrm>
            <a:off x="622300" y="5160962"/>
            <a:ext cx="6953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52" name="Google Shape;452;p31"/>
          <p:cNvSpPr txBox="1"/>
          <p:nvPr/>
        </p:nvSpPr>
        <p:spPr>
          <a:xfrm>
            <a:off x="606425" y="5908675"/>
            <a:ext cx="6953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index</a:t>
            </a:r>
            <a:endParaRPr/>
          </a:p>
        </p:txBody>
      </p:sp>
      <p:sp>
        <p:nvSpPr>
          <p:cNvPr id="453" name="Google Shape;453;p3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2"/>
          <p:cNvSpPr txBox="1"/>
          <p:nvPr>
            <p:ph type="title"/>
          </p:nvPr>
        </p:nvSpPr>
        <p:spPr>
          <a:xfrm>
            <a:off x="571500" y="331787"/>
            <a:ext cx="5080000" cy="10239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DES S-box</a:t>
            </a:r>
            <a:endParaRPr/>
          </a:p>
        </p:txBody>
      </p:sp>
      <p:sp>
        <p:nvSpPr>
          <p:cNvPr id="460" name="Google Shape;460;p32"/>
          <p:cNvSpPr txBox="1"/>
          <p:nvPr>
            <p:ph idx="1" type="body"/>
          </p:nvPr>
        </p:nvSpPr>
        <p:spPr>
          <a:xfrm>
            <a:off x="785812" y="1714500"/>
            <a:ext cx="7745412" cy="1000125"/>
          </a:xfrm>
          <a:prstGeom prst="rect">
            <a:avLst/>
          </a:prstGeom>
          <a:noFill/>
          <a:ln>
            <a:noFill/>
          </a:ln>
        </p:spPr>
        <p:txBody>
          <a:bodyPr anchorCtr="0" anchor="t" bIns="45700" lIns="91425" spcFirstLastPara="1" rIns="91425" wrap="square" tIns="45700">
            <a:normAutofit/>
          </a:bodyPr>
          <a:lstStyle/>
          <a:p>
            <a:pPr indent="-342900" lvl="0" marL="342900" rtl="0" algn="l">
              <a:lnSpc>
                <a:spcPct val="70000"/>
              </a:lnSpc>
              <a:spcBef>
                <a:spcPts val="0"/>
              </a:spcBef>
              <a:spcAft>
                <a:spcPts val="0"/>
              </a:spcAft>
              <a:buClr>
                <a:srgbClr val="376092"/>
              </a:buClr>
              <a:buSzPts val="400"/>
              <a:buFont typeface="Arial"/>
              <a:buChar char="•"/>
            </a:pPr>
            <a:r>
              <a:rPr b="0" i="0" lang="en-US" sz="2000" u="none">
                <a:solidFill>
                  <a:srgbClr val="000000"/>
                </a:solidFill>
                <a:latin typeface="Corbel"/>
                <a:ea typeface="Corbel"/>
                <a:cs typeface="Corbel"/>
                <a:sym typeface="Corbel"/>
              </a:rPr>
              <a:t>8 “substitution boxes” or S-boxes</a:t>
            </a:r>
            <a:endParaRPr/>
          </a:p>
          <a:p>
            <a:pPr indent="-342900" lvl="0" marL="342900" rtl="0" algn="l">
              <a:lnSpc>
                <a:spcPct val="70000"/>
              </a:lnSpc>
              <a:spcBef>
                <a:spcPts val="400"/>
              </a:spcBef>
              <a:spcAft>
                <a:spcPts val="0"/>
              </a:spcAft>
              <a:buClr>
                <a:srgbClr val="376092"/>
              </a:buClr>
              <a:buSzPts val="400"/>
              <a:buFont typeface="Arial"/>
              <a:buChar char="•"/>
            </a:pPr>
            <a:r>
              <a:rPr b="0" i="0" lang="en-US" sz="2000" u="none">
                <a:solidFill>
                  <a:srgbClr val="000000"/>
                </a:solidFill>
                <a:latin typeface="Corbel"/>
                <a:ea typeface="Corbel"/>
                <a:cs typeface="Corbel"/>
                <a:sym typeface="Corbel"/>
              </a:rPr>
              <a:t>Each S-box maps 6 bits to 4 bits</a:t>
            </a:r>
            <a:endParaRPr/>
          </a:p>
          <a:p>
            <a:pPr indent="-342900" lvl="0" marL="342900" rtl="0" algn="l">
              <a:lnSpc>
                <a:spcPct val="70000"/>
              </a:lnSpc>
              <a:spcBef>
                <a:spcPts val="400"/>
              </a:spcBef>
              <a:spcAft>
                <a:spcPts val="0"/>
              </a:spcAft>
              <a:buClr>
                <a:srgbClr val="376092"/>
              </a:buClr>
              <a:buSzPts val="400"/>
              <a:buFont typeface="Arial"/>
              <a:buChar char="•"/>
            </a:pPr>
            <a:r>
              <a:rPr b="0" i="0" lang="en-US" sz="2000" u="none">
                <a:solidFill>
                  <a:srgbClr val="000000"/>
                </a:solidFill>
                <a:latin typeface="Corbel"/>
                <a:ea typeface="Corbel"/>
                <a:cs typeface="Corbel"/>
                <a:sym typeface="Corbel"/>
              </a:rPr>
              <a:t>S-box number 1</a:t>
            </a:r>
            <a:endParaRPr/>
          </a:p>
        </p:txBody>
      </p:sp>
      <p:graphicFrame>
        <p:nvGraphicFramePr>
          <p:cNvPr id="461" name="Google Shape;461;p32"/>
          <p:cNvGraphicFramePr/>
          <p:nvPr/>
        </p:nvGraphicFramePr>
        <p:xfrm>
          <a:off x="611187" y="3357562"/>
          <a:ext cx="3000000" cy="3000000"/>
        </p:xfrm>
        <a:graphic>
          <a:graphicData uri="http://schemas.openxmlformats.org/drawingml/2006/table">
            <a:tbl>
              <a:tblPr>
                <a:noFill/>
                <a:tableStyleId>{544FB276-6C9D-4771-A9D3-37D8E1AA6F45}</a:tableStyleId>
              </a:tblPr>
              <a:tblGrid>
                <a:gridCol w="263525"/>
                <a:gridCol w="496875"/>
                <a:gridCol w="496875"/>
                <a:gridCol w="496875"/>
                <a:gridCol w="496875"/>
                <a:gridCol w="496875"/>
                <a:gridCol w="496875"/>
                <a:gridCol w="496875"/>
                <a:gridCol w="496875"/>
                <a:gridCol w="496875"/>
                <a:gridCol w="496875"/>
                <a:gridCol w="496875"/>
                <a:gridCol w="496875"/>
                <a:gridCol w="496875"/>
                <a:gridCol w="496875"/>
                <a:gridCol w="496875"/>
                <a:gridCol w="496875"/>
              </a:tblGrid>
              <a:tr h="495300">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r>
              <a:tr h="565150">
                <a:tc>
                  <a:txBody>
                    <a:bodyPr/>
                    <a:lstStyle/>
                    <a:p>
                      <a:pPr indent="0" lvl="0" marL="0" marR="0" rtl="0" algn="ctr">
                        <a:lnSpc>
                          <a:spcPct val="10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46800" marB="46800" marR="90000" marL="9000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65150">
                <a:tc>
                  <a:txBody>
                    <a:bodyPr/>
                    <a:lstStyle/>
                    <a:p>
                      <a:pPr indent="0" lvl="0" marL="0" marR="0" rtl="0" algn="ctr">
                        <a:lnSpc>
                          <a:spcPct val="10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46800" marB="46800" marR="90000" marL="9000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65150">
                <a:tc>
                  <a:txBody>
                    <a:bodyPr/>
                    <a:lstStyle/>
                    <a:p>
                      <a:pPr indent="0" lvl="0" marL="0" marR="0" rtl="0" algn="ctr">
                        <a:lnSpc>
                          <a:spcPct val="10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46800" marB="46800" marR="90000" marL="9000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65150">
                <a:tc>
                  <a:txBody>
                    <a:bodyPr/>
                    <a:lstStyle/>
                    <a:p>
                      <a:pPr indent="0" lvl="0" marL="0" marR="0" rtl="0" algn="ctr">
                        <a:lnSpc>
                          <a:spcPct val="10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46800" marB="46800" marR="90000" marL="9000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99"/>
                    </a:solidFill>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10</a:t>
                      </a:r>
                      <a:endParaRPr/>
                    </a:p>
                  </a:txBody>
                  <a:tcPr marT="720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70000"/>
                        </a:lnSpc>
                        <a:spcBef>
                          <a:spcPts val="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11</a:t>
                      </a:r>
                      <a:endParaRPr/>
                    </a:p>
                    <a:p>
                      <a:pPr indent="0" lvl="0" marL="0" marR="0" rtl="0" algn="ctr">
                        <a:lnSpc>
                          <a:spcPct val="70000"/>
                        </a:lnSpc>
                        <a:spcBef>
                          <a:spcPts val="300"/>
                        </a:spcBef>
                        <a:spcAft>
                          <a:spcPts val="0"/>
                        </a:spcAft>
                        <a:buClr>
                          <a:schemeClr val="dk1"/>
                        </a:buClr>
                        <a:buSzPts val="1500"/>
                        <a:buFont typeface="Comic Sans MS"/>
                        <a:buNone/>
                      </a:pPr>
                      <a:r>
                        <a:rPr b="0" i="0" lang="en-US" sz="1500" u="none">
                          <a:solidFill>
                            <a:schemeClr val="dk1"/>
                          </a:solidFill>
                          <a:latin typeface="Comic Sans MS"/>
                          <a:ea typeface="Comic Sans MS"/>
                          <a:cs typeface="Comic Sans MS"/>
                          <a:sym typeface="Comic Sans MS"/>
                        </a:rPr>
                        <a:t>01</a:t>
                      </a:r>
                      <a:endParaRPr/>
                    </a:p>
                  </a:txBody>
                  <a:tcPr marT="720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62" name="Google Shape;462;p3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463" name="Google Shape;463;p32"/>
          <p:cNvSpPr txBox="1"/>
          <p:nvPr/>
        </p:nvSpPr>
        <p:spPr>
          <a:xfrm>
            <a:off x="2339975" y="404812"/>
            <a:ext cx="13684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464" name="Google Shape;464;p32"/>
          <p:cNvSpPr txBox="1"/>
          <p:nvPr/>
        </p:nvSpPr>
        <p:spPr>
          <a:xfrm>
            <a:off x="611187" y="476250"/>
            <a:ext cx="13684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465" name="Google Shape;465;p32"/>
          <p:cNvSpPr txBox="1"/>
          <p:nvPr/>
        </p:nvSpPr>
        <p:spPr>
          <a:xfrm>
            <a:off x="2339975" y="404812"/>
            <a:ext cx="13684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466" name="Google Shape;466;p32"/>
          <p:cNvSpPr txBox="1"/>
          <p:nvPr/>
        </p:nvSpPr>
        <p:spPr>
          <a:xfrm>
            <a:off x="571500" y="2714625"/>
            <a:ext cx="2160587"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input bits (0,5)</a:t>
            </a:r>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a:t>
            </a:r>
            <a:endParaRPr/>
          </a:p>
        </p:txBody>
      </p:sp>
      <p:sp>
        <p:nvSpPr>
          <p:cNvPr id="467" name="Google Shape;467;p32"/>
          <p:cNvSpPr txBox="1"/>
          <p:nvPr/>
        </p:nvSpPr>
        <p:spPr>
          <a:xfrm>
            <a:off x="3419475" y="2420937"/>
            <a:ext cx="18002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468" name="Google Shape;468;p32"/>
          <p:cNvSpPr txBox="1"/>
          <p:nvPr/>
        </p:nvSpPr>
        <p:spPr>
          <a:xfrm>
            <a:off x="3419475" y="2852737"/>
            <a:ext cx="27368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input bits (1,2,3,4)</a:t>
            </a:r>
            <a:endParaRPr/>
          </a:p>
        </p:txBody>
      </p:sp>
      <p:sp>
        <p:nvSpPr>
          <p:cNvPr id="469" name="Google Shape;469;p32"/>
          <p:cNvSpPr/>
          <p:nvPr/>
        </p:nvSpPr>
        <p:spPr>
          <a:xfrm>
            <a:off x="6173787" y="1089025"/>
            <a:ext cx="2308225" cy="504825"/>
          </a:xfrm>
          <a:custGeom>
            <a:rect b="b" l="l" r="r" t="t"/>
            <a:pathLst>
              <a:path extrusionOk="0" h="21600" w="21600">
                <a:moveTo>
                  <a:pt x="0" y="0"/>
                </a:moveTo>
                <a:lnTo>
                  <a:pt x="5400" y="21600"/>
                </a:lnTo>
                <a:lnTo>
                  <a:pt x="16200" y="21600"/>
                </a:lnTo>
                <a:lnTo>
                  <a:pt x="21600" y="0"/>
                </a:lnTo>
                <a:lnTo>
                  <a:pt x="0" y="0"/>
                </a:lnTo>
                <a:close/>
              </a:path>
            </a:pathLst>
          </a:cu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S-boxes(8)</a:t>
            </a:r>
            <a:endParaRPr/>
          </a:p>
        </p:txBody>
      </p:sp>
      <p:cxnSp>
        <p:nvCxnSpPr>
          <p:cNvPr id="470" name="Google Shape;470;p32"/>
          <p:cNvCxnSpPr/>
          <p:nvPr/>
        </p:nvCxnSpPr>
        <p:spPr>
          <a:xfrm>
            <a:off x="7666037" y="657225"/>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71" name="Google Shape;471;p32"/>
          <p:cNvCxnSpPr/>
          <p:nvPr/>
        </p:nvCxnSpPr>
        <p:spPr>
          <a:xfrm>
            <a:off x="6540500" y="657225"/>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72" name="Google Shape;472;p32"/>
          <p:cNvCxnSpPr/>
          <p:nvPr/>
        </p:nvCxnSpPr>
        <p:spPr>
          <a:xfrm>
            <a:off x="6756400" y="657225"/>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73" name="Google Shape;473;p32"/>
          <p:cNvCxnSpPr/>
          <p:nvPr/>
        </p:nvCxnSpPr>
        <p:spPr>
          <a:xfrm>
            <a:off x="6972300" y="657225"/>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74" name="Google Shape;474;p32"/>
          <p:cNvCxnSpPr/>
          <p:nvPr/>
        </p:nvCxnSpPr>
        <p:spPr>
          <a:xfrm>
            <a:off x="7188200" y="657225"/>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75" name="Google Shape;475;p32"/>
          <p:cNvCxnSpPr/>
          <p:nvPr/>
        </p:nvCxnSpPr>
        <p:spPr>
          <a:xfrm>
            <a:off x="7453312" y="657225"/>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76" name="Google Shape;476;p32"/>
          <p:cNvCxnSpPr/>
          <p:nvPr/>
        </p:nvCxnSpPr>
        <p:spPr>
          <a:xfrm>
            <a:off x="7908925" y="657225"/>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77" name="Google Shape;477;p32"/>
          <p:cNvCxnSpPr/>
          <p:nvPr/>
        </p:nvCxnSpPr>
        <p:spPr>
          <a:xfrm>
            <a:off x="8124825" y="657225"/>
            <a:ext cx="0" cy="431800"/>
          </a:xfrm>
          <a:prstGeom prst="straightConnector1">
            <a:avLst/>
          </a:prstGeom>
          <a:noFill/>
          <a:ln cap="flat" cmpd="sng" w="9525">
            <a:solidFill>
              <a:schemeClr val="dk1"/>
            </a:solidFill>
            <a:prstDash val="solid"/>
            <a:miter lim="800000"/>
            <a:headEnd len="med" w="med" type="none"/>
            <a:tailEnd len="med" w="med" type="stealth"/>
          </a:ln>
        </p:spPr>
      </p:cxnSp>
      <p:sp>
        <p:nvSpPr>
          <p:cNvPr id="478" name="Google Shape;478;p32"/>
          <p:cNvSpPr txBox="1"/>
          <p:nvPr/>
        </p:nvSpPr>
        <p:spPr>
          <a:xfrm>
            <a:off x="6337300" y="307975"/>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6</a:t>
            </a:r>
            <a:endParaRPr/>
          </a:p>
        </p:txBody>
      </p:sp>
      <p:sp>
        <p:nvSpPr>
          <p:cNvPr id="479" name="Google Shape;479;p32"/>
          <p:cNvSpPr txBox="1"/>
          <p:nvPr/>
        </p:nvSpPr>
        <p:spPr>
          <a:xfrm>
            <a:off x="6594475" y="327025"/>
            <a:ext cx="300037" cy="371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6</a:t>
            </a:r>
            <a:endParaRPr/>
          </a:p>
        </p:txBody>
      </p:sp>
      <p:sp>
        <p:nvSpPr>
          <p:cNvPr id="480" name="Google Shape;480;p32"/>
          <p:cNvSpPr txBox="1"/>
          <p:nvPr/>
        </p:nvSpPr>
        <p:spPr>
          <a:xfrm>
            <a:off x="6819900" y="307975"/>
            <a:ext cx="300037" cy="371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6</a:t>
            </a:r>
            <a:endParaRPr/>
          </a:p>
        </p:txBody>
      </p:sp>
      <p:sp>
        <p:nvSpPr>
          <p:cNvPr id="481" name="Google Shape;481;p32"/>
          <p:cNvSpPr txBox="1"/>
          <p:nvPr/>
        </p:nvSpPr>
        <p:spPr>
          <a:xfrm>
            <a:off x="7043737" y="320675"/>
            <a:ext cx="300037" cy="371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6</a:t>
            </a:r>
            <a:endParaRPr/>
          </a:p>
        </p:txBody>
      </p:sp>
      <p:sp>
        <p:nvSpPr>
          <p:cNvPr id="482" name="Google Shape;482;p32"/>
          <p:cNvSpPr txBox="1"/>
          <p:nvPr/>
        </p:nvSpPr>
        <p:spPr>
          <a:xfrm>
            <a:off x="7254875" y="307975"/>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6</a:t>
            </a:r>
            <a:endParaRPr/>
          </a:p>
        </p:txBody>
      </p:sp>
      <p:sp>
        <p:nvSpPr>
          <p:cNvPr id="483" name="Google Shape;483;p32"/>
          <p:cNvSpPr txBox="1"/>
          <p:nvPr/>
        </p:nvSpPr>
        <p:spPr>
          <a:xfrm>
            <a:off x="7507287" y="320675"/>
            <a:ext cx="300037" cy="371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6</a:t>
            </a:r>
            <a:endParaRPr/>
          </a:p>
        </p:txBody>
      </p:sp>
      <p:sp>
        <p:nvSpPr>
          <p:cNvPr id="484" name="Google Shape;484;p32"/>
          <p:cNvSpPr txBox="1"/>
          <p:nvPr/>
        </p:nvSpPr>
        <p:spPr>
          <a:xfrm>
            <a:off x="7732712" y="307975"/>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6</a:t>
            </a:r>
            <a:endParaRPr/>
          </a:p>
        </p:txBody>
      </p:sp>
      <p:sp>
        <p:nvSpPr>
          <p:cNvPr id="485" name="Google Shape;485;p32"/>
          <p:cNvSpPr txBox="1"/>
          <p:nvPr/>
        </p:nvSpPr>
        <p:spPr>
          <a:xfrm>
            <a:off x="7975600" y="307975"/>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6</a:t>
            </a:r>
            <a:endParaRPr/>
          </a:p>
        </p:txBody>
      </p:sp>
      <p:cxnSp>
        <p:nvCxnSpPr>
          <p:cNvPr id="486" name="Google Shape;486;p32"/>
          <p:cNvCxnSpPr/>
          <p:nvPr/>
        </p:nvCxnSpPr>
        <p:spPr>
          <a:xfrm>
            <a:off x="7664450" y="1612900"/>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87" name="Google Shape;487;p32"/>
          <p:cNvCxnSpPr/>
          <p:nvPr/>
        </p:nvCxnSpPr>
        <p:spPr>
          <a:xfrm flipH="1">
            <a:off x="6538912" y="1387475"/>
            <a:ext cx="1587" cy="701675"/>
          </a:xfrm>
          <a:prstGeom prst="straightConnector1">
            <a:avLst/>
          </a:prstGeom>
          <a:noFill/>
          <a:ln cap="flat" cmpd="sng" w="9525">
            <a:solidFill>
              <a:schemeClr val="dk1"/>
            </a:solidFill>
            <a:prstDash val="solid"/>
            <a:miter lim="800000"/>
            <a:headEnd len="med" w="med" type="none"/>
            <a:tailEnd len="med" w="med" type="stealth"/>
          </a:ln>
        </p:spPr>
      </p:cxnSp>
      <p:cxnSp>
        <p:nvCxnSpPr>
          <p:cNvPr id="488" name="Google Shape;488;p32"/>
          <p:cNvCxnSpPr/>
          <p:nvPr/>
        </p:nvCxnSpPr>
        <p:spPr>
          <a:xfrm>
            <a:off x="6754812" y="1612900"/>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89" name="Google Shape;489;p32"/>
          <p:cNvCxnSpPr/>
          <p:nvPr/>
        </p:nvCxnSpPr>
        <p:spPr>
          <a:xfrm>
            <a:off x="6972300" y="1612900"/>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90" name="Google Shape;490;p32"/>
          <p:cNvCxnSpPr/>
          <p:nvPr/>
        </p:nvCxnSpPr>
        <p:spPr>
          <a:xfrm>
            <a:off x="7188200" y="1612900"/>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91" name="Google Shape;491;p32"/>
          <p:cNvCxnSpPr/>
          <p:nvPr/>
        </p:nvCxnSpPr>
        <p:spPr>
          <a:xfrm>
            <a:off x="7451725" y="1612900"/>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92" name="Google Shape;492;p32"/>
          <p:cNvCxnSpPr/>
          <p:nvPr/>
        </p:nvCxnSpPr>
        <p:spPr>
          <a:xfrm>
            <a:off x="7907337" y="1612900"/>
            <a:ext cx="0" cy="431800"/>
          </a:xfrm>
          <a:prstGeom prst="straightConnector1">
            <a:avLst/>
          </a:prstGeom>
          <a:noFill/>
          <a:ln cap="flat" cmpd="sng" w="9525">
            <a:solidFill>
              <a:schemeClr val="dk1"/>
            </a:solidFill>
            <a:prstDash val="solid"/>
            <a:miter lim="800000"/>
            <a:headEnd len="med" w="med" type="none"/>
            <a:tailEnd len="med" w="med" type="stealth"/>
          </a:ln>
        </p:spPr>
      </p:cxnSp>
      <p:cxnSp>
        <p:nvCxnSpPr>
          <p:cNvPr id="493" name="Google Shape;493;p32"/>
          <p:cNvCxnSpPr/>
          <p:nvPr/>
        </p:nvCxnSpPr>
        <p:spPr>
          <a:xfrm>
            <a:off x="8094662" y="1387475"/>
            <a:ext cx="0" cy="657225"/>
          </a:xfrm>
          <a:prstGeom prst="straightConnector1">
            <a:avLst/>
          </a:prstGeom>
          <a:noFill/>
          <a:ln cap="flat" cmpd="sng" w="9525">
            <a:solidFill>
              <a:schemeClr val="dk1"/>
            </a:solidFill>
            <a:prstDash val="solid"/>
            <a:miter lim="800000"/>
            <a:headEnd len="med" w="med" type="none"/>
            <a:tailEnd len="med" w="med" type="stealth"/>
          </a:ln>
        </p:spPr>
      </p:cxnSp>
      <p:sp>
        <p:nvSpPr>
          <p:cNvPr id="494" name="Google Shape;494;p32"/>
          <p:cNvSpPr txBox="1"/>
          <p:nvPr/>
        </p:nvSpPr>
        <p:spPr>
          <a:xfrm>
            <a:off x="7327900" y="1990725"/>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a:t>
            </a:r>
            <a:endParaRPr/>
          </a:p>
        </p:txBody>
      </p:sp>
      <p:sp>
        <p:nvSpPr>
          <p:cNvPr id="495" name="Google Shape;495;p32"/>
          <p:cNvSpPr txBox="1"/>
          <p:nvPr/>
        </p:nvSpPr>
        <p:spPr>
          <a:xfrm>
            <a:off x="7759700" y="2003425"/>
            <a:ext cx="300037" cy="371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a:t>
            </a:r>
            <a:endParaRPr/>
          </a:p>
        </p:txBody>
      </p:sp>
      <p:sp>
        <p:nvSpPr>
          <p:cNvPr id="496" name="Google Shape;496;p32"/>
          <p:cNvSpPr txBox="1"/>
          <p:nvPr/>
        </p:nvSpPr>
        <p:spPr>
          <a:xfrm>
            <a:off x="6384925" y="2070100"/>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a:t>
            </a:r>
            <a:endParaRPr/>
          </a:p>
        </p:txBody>
      </p:sp>
      <p:sp>
        <p:nvSpPr>
          <p:cNvPr id="497" name="Google Shape;497;p32"/>
          <p:cNvSpPr txBox="1"/>
          <p:nvPr/>
        </p:nvSpPr>
        <p:spPr>
          <a:xfrm>
            <a:off x="6594475" y="2054225"/>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a:t>
            </a:r>
            <a:endParaRPr/>
          </a:p>
        </p:txBody>
      </p:sp>
      <p:sp>
        <p:nvSpPr>
          <p:cNvPr id="498" name="Google Shape;498;p32"/>
          <p:cNvSpPr txBox="1"/>
          <p:nvPr/>
        </p:nvSpPr>
        <p:spPr>
          <a:xfrm>
            <a:off x="6821487" y="2038350"/>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a:t>
            </a:r>
            <a:endParaRPr/>
          </a:p>
        </p:txBody>
      </p:sp>
      <p:sp>
        <p:nvSpPr>
          <p:cNvPr id="499" name="Google Shape;499;p32"/>
          <p:cNvSpPr txBox="1"/>
          <p:nvPr/>
        </p:nvSpPr>
        <p:spPr>
          <a:xfrm>
            <a:off x="7061200" y="2003425"/>
            <a:ext cx="300037" cy="371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a:t>
            </a:r>
            <a:endParaRPr/>
          </a:p>
        </p:txBody>
      </p:sp>
      <p:sp>
        <p:nvSpPr>
          <p:cNvPr id="500" name="Google Shape;500;p32"/>
          <p:cNvSpPr txBox="1"/>
          <p:nvPr/>
        </p:nvSpPr>
        <p:spPr>
          <a:xfrm>
            <a:off x="7527925" y="2003425"/>
            <a:ext cx="300037" cy="371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a:t>
            </a:r>
            <a:endParaRPr/>
          </a:p>
        </p:txBody>
      </p:sp>
      <p:sp>
        <p:nvSpPr>
          <p:cNvPr id="501" name="Google Shape;501;p32"/>
          <p:cNvSpPr txBox="1"/>
          <p:nvPr/>
        </p:nvSpPr>
        <p:spPr>
          <a:xfrm>
            <a:off x="7975600" y="1993900"/>
            <a:ext cx="3000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4</a:t>
            </a:r>
            <a:endParaRPr/>
          </a:p>
        </p:txBody>
      </p:sp>
      <p:sp>
        <p:nvSpPr>
          <p:cNvPr id="502" name="Google Shape;502;p3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3"/>
          <p:cNvSpPr txBox="1"/>
          <p:nvPr>
            <p:ph type="title"/>
          </p:nvPr>
        </p:nvSpPr>
        <p:spPr>
          <a:xfrm>
            <a:off x="785812" y="214312"/>
            <a:ext cx="5845175"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DES P-box</a:t>
            </a:r>
            <a:endParaRPr/>
          </a:p>
        </p:txBody>
      </p:sp>
      <p:sp>
        <p:nvSpPr>
          <p:cNvPr id="508" name="Google Shape;508;p33"/>
          <p:cNvSpPr txBox="1"/>
          <p:nvPr>
            <p:ph idx="1" type="body"/>
          </p:nvPr>
        </p:nvSpPr>
        <p:spPr>
          <a:xfrm>
            <a:off x="785812" y="1714500"/>
            <a:ext cx="3705225" cy="571500"/>
          </a:xfrm>
          <a:prstGeom prst="rect">
            <a:avLst/>
          </a:prstGeom>
          <a:noFill/>
          <a:ln>
            <a:noFill/>
          </a:ln>
        </p:spPr>
        <p:txBody>
          <a:bodyPr anchorCtr="0" anchor="t" bIns="45700" lIns="91425" spcFirstLastPara="1" rIns="91425" wrap="square" tIns="45700">
            <a:noAutofit/>
          </a:bodyPr>
          <a:lstStyle/>
          <a:p>
            <a:pPr indent="-449262" lvl="0" marL="457200" rtl="0" algn="l">
              <a:lnSpc>
                <a:spcPct val="90000"/>
              </a:lnSpc>
              <a:spcBef>
                <a:spcPts val="0"/>
              </a:spcBef>
              <a:spcAft>
                <a:spcPts val="0"/>
              </a:spcAft>
              <a:buClr>
                <a:srgbClr val="376092"/>
              </a:buClr>
              <a:buSzPts val="400"/>
              <a:buFont typeface="Arial"/>
              <a:buChar char="•"/>
            </a:pPr>
            <a:r>
              <a:rPr b="0" i="0" lang="en-US" sz="2400" u="none">
                <a:solidFill>
                  <a:schemeClr val="dk1"/>
                </a:solidFill>
                <a:latin typeface="Corbel"/>
                <a:ea typeface="Corbel"/>
                <a:cs typeface="Corbel"/>
                <a:sym typeface="Corbel"/>
              </a:rPr>
              <a:t>Input 32 bits</a:t>
            </a:r>
            <a:endParaRPr/>
          </a:p>
        </p:txBody>
      </p:sp>
      <p:graphicFrame>
        <p:nvGraphicFramePr>
          <p:cNvPr id="509" name="Google Shape;509;p33"/>
          <p:cNvGraphicFramePr/>
          <p:nvPr/>
        </p:nvGraphicFramePr>
        <p:xfrm>
          <a:off x="785812" y="2500312"/>
          <a:ext cx="3000000" cy="3000000"/>
        </p:xfrm>
        <a:graphic>
          <a:graphicData uri="http://schemas.openxmlformats.org/drawingml/2006/table">
            <a:tbl>
              <a:tblPr>
                <a:noFill/>
                <a:tableStyleId>{544FB276-6C9D-4771-A9D3-37D8E1AA6F45}</a:tableStyleId>
              </a:tblPr>
              <a:tblGrid>
                <a:gridCol w="493700"/>
                <a:gridCol w="493700"/>
                <a:gridCol w="493700"/>
                <a:gridCol w="493700"/>
                <a:gridCol w="493700"/>
                <a:gridCol w="493700"/>
                <a:gridCol w="493700"/>
                <a:gridCol w="493700"/>
                <a:gridCol w="493700"/>
                <a:gridCol w="493700"/>
                <a:gridCol w="493700"/>
                <a:gridCol w="493700"/>
                <a:gridCol w="493700"/>
                <a:gridCol w="493700"/>
                <a:gridCol w="493700"/>
                <a:gridCol w="493700"/>
              </a:tblGrid>
              <a:tr h="492125">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6250">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510" name="Google Shape;510;p33"/>
          <p:cNvGraphicFramePr/>
          <p:nvPr/>
        </p:nvGraphicFramePr>
        <p:xfrm>
          <a:off x="857250" y="4572000"/>
          <a:ext cx="3000000" cy="3000000"/>
        </p:xfrm>
        <a:graphic>
          <a:graphicData uri="http://schemas.openxmlformats.org/drawingml/2006/table">
            <a:tbl>
              <a:tblPr>
                <a:noFill/>
                <a:tableStyleId>{544FB276-6C9D-4771-A9D3-37D8E1AA6F45}</a:tableStyleId>
              </a:tblPr>
              <a:tblGrid>
                <a:gridCol w="485775"/>
                <a:gridCol w="485775"/>
                <a:gridCol w="485775"/>
                <a:gridCol w="485775"/>
                <a:gridCol w="485775"/>
                <a:gridCol w="485775"/>
                <a:gridCol w="485775"/>
                <a:gridCol w="485775"/>
                <a:gridCol w="485775"/>
                <a:gridCol w="485775"/>
                <a:gridCol w="485775"/>
                <a:gridCol w="485775"/>
                <a:gridCol w="485775"/>
                <a:gridCol w="485775"/>
                <a:gridCol w="485775"/>
                <a:gridCol w="485775"/>
              </a:tblGrid>
              <a:tr h="47625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0375">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511" name="Google Shape;511;p3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512" name="Google Shape;512;p33"/>
          <p:cNvSpPr txBox="1"/>
          <p:nvPr/>
        </p:nvSpPr>
        <p:spPr>
          <a:xfrm>
            <a:off x="785812" y="3933825"/>
            <a:ext cx="3786187" cy="5762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680"/>
              <a:buFont typeface="Arial"/>
              <a:buChar char="•"/>
            </a:pPr>
            <a:r>
              <a:rPr b="0" i="0" lang="en-US" sz="2400" u="none">
                <a:solidFill>
                  <a:schemeClr val="dk1"/>
                </a:solidFill>
                <a:latin typeface="Comic Sans MS"/>
                <a:ea typeface="Comic Sans MS"/>
                <a:cs typeface="Comic Sans MS"/>
                <a:sym typeface="Comic Sans MS"/>
              </a:rPr>
              <a:t>Output 32 bits</a:t>
            </a:r>
            <a:endParaRPr/>
          </a:p>
        </p:txBody>
      </p:sp>
      <p:sp>
        <p:nvSpPr>
          <p:cNvPr id="513" name="Google Shape;513;p33"/>
          <p:cNvSpPr txBox="1"/>
          <p:nvPr/>
        </p:nvSpPr>
        <p:spPr>
          <a:xfrm>
            <a:off x="7500937" y="5715000"/>
            <a:ext cx="1143000" cy="5032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Gill Sans"/>
              <a:buNone/>
            </a:pPr>
            <a:r>
              <a:rPr b="0" i="0" lang="en-US" sz="2600" u="sng">
                <a:solidFill>
                  <a:schemeClr val="dk1"/>
                </a:solidFill>
                <a:latin typeface="Gill Sans"/>
                <a:ea typeface="Gill Sans"/>
                <a:cs typeface="Gill Sans"/>
                <a:sym typeface="Gill Sans"/>
                <a:hlinkClick r:id="rId3">
                  <a:extLst>
                    <a:ext uri="{A12FA001-AC4F-418D-AE19-62706E023703}">
                      <ahyp:hlinkClr val="tx"/>
                    </a:ext>
                  </a:extLst>
                </a:hlinkClick>
              </a:rPr>
              <a:t>BACK</a:t>
            </a:r>
            <a:endParaRPr/>
          </a:p>
        </p:txBody>
      </p:sp>
      <p:sp>
        <p:nvSpPr>
          <p:cNvPr id="514" name="Google Shape;514;p33"/>
          <p:cNvSpPr txBox="1"/>
          <p:nvPr/>
        </p:nvSpPr>
        <p:spPr>
          <a:xfrm>
            <a:off x="7254712" y="528625"/>
            <a:ext cx="936600" cy="4317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P Box</a:t>
            </a:r>
            <a:endParaRPr/>
          </a:p>
        </p:txBody>
      </p:sp>
      <p:sp>
        <p:nvSpPr>
          <p:cNvPr id="515" name="Google Shape;515;p33"/>
          <p:cNvSpPr txBox="1"/>
          <p:nvPr/>
        </p:nvSpPr>
        <p:spPr>
          <a:xfrm>
            <a:off x="7680312" y="241287"/>
            <a:ext cx="4350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516" name="Google Shape;516;p33"/>
          <p:cNvSpPr txBox="1"/>
          <p:nvPr/>
        </p:nvSpPr>
        <p:spPr>
          <a:xfrm>
            <a:off x="7699362" y="960425"/>
            <a:ext cx="431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cxnSp>
        <p:nvCxnSpPr>
          <p:cNvPr id="517" name="Google Shape;517;p33"/>
          <p:cNvCxnSpPr/>
          <p:nvPr/>
        </p:nvCxnSpPr>
        <p:spPr>
          <a:xfrm>
            <a:off x="7597762" y="241287"/>
            <a:ext cx="0" cy="287400"/>
          </a:xfrm>
          <a:prstGeom prst="straightConnector1">
            <a:avLst/>
          </a:prstGeom>
          <a:noFill/>
          <a:ln cap="flat" cmpd="sng" w="9525">
            <a:solidFill>
              <a:schemeClr val="dk1"/>
            </a:solidFill>
            <a:prstDash val="solid"/>
            <a:miter lim="800000"/>
            <a:headEnd len="med" w="med" type="none"/>
            <a:tailEnd len="med" w="med" type="triangle"/>
          </a:ln>
        </p:spPr>
      </p:cxnSp>
      <p:cxnSp>
        <p:nvCxnSpPr>
          <p:cNvPr id="518" name="Google Shape;518;p33"/>
          <p:cNvCxnSpPr/>
          <p:nvPr/>
        </p:nvCxnSpPr>
        <p:spPr>
          <a:xfrm>
            <a:off x="7597762" y="960425"/>
            <a:ext cx="0" cy="436500"/>
          </a:xfrm>
          <a:prstGeom prst="straightConnector1">
            <a:avLst/>
          </a:prstGeom>
          <a:noFill/>
          <a:ln cap="flat" cmpd="sng" w="9525">
            <a:solidFill>
              <a:schemeClr val="accent1"/>
            </a:solidFill>
            <a:prstDash val="solid"/>
            <a:miter lim="800000"/>
            <a:headEnd len="med" w="med" type="none"/>
            <a:tailEnd len="med" w="med" type="triangle"/>
          </a:ln>
        </p:spPr>
      </p:cxnSp>
      <p:sp>
        <p:nvSpPr>
          <p:cNvPr id="519" name="Google Shape;519;p3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4"/>
          <p:cNvSpPr txBox="1"/>
          <p:nvPr>
            <p:ph type="title"/>
          </p:nvPr>
        </p:nvSpPr>
        <p:spPr>
          <a:xfrm>
            <a:off x="785812" y="122237"/>
            <a:ext cx="6162675" cy="12350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DES subkey</a:t>
            </a:r>
            <a:endParaRPr/>
          </a:p>
        </p:txBody>
      </p:sp>
      <p:sp>
        <p:nvSpPr>
          <p:cNvPr id="525" name="Google Shape;525;p3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pSp>
        <p:nvGrpSpPr>
          <p:cNvPr id="526" name="Google Shape;526;p34"/>
          <p:cNvGrpSpPr/>
          <p:nvPr/>
        </p:nvGrpSpPr>
        <p:grpSpPr>
          <a:xfrm>
            <a:off x="2990850" y="1884362"/>
            <a:ext cx="5761037" cy="4487862"/>
            <a:chOff x="1489075" y="1703388"/>
            <a:chExt cx="5761038" cy="4487862"/>
          </a:xfrm>
        </p:grpSpPr>
        <p:sp>
          <p:nvSpPr>
            <p:cNvPr id="527" name="Google Shape;527;p34"/>
            <p:cNvSpPr txBox="1"/>
            <p:nvPr/>
          </p:nvSpPr>
          <p:spPr>
            <a:xfrm>
              <a:off x="1560513" y="1703388"/>
              <a:ext cx="431800"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a:t>
              </a:r>
              <a:endParaRPr/>
            </a:p>
          </p:txBody>
        </p:sp>
        <p:sp>
          <p:nvSpPr>
            <p:cNvPr id="528" name="Google Shape;528;p34"/>
            <p:cNvSpPr/>
            <p:nvPr/>
          </p:nvSpPr>
          <p:spPr>
            <a:xfrm rot="10800000">
              <a:off x="2208213" y="2640013"/>
              <a:ext cx="1368425" cy="431800"/>
            </a:xfrm>
            <a:custGeom>
              <a:rect b="b" l="l" r="r" t="t"/>
              <a:pathLst>
                <a:path extrusionOk="0" h="21600" w="21600">
                  <a:moveTo>
                    <a:pt x="0" y="0"/>
                  </a:moveTo>
                  <a:lnTo>
                    <a:pt x="5400" y="21600"/>
                  </a:lnTo>
                  <a:lnTo>
                    <a:pt x="16200" y="21600"/>
                  </a:lnTo>
                  <a:lnTo>
                    <a:pt x="21600" y="0"/>
                  </a:lnTo>
                  <a:lnTo>
                    <a:pt x="0" y="0"/>
                  </a:lnTo>
                  <a:close/>
                </a:path>
              </a:pathLst>
            </a:cu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3">
                    <a:extLst>
                      <a:ext uri="{A12FA001-AC4F-418D-AE19-62706E023703}">
                        <ahyp:hlinkClr val="tx"/>
                      </a:ext>
                    </a:extLst>
                  </a:hlinkClick>
                </a:rPr>
                <a:t>expend</a:t>
              </a:r>
              <a:endParaRPr/>
            </a:p>
          </p:txBody>
        </p:sp>
        <p:sp>
          <p:nvSpPr>
            <p:cNvPr id="529" name="Google Shape;529;p34"/>
            <p:cNvSpPr txBox="1"/>
            <p:nvPr/>
          </p:nvSpPr>
          <p:spPr>
            <a:xfrm>
              <a:off x="4792663" y="2486025"/>
              <a:ext cx="935037"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a:t>
              </a:r>
              <a:endParaRPr/>
            </a:p>
          </p:txBody>
        </p:sp>
        <p:sp>
          <p:nvSpPr>
            <p:cNvPr id="530" name="Google Shape;530;p34"/>
            <p:cNvSpPr txBox="1"/>
            <p:nvPr/>
          </p:nvSpPr>
          <p:spPr>
            <a:xfrm>
              <a:off x="2668588" y="1703388"/>
              <a:ext cx="431800"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R</a:t>
              </a:r>
              <a:endParaRPr/>
            </a:p>
          </p:txBody>
        </p:sp>
        <p:sp>
          <p:nvSpPr>
            <p:cNvPr id="531" name="Google Shape;531;p34"/>
            <p:cNvSpPr/>
            <p:nvPr/>
          </p:nvSpPr>
          <p:spPr>
            <a:xfrm>
              <a:off x="2179638" y="3900488"/>
              <a:ext cx="1439862" cy="431800"/>
            </a:xfrm>
            <a:custGeom>
              <a:rect b="b" l="l" r="r" t="t"/>
              <a:pathLst>
                <a:path extrusionOk="0" h="21600" w="21600">
                  <a:moveTo>
                    <a:pt x="0" y="0"/>
                  </a:moveTo>
                  <a:lnTo>
                    <a:pt x="5400" y="21600"/>
                  </a:lnTo>
                  <a:lnTo>
                    <a:pt x="16200" y="21600"/>
                  </a:lnTo>
                  <a:lnTo>
                    <a:pt x="21600" y="0"/>
                  </a:lnTo>
                  <a:lnTo>
                    <a:pt x="0" y="0"/>
                  </a:lnTo>
                  <a:close/>
                </a:path>
              </a:pathLst>
            </a:cu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4">
                    <a:extLst>
                      <a:ext uri="{A12FA001-AC4F-418D-AE19-62706E023703}">
                        <ahyp:hlinkClr val="tx"/>
                      </a:ext>
                    </a:extLst>
                  </a:hlinkClick>
                </a:rPr>
                <a:t>S-boxes(8)</a:t>
              </a:r>
              <a:endParaRPr/>
            </a:p>
          </p:txBody>
        </p:sp>
        <p:sp>
          <p:nvSpPr>
            <p:cNvPr id="532" name="Google Shape;532;p34"/>
            <p:cNvSpPr txBox="1"/>
            <p:nvPr/>
          </p:nvSpPr>
          <p:spPr>
            <a:xfrm>
              <a:off x="2424113" y="4656138"/>
              <a:ext cx="936625"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5">
                    <a:extLst>
                      <a:ext uri="{A12FA001-AC4F-418D-AE19-62706E023703}">
                        <ahyp:hlinkClr val="tx"/>
                      </a:ext>
                    </a:extLst>
                  </a:hlinkClick>
                </a:rPr>
                <a:t>P Box</a:t>
              </a:r>
              <a:endParaRPr/>
            </a:p>
          </p:txBody>
        </p:sp>
        <p:sp>
          <p:nvSpPr>
            <p:cNvPr id="533" name="Google Shape;533;p34"/>
            <p:cNvSpPr txBox="1"/>
            <p:nvPr/>
          </p:nvSpPr>
          <p:spPr>
            <a:xfrm>
              <a:off x="1631950" y="5759450"/>
              <a:ext cx="431800"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a:t>
              </a:r>
              <a:endParaRPr/>
            </a:p>
          </p:txBody>
        </p:sp>
        <p:sp>
          <p:nvSpPr>
            <p:cNvPr id="534" name="Google Shape;534;p34"/>
            <p:cNvSpPr txBox="1"/>
            <p:nvPr/>
          </p:nvSpPr>
          <p:spPr>
            <a:xfrm>
              <a:off x="2638425" y="5756275"/>
              <a:ext cx="431800"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R</a:t>
              </a:r>
              <a:endParaRPr/>
            </a:p>
          </p:txBody>
        </p:sp>
        <p:sp>
          <p:nvSpPr>
            <p:cNvPr id="535" name="Google Shape;535;p34"/>
            <p:cNvSpPr/>
            <p:nvPr/>
          </p:nvSpPr>
          <p:spPr>
            <a:xfrm>
              <a:off x="2757488" y="3360738"/>
              <a:ext cx="215900" cy="215900"/>
            </a:xfrm>
            <a:prstGeom prst="flowChartOr">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536" name="Google Shape;536;p34"/>
            <p:cNvSpPr/>
            <p:nvPr/>
          </p:nvSpPr>
          <p:spPr>
            <a:xfrm>
              <a:off x="2747963" y="5313363"/>
              <a:ext cx="215900" cy="215900"/>
            </a:xfrm>
            <a:prstGeom prst="flowChartOr">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537" name="Google Shape;537;p34"/>
            <p:cNvSpPr txBox="1"/>
            <p:nvPr/>
          </p:nvSpPr>
          <p:spPr>
            <a:xfrm>
              <a:off x="4945063" y="1703388"/>
              <a:ext cx="2016125"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key</a:t>
              </a:r>
              <a:endParaRPr/>
            </a:p>
          </p:txBody>
        </p:sp>
        <p:sp>
          <p:nvSpPr>
            <p:cNvPr id="538" name="Google Shape;538;p34"/>
            <p:cNvSpPr txBox="1"/>
            <p:nvPr/>
          </p:nvSpPr>
          <p:spPr>
            <a:xfrm>
              <a:off x="6167438" y="2495550"/>
              <a:ext cx="935037"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R</a:t>
              </a:r>
              <a:endParaRPr/>
            </a:p>
          </p:txBody>
        </p:sp>
        <p:sp>
          <p:nvSpPr>
            <p:cNvPr id="539" name="Google Shape;539;p34"/>
            <p:cNvSpPr/>
            <p:nvPr/>
          </p:nvSpPr>
          <p:spPr>
            <a:xfrm>
              <a:off x="5232400" y="3216275"/>
              <a:ext cx="1439863" cy="431800"/>
            </a:xfrm>
            <a:custGeom>
              <a:rect b="b" l="l" r="r" t="t"/>
              <a:pathLst>
                <a:path extrusionOk="0" h="21600" w="21600">
                  <a:moveTo>
                    <a:pt x="0" y="0"/>
                  </a:moveTo>
                  <a:lnTo>
                    <a:pt x="5400" y="21600"/>
                  </a:lnTo>
                  <a:lnTo>
                    <a:pt x="16200" y="21600"/>
                  </a:lnTo>
                  <a:lnTo>
                    <a:pt x="21600" y="0"/>
                  </a:lnTo>
                  <a:lnTo>
                    <a:pt x="0" y="0"/>
                  </a:lnTo>
                  <a:close/>
                </a:path>
              </a:pathLst>
            </a:cu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6">
                    <a:extLst>
                      <a:ext uri="{A12FA001-AC4F-418D-AE19-62706E023703}">
                        <ahyp:hlinkClr val="tx"/>
                      </a:ext>
                    </a:extLst>
                  </a:hlinkClick>
                </a:rPr>
                <a:t>Compress</a:t>
              </a:r>
              <a:endParaRPr/>
            </a:p>
          </p:txBody>
        </p:sp>
        <p:sp>
          <p:nvSpPr>
            <p:cNvPr id="540" name="Google Shape;540;p34"/>
            <p:cNvSpPr txBox="1"/>
            <p:nvPr/>
          </p:nvSpPr>
          <p:spPr>
            <a:xfrm>
              <a:off x="4945063" y="5735638"/>
              <a:ext cx="2087562" cy="431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key</a:t>
              </a:r>
              <a:endParaRPr/>
            </a:p>
          </p:txBody>
        </p:sp>
        <p:cxnSp>
          <p:nvCxnSpPr>
            <p:cNvPr id="541" name="Google Shape;541;p34"/>
            <p:cNvCxnSpPr/>
            <p:nvPr/>
          </p:nvCxnSpPr>
          <p:spPr>
            <a:xfrm>
              <a:off x="1784350" y="2138363"/>
              <a:ext cx="488950" cy="3286125"/>
            </a:xfrm>
            <a:prstGeom prst="straightConnector1">
              <a:avLst/>
            </a:prstGeom>
            <a:noFill/>
            <a:ln cap="flat" cmpd="sng" w="9525">
              <a:solidFill>
                <a:schemeClr val="dk1"/>
              </a:solidFill>
              <a:prstDash val="solid"/>
              <a:miter lim="800000"/>
              <a:headEnd len="med" w="med" type="none"/>
              <a:tailEnd len="med" w="med" type="none"/>
            </a:ln>
          </p:spPr>
        </p:cxnSp>
        <p:cxnSp>
          <p:nvCxnSpPr>
            <p:cNvPr id="542" name="Google Shape;542;p34"/>
            <p:cNvCxnSpPr/>
            <p:nvPr/>
          </p:nvCxnSpPr>
          <p:spPr>
            <a:xfrm>
              <a:off x="2268538" y="5427663"/>
              <a:ext cx="485775" cy="3175"/>
            </a:xfrm>
            <a:prstGeom prst="straightConnector1">
              <a:avLst/>
            </a:prstGeom>
            <a:noFill/>
            <a:ln cap="flat" cmpd="sng" w="9525">
              <a:solidFill>
                <a:schemeClr val="dk1"/>
              </a:solidFill>
              <a:prstDash val="solid"/>
              <a:miter lim="800000"/>
              <a:headEnd len="med" w="med" type="none"/>
              <a:tailEnd len="med" w="med" type="triangle"/>
            </a:ln>
          </p:spPr>
        </p:cxnSp>
        <p:cxnSp>
          <p:nvCxnSpPr>
            <p:cNvPr id="543" name="Google Shape;543;p34"/>
            <p:cNvCxnSpPr/>
            <p:nvPr/>
          </p:nvCxnSpPr>
          <p:spPr>
            <a:xfrm>
              <a:off x="2887663" y="2130425"/>
              <a:ext cx="0" cy="496888"/>
            </a:xfrm>
            <a:prstGeom prst="straightConnector1">
              <a:avLst/>
            </a:prstGeom>
            <a:noFill/>
            <a:ln cap="flat" cmpd="sng" w="9525">
              <a:solidFill>
                <a:schemeClr val="dk1"/>
              </a:solidFill>
              <a:prstDash val="solid"/>
              <a:miter lim="800000"/>
              <a:headEnd len="med" w="med" type="none"/>
              <a:tailEnd len="med" w="med" type="triangle"/>
            </a:ln>
          </p:spPr>
        </p:cxnSp>
        <p:cxnSp>
          <p:nvCxnSpPr>
            <p:cNvPr id="544" name="Google Shape;544;p34"/>
            <p:cNvCxnSpPr/>
            <p:nvPr/>
          </p:nvCxnSpPr>
          <p:spPr>
            <a:xfrm>
              <a:off x="2870200" y="3070225"/>
              <a:ext cx="0" cy="273050"/>
            </a:xfrm>
            <a:prstGeom prst="straightConnector1">
              <a:avLst/>
            </a:prstGeom>
            <a:noFill/>
            <a:ln cap="flat" cmpd="sng" w="9525">
              <a:solidFill>
                <a:schemeClr val="dk1"/>
              </a:solidFill>
              <a:prstDash val="solid"/>
              <a:miter lim="800000"/>
              <a:headEnd len="med" w="med" type="none"/>
              <a:tailEnd len="med" w="med" type="triangle"/>
            </a:ln>
          </p:spPr>
        </p:cxnSp>
        <p:cxnSp>
          <p:nvCxnSpPr>
            <p:cNvPr id="545" name="Google Shape;545;p34"/>
            <p:cNvCxnSpPr/>
            <p:nvPr/>
          </p:nvCxnSpPr>
          <p:spPr>
            <a:xfrm>
              <a:off x="2860675" y="3605213"/>
              <a:ext cx="9525" cy="300037"/>
            </a:xfrm>
            <a:prstGeom prst="straightConnector1">
              <a:avLst/>
            </a:prstGeom>
            <a:noFill/>
            <a:ln cap="flat" cmpd="sng" w="9525">
              <a:solidFill>
                <a:schemeClr val="dk1"/>
              </a:solidFill>
              <a:prstDash val="solid"/>
              <a:miter lim="800000"/>
              <a:headEnd len="med" w="med" type="none"/>
              <a:tailEnd len="med" w="med" type="triangle"/>
            </a:ln>
          </p:spPr>
        </p:cxnSp>
        <p:cxnSp>
          <p:nvCxnSpPr>
            <p:cNvPr id="546" name="Google Shape;546;p34"/>
            <p:cNvCxnSpPr/>
            <p:nvPr/>
          </p:nvCxnSpPr>
          <p:spPr>
            <a:xfrm rot="10800000">
              <a:off x="2987675" y="3451225"/>
              <a:ext cx="24003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547" name="Google Shape;547;p34"/>
            <p:cNvCxnSpPr/>
            <p:nvPr/>
          </p:nvCxnSpPr>
          <p:spPr>
            <a:xfrm>
              <a:off x="5522913" y="2138363"/>
              <a:ext cx="0" cy="344487"/>
            </a:xfrm>
            <a:prstGeom prst="straightConnector1">
              <a:avLst/>
            </a:prstGeom>
            <a:noFill/>
            <a:ln cap="flat" cmpd="sng" w="9525">
              <a:solidFill>
                <a:schemeClr val="dk1"/>
              </a:solidFill>
              <a:prstDash val="solid"/>
              <a:miter lim="800000"/>
              <a:headEnd len="med" w="med" type="none"/>
              <a:tailEnd len="med" w="med" type="triangle"/>
            </a:ln>
          </p:spPr>
        </p:cxnSp>
        <p:cxnSp>
          <p:nvCxnSpPr>
            <p:cNvPr id="548" name="Google Shape;548;p34"/>
            <p:cNvCxnSpPr/>
            <p:nvPr/>
          </p:nvCxnSpPr>
          <p:spPr>
            <a:xfrm>
              <a:off x="6384925" y="2135188"/>
              <a:ext cx="0" cy="344487"/>
            </a:xfrm>
            <a:prstGeom prst="straightConnector1">
              <a:avLst/>
            </a:prstGeom>
            <a:noFill/>
            <a:ln cap="flat" cmpd="sng" w="9525">
              <a:solidFill>
                <a:schemeClr val="dk1"/>
              </a:solidFill>
              <a:prstDash val="solid"/>
              <a:miter lim="800000"/>
              <a:headEnd len="med" w="med" type="none"/>
              <a:tailEnd len="med" w="med" type="triangle"/>
            </a:ln>
          </p:spPr>
        </p:cxnSp>
        <p:cxnSp>
          <p:nvCxnSpPr>
            <p:cNvPr id="549" name="Google Shape;549;p34"/>
            <p:cNvCxnSpPr/>
            <p:nvPr/>
          </p:nvCxnSpPr>
          <p:spPr>
            <a:xfrm>
              <a:off x="5511800" y="2919413"/>
              <a:ext cx="9525" cy="280987"/>
            </a:xfrm>
            <a:prstGeom prst="straightConnector1">
              <a:avLst/>
            </a:prstGeom>
            <a:noFill/>
            <a:ln cap="flat" cmpd="sng" w="9525">
              <a:solidFill>
                <a:schemeClr val="dk1"/>
              </a:solidFill>
              <a:prstDash val="solid"/>
              <a:miter lim="800000"/>
              <a:headEnd len="med" w="med" type="none"/>
              <a:tailEnd len="med" w="med" type="triangle"/>
            </a:ln>
          </p:spPr>
        </p:cxnSp>
        <p:cxnSp>
          <p:nvCxnSpPr>
            <p:cNvPr id="550" name="Google Shape;550;p34"/>
            <p:cNvCxnSpPr/>
            <p:nvPr/>
          </p:nvCxnSpPr>
          <p:spPr>
            <a:xfrm>
              <a:off x="6373813" y="2930525"/>
              <a:ext cx="4762" cy="285750"/>
            </a:xfrm>
            <a:prstGeom prst="straightConnector1">
              <a:avLst/>
            </a:prstGeom>
            <a:noFill/>
            <a:ln cap="flat" cmpd="sng" w="9525">
              <a:solidFill>
                <a:schemeClr val="dk1"/>
              </a:solidFill>
              <a:prstDash val="solid"/>
              <a:miter lim="800000"/>
              <a:headEnd len="med" w="med" type="none"/>
              <a:tailEnd len="med" w="med" type="triangle"/>
            </a:ln>
          </p:spPr>
        </p:cxnSp>
        <p:cxnSp>
          <p:nvCxnSpPr>
            <p:cNvPr id="551" name="Google Shape;551;p34"/>
            <p:cNvCxnSpPr/>
            <p:nvPr/>
          </p:nvCxnSpPr>
          <p:spPr>
            <a:xfrm>
              <a:off x="5160963" y="2927350"/>
              <a:ext cx="0" cy="2806700"/>
            </a:xfrm>
            <a:prstGeom prst="straightConnector1">
              <a:avLst/>
            </a:prstGeom>
            <a:noFill/>
            <a:ln cap="flat" cmpd="sng" w="9525">
              <a:solidFill>
                <a:schemeClr val="dk1"/>
              </a:solidFill>
              <a:prstDash val="solid"/>
              <a:miter lim="800000"/>
              <a:headEnd len="med" w="med" type="none"/>
              <a:tailEnd len="med" w="med" type="triangle"/>
            </a:ln>
          </p:spPr>
        </p:cxnSp>
        <p:cxnSp>
          <p:nvCxnSpPr>
            <p:cNvPr id="552" name="Google Shape;552;p34"/>
            <p:cNvCxnSpPr/>
            <p:nvPr/>
          </p:nvCxnSpPr>
          <p:spPr>
            <a:xfrm>
              <a:off x="6816725" y="2927350"/>
              <a:ext cx="0" cy="2806700"/>
            </a:xfrm>
            <a:prstGeom prst="straightConnector1">
              <a:avLst/>
            </a:prstGeom>
            <a:noFill/>
            <a:ln cap="flat" cmpd="sng" w="9525">
              <a:solidFill>
                <a:schemeClr val="dk1"/>
              </a:solidFill>
              <a:prstDash val="solid"/>
              <a:miter lim="800000"/>
              <a:headEnd len="med" w="med" type="none"/>
              <a:tailEnd len="med" w="med" type="triangle"/>
            </a:ln>
          </p:spPr>
        </p:cxnSp>
        <p:cxnSp>
          <p:nvCxnSpPr>
            <p:cNvPr id="553" name="Google Shape;553;p34"/>
            <p:cNvCxnSpPr/>
            <p:nvPr/>
          </p:nvCxnSpPr>
          <p:spPr>
            <a:xfrm>
              <a:off x="2857500" y="4324350"/>
              <a:ext cx="9525" cy="344488"/>
            </a:xfrm>
            <a:prstGeom prst="straightConnector1">
              <a:avLst/>
            </a:prstGeom>
            <a:noFill/>
            <a:ln cap="flat" cmpd="sng" w="9525">
              <a:solidFill>
                <a:schemeClr val="dk1"/>
              </a:solidFill>
              <a:prstDash val="solid"/>
              <a:miter lim="800000"/>
              <a:headEnd len="med" w="med" type="none"/>
              <a:tailEnd len="med" w="med" type="triangle"/>
            </a:ln>
          </p:spPr>
        </p:cxnSp>
        <p:cxnSp>
          <p:nvCxnSpPr>
            <p:cNvPr id="554" name="Google Shape;554;p34"/>
            <p:cNvCxnSpPr/>
            <p:nvPr/>
          </p:nvCxnSpPr>
          <p:spPr>
            <a:xfrm>
              <a:off x="2857500" y="5519738"/>
              <a:ext cx="3175" cy="238125"/>
            </a:xfrm>
            <a:prstGeom prst="straightConnector1">
              <a:avLst/>
            </a:prstGeom>
            <a:noFill/>
            <a:ln cap="flat" cmpd="sng" w="9525">
              <a:solidFill>
                <a:schemeClr val="dk1"/>
              </a:solidFill>
              <a:prstDash val="solid"/>
              <a:miter lim="800000"/>
              <a:headEnd len="med" w="med" type="none"/>
              <a:tailEnd len="med" w="med" type="triangle"/>
            </a:ln>
          </p:spPr>
        </p:cxnSp>
        <p:cxnSp>
          <p:nvCxnSpPr>
            <p:cNvPr id="555" name="Google Shape;555;p34"/>
            <p:cNvCxnSpPr/>
            <p:nvPr/>
          </p:nvCxnSpPr>
          <p:spPr>
            <a:xfrm>
              <a:off x="2852738" y="5083175"/>
              <a:ext cx="1587" cy="215900"/>
            </a:xfrm>
            <a:prstGeom prst="straightConnector1">
              <a:avLst/>
            </a:prstGeom>
            <a:noFill/>
            <a:ln cap="flat" cmpd="sng" w="9525">
              <a:solidFill>
                <a:schemeClr val="dk1"/>
              </a:solidFill>
              <a:prstDash val="solid"/>
              <a:miter lim="800000"/>
              <a:headEnd len="med" w="med" type="none"/>
              <a:tailEnd len="med" w="med" type="triangle"/>
            </a:ln>
          </p:spPr>
        </p:cxnSp>
        <p:cxnSp>
          <p:nvCxnSpPr>
            <p:cNvPr id="556" name="Google Shape;556;p34"/>
            <p:cNvCxnSpPr/>
            <p:nvPr/>
          </p:nvCxnSpPr>
          <p:spPr>
            <a:xfrm rot="10800000">
              <a:off x="2190750" y="2347913"/>
              <a:ext cx="685800" cy="3175"/>
            </a:xfrm>
            <a:prstGeom prst="straightConnector1">
              <a:avLst/>
            </a:prstGeom>
            <a:noFill/>
            <a:ln cap="flat" cmpd="sng" w="9525">
              <a:solidFill>
                <a:schemeClr val="dk1"/>
              </a:solidFill>
              <a:prstDash val="solid"/>
              <a:miter lim="800000"/>
              <a:headEnd len="med" w="med" type="none"/>
              <a:tailEnd len="med" w="med" type="none"/>
            </a:ln>
          </p:spPr>
        </p:cxnSp>
        <p:cxnSp>
          <p:nvCxnSpPr>
            <p:cNvPr id="557" name="Google Shape;557;p34"/>
            <p:cNvCxnSpPr/>
            <p:nvPr/>
          </p:nvCxnSpPr>
          <p:spPr>
            <a:xfrm flipH="1">
              <a:off x="1865313" y="2338388"/>
              <a:ext cx="330200" cy="3400425"/>
            </a:xfrm>
            <a:prstGeom prst="straightConnector1">
              <a:avLst/>
            </a:prstGeom>
            <a:noFill/>
            <a:ln cap="flat" cmpd="sng" w="9525">
              <a:solidFill>
                <a:schemeClr val="dk1"/>
              </a:solidFill>
              <a:prstDash val="solid"/>
              <a:miter lim="800000"/>
              <a:headEnd len="med" w="med" type="none"/>
              <a:tailEnd len="med" w="med" type="triangle"/>
            </a:ln>
          </p:spPr>
        </p:cxnSp>
        <p:sp>
          <p:nvSpPr>
            <p:cNvPr id="558" name="Google Shape;558;p34"/>
            <p:cNvSpPr txBox="1"/>
            <p:nvPr/>
          </p:nvSpPr>
          <p:spPr>
            <a:xfrm>
              <a:off x="3819525" y="3186113"/>
              <a:ext cx="433388"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48</a:t>
              </a:r>
              <a:endParaRPr/>
            </a:p>
          </p:txBody>
        </p:sp>
        <p:sp>
          <p:nvSpPr>
            <p:cNvPr id="559" name="Google Shape;559;p34"/>
            <p:cNvSpPr txBox="1"/>
            <p:nvPr/>
          </p:nvSpPr>
          <p:spPr>
            <a:xfrm>
              <a:off x="1489075" y="2208213"/>
              <a:ext cx="433388"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560" name="Google Shape;560;p34"/>
            <p:cNvSpPr txBox="1"/>
            <p:nvPr/>
          </p:nvSpPr>
          <p:spPr>
            <a:xfrm>
              <a:off x="2928938" y="2208213"/>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561" name="Google Shape;561;p34"/>
            <p:cNvSpPr txBox="1"/>
            <p:nvPr/>
          </p:nvSpPr>
          <p:spPr>
            <a:xfrm>
              <a:off x="1560492" y="5418151"/>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562" name="Google Shape;562;p34"/>
            <p:cNvSpPr txBox="1"/>
            <p:nvPr/>
          </p:nvSpPr>
          <p:spPr>
            <a:xfrm>
              <a:off x="2857500" y="3071813"/>
              <a:ext cx="4335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48</a:t>
              </a:r>
              <a:endParaRPr/>
            </a:p>
          </p:txBody>
        </p:sp>
        <p:sp>
          <p:nvSpPr>
            <p:cNvPr id="563" name="Google Shape;563;p34"/>
            <p:cNvSpPr txBox="1"/>
            <p:nvPr/>
          </p:nvSpPr>
          <p:spPr>
            <a:xfrm>
              <a:off x="2828925" y="4368800"/>
              <a:ext cx="4333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564" name="Google Shape;564;p34"/>
            <p:cNvSpPr txBox="1"/>
            <p:nvPr/>
          </p:nvSpPr>
          <p:spPr>
            <a:xfrm>
              <a:off x="2846388" y="5087938"/>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565" name="Google Shape;565;p34"/>
            <p:cNvSpPr txBox="1"/>
            <p:nvPr/>
          </p:nvSpPr>
          <p:spPr>
            <a:xfrm>
              <a:off x="2843213" y="5491163"/>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32</a:t>
              </a:r>
              <a:endParaRPr/>
            </a:p>
          </p:txBody>
        </p:sp>
        <p:sp>
          <p:nvSpPr>
            <p:cNvPr id="566" name="Google Shape;566;p34"/>
            <p:cNvSpPr txBox="1"/>
            <p:nvPr/>
          </p:nvSpPr>
          <p:spPr>
            <a:xfrm>
              <a:off x="2857500" y="3557588"/>
              <a:ext cx="433388"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48</a:t>
              </a:r>
              <a:endParaRPr/>
            </a:p>
          </p:txBody>
        </p:sp>
        <p:sp>
          <p:nvSpPr>
            <p:cNvPr id="567" name="Google Shape;567;p34"/>
            <p:cNvSpPr txBox="1"/>
            <p:nvPr/>
          </p:nvSpPr>
          <p:spPr>
            <a:xfrm>
              <a:off x="5494338" y="2911475"/>
              <a:ext cx="4333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568" name="Google Shape;568;p34"/>
            <p:cNvSpPr txBox="1"/>
            <p:nvPr/>
          </p:nvSpPr>
          <p:spPr>
            <a:xfrm>
              <a:off x="6399213" y="2135188"/>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569" name="Google Shape;569;p34"/>
            <p:cNvSpPr txBox="1"/>
            <p:nvPr/>
          </p:nvSpPr>
          <p:spPr>
            <a:xfrm>
              <a:off x="5160963" y="2135188"/>
              <a:ext cx="433387"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570" name="Google Shape;570;p34"/>
            <p:cNvSpPr txBox="1"/>
            <p:nvPr/>
          </p:nvSpPr>
          <p:spPr>
            <a:xfrm>
              <a:off x="6024563" y="2927350"/>
              <a:ext cx="4333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571" name="Google Shape;571;p34"/>
            <p:cNvSpPr txBox="1"/>
            <p:nvPr/>
          </p:nvSpPr>
          <p:spPr>
            <a:xfrm>
              <a:off x="4800600" y="4368800"/>
              <a:ext cx="4333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sp>
          <p:nvSpPr>
            <p:cNvPr id="572" name="Google Shape;572;p34"/>
            <p:cNvSpPr txBox="1"/>
            <p:nvPr/>
          </p:nvSpPr>
          <p:spPr>
            <a:xfrm>
              <a:off x="6816725" y="4295775"/>
              <a:ext cx="4333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omic Sans MS"/>
                <a:buNone/>
              </a:pPr>
              <a:r>
                <a:rPr b="0" i="0" lang="en-US" sz="1200" u="none">
                  <a:solidFill>
                    <a:schemeClr val="dk1"/>
                  </a:solidFill>
                  <a:latin typeface="Comic Sans MS"/>
                  <a:ea typeface="Comic Sans MS"/>
                  <a:cs typeface="Comic Sans MS"/>
                  <a:sym typeface="Comic Sans MS"/>
                </a:rPr>
                <a:t>28</a:t>
              </a:r>
              <a:endParaRPr/>
            </a:p>
          </p:txBody>
        </p:sp>
      </p:grpSp>
      <p:pic>
        <p:nvPicPr>
          <p:cNvPr descr="des_block" id="573" name="Google Shape;573;p34"/>
          <p:cNvPicPr preferRelativeResize="0"/>
          <p:nvPr/>
        </p:nvPicPr>
        <p:blipFill rotWithShape="1">
          <a:blip r:embed="rId7">
            <a:alphaModFix/>
          </a:blip>
          <a:srcRect b="0" l="0" r="0" t="0"/>
          <a:stretch/>
        </p:blipFill>
        <p:spPr>
          <a:xfrm>
            <a:off x="717550" y="2487612"/>
            <a:ext cx="1949450" cy="2085975"/>
          </a:xfrm>
          <a:prstGeom prst="rect">
            <a:avLst/>
          </a:prstGeom>
          <a:noFill/>
          <a:ln>
            <a:noFill/>
          </a:ln>
        </p:spPr>
      </p:pic>
      <p:sp>
        <p:nvSpPr>
          <p:cNvPr id="574" name="Google Shape;574;p34"/>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5"/>
          <p:cNvSpPr txBox="1"/>
          <p:nvPr>
            <p:ph type="title"/>
          </p:nvPr>
        </p:nvSpPr>
        <p:spPr>
          <a:xfrm>
            <a:off x="785812" y="333375"/>
            <a:ext cx="7143750" cy="1023937"/>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DES Subkey</a:t>
            </a:r>
            <a:endParaRPr/>
          </a:p>
        </p:txBody>
      </p:sp>
      <p:sp>
        <p:nvSpPr>
          <p:cNvPr id="580" name="Google Shape;580;p35"/>
          <p:cNvSpPr txBox="1"/>
          <p:nvPr>
            <p:ph idx="1" type="body"/>
          </p:nvPr>
        </p:nvSpPr>
        <p:spPr>
          <a:xfrm>
            <a:off x="785812" y="1643062"/>
            <a:ext cx="7385050" cy="490537"/>
          </a:xfrm>
          <a:prstGeom prst="rect">
            <a:avLst/>
          </a:prstGeom>
          <a:noFill/>
          <a:ln>
            <a:noFill/>
          </a:ln>
        </p:spPr>
        <p:txBody>
          <a:bodyPr anchorCtr="0" anchor="t" bIns="45700" lIns="91425" spcFirstLastPara="1" rIns="91425" wrap="square" tIns="45700">
            <a:noAutofit/>
          </a:bodyPr>
          <a:lstStyle/>
          <a:p>
            <a:pPr indent="-449262" lvl="0" marL="457200" rtl="0" algn="l">
              <a:lnSpc>
                <a:spcPct val="90000"/>
              </a:lnSpc>
              <a:spcBef>
                <a:spcPts val="0"/>
              </a:spcBef>
              <a:spcAft>
                <a:spcPts val="0"/>
              </a:spcAft>
              <a:buClr>
                <a:srgbClr val="376092"/>
              </a:buClr>
              <a:buSzPts val="400"/>
              <a:buFont typeface="Arial"/>
              <a:buChar char="•"/>
            </a:pPr>
            <a:r>
              <a:rPr b="0" i="0" lang="en-US" sz="2600" u="none">
                <a:solidFill>
                  <a:schemeClr val="dk1"/>
                </a:solidFill>
                <a:latin typeface="Corbel"/>
                <a:ea typeface="Corbel"/>
                <a:cs typeface="Corbel"/>
                <a:sym typeface="Corbel"/>
              </a:rPr>
              <a:t>56 bit DES key, numbered 0,1,2,…,55</a:t>
            </a:r>
            <a:endParaRPr/>
          </a:p>
        </p:txBody>
      </p:sp>
      <p:graphicFrame>
        <p:nvGraphicFramePr>
          <p:cNvPr id="581" name="Google Shape;581;p35"/>
          <p:cNvGraphicFramePr/>
          <p:nvPr/>
        </p:nvGraphicFramePr>
        <p:xfrm>
          <a:off x="989012" y="2633662"/>
          <a:ext cx="3000000" cy="3000000"/>
        </p:xfrm>
        <a:graphic>
          <a:graphicData uri="http://schemas.openxmlformats.org/drawingml/2006/table">
            <a:tbl>
              <a:tblPr>
                <a:noFill/>
                <a:tableStyleId>{544FB276-6C9D-4771-A9D3-37D8E1AA6F45}</a:tableStyleId>
              </a:tblPr>
              <a:tblGrid>
                <a:gridCol w="576250"/>
                <a:gridCol w="576250"/>
                <a:gridCol w="558800"/>
                <a:gridCol w="593725"/>
                <a:gridCol w="576250"/>
                <a:gridCol w="576250"/>
                <a:gridCol w="576250"/>
              </a:tblGrid>
              <a:tr h="35400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49</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7</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400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0</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15</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400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8</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23</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400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16</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31</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582" name="Google Shape;582;p35"/>
          <p:cNvGraphicFramePr/>
          <p:nvPr/>
        </p:nvGraphicFramePr>
        <p:xfrm>
          <a:off x="4427537" y="4724400"/>
          <a:ext cx="3000000" cy="3000000"/>
        </p:xfrm>
        <a:graphic>
          <a:graphicData uri="http://schemas.openxmlformats.org/drawingml/2006/table">
            <a:tbl>
              <a:tblPr>
                <a:noFill/>
                <a:tableStyleId>{544FB276-6C9D-4771-A9D3-37D8E1AA6F45}</a:tableStyleId>
              </a:tblPr>
              <a:tblGrid>
                <a:gridCol w="576250"/>
                <a:gridCol w="576250"/>
                <a:gridCol w="576250"/>
                <a:gridCol w="576250"/>
                <a:gridCol w="576250"/>
                <a:gridCol w="576250"/>
                <a:gridCol w="576250"/>
              </a:tblGrid>
              <a:tr h="35400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55</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13</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400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6</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19</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400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12</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53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25</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4000">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18</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700"/>
                        <a:buFont typeface="Comic Sans MS"/>
                        <a:buNone/>
                      </a:pPr>
                      <a:r>
                        <a:rPr b="0" i="0" lang="en-US" sz="1700" u="none">
                          <a:solidFill>
                            <a:schemeClr val="dk1"/>
                          </a:solidFill>
                          <a:latin typeface="Comic Sans MS"/>
                          <a:ea typeface="Comic Sans MS"/>
                          <a:cs typeface="Comic Sans MS"/>
                          <a:sym typeface="Comic Sans MS"/>
                        </a:rPr>
                        <a:t>3</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583" name="Google Shape;583;p3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584" name="Google Shape;584;p35"/>
          <p:cNvSpPr txBox="1"/>
          <p:nvPr/>
        </p:nvSpPr>
        <p:spPr>
          <a:xfrm>
            <a:off x="785812" y="2214562"/>
            <a:ext cx="4291012" cy="3508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2"/>
              </a:buClr>
              <a:buSzPts val="1820"/>
              <a:buFont typeface="Noto Sans Symbols"/>
              <a:buChar char="●"/>
            </a:pPr>
            <a:r>
              <a:rPr b="0" i="0" lang="en-US" sz="2600" u="none">
                <a:solidFill>
                  <a:schemeClr val="dk1"/>
                </a:solidFill>
                <a:latin typeface="Comic Sans MS"/>
                <a:ea typeface="Comic Sans MS"/>
                <a:cs typeface="Comic Sans MS"/>
                <a:sym typeface="Comic Sans MS"/>
              </a:rPr>
              <a:t>Left half key bits, </a:t>
            </a:r>
            <a:r>
              <a:rPr b="0" i="0" lang="en-US" sz="2600" u="none">
                <a:solidFill>
                  <a:schemeClr val="dk1"/>
                </a:solidFill>
                <a:latin typeface="Courier"/>
                <a:ea typeface="Courier"/>
                <a:cs typeface="Courier"/>
                <a:sym typeface="Courier"/>
              </a:rPr>
              <a:t>LK</a:t>
            </a:r>
            <a:endParaRPr b="0" i="0" sz="2600" u="none">
              <a:solidFill>
                <a:schemeClr val="dk1"/>
              </a:solidFill>
              <a:latin typeface="Comic Sans MS"/>
              <a:ea typeface="Comic Sans MS"/>
              <a:cs typeface="Comic Sans MS"/>
              <a:sym typeface="Comic Sans MS"/>
            </a:endParaRPr>
          </a:p>
          <a:p>
            <a:pPr indent="-342900" lvl="0" marL="342900" marR="0" rtl="0" algn="l">
              <a:lnSpc>
                <a:spcPct val="80000"/>
              </a:lnSpc>
              <a:spcBef>
                <a:spcPts val="260"/>
              </a:spcBef>
              <a:spcAft>
                <a:spcPts val="0"/>
              </a:spcAft>
              <a:buClr>
                <a:schemeClr val="dk1"/>
              </a:buClr>
              <a:buSzPts val="1300"/>
              <a:buFont typeface="Courier"/>
              <a:buNone/>
            </a:pPr>
            <a:r>
              <a:rPr b="0" i="0" lang="en-US" sz="1300" u="none">
                <a:solidFill>
                  <a:schemeClr val="dk1"/>
                </a:solidFill>
                <a:latin typeface="Courier"/>
                <a:ea typeface="Courier"/>
                <a:cs typeface="Courier"/>
                <a:sym typeface="Courier"/>
              </a:rPr>
              <a:t>			</a:t>
            </a:r>
            <a:endParaRPr/>
          </a:p>
        </p:txBody>
      </p:sp>
      <p:sp>
        <p:nvSpPr>
          <p:cNvPr id="585" name="Google Shape;585;p35"/>
          <p:cNvSpPr txBox="1"/>
          <p:nvPr/>
        </p:nvSpPr>
        <p:spPr>
          <a:xfrm>
            <a:off x="4265612" y="4210050"/>
            <a:ext cx="4537075" cy="431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2"/>
              </a:buClr>
              <a:buSzPts val="1820"/>
              <a:buFont typeface="Noto Sans Symbols"/>
              <a:buChar char="●"/>
            </a:pPr>
            <a:r>
              <a:rPr b="0" i="0" lang="en-US" sz="2600" u="none">
                <a:solidFill>
                  <a:schemeClr val="dk1"/>
                </a:solidFill>
                <a:latin typeface="Comic Sans MS"/>
                <a:ea typeface="Comic Sans MS"/>
                <a:cs typeface="Comic Sans MS"/>
                <a:sym typeface="Comic Sans MS"/>
              </a:rPr>
              <a:t>Right half key bits, </a:t>
            </a:r>
            <a:r>
              <a:rPr b="0" i="0" lang="en-US" sz="2600" u="none">
                <a:solidFill>
                  <a:schemeClr val="dk1"/>
                </a:solidFill>
                <a:latin typeface="Courier"/>
                <a:ea typeface="Courier"/>
                <a:cs typeface="Courier"/>
                <a:sym typeface="Courier"/>
              </a:rPr>
              <a:t>RK</a:t>
            </a:r>
            <a:endParaRPr b="0" i="0" sz="2600" u="none">
              <a:solidFill>
                <a:schemeClr val="dk1"/>
              </a:solidFill>
              <a:latin typeface="Comic Sans MS"/>
              <a:ea typeface="Comic Sans MS"/>
              <a:cs typeface="Comic Sans MS"/>
              <a:sym typeface="Comic Sans MS"/>
            </a:endParaRPr>
          </a:p>
          <a:p>
            <a:pPr indent="-342900" lvl="0" marL="342900" marR="0" rtl="0" algn="l">
              <a:lnSpc>
                <a:spcPct val="80000"/>
              </a:lnSpc>
              <a:spcBef>
                <a:spcPts val="260"/>
              </a:spcBef>
              <a:spcAft>
                <a:spcPts val="0"/>
              </a:spcAft>
              <a:buClr>
                <a:schemeClr val="dk1"/>
              </a:buClr>
              <a:buSzPts val="1300"/>
              <a:buFont typeface="Courier"/>
              <a:buNone/>
            </a:pPr>
            <a:r>
              <a:rPr b="0" i="0" lang="en-US" sz="1300" u="none">
                <a:solidFill>
                  <a:schemeClr val="dk1"/>
                </a:solidFill>
                <a:latin typeface="Courier"/>
                <a:ea typeface="Courier"/>
                <a:cs typeface="Courier"/>
                <a:sym typeface="Courier"/>
              </a:rPr>
              <a:t>			</a:t>
            </a:r>
            <a:endParaRPr/>
          </a:p>
        </p:txBody>
      </p:sp>
      <p:sp>
        <p:nvSpPr>
          <p:cNvPr id="586" name="Google Shape;586;p35"/>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36"/>
          <p:cNvSpPr txBox="1"/>
          <p:nvPr>
            <p:ph type="title"/>
          </p:nvPr>
        </p:nvSpPr>
        <p:spPr>
          <a:xfrm>
            <a:off x="785812" y="122237"/>
            <a:ext cx="7215187" cy="12350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DES Subkey</a:t>
            </a:r>
            <a:endParaRPr/>
          </a:p>
        </p:txBody>
      </p:sp>
      <p:sp>
        <p:nvSpPr>
          <p:cNvPr id="592" name="Google Shape;592;p36"/>
          <p:cNvSpPr txBox="1"/>
          <p:nvPr>
            <p:ph idx="1" type="body"/>
          </p:nvPr>
        </p:nvSpPr>
        <p:spPr>
          <a:xfrm>
            <a:off x="785812" y="1773237"/>
            <a:ext cx="7456487" cy="4154487"/>
          </a:xfrm>
          <a:prstGeom prst="rect">
            <a:avLst/>
          </a:prstGeom>
          <a:noFill/>
          <a:ln>
            <a:noFill/>
          </a:ln>
        </p:spPr>
        <p:txBody>
          <a:bodyPr anchorCtr="0" anchor="t" bIns="45700" lIns="91425" spcFirstLastPara="1" rIns="91425" wrap="square" tIns="45700">
            <a:normAutofit/>
          </a:bodyPr>
          <a:lstStyle/>
          <a:p>
            <a:pPr indent="-171450" lvl="0" marL="171450" marR="0" rtl="0" algn="l">
              <a:lnSpc>
                <a:spcPct val="90000"/>
              </a:lnSpc>
              <a:spcBef>
                <a:spcPts val="0"/>
              </a:spcBef>
              <a:spcAft>
                <a:spcPts val="0"/>
              </a:spcAft>
              <a:buClr>
                <a:srgbClr val="376092"/>
              </a:buClr>
              <a:buSzPts val="3100"/>
              <a:buFont typeface="Noto Sans Symbols"/>
              <a:buChar char="❑"/>
            </a:pPr>
            <a:r>
              <a:rPr b="0" i="0" lang="en-US" sz="3100" u="none">
                <a:solidFill>
                  <a:srgbClr val="000000"/>
                </a:solidFill>
                <a:latin typeface="Corbel"/>
                <a:ea typeface="Corbel"/>
                <a:cs typeface="Corbel"/>
                <a:sym typeface="Corbel"/>
              </a:rPr>
              <a:t>For rounds </a:t>
            </a:r>
            <a:r>
              <a:rPr b="0" i="0" lang="en-US" sz="3100" u="none">
                <a:solidFill>
                  <a:srgbClr val="000000"/>
                </a:solidFill>
                <a:latin typeface="Courier"/>
                <a:ea typeface="Courier"/>
                <a:cs typeface="Courier"/>
                <a:sym typeface="Courier"/>
              </a:rPr>
              <a:t>i=1,2,...,16</a:t>
            </a:r>
            <a:endParaRPr/>
          </a:p>
          <a:p>
            <a:pPr indent="-457200" lvl="1" marL="781050" marR="0" rtl="0" algn="l">
              <a:lnSpc>
                <a:spcPct val="90000"/>
              </a:lnSpc>
              <a:spcBef>
                <a:spcPts val="300"/>
              </a:spcBef>
              <a:spcAft>
                <a:spcPts val="0"/>
              </a:spcAft>
              <a:buClr>
                <a:srgbClr val="376092"/>
              </a:buClr>
              <a:buSzPts val="3000"/>
              <a:buFont typeface="Noto Sans Symbols"/>
              <a:buChar char="❑"/>
            </a:pPr>
            <a:r>
              <a:rPr b="0" i="0" lang="en-US" sz="3000" u="none" cap="none" strike="noStrike">
                <a:solidFill>
                  <a:srgbClr val="000000"/>
                </a:solidFill>
                <a:latin typeface="Corbel"/>
                <a:ea typeface="Corbel"/>
                <a:cs typeface="Corbel"/>
                <a:sym typeface="Corbel"/>
              </a:rPr>
              <a:t>Let </a:t>
            </a:r>
            <a:r>
              <a:rPr b="0" i="0" lang="en-US" sz="3000" u="none" cap="none" strike="noStrike">
                <a:solidFill>
                  <a:srgbClr val="000000"/>
                </a:solidFill>
                <a:latin typeface="Times"/>
                <a:ea typeface="Times"/>
                <a:cs typeface="Times"/>
                <a:sym typeface="Times"/>
              </a:rPr>
              <a:t>LK = (LK</a:t>
            </a:r>
            <a:r>
              <a:rPr b="0" i="0" lang="en-US" sz="3000" u="none" cap="none" strike="noStrike">
                <a:solidFill>
                  <a:srgbClr val="000000"/>
                </a:solidFill>
                <a:latin typeface="Courier"/>
                <a:ea typeface="Courier"/>
                <a:cs typeface="Courier"/>
                <a:sym typeface="Courier"/>
              </a:rPr>
              <a:t> </a:t>
            </a:r>
            <a:r>
              <a:rPr b="0" i="0" lang="en-US" sz="3000" u="none" cap="none" strike="noStrike">
                <a:solidFill>
                  <a:srgbClr val="000000"/>
                </a:solidFill>
                <a:latin typeface="Corbel"/>
                <a:ea typeface="Corbel"/>
                <a:cs typeface="Corbel"/>
                <a:sym typeface="Corbel"/>
              </a:rPr>
              <a:t>circular shift left by</a:t>
            </a:r>
            <a:r>
              <a:rPr b="0" i="0" lang="en-US" sz="3000" u="none" cap="none" strike="noStrike">
                <a:solidFill>
                  <a:srgbClr val="000000"/>
                </a:solidFill>
                <a:latin typeface="Courier"/>
                <a:ea typeface="Courier"/>
                <a:cs typeface="Courier"/>
                <a:sym typeface="Courier"/>
              </a:rPr>
              <a:t> </a:t>
            </a:r>
            <a:r>
              <a:rPr b="0" i="0" lang="en-US" sz="3000" u="none" cap="none" strike="noStrike">
                <a:solidFill>
                  <a:srgbClr val="000000"/>
                </a:solidFill>
                <a:latin typeface="Times"/>
                <a:ea typeface="Times"/>
                <a:cs typeface="Times"/>
                <a:sym typeface="Times"/>
              </a:rPr>
              <a:t>r</a:t>
            </a:r>
            <a:r>
              <a:rPr b="0" baseline="-25000" i="0" lang="en-US" sz="3000" u="none" cap="none" strike="noStrike">
                <a:solidFill>
                  <a:srgbClr val="000000"/>
                </a:solidFill>
                <a:latin typeface="Times"/>
                <a:ea typeface="Times"/>
                <a:cs typeface="Times"/>
                <a:sym typeface="Times"/>
              </a:rPr>
              <a:t>i</a:t>
            </a:r>
            <a:r>
              <a:rPr b="0" i="0" lang="en-US" sz="3000" u="none" cap="none" strike="noStrike">
                <a:solidFill>
                  <a:srgbClr val="000000"/>
                </a:solidFill>
                <a:latin typeface="Times"/>
                <a:ea typeface="Times"/>
                <a:cs typeface="Times"/>
                <a:sym typeface="Times"/>
              </a:rPr>
              <a:t>)</a:t>
            </a:r>
            <a:endParaRPr/>
          </a:p>
          <a:p>
            <a:pPr indent="-457200" lvl="1" marL="781050" marR="0" rtl="0" algn="l">
              <a:lnSpc>
                <a:spcPct val="90000"/>
              </a:lnSpc>
              <a:spcBef>
                <a:spcPts val="300"/>
              </a:spcBef>
              <a:spcAft>
                <a:spcPts val="0"/>
              </a:spcAft>
              <a:buClr>
                <a:srgbClr val="376092"/>
              </a:buClr>
              <a:buSzPts val="3000"/>
              <a:buFont typeface="Noto Sans Symbols"/>
              <a:buChar char="❑"/>
            </a:pPr>
            <a:r>
              <a:rPr b="0" i="0" lang="en-US" sz="3000" u="none" cap="none" strike="noStrike">
                <a:solidFill>
                  <a:srgbClr val="000000"/>
                </a:solidFill>
                <a:latin typeface="Corbel"/>
                <a:ea typeface="Corbel"/>
                <a:cs typeface="Corbel"/>
                <a:sym typeface="Corbel"/>
              </a:rPr>
              <a:t>Let </a:t>
            </a:r>
            <a:r>
              <a:rPr b="0" i="0" lang="en-US" sz="3000" u="none" cap="none" strike="noStrike">
                <a:solidFill>
                  <a:srgbClr val="000000"/>
                </a:solidFill>
                <a:latin typeface="Times"/>
                <a:ea typeface="Times"/>
                <a:cs typeface="Times"/>
                <a:sym typeface="Times"/>
              </a:rPr>
              <a:t>RK = (RK</a:t>
            </a:r>
            <a:r>
              <a:rPr b="0" i="0" lang="en-US" sz="3000" u="none" cap="none" strike="noStrike">
                <a:solidFill>
                  <a:srgbClr val="000000"/>
                </a:solidFill>
                <a:latin typeface="Courier"/>
                <a:ea typeface="Courier"/>
                <a:cs typeface="Courier"/>
                <a:sym typeface="Courier"/>
              </a:rPr>
              <a:t> </a:t>
            </a:r>
            <a:r>
              <a:rPr b="0" i="0" lang="en-US" sz="3000" u="none" cap="none" strike="noStrike">
                <a:solidFill>
                  <a:srgbClr val="000000"/>
                </a:solidFill>
                <a:latin typeface="Corbel"/>
                <a:ea typeface="Corbel"/>
                <a:cs typeface="Corbel"/>
                <a:sym typeface="Corbel"/>
              </a:rPr>
              <a:t>circular shift left by</a:t>
            </a:r>
            <a:r>
              <a:rPr b="0" i="0" lang="en-US" sz="3000" u="none" cap="none" strike="noStrike">
                <a:solidFill>
                  <a:srgbClr val="000000"/>
                </a:solidFill>
                <a:latin typeface="Courier"/>
                <a:ea typeface="Courier"/>
                <a:cs typeface="Courier"/>
                <a:sym typeface="Courier"/>
              </a:rPr>
              <a:t> </a:t>
            </a:r>
            <a:r>
              <a:rPr b="0" i="0" lang="en-US" sz="3000" u="none" cap="none" strike="noStrike">
                <a:solidFill>
                  <a:srgbClr val="000000"/>
                </a:solidFill>
                <a:latin typeface="Times"/>
                <a:ea typeface="Times"/>
                <a:cs typeface="Times"/>
                <a:sym typeface="Times"/>
              </a:rPr>
              <a:t>r</a:t>
            </a:r>
            <a:r>
              <a:rPr b="0" baseline="-25000" i="0" lang="en-US" sz="3000" u="none" cap="none" strike="noStrike">
                <a:solidFill>
                  <a:srgbClr val="000000"/>
                </a:solidFill>
                <a:latin typeface="Times"/>
                <a:ea typeface="Times"/>
                <a:cs typeface="Times"/>
                <a:sym typeface="Times"/>
              </a:rPr>
              <a:t>i</a:t>
            </a:r>
            <a:r>
              <a:rPr b="0" i="0" lang="en-US" sz="3000" u="none" cap="none" strike="noStrike">
                <a:solidFill>
                  <a:srgbClr val="000000"/>
                </a:solidFill>
                <a:latin typeface="Times"/>
                <a:ea typeface="Times"/>
                <a:cs typeface="Times"/>
                <a:sym typeface="Times"/>
              </a:rPr>
              <a:t>)</a:t>
            </a:r>
            <a:endParaRPr/>
          </a:p>
          <a:p>
            <a:pPr indent="-457200" lvl="1" marL="781050" marR="0" rtl="0" algn="l">
              <a:lnSpc>
                <a:spcPct val="90000"/>
              </a:lnSpc>
              <a:spcBef>
                <a:spcPts val="300"/>
              </a:spcBef>
              <a:spcAft>
                <a:spcPts val="0"/>
              </a:spcAft>
              <a:buClr>
                <a:srgbClr val="376092"/>
              </a:buClr>
              <a:buSzPts val="3000"/>
              <a:buFont typeface="Noto Sans Symbols"/>
              <a:buChar char="❑"/>
            </a:pPr>
            <a:r>
              <a:rPr b="0" i="0" lang="en-US" sz="3000" u="none" cap="none" strike="noStrike">
                <a:solidFill>
                  <a:srgbClr val="000000"/>
                </a:solidFill>
                <a:latin typeface="Corbel"/>
                <a:ea typeface="Corbel"/>
                <a:cs typeface="Corbel"/>
                <a:sym typeface="Corbel"/>
              </a:rPr>
              <a:t>Left half of subkey </a:t>
            </a:r>
            <a:r>
              <a:rPr b="0" i="0" lang="en-US" sz="3000" u="none" cap="none" strike="noStrike">
                <a:solidFill>
                  <a:srgbClr val="000000"/>
                </a:solidFill>
                <a:latin typeface="Times"/>
                <a:ea typeface="Times"/>
                <a:cs typeface="Times"/>
                <a:sym typeface="Times"/>
              </a:rPr>
              <a:t>K</a:t>
            </a:r>
            <a:r>
              <a:rPr b="0" baseline="-25000" i="0" lang="en-US" sz="3000" u="none" cap="none" strike="noStrike">
                <a:solidFill>
                  <a:srgbClr val="000000"/>
                </a:solidFill>
                <a:latin typeface="Times"/>
                <a:ea typeface="Times"/>
                <a:cs typeface="Times"/>
                <a:sym typeface="Times"/>
              </a:rPr>
              <a:t>i</a:t>
            </a:r>
            <a:r>
              <a:rPr b="0" i="0" lang="en-US" sz="3000" u="none" cap="none" strike="noStrike">
                <a:solidFill>
                  <a:srgbClr val="000000"/>
                </a:solidFill>
                <a:latin typeface="Corbel"/>
                <a:ea typeface="Corbel"/>
                <a:cs typeface="Corbel"/>
                <a:sym typeface="Corbel"/>
              </a:rPr>
              <a:t> is of </a:t>
            </a:r>
            <a:r>
              <a:rPr b="0" i="0" lang="en-US" sz="3000" u="none" cap="none" strike="noStrike">
                <a:solidFill>
                  <a:srgbClr val="000000"/>
                </a:solidFill>
                <a:latin typeface="Times"/>
                <a:ea typeface="Times"/>
                <a:cs typeface="Times"/>
                <a:sym typeface="Times"/>
              </a:rPr>
              <a:t>LK</a:t>
            </a:r>
            <a:r>
              <a:rPr b="0" i="0" lang="en-US" sz="3000" u="none" cap="none" strike="noStrike">
                <a:solidFill>
                  <a:srgbClr val="000000"/>
                </a:solidFill>
                <a:latin typeface="Corbel"/>
                <a:ea typeface="Corbel"/>
                <a:cs typeface="Corbel"/>
                <a:sym typeface="Corbel"/>
              </a:rPr>
              <a:t> bits</a:t>
            </a:r>
            <a:endParaRPr/>
          </a:p>
          <a:p>
            <a:pPr indent="-171450" lvl="0" marL="171450" marR="0" rtl="0" algn="l">
              <a:lnSpc>
                <a:spcPct val="90000"/>
              </a:lnSpc>
              <a:spcBef>
                <a:spcPts val="700"/>
              </a:spcBef>
              <a:spcAft>
                <a:spcPts val="0"/>
              </a:spcAft>
              <a:buClr>
                <a:srgbClr val="000000"/>
              </a:buClr>
              <a:buSzPts val="2400"/>
              <a:buFont typeface="Arial"/>
              <a:buNone/>
            </a:pPr>
            <a:r>
              <a:rPr b="0" i="0" lang="en-US" sz="2400" u="none">
                <a:solidFill>
                  <a:srgbClr val="000000"/>
                </a:solidFill>
                <a:latin typeface="Courier"/>
                <a:ea typeface="Courier"/>
                <a:cs typeface="Courier"/>
                <a:sym typeface="Courier"/>
              </a:rPr>
              <a:t>		13 16 10 23  0  4  2 27 14  5 20  9</a:t>
            </a:r>
            <a:endParaRPr/>
          </a:p>
          <a:p>
            <a:pPr indent="-171450" lvl="0" marL="171450" marR="0" rtl="0" algn="l">
              <a:lnSpc>
                <a:spcPct val="90000"/>
              </a:lnSpc>
              <a:spcBef>
                <a:spcPts val="700"/>
              </a:spcBef>
              <a:spcAft>
                <a:spcPts val="0"/>
              </a:spcAft>
              <a:buClr>
                <a:srgbClr val="000000"/>
              </a:buClr>
              <a:buSzPts val="2400"/>
              <a:buFont typeface="Arial"/>
              <a:buNone/>
            </a:pPr>
            <a:r>
              <a:rPr b="0" i="0" lang="en-US" sz="2400" u="none">
                <a:solidFill>
                  <a:srgbClr val="000000"/>
                </a:solidFill>
                <a:latin typeface="Courier"/>
                <a:ea typeface="Courier"/>
                <a:cs typeface="Courier"/>
                <a:sym typeface="Courier"/>
              </a:rPr>
              <a:t>		22 18 11  3 25  7 15  6 26 19 12  1</a:t>
            </a:r>
            <a:endParaRPr/>
          </a:p>
          <a:p>
            <a:pPr indent="-457200" lvl="1" marL="781050" marR="0" rtl="0" algn="l">
              <a:lnSpc>
                <a:spcPct val="90000"/>
              </a:lnSpc>
              <a:spcBef>
                <a:spcPts val="300"/>
              </a:spcBef>
              <a:spcAft>
                <a:spcPts val="0"/>
              </a:spcAft>
              <a:buClr>
                <a:srgbClr val="376092"/>
              </a:buClr>
              <a:buSzPts val="3000"/>
              <a:buFont typeface="Noto Sans Symbols"/>
              <a:buChar char="❑"/>
            </a:pPr>
            <a:r>
              <a:rPr b="0" i="0" lang="en-US" sz="3000" u="none" cap="none" strike="noStrike">
                <a:solidFill>
                  <a:srgbClr val="000000"/>
                </a:solidFill>
                <a:latin typeface="Times"/>
                <a:ea typeface="Times"/>
                <a:cs typeface="Times"/>
                <a:sym typeface="Times"/>
              </a:rPr>
              <a:t>Right half of subkey K</a:t>
            </a:r>
            <a:r>
              <a:rPr b="0" baseline="-25000" i="0" lang="en-US" sz="3000" u="none" cap="none" strike="noStrike">
                <a:solidFill>
                  <a:srgbClr val="000000"/>
                </a:solidFill>
                <a:latin typeface="Times"/>
                <a:ea typeface="Times"/>
                <a:cs typeface="Times"/>
                <a:sym typeface="Times"/>
              </a:rPr>
              <a:t>i</a:t>
            </a:r>
            <a:r>
              <a:rPr b="0" i="0" lang="en-US" sz="3000" u="none" cap="none" strike="noStrike">
                <a:solidFill>
                  <a:srgbClr val="000000"/>
                </a:solidFill>
                <a:latin typeface="Times"/>
                <a:ea typeface="Times"/>
                <a:cs typeface="Times"/>
                <a:sym typeface="Times"/>
              </a:rPr>
              <a:t> is RK bits</a:t>
            </a:r>
            <a:endParaRPr/>
          </a:p>
          <a:p>
            <a:pPr indent="-171450" lvl="0" marL="171450" marR="0" rtl="0" algn="l">
              <a:lnSpc>
                <a:spcPct val="90000"/>
              </a:lnSpc>
              <a:spcBef>
                <a:spcPts val="700"/>
              </a:spcBef>
              <a:spcAft>
                <a:spcPts val="0"/>
              </a:spcAft>
              <a:buClr>
                <a:srgbClr val="000000"/>
              </a:buClr>
              <a:buSzPts val="2400"/>
              <a:buFont typeface="Arial"/>
              <a:buNone/>
            </a:pPr>
            <a:r>
              <a:rPr b="0" i="0" lang="en-US" sz="2400" u="none">
                <a:solidFill>
                  <a:srgbClr val="000000"/>
                </a:solidFill>
                <a:latin typeface="Courier"/>
                <a:ea typeface="Courier"/>
                <a:cs typeface="Courier"/>
                <a:sym typeface="Courier"/>
              </a:rPr>
              <a:t>		12 23  2  8 18 26  1 11 22 16  4 19</a:t>
            </a:r>
            <a:endParaRPr/>
          </a:p>
          <a:p>
            <a:pPr indent="-171450" lvl="0" marL="171450" marR="0" rtl="0" algn="l">
              <a:lnSpc>
                <a:spcPct val="90000"/>
              </a:lnSpc>
              <a:spcBef>
                <a:spcPts val="700"/>
              </a:spcBef>
              <a:spcAft>
                <a:spcPts val="0"/>
              </a:spcAft>
              <a:buClr>
                <a:srgbClr val="000000"/>
              </a:buClr>
              <a:buSzPts val="2400"/>
              <a:buFont typeface="Arial"/>
              <a:buNone/>
            </a:pPr>
            <a:r>
              <a:rPr b="0" i="0" lang="en-US" sz="2400" u="none">
                <a:solidFill>
                  <a:srgbClr val="000000"/>
                </a:solidFill>
                <a:latin typeface="Courier"/>
                <a:ea typeface="Courier"/>
                <a:cs typeface="Courier"/>
                <a:sym typeface="Courier"/>
              </a:rPr>
              <a:t>		15 20 10 27  5 24 17 13 21  7  0  3</a:t>
            </a:r>
            <a:endParaRPr/>
          </a:p>
        </p:txBody>
      </p:sp>
      <p:sp>
        <p:nvSpPr>
          <p:cNvPr id="593" name="Google Shape;593;p3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594" name="Google Shape;594;p3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37"/>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DES Subkey</a:t>
            </a:r>
            <a:endParaRPr/>
          </a:p>
        </p:txBody>
      </p:sp>
      <p:sp>
        <p:nvSpPr>
          <p:cNvPr id="600" name="Google Shape;600;p37"/>
          <p:cNvSpPr txBox="1"/>
          <p:nvPr>
            <p:ph idx="1" type="body"/>
          </p:nvPr>
        </p:nvSpPr>
        <p:spPr>
          <a:xfrm>
            <a:off x="785812" y="1714500"/>
            <a:ext cx="7900987" cy="4416425"/>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0"/>
              </a:spcBef>
              <a:spcAft>
                <a:spcPts val="0"/>
              </a:spcAft>
              <a:buClr>
                <a:schemeClr val="dk1"/>
              </a:buClr>
              <a:buSzPts val="2800"/>
              <a:buChar char="•"/>
            </a:pPr>
            <a:r>
              <a:rPr b="0" i="0" lang="en-US" sz="2800" u="none">
                <a:solidFill>
                  <a:schemeClr val="dk1"/>
                </a:solidFill>
                <a:latin typeface="Corbel"/>
                <a:ea typeface="Corbel"/>
                <a:cs typeface="Corbel"/>
                <a:sym typeface="Corbel"/>
              </a:rPr>
              <a:t>For rounds </a:t>
            </a:r>
            <a:r>
              <a:rPr b="0" i="0" lang="en-US" sz="2800" u="none">
                <a:solidFill>
                  <a:schemeClr val="dk1"/>
                </a:solidFill>
                <a:latin typeface="Times"/>
                <a:ea typeface="Times"/>
                <a:cs typeface="Times"/>
                <a:sym typeface="Times"/>
              </a:rPr>
              <a:t>1, 2, 9</a:t>
            </a:r>
            <a:r>
              <a:rPr b="0" i="0" lang="en-US" sz="2800" u="none">
                <a:solidFill>
                  <a:schemeClr val="dk1"/>
                </a:solidFill>
                <a:latin typeface="Corbel"/>
                <a:ea typeface="Corbel"/>
                <a:cs typeface="Corbel"/>
                <a:sym typeface="Corbel"/>
              </a:rPr>
              <a:t> and </a:t>
            </a:r>
            <a:r>
              <a:rPr b="0" i="0" lang="en-US" sz="2800" u="none">
                <a:solidFill>
                  <a:schemeClr val="dk1"/>
                </a:solidFill>
                <a:latin typeface="Times"/>
                <a:ea typeface="Times"/>
                <a:cs typeface="Times"/>
                <a:sym typeface="Times"/>
              </a:rPr>
              <a:t>16</a:t>
            </a:r>
            <a:r>
              <a:rPr b="0" i="0" lang="en-US" sz="2800" u="none">
                <a:solidFill>
                  <a:schemeClr val="dk1"/>
                </a:solidFill>
                <a:latin typeface="Corbel"/>
                <a:ea typeface="Corbel"/>
                <a:cs typeface="Corbel"/>
                <a:sym typeface="Corbel"/>
              </a:rPr>
              <a:t> the shift </a:t>
            </a:r>
            <a:r>
              <a:rPr b="0" i="0" lang="en-US" sz="2800" u="none">
                <a:solidFill>
                  <a:schemeClr val="dk1"/>
                </a:solidFill>
                <a:latin typeface="Times"/>
                <a:ea typeface="Times"/>
                <a:cs typeface="Times"/>
                <a:sym typeface="Times"/>
              </a:rPr>
              <a:t>r</a:t>
            </a:r>
            <a:r>
              <a:rPr b="0" baseline="-25000" i="0" lang="en-US" sz="2800" u="none">
                <a:solidFill>
                  <a:schemeClr val="dk1"/>
                </a:solidFill>
                <a:latin typeface="Times"/>
                <a:ea typeface="Times"/>
                <a:cs typeface="Times"/>
                <a:sym typeface="Times"/>
              </a:rPr>
              <a:t>i</a:t>
            </a:r>
            <a:r>
              <a:rPr b="0" i="0" lang="en-US" sz="2800" u="none">
                <a:solidFill>
                  <a:schemeClr val="dk1"/>
                </a:solidFill>
                <a:latin typeface="Corbel"/>
                <a:ea typeface="Corbel"/>
                <a:cs typeface="Corbel"/>
                <a:sym typeface="Corbel"/>
              </a:rPr>
              <a:t> is </a:t>
            </a:r>
            <a:r>
              <a:rPr b="0" i="0" lang="en-US" sz="2800" u="none">
                <a:solidFill>
                  <a:schemeClr val="dk1"/>
                </a:solidFill>
                <a:latin typeface="Times"/>
                <a:ea typeface="Times"/>
                <a:cs typeface="Times"/>
                <a:sym typeface="Times"/>
              </a:rPr>
              <a:t>1</a:t>
            </a:r>
            <a:r>
              <a:rPr b="0" i="0" lang="en-US" sz="2800" u="none">
                <a:solidFill>
                  <a:schemeClr val="dk1"/>
                </a:solidFill>
                <a:latin typeface="Corbel"/>
                <a:ea typeface="Corbel"/>
                <a:cs typeface="Corbel"/>
                <a:sym typeface="Corbel"/>
              </a:rPr>
              <a:t>, and in all other rounds </a:t>
            </a:r>
            <a:r>
              <a:rPr b="0" i="0" lang="en-US" sz="2800" u="none">
                <a:solidFill>
                  <a:schemeClr val="dk1"/>
                </a:solidFill>
                <a:latin typeface="Times"/>
                <a:ea typeface="Times"/>
                <a:cs typeface="Times"/>
                <a:sym typeface="Times"/>
              </a:rPr>
              <a:t>r</a:t>
            </a:r>
            <a:r>
              <a:rPr b="0" baseline="-25000" i="0" lang="en-US" sz="2800" u="none">
                <a:solidFill>
                  <a:schemeClr val="dk1"/>
                </a:solidFill>
                <a:latin typeface="Times"/>
                <a:ea typeface="Times"/>
                <a:cs typeface="Times"/>
                <a:sym typeface="Times"/>
              </a:rPr>
              <a:t>i</a:t>
            </a:r>
            <a:r>
              <a:rPr b="0" i="0" lang="en-US" sz="2800" u="none">
                <a:solidFill>
                  <a:schemeClr val="dk1"/>
                </a:solidFill>
                <a:latin typeface="Corbel"/>
                <a:ea typeface="Corbel"/>
                <a:cs typeface="Corbel"/>
                <a:sym typeface="Corbel"/>
              </a:rPr>
              <a:t> is </a:t>
            </a:r>
            <a:r>
              <a:rPr b="0" i="0" lang="en-US" sz="2800" u="none">
                <a:solidFill>
                  <a:schemeClr val="dk1"/>
                </a:solidFill>
                <a:latin typeface="Times"/>
                <a:ea typeface="Times"/>
                <a:cs typeface="Times"/>
                <a:sym typeface="Times"/>
              </a:rPr>
              <a:t>2</a:t>
            </a:r>
            <a:endParaRPr sz="2500"/>
          </a:p>
          <a:p>
            <a:pPr indent="-406400" lvl="0" marL="457200" marR="0" rtl="0" algn="l">
              <a:lnSpc>
                <a:spcPct val="90000"/>
              </a:lnSpc>
              <a:spcBef>
                <a:spcPts val="0"/>
              </a:spcBef>
              <a:spcAft>
                <a:spcPts val="0"/>
              </a:spcAft>
              <a:buClr>
                <a:schemeClr val="dk1"/>
              </a:buClr>
              <a:buSzPts val="2800"/>
              <a:buChar char="•"/>
            </a:pPr>
            <a:r>
              <a:rPr b="0" i="0" lang="en-US" sz="2800" u="none">
                <a:solidFill>
                  <a:schemeClr val="dk1"/>
                </a:solidFill>
                <a:latin typeface="Corbel"/>
                <a:ea typeface="Corbel"/>
                <a:cs typeface="Corbel"/>
                <a:sym typeface="Corbel"/>
              </a:rPr>
              <a:t>Bits </a:t>
            </a:r>
            <a:r>
              <a:rPr b="0" i="0" lang="en-US" sz="2800" u="none">
                <a:solidFill>
                  <a:schemeClr val="dk1"/>
                </a:solidFill>
                <a:latin typeface="Times"/>
                <a:ea typeface="Times"/>
                <a:cs typeface="Times"/>
                <a:sym typeface="Times"/>
              </a:rPr>
              <a:t>8,17,21,24</a:t>
            </a:r>
            <a:r>
              <a:rPr b="0" i="0" lang="en-US" sz="2800" u="none">
                <a:solidFill>
                  <a:schemeClr val="dk1"/>
                </a:solidFill>
                <a:latin typeface="Corbel"/>
                <a:ea typeface="Corbel"/>
                <a:cs typeface="Corbel"/>
                <a:sym typeface="Corbel"/>
              </a:rPr>
              <a:t> of </a:t>
            </a:r>
            <a:r>
              <a:rPr b="0" i="0" lang="en-US" sz="2800" u="none">
                <a:solidFill>
                  <a:schemeClr val="dk1"/>
                </a:solidFill>
                <a:latin typeface="Times"/>
                <a:ea typeface="Times"/>
                <a:cs typeface="Times"/>
                <a:sym typeface="Times"/>
              </a:rPr>
              <a:t>LK</a:t>
            </a:r>
            <a:r>
              <a:rPr b="0" i="0" lang="en-US" sz="2800" u="none">
                <a:solidFill>
                  <a:schemeClr val="dk1"/>
                </a:solidFill>
                <a:latin typeface="Corbel"/>
                <a:ea typeface="Corbel"/>
                <a:cs typeface="Corbel"/>
                <a:sym typeface="Corbel"/>
              </a:rPr>
              <a:t> omitted each round</a:t>
            </a:r>
            <a:endParaRPr sz="2500"/>
          </a:p>
          <a:p>
            <a:pPr indent="-406400" lvl="0" marL="457200" marR="0" rtl="0" algn="l">
              <a:lnSpc>
                <a:spcPct val="90000"/>
              </a:lnSpc>
              <a:spcBef>
                <a:spcPts val="0"/>
              </a:spcBef>
              <a:spcAft>
                <a:spcPts val="0"/>
              </a:spcAft>
              <a:buClr>
                <a:schemeClr val="dk1"/>
              </a:buClr>
              <a:buSzPts val="2800"/>
              <a:buChar char="•"/>
            </a:pPr>
            <a:r>
              <a:rPr b="0" i="0" lang="en-US" sz="2800" u="none">
                <a:solidFill>
                  <a:schemeClr val="dk1"/>
                </a:solidFill>
                <a:latin typeface="Corbel"/>
                <a:ea typeface="Corbel"/>
                <a:cs typeface="Corbel"/>
                <a:sym typeface="Corbel"/>
              </a:rPr>
              <a:t>Bits </a:t>
            </a:r>
            <a:r>
              <a:rPr b="0" i="0" lang="en-US" sz="2800" u="none">
                <a:solidFill>
                  <a:schemeClr val="dk1"/>
                </a:solidFill>
                <a:latin typeface="Times"/>
                <a:ea typeface="Times"/>
                <a:cs typeface="Times"/>
                <a:sym typeface="Times"/>
              </a:rPr>
              <a:t>6,9,14,25</a:t>
            </a:r>
            <a:r>
              <a:rPr b="0" i="0" lang="en-US" sz="2800" u="none">
                <a:solidFill>
                  <a:schemeClr val="dk1"/>
                </a:solidFill>
                <a:latin typeface="Corbel"/>
                <a:ea typeface="Corbel"/>
                <a:cs typeface="Corbel"/>
                <a:sym typeface="Corbel"/>
              </a:rPr>
              <a:t> of </a:t>
            </a:r>
            <a:r>
              <a:rPr b="0" i="0" lang="en-US" sz="2800" u="none">
                <a:solidFill>
                  <a:schemeClr val="dk1"/>
                </a:solidFill>
                <a:latin typeface="Times"/>
                <a:ea typeface="Times"/>
                <a:cs typeface="Times"/>
                <a:sym typeface="Times"/>
              </a:rPr>
              <a:t>RK</a:t>
            </a:r>
            <a:r>
              <a:rPr b="0" i="0" lang="en-US" sz="2800" u="none">
                <a:solidFill>
                  <a:schemeClr val="dk1"/>
                </a:solidFill>
                <a:latin typeface="Corbel"/>
                <a:ea typeface="Corbel"/>
                <a:cs typeface="Corbel"/>
                <a:sym typeface="Corbel"/>
              </a:rPr>
              <a:t> omitted each round</a:t>
            </a:r>
            <a:endParaRPr sz="2500"/>
          </a:p>
          <a:p>
            <a:pPr indent="-406400" lvl="0" marL="457200" marR="0" rtl="0" algn="l">
              <a:lnSpc>
                <a:spcPct val="90000"/>
              </a:lnSpc>
              <a:spcBef>
                <a:spcPts val="0"/>
              </a:spcBef>
              <a:spcAft>
                <a:spcPts val="0"/>
              </a:spcAft>
              <a:buSzPts val="2800"/>
              <a:buChar char="•"/>
            </a:pPr>
            <a:r>
              <a:rPr b="0" i="0" lang="en-US" sz="2800" u="none">
                <a:solidFill>
                  <a:srgbClr val="0909B3"/>
                </a:solidFill>
                <a:latin typeface="Corbel"/>
                <a:ea typeface="Corbel"/>
                <a:cs typeface="Corbel"/>
                <a:sym typeface="Corbel"/>
              </a:rPr>
              <a:t>Compression permutation</a:t>
            </a:r>
            <a:r>
              <a:rPr b="0" i="0" lang="en-US" sz="2800" u="none">
                <a:solidFill>
                  <a:schemeClr val="dk1"/>
                </a:solidFill>
                <a:latin typeface="Corbel"/>
                <a:ea typeface="Corbel"/>
                <a:cs typeface="Corbel"/>
                <a:sym typeface="Corbel"/>
              </a:rPr>
              <a:t> yields </a:t>
            </a:r>
            <a:r>
              <a:rPr b="0" i="0" lang="en-US" sz="2800" u="none">
                <a:solidFill>
                  <a:schemeClr val="dk1"/>
                </a:solidFill>
                <a:latin typeface="Times"/>
                <a:ea typeface="Times"/>
                <a:cs typeface="Times"/>
                <a:sym typeface="Times"/>
              </a:rPr>
              <a:t>48</a:t>
            </a:r>
            <a:r>
              <a:rPr b="0" i="0" lang="en-US" sz="2800" u="none">
                <a:solidFill>
                  <a:schemeClr val="dk1"/>
                </a:solidFill>
                <a:latin typeface="Corbel"/>
                <a:ea typeface="Corbel"/>
                <a:cs typeface="Corbel"/>
                <a:sym typeface="Corbel"/>
              </a:rPr>
              <a:t> bit subkey </a:t>
            </a:r>
            <a:r>
              <a:rPr b="0" i="0" lang="en-US" sz="2800" u="none">
                <a:solidFill>
                  <a:schemeClr val="dk1"/>
                </a:solidFill>
                <a:latin typeface="Times"/>
                <a:ea typeface="Times"/>
                <a:cs typeface="Times"/>
                <a:sym typeface="Times"/>
              </a:rPr>
              <a:t>K</a:t>
            </a:r>
            <a:r>
              <a:rPr b="0" baseline="-25000" i="0" lang="en-US" sz="2800" u="none">
                <a:solidFill>
                  <a:schemeClr val="dk1"/>
                </a:solidFill>
                <a:latin typeface="Times"/>
                <a:ea typeface="Times"/>
                <a:cs typeface="Times"/>
                <a:sym typeface="Times"/>
              </a:rPr>
              <a:t>i</a:t>
            </a:r>
            <a:r>
              <a:rPr b="0" i="0" lang="en-US" sz="2800" u="none">
                <a:solidFill>
                  <a:schemeClr val="dk1"/>
                </a:solidFill>
                <a:latin typeface="Corbel"/>
                <a:ea typeface="Corbel"/>
                <a:cs typeface="Corbel"/>
                <a:sym typeface="Corbel"/>
              </a:rPr>
              <a:t> from </a:t>
            </a:r>
            <a:r>
              <a:rPr b="0" i="0" lang="en-US" sz="2800" u="none">
                <a:solidFill>
                  <a:schemeClr val="dk1"/>
                </a:solidFill>
                <a:latin typeface="Times"/>
                <a:ea typeface="Times"/>
                <a:cs typeface="Times"/>
                <a:sym typeface="Times"/>
              </a:rPr>
              <a:t>56</a:t>
            </a:r>
            <a:r>
              <a:rPr b="0" i="0" lang="en-US" sz="2800" u="none">
                <a:solidFill>
                  <a:schemeClr val="dk1"/>
                </a:solidFill>
                <a:latin typeface="Corbel"/>
                <a:ea typeface="Corbel"/>
                <a:cs typeface="Corbel"/>
                <a:sym typeface="Corbel"/>
              </a:rPr>
              <a:t> bits of </a:t>
            </a:r>
            <a:r>
              <a:rPr b="0" i="0" lang="en-US" sz="2800" u="none">
                <a:solidFill>
                  <a:schemeClr val="dk1"/>
                </a:solidFill>
                <a:latin typeface="Times"/>
                <a:ea typeface="Times"/>
                <a:cs typeface="Times"/>
                <a:sym typeface="Times"/>
              </a:rPr>
              <a:t>LK</a:t>
            </a:r>
            <a:r>
              <a:rPr b="0" i="0" lang="en-US" sz="2800" u="none">
                <a:solidFill>
                  <a:schemeClr val="dk1"/>
                </a:solidFill>
                <a:latin typeface="Corbel"/>
                <a:ea typeface="Corbel"/>
                <a:cs typeface="Corbel"/>
                <a:sym typeface="Corbel"/>
              </a:rPr>
              <a:t> and </a:t>
            </a:r>
            <a:r>
              <a:rPr b="0" i="0" lang="en-US" sz="2800" u="none">
                <a:solidFill>
                  <a:schemeClr val="dk1"/>
                </a:solidFill>
                <a:latin typeface="Times"/>
                <a:ea typeface="Times"/>
                <a:cs typeface="Times"/>
                <a:sym typeface="Times"/>
              </a:rPr>
              <a:t>RK</a:t>
            </a:r>
            <a:endParaRPr b="0" i="0" sz="2800" u="none">
              <a:solidFill>
                <a:schemeClr val="dk1"/>
              </a:solidFill>
              <a:latin typeface="Courier"/>
              <a:ea typeface="Courier"/>
              <a:cs typeface="Courier"/>
              <a:sym typeface="Courier"/>
            </a:endParaRPr>
          </a:p>
          <a:p>
            <a:pPr indent="-406400" lvl="0" marL="457200" marR="0" rtl="0" algn="l">
              <a:lnSpc>
                <a:spcPct val="90000"/>
              </a:lnSpc>
              <a:spcBef>
                <a:spcPts val="0"/>
              </a:spcBef>
              <a:spcAft>
                <a:spcPts val="0"/>
              </a:spcAft>
              <a:buSzPts val="2800"/>
              <a:buFont typeface="Corbel"/>
              <a:buChar char="•"/>
            </a:pPr>
            <a:r>
              <a:rPr b="0" i="0" lang="en-US" sz="2800" u="none">
                <a:solidFill>
                  <a:srgbClr val="0909B3"/>
                </a:solidFill>
                <a:latin typeface="Corbel"/>
                <a:ea typeface="Corbel"/>
                <a:cs typeface="Corbel"/>
                <a:sym typeface="Corbel"/>
              </a:rPr>
              <a:t>Key schedule</a:t>
            </a:r>
            <a:r>
              <a:rPr b="0" i="0" lang="en-US" sz="2800" u="none">
                <a:solidFill>
                  <a:schemeClr val="dk1"/>
                </a:solidFill>
                <a:latin typeface="Corbel"/>
                <a:ea typeface="Corbel"/>
                <a:cs typeface="Corbel"/>
                <a:sym typeface="Corbel"/>
              </a:rPr>
              <a:t> generates subkey</a:t>
            </a:r>
            <a:endParaRPr sz="2500"/>
          </a:p>
        </p:txBody>
      </p:sp>
      <p:sp>
        <p:nvSpPr>
          <p:cNvPr id="601" name="Google Shape;601;p3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602" name="Google Shape;602;p37"/>
          <p:cNvSpPr txBox="1"/>
          <p:nvPr/>
        </p:nvSpPr>
        <p:spPr>
          <a:xfrm>
            <a:off x="7715250" y="5786437"/>
            <a:ext cx="779462" cy="36988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Gill Sans"/>
              <a:buNone/>
            </a:pPr>
            <a:r>
              <a:rPr b="0" i="0" lang="en-US" sz="1800" u="sng">
                <a:solidFill>
                  <a:schemeClr val="dk1"/>
                </a:solidFill>
                <a:latin typeface="Gill Sans"/>
                <a:ea typeface="Gill Sans"/>
                <a:cs typeface="Gill Sans"/>
                <a:sym typeface="Gill Sans"/>
                <a:hlinkClick r:id="rId3">
                  <a:extLst>
                    <a:ext uri="{A12FA001-AC4F-418D-AE19-62706E023703}">
                      <ahyp:hlinkClr val="tx"/>
                    </a:ext>
                  </a:extLst>
                </a:hlinkClick>
              </a:rPr>
              <a:t>BACK</a:t>
            </a:r>
            <a:endParaRPr/>
          </a:p>
        </p:txBody>
      </p:sp>
      <p:sp>
        <p:nvSpPr>
          <p:cNvPr id="603" name="Google Shape;603;p37"/>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3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solidFill>
                <a:schemeClr val="lt1"/>
              </a:solidFill>
            </a:endParaRPr>
          </a:p>
        </p:txBody>
      </p:sp>
      <p:sp>
        <p:nvSpPr>
          <p:cNvPr id="609" name="Google Shape;609;p39"/>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Decryption???</a:t>
            </a:r>
            <a:endParaRPr/>
          </a:p>
        </p:txBody>
      </p:sp>
      <p:sp>
        <p:nvSpPr>
          <p:cNvPr id="610" name="Google Shape;610;p3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Gill Sans"/>
              <a:buNone/>
            </a:pPr>
            <a:fld id="{00000000-1234-1234-1234-123412341234}" type="slidenum">
              <a:rPr b="0" i="0" lang="en-US" sz="900" u="none">
                <a:solidFill>
                  <a:srgbClr val="898989"/>
                </a:solidFill>
                <a:latin typeface="Gill Sans"/>
                <a:ea typeface="Gill Sans"/>
                <a:cs typeface="Gill Sans"/>
                <a:sym typeface="Gill Sans"/>
              </a:rPr>
              <a:t>‹#›</a:t>
            </a:fld>
            <a:endParaRPr/>
          </a:p>
        </p:txBody>
      </p:sp>
      <p:pic>
        <p:nvPicPr>
          <p:cNvPr id="611" name="Google Shape;611;p39"/>
          <p:cNvPicPr preferRelativeResize="0"/>
          <p:nvPr/>
        </p:nvPicPr>
        <p:blipFill>
          <a:blip r:embed="rId3">
            <a:alphaModFix/>
          </a:blip>
          <a:stretch>
            <a:fillRect/>
          </a:stretch>
        </p:blipFill>
        <p:spPr>
          <a:xfrm>
            <a:off x="3790950" y="0"/>
            <a:ext cx="5353050" cy="6858000"/>
          </a:xfrm>
          <a:prstGeom prst="rect">
            <a:avLst/>
          </a:prstGeom>
          <a:noFill/>
          <a:ln>
            <a:noFill/>
          </a:ln>
        </p:spPr>
      </p:pic>
      <p:sp>
        <p:nvSpPr>
          <p:cNvPr id="612" name="Google Shape;612;p3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3556788f95_0_3"/>
          <p:cNvSpPr txBox="1"/>
          <p:nvPr>
            <p:ph type="title"/>
          </p:nvPr>
        </p:nvSpPr>
        <p:spPr>
          <a:xfrm>
            <a:off x="468735" y="302442"/>
            <a:ext cx="7886700" cy="1164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g33556788f95_0_3"/>
          <p:cNvSpPr txBox="1"/>
          <p:nvPr>
            <p:ph idx="1" type="body"/>
          </p:nvPr>
        </p:nvSpPr>
        <p:spPr>
          <a:xfrm>
            <a:off x="468735" y="1668110"/>
            <a:ext cx="7886700" cy="45123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t/>
            </a:r>
            <a:endParaRPr/>
          </a:p>
        </p:txBody>
      </p:sp>
      <p:sp>
        <p:nvSpPr>
          <p:cNvPr id="620" name="Google Shape;620;g33556788f95_0_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pic>
        <p:nvPicPr>
          <p:cNvPr id="621" name="Google Shape;621;g33556788f95_0_3"/>
          <p:cNvPicPr preferRelativeResize="0"/>
          <p:nvPr/>
        </p:nvPicPr>
        <p:blipFill>
          <a:blip r:embed="rId3">
            <a:alphaModFix/>
          </a:blip>
          <a:stretch>
            <a:fillRect/>
          </a:stretch>
        </p:blipFill>
        <p:spPr>
          <a:xfrm>
            <a:off x="2305050" y="0"/>
            <a:ext cx="4533900" cy="6858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3556788f95_0_10"/>
          <p:cNvSpPr txBox="1"/>
          <p:nvPr>
            <p:ph type="title"/>
          </p:nvPr>
        </p:nvSpPr>
        <p:spPr>
          <a:xfrm>
            <a:off x="468735" y="302442"/>
            <a:ext cx="7886700" cy="1164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g33556788f95_0_10"/>
          <p:cNvSpPr txBox="1"/>
          <p:nvPr>
            <p:ph idx="1" type="body"/>
          </p:nvPr>
        </p:nvSpPr>
        <p:spPr>
          <a:xfrm>
            <a:off x="468735" y="1668110"/>
            <a:ext cx="7886700" cy="45123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t/>
            </a:r>
            <a:endParaRPr/>
          </a:p>
        </p:txBody>
      </p:sp>
      <p:sp>
        <p:nvSpPr>
          <p:cNvPr id="629" name="Google Shape;629;g33556788f95_0_1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pic>
        <p:nvPicPr>
          <p:cNvPr id="630" name="Google Shape;630;g33556788f95_0_10"/>
          <p:cNvPicPr preferRelativeResize="0"/>
          <p:nvPr/>
        </p:nvPicPr>
        <p:blipFill>
          <a:blip r:embed="rId3">
            <a:alphaModFix/>
          </a:blip>
          <a:stretch>
            <a:fillRect/>
          </a:stretch>
        </p:blipFill>
        <p:spPr>
          <a:xfrm>
            <a:off x="1971675" y="0"/>
            <a:ext cx="5200650" cy="6858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0"/>
          <p:cNvSpPr txBox="1"/>
          <p:nvPr>
            <p:ph type="title"/>
          </p:nvPr>
        </p:nvSpPr>
        <p:spPr>
          <a:xfrm>
            <a:off x="581025" y="687387"/>
            <a:ext cx="7989887" cy="7969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Security of DES</a:t>
            </a:r>
            <a:endParaRPr/>
          </a:p>
        </p:txBody>
      </p:sp>
      <p:sp>
        <p:nvSpPr>
          <p:cNvPr id="636" name="Google Shape;636;p40"/>
          <p:cNvSpPr txBox="1"/>
          <p:nvPr>
            <p:ph idx="1" type="body"/>
          </p:nvPr>
        </p:nvSpPr>
        <p:spPr>
          <a:xfrm>
            <a:off x="736600" y="1804987"/>
            <a:ext cx="7670800" cy="4416425"/>
          </a:xfrm>
          <a:prstGeom prst="rect">
            <a:avLst/>
          </a:prstGeom>
          <a:noFill/>
          <a:ln>
            <a:noFill/>
          </a:ln>
        </p:spPr>
        <p:txBody>
          <a:bodyPr anchorCtr="0" anchor="t" bIns="45700" lIns="91425" spcFirstLastPara="1" rIns="91425" wrap="square" tIns="45700">
            <a:noAutofit/>
          </a:bodyPr>
          <a:lstStyle/>
          <a:p>
            <a:pPr indent="-406400" lvl="0" marL="457200" marR="0" rtl="0" algn="l">
              <a:lnSpc>
                <a:spcPct val="11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Security of DES depends a lot on S-boxes</a:t>
            </a:r>
            <a:endParaRPr/>
          </a:p>
          <a:p>
            <a:pPr indent="-381000" lvl="1" marL="914400" marR="0" rtl="0" algn="l">
              <a:lnSpc>
                <a:spcPct val="11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Everything else in DES is linear</a:t>
            </a:r>
            <a:endParaRPr/>
          </a:p>
          <a:p>
            <a:pPr indent="-406400" lvl="0" marL="457200" marR="0" rtl="0" algn="l">
              <a:lnSpc>
                <a:spcPct val="110000"/>
              </a:lnSpc>
              <a:spcBef>
                <a:spcPts val="0"/>
              </a:spcBef>
              <a:spcAft>
                <a:spcPts val="0"/>
              </a:spcAft>
              <a:buSzPts val="2800"/>
              <a:buFont typeface="Corbel"/>
              <a:buChar char="•"/>
            </a:pPr>
            <a:r>
              <a:rPr b="0" i="0" lang="en-US" sz="2800" u="none">
                <a:solidFill>
                  <a:schemeClr val="dk1"/>
                </a:solidFill>
                <a:latin typeface="Corbel"/>
                <a:ea typeface="Corbel"/>
                <a:cs typeface="Corbel"/>
                <a:sym typeface="Corbel"/>
              </a:rPr>
              <a:t>Thirty years of intense analysis has revealed </a:t>
            </a:r>
            <a:r>
              <a:rPr b="0" i="0" lang="en-US" sz="2800" u="none">
                <a:solidFill>
                  <a:srgbClr val="FF0000"/>
                </a:solidFill>
                <a:latin typeface="Corbel"/>
                <a:ea typeface="Corbel"/>
                <a:cs typeface="Corbel"/>
                <a:sym typeface="Corbel"/>
              </a:rPr>
              <a:t>no “back door”</a:t>
            </a:r>
            <a:endParaRPr/>
          </a:p>
          <a:p>
            <a:pPr indent="-406400" lvl="0" marL="457200" marR="0" rtl="0" algn="l">
              <a:lnSpc>
                <a:spcPct val="110000"/>
              </a:lnSpc>
              <a:spcBef>
                <a:spcPts val="0"/>
              </a:spcBef>
              <a:spcAft>
                <a:spcPts val="0"/>
              </a:spcAft>
              <a:buClr>
                <a:schemeClr val="dk1"/>
              </a:buClr>
              <a:buSzPts val="2800"/>
              <a:buFont typeface="Corbel"/>
              <a:buChar char="•"/>
            </a:pPr>
            <a:r>
              <a:rPr b="0" i="0" lang="en-US" sz="2800" u="none">
                <a:solidFill>
                  <a:schemeClr val="dk1"/>
                </a:solidFill>
                <a:latin typeface="Corbel"/>
                <a:ea typeface="Corbel"/>
                <a:cs typeface="Corbel"/>
                <a:sym typeface="Corbel"/>
              </a:rPr>
              <a:t>Attacks today use exhaustive key search</a:t>
            </a:r>
            <a:endParaRPr/>
          </a:p>
          <a:p>
            <a:pPr indent="-361950" lvl="0" marL="457200" marR="0" rtl="0" algn="l">
              <a:lnSpc>
                <a:spcPct val="110000"/>
              </a:lnSpc>
              <a:spcBef>
                <a:spcPts val="0"/>
              </a:spcBef>
              <a:spcAft>
                <a:spcPts val="0"/>
              </a:spcAft>
              <a:buClr>
                <a:schemeClr val="dk1"/>
              </a:buClr>
              <a:buSzPts val="2100"/>
              <a:buFont typeface="Corbel"/>
              <a:buChar char="•"/>
            </a:pPr>
            <a:r>
              <a:rPr b="0" i="0" lang="en-US" sz="2800" u="none">
                <a:solidFill>
                  <a:schemeClr val="dk1"/>
                </a:solidFill>
                <a:latin typeface="Corbel"/>
                <a:ea typeface="Corbel"/>
                <a:cs typeface="Corbel"/>
                <a:sym typeface="Corbel"/>
              </a:rPr>
              <a:t>Inescapable conclusions</a:t>
            </a:r>
            <a:r>
              <a:rPr b="0" i="0" lang="en-US" sz="2400" u="none">
                <a:solidFill>
                  <a:schemeClr val="dk1"/>
                </a:solidFill>
                <a:latin typeface="Corbel"/>
                <a:ea typeface="Corbel"/>
                <a:cs typeface="Corbel"/>
                <a:sym typeface="Corbel"/>
              </a:rPr>
              <a:t> </a:t>
            </a:r>
            <a:endParaRPr/>
          </a:p>
          <a:p>
            <a:pPr indent="-381000" lvl="1" marL="914400" marR="0" rtl="0" algn="l">
              <a:lnSpc>
                <a:spcPct val="11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Designers of DES knew what they were doing</a:t>
            </a:r>
            <a:endParaRPr/>
          </a:p>
          <a:p>
            <a:pPr indent="-381000" lvl="1" marL="914400" marR="0" rtl="0" algn="l">
              <a:lnSpc>
                <a:spcPct val="11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Designers of DES were ahead of their time</a:t>
            </a:r>
            <a:endParaRPr/>
          </a:p>
        </p:txBody>
      </p:sp>
      <p:sp>
        <p:nvSpPr>
          <p:cNvPr id="637" name="Google Shape;637;p4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638" name="Google Shape;638;p4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0" st="0"/>
                                            </p:txEl>
                                          </p:spTgt>
                                        </p:tgtEl>
                                        <p:attrNameLst>
                                          <p:attrName>style.visibility</p:attrName>
                                        </p:attrNameLst>
                                      </p:cBhvr>
                                      <p:to>
                                        <p:strVal val="visible"/>
                                      </p:to>
                                    </p:set>
                                    <p:animEffect filter="fade" transition="in">
                                      <p:cBhvr>
                                        <p:cTn dur="500"/>
                                        <p:tgtEl>
                                          <p:spTgt spid="6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1" st="1"/>
                                            </p:txEl>
                                          </p:spTgt>
                                        </p:tgtEl>
                                        <p:attrNameLst>
                                          <p:attrName>style.visibility</p:attrName>
                                        </p:attrNameLst>
                                      </p:cBhvr>
                                      <p:to>
                                        <p:strVal val="visible"/>
                                      </p:to>
                                    </p:set>
                                    <p:animEffect filter="fade" transition="in">
                                      <p:cBhvr>
                                        <p:cTn dur="500"/>
                                        <p:tgtEl>
                                          <p:spTgt spid="6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2" st="2"/>
                                            </p:txEl>
                                          </p:spTgt>
                                        </p:tgtEl>
                                        <p:attrNameLst>
                                          <p:attrName>style.visibility</p:attrName>
                                        </p:attrNameLst>
                                      </p:cBhvr>
                                      <p:to>
                                        <p:strVal val="visible"/>
                                      </p:to>
                                    </p:set>
                                    <p:animEffect filter="fade" transition="in">
                                      <p:cBhvr>
                                        <p:cTn dur="500"/>
                                        <p:tgtEl>
                                          <p:spTgt spid="6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3" st="3"/>
                                            </p:txEl>
                                          </p:spTgt>
                                        </p:tgtEl>
                                        <p:attrNameLst>
                                          <p:attrName>style.visibility</p:attrName>
                                        </p:attrNameLst>
                                      </p:cBhvr>
                                      <p:to>
                                        <p:strVal val="visible"/>
                                      </p:to>
                                    </p:set>
                                    <p:animEffect filter="fade" transition="in">
                                      <p:cBhvr>
                                        <p:cTn dur="500"/>
                                        <p:tgtEl>
                                          <p:spTgt spid="6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4" st="4"/>
                                            </p:txEl>
                                          </p:spTgt>
                                        </p:tgtEl>
                                        <p:attrNameLst>
                                          <p:attrName>style.visibility</p:attrName>
                                        </p:attrNameLst>
                                      </p:cBhvr>
                                      <p:to>
                                        <p:strVal val="visible"/>
                                      </p:to>
                                    </p:set>
                                    <p:animEffect filter="fade" transition="in">
                                      <p:cBhvr>
                                        <p:cTn dur="500"/>
                                        <p:tgtEl>
                                          <p:spTgt spid="6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5" st="5"/>
                                            </p:txEl>
                                          </p:spTgt>
                                        </p:tgtEl>
                                        <p:attrNameLst>
                                          <p:attrName>style.visibility</p:attrName>
                                        </p:attrNameLst>
                                      </p:cBhvr>
                                      <p:to>
                                        <p:strVal val="visible"/>
                                      </p:to>
                                    </p:set>
                                    <p:animEffect filter="fade" transition="in">
                                      <p:cBhvr>
                                        <p:cTn dur="500"/>
                                        <p:tgtEl>
                                          <p:spTgt spid="6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6" st="6"/>
                                            </p:txEl>
                                          </p:spTgt>
                                        </p:tgtEl>
                                        <p:attrNameLst>
                                          <p:attrName>style.visibility</p:attrName>
                                        </p:attrNameLst>
                                      </p:cBhvr>
                                      <p:to>
                                        <p:strVal val="visible"/>
                                      </p:to>
                                    </p:set>
                                    <p:animEffect filter="fade" transition="in">
                                      <p:cBhvr>
                                        <p:cTn dur="500"/>
                                        <p:tgtEl>
                                          <p:spTgt spid="63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38"/>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DES Last Word (Almost)</a:t>
            </a:r>
            <a:endParaRPr/>
          </a:p>
        </p:txBody>
      </p:sp>
      <p:sp>
        <p:nvSpPr>
          <p:cNvPr id="645" name="Google Shape;645;p38"/>
          <p:cNvSpPr txBox="1"/>
          <p:nvPr>
            <p:ph idx="1" type="body"/>
          </p:nvPr>
        </p:nvSpPr>
        <p:spPr>
          <a:xfrm>
            <a:off x="785812" y="1714500"/>
            <a:ext cx="7670800" cy="4416425"/>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0"/>
              </a:spcBef>
              <a:spcAft>
                <a:spcPts val="0"/>
              </a:spcAft>
              <a:buClr>
                <a:srgbClr val="0909B3"/>
              </a:buClr>
              <a:buSzPts val="2800"/>
              <a:buChar char="•"/>
            </a:pPr>
            <a:r>
              <a:rPr b="0" i="0" lang="en-US" sz="2800" u="none">
                <a:solidFill>
                  <a:srgbClr val="0909B3"/>
                </a:solidFill>
                <a:latin typeface="Corbel"/>
                <a:ea typeface="Corbel"/>
                <a:cs typeface="Corbel"/>
                <a:sym typeface="Corbel"/>
              </a:rPr>
              <a:t>An initial perm </a:t>
            </a:r>
            <a:r>
              <a:rPr b="0" i="0" lang="en-US" sz="2800" u="none">
                <a:solidFill>
                  <a:srgbClr val="0909B3"/>
                </a:solidFill>
                <a:latin typeface="Times"/>
                <a:ea typeface="Times"/>
                <a:cs typeface="Times"/>
                <a:sym typeface="Times"/>
              </a:rPr>
              <a:t>P</a:t>
            </a:r>
            <a:r>
              <a:rPr b="0" i="0" lang="en-US" sz="2800" u="none">
                <a:solidFill>
                  <a:srgbClr val="0909B3"/>
                </a:solidFill>
                <a:latin typeface="Corbel"/>
                <a:ea typeface="Corbel"/>
                <a:cs typeface="Corbel"/>
                <a:sym typeface="Corbel"/>
              </a:rPr>
              <a:t> before round 1</a:t>
            </a:r>
            <a:endParaRPr/>
          </a:p>
          <a:p>
            <a:pPr indent="-406400" lvl="0" marL="457200" marR="0" rtl="0" algn="l">
              <a:lnSpc>
                <a:spcPct val="90000"/>
              </a:lnSpc>
              <a:spcBef>
                <a:spcPts val="0"/>
              </a:spcBef>
              <a:spcAft>
                <a:spcPts val="0"/>
              </a:spcAft>
              <a:buClr>
                <a:srgbClr val="0909B3"/>
              </a:buClr>
              <a:buSzPts val="2800"/>
              <a:buFont typeface="Corbel"/>
              <a:buChar char="•"/>
            </a:pPr>
            <a:r>
              <a:rPr b="0" i="0" lang="en-US" sz="2800" u="none">
                <a:solidFill>
                  <a:srgbClr val="0909B3"/>
                </a:solidFill>
                <a:latin typeface="Corbel"/>
                <a:ea typeface="Corbel"/>
                <a:cs typeface="Corbel"/>
                <a:sym typeface="Corbel"/>
              </a:rPr>
              <a:t>Halves are swapped after last round</a:t>
            </a:r>
            <a:endParaRPr/>
          </a:p>
          <a:p>
            <a:pPr indent="-406400" lvl="0" marL="457200" marR="0" rtl="0" algn="l">
              <a:lnSpc>
                <a:spcPct val="90000"/>
              </a:lnSpc>
              <a:spcBef>
                <a:spcPts val="0"/>
              </a:spcBef>
              <a:spcAft>
                <a:spcPts val="0"/>
              </a:spcAft>
              <a:buClr>
                <a:srgbClr val="0909B3"/>
              </a:buClr>
              <a:buSzPts val="2800"/>
              <a:buChar char="•"/>
            </a:pPr>
            <a:r>
              <a:rPr b="0" i="0" lang="en-US" sz="2800" u="none">
                <a:solidFill>
                  <a:srgbClr val="0909B3"/>
                </a:solidFill>
                <a:latin typeface="Corbel"/>
                <a:ea typeface="Corbel"/>
                <a:cs typeface="Corbel"/>
                <a:sym typeface="Corbel"/>
              </a:rPr>
              <a:t>A final permutation (inverse of </a:t>
            </a:r>
            <a:r>
              <a:rPr b="0" i="0" lang="en-US" sz="2800" u="none">
                <a:solidFill>
                  <a:srgbClr val="0909B3"/>
                </a:solidFill>
                <a:latin typeface="Times"/>
                <a:ea typeface="Times"/>
                <a:cs typeface="Times"/>
                <a:sym typeface="Times"/>
              </a:rPr>
              <a:t>P</a:t>
            </a:r>
            <a:r>
              <a:rPr b="0" i="0" lang="en-US" sz="2800" u="none">
                <a:solidFill>
                  <a:srgbClr val="0909B3"/>
                </a:solidFill>
                <a:latin typeface="Corbel"/>
                <a:ea typeface="Corbel"/>
                <a:cs typeface="Corbel"/>
                <a:sym typeface="Corbel"/>
              </a:rPr>
              <a:t>) is applied to </a:t>
            </a:r>
            <a:r>
              <a:rPr b="0" i="0" lang="en-US" sz="2800" u="none">
                <a:solidFill>
                  <a:srgbClr val="0909B3"/>
                </a:solidFill>
                <a:latin typeface="Times"/>
                <a:ea typeface="Times"/>
                <a:cs typeface="Times"/>
                <a:sym typeface="Times"/>
              </a:rPr>
              <a:t>(R</a:t>
            </a:r>
            <a:r>
              <a:rPr b="0" baseline="-25000" i="0" lang="en-US" sz="2800" u="none">
                <a:solidFill>
                  <a:srgbClr val="0909B3"/>
                </a:solidFill>
                <a:latin typeface="Times"/>
                <a:ea typeface="Times"/>
                <a:cs typeface="Times"/>
                <a:sym typeface="Times"/>
              </a:rPr>
              <a:t>16</a:t>
            </a:r>
            <a:r>
              <a:rPr b="0" i="0" lang="en-US" sz="2800" u="none">
                <a:solidFill>
                  <a:srgbClr val="0909B3"/>
                </a:solidFill>
                <a:latin typeface="Times"/>
                <a:ea typeface="Times"/>
                <a:cs typeface="Times"/>
                <a:sym typeface="Times"/>
              </a:rPr>
              <a:t>,L</a:t>
            </a:r>
            <a:r>
              <a:rPr b="0" baseline="-25000" i="0" lang="en-US" sz="2800" u="none">
                <a:solidFill>
                  <a:srgbClr val="0909B3"/>
                </a:solidFill>
                <a:latin typeface="Times"/>
                <a:ea typeface="Times"/>
                <a:cs typeface="Times"/>
                <a:sym typeface="Times"/>
              </a:rPr>
              <a:t>16</a:t>
            </a:r>
            <a:r>
              <a:rPr b="0" i="0" lang="en-US" sz="2800" u="none">
                <a:solidFill>
                  <a:srgbClr val="0909B3"/>
                </a:solidFill>
                <a:latin typeface="Times"/>
                <a:ea typeface="Times"/>
                <a:cs typeface="Times"/>
                <a:sym typeface="Times"/>
              </a:rPr>
              <a:t>)</a:t>
            </a:r>
            <a:r>
              <a:rPr b="0" i="0" lang="en-US" sz="2800" u="none">
                <a:solidFill>
                  <a:srgbClr val="0909B3"/>
                </a:solidFill>
                <a:latin typeface="Corbel"/>
                <a:ea typeface="Corbel"/>
                <a:cs typeface="Corbel"/>
                <a:sym typeface="Corbel"/>
              </a:rPr>
              <a:t> to yield ciphertext</a:t>
            </a:r>
            <a:endParaRPr b="0" i="0" sz="2800" u="none">
              <a:solidFill>
                <a:srgbClr val="0909B3"/>
              </a:solidFill>
              <a:latin typeface="Courier"/>
              <a:ea typeface="Courier"/>
              <a:cs typeface="Courier"/>
              <a:sym typeface="Courier"/>
            </a:endParaRPr>
          </a:p>
          <a:p>
            <a:pPr indent="-406400" lvl="0" marL="457200" marR="0" rtl="0" algn="l">
              <a:lnSpc>
                <a:spcPct val="90000"/>
              </a:lnSpc>
              <a:spcBef>
                <a:spcPts val="0"/>
              </a:spcBef>
              <a:spcAft>
                <a:spcPts val="0"/>
              </a:spcAft>
              <a:buClr>
                <a:srgbClr val="FF0000"/>
              </a:buClr>
              <a:buSzPts val="2800"/>
              <a:buFont typeface="Corbel"/>
              <a:buChar char="•"/>
            </a:pPr>
            <a:r>
              <a:rPr b="0" i="0" lang="en-US" sz="2800" u="none">
                <a:solidFill>
                  <a:srgbClr val="FF0000"/>
                </a:solidFill>
                <a:latin typeface="Corbel"/>
                <a:ea typeface="Corbel"/>
                <a:cs typeface="Corbel"/>
                <a:sym typeface="Corbel"/>
              </a:rPr>
              <a:t>None of these serve any security purpose</a:t>
            </a:r>
            <a:endParaRPr/>
          </a:p>
        </p:txBody>
      </p:sp>
      <p:sp>
        <p:nvSpPr>
          <p:cNvPr id="646" name="Google Shape;646;p3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647" name="Google Shape;647;p38"/>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1"/>
          <p:cNvSpPr txBox="1"/>
          <p:nvPr>
            <p:ph type="title"/>
          </p:nvPr>
        </p:nvSpPr>
        <p:spPr>
          <a:xfrm>
            <a:off x="581025" y="687387"/>
            <a:ext cx="7989887" cy="6127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orbel"/>
              <a:buNone/>
            </a:pPr>
            <a:r>
              <a:rPr b="0" i="0" lang="en-US" sz="3600" u="none">
                <a:solidFill>
                  <a:schemeClr val="lt1"/>
                </a:solidFill>
                <a:latin typeface="Corbel"/>
                <a:ea typeface="Corbel"/>
                <a:cs typeface="Corbel"/>
                <a:sym typeface="Corbel"/>
              </a:rPr>
              <a:t>History of Attacks on DES</a:t>
            </a:r>
            <a:endParaRPr/>
          </a:p>
        </p:txBody>
      </p:sp>
      <p:sp>
        <p:nvSpPr>
          <p:cNvPr id="653" name="Google Shape;653;p4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id="654" name="Google Shape;654;p41"/>
          <p:cNvPicPr preferRelativeResize="0"/>
          <p:nvPr/>
        </p:nvPicPr>
        <p:blipFill>
          <a:blip r:embed="rId3">
            <a:alphaModFix/>
          </a:blip>
          <a:stretch>
            <a:fillRect/>
          </a:stretch>
        </p:blipFill>
        <p:spPr>
          <a:xfrm>
            <a:off x="953975" y="1410950"/>
            <a:ext cx="6666025" cy="5237600"/>
          </a:xfrm>
          <a:prstGeom prst="rect">
            <a:avLst/>
          </a:prstGeom>
          <a:noFill/>
          <a:ln>
            <a:noFill/>
          </a:ln>
        </p:spPr>
      </p:pic>
      <p:sp>
        <p:nvSpPr>
          <p:cNvPr id="655" name="Google Shape;655;p4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pic>
        <p:nvPicPr>
          <p:cNvPr id="661" name="Google Shape;661;g3314c65dea4_0_0"/>
          <p:cNvPicPr preferRelativeResize="0"/>
          <p:nvPr/>
        </p:nvPicPr>
        <p:blipFill>
          <a:blip r:embed="rId3">
            <a:alphaModFix/>
          </a:blip>
          <a:stretch>
            <a:fillRect/>
          </a:stretch>
        </p:blipFill>
        <p:spPr>
          <a:xfrm>
            <a:off x="152400" y="152400"/>
            <a:ext cx="3198675" cy="2415000"/>
          </a:xfrm>
          <a:prstGeom prst="rect">
            <a:avLst/>
          </a:prstGeom>
          <a:noFill/>
          <a:ln>
            <a:noFill/>
          </a:ln>
        </p:spPr>
      </p:pic>
      <p:pic>
        <p:nvPicPr>
          <p:cNvPr id="662" name="Google Shape;662;g3314c65dea4_0_0"/>
          <p:cNvPicPr preferRelativeResize="0"/>
          <p:nvPr/>
        </p:nvPicPr>
        <p:blipFill>
          <a:blip r:embed="rId4">
            <a:alphaModFix/>
          </a:blip>
          <a:stretch>
            <a:fillRect/>
          </a:stretch>
        </p:blipFill>
        <p:spPr>
          <a:xfrm>
            <a:off x="152400" y="2719800"/>
            <a:ext cx="5982440" cy="3985801"/>
          </a:xfrm>
          <a:prstGeom prst="rect">
            <a:avLst/>
          </a:prstGeom>
          <a:noFill/>
          <a:ln>
            <a:noFill/>
          </a:ln>
        </p:spPr>
      </p:pic>
      <p:sp>
        <p:nvSpPr>
          <p:cNvPr id="663" name="Google Shape;663;g3314c65dea4_0_0"/>
          <p:cNvSpPr txBox="1"/>
          <p:nvPr/>
        </p:nvSpPr>
        <p:spPr>
          <a:xfrm>
            <a:off x="3522525" y="763750"/>
            <a:ext cx="5143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Deep Crack</a:t>
            </a:r>
            <a:endParaRPr sz="2100">
              <a:solidFill>
                <a:schemeClr val="dk1"/>
              </a:solidFill>
              <a:latin typeface="Calibri"/>
              <a:ea typeface="Calibri"/>
              <a:cs typeface="Calibri"/>
              <a:sym typeface="Calibri"/>
            </a:endParaRPr>
          </a:p>
        </p:txBody>
      </p:sp>
      <p:sp>
        <p:nvSpPr>
          <p:cNvPr id="664" name="Google Shape;664;g3314c65dea4_0_0"/>
          <p:cNvSpPr txBox="1"/>
          <p:nvPr/>
        </p:nvSpPr>
        <p:spPr>
          <a:xfrm>
            <a:off x="6390400" y="3023750"/>
            <a:ext cx="279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Copacabana</a:t>
            </a:r>
            <a:endParaRPr sz="2100">
              <a:solidFill>
                <a:schemeClr val="dk1"/>
              </a:solidFill>
              <a:latin typeface="Calibri"/>
              <a:ea typeface="Calibri"/>
              <a:cs typeface="Calibri"/>
              <a:sym typeface="Calibri"/>
            </a:endParaRPr>
          </a:p>
        </p:txBody>
      </p:sp>
      <p:sp>
        <p:nvSpPr>
          <p:cNvPr id="665" name="Google Shape;665;g3314c65dea4_0_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2"/>
          <p:cNvSpPr txBox="1"/>
          <p:nvPr>
            <p:ph type="title"/>
          </p:nvPr>
        </p:nvSpPr>
        <p:spPr>
          <a:xfrm>
            <a:off x="468300" y="303200"/>
            <a:ext cx="7676100" cy="11637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Font typeface="Corbel"/>
              <a:buNone/>
            </a:pPr>
            <a:r>
              <a:rPr b="0" i="0" lang="en-US" sz="2800" u="none">
                <a:solidFill>
                  <a:schemeClr val="lt1"/>
                </a:solidFill>
                <a:latin typeface="Corbel"/>
                <a:ea typeface="Corbel"/>
                <a:cs typeface="Corbel"/>
                <a:sym typeface="Corbel"/>
              </a:rPr>
              <a:t>Cryptanalysis of DES</a:t>
            </a:r>
            <a:br>
              <a:rPr b="0" i="0" lang="en-US" sz="2800" u="none">
                <a:solidFill>
                  <a:schemeClr val="lt1"/>
                </a:solidFill>
                <a:latin typeface="Corbel"/>
                <a:ea typeface="Corbel"/>
                <a:cs typeface="Corbel"/>
                <a:sym typeface="Corbel"/>
              </a:rPr>
            </a:br>
            <a:r>
              <a:rPr b="0" i="0" lang="en-US" sz="2000" u="none">
                <a:solidFill>
                  <a:schemeClr val="lt1"/>
                </a:solidFill>
                <a:latin typeface="Corbel"/>
                <a:ea typeface="Corbel"/>
                <a:cs typeface="Corbel"/>
                <a:sym typeface="Corbel"/>
              </a:rPr>
              <a:t>Breaking S-BOX</a:t>
            </a:r>
            <a:endParaRPr/>
          </a:p>
        </p:txBody>
      </p:sp>
      <p:graphicFrame>
        <p:nvGraphicFramePr>
          <p:cNvPr id="671" name="Google Shape;671;p42"/>
          <p:cNvGraphicFramePr/>
          <p:nvPr/>
        </p:nvGraphicFramePr>
        <p:xfrm>
          <a:off x="684212" y="2263775"/>
          <a:ext cx="3000000" cy="3000000"/>
        </p:xfrm>
        <a:graphic>
          <a:graphicData uri="http://schemas.openxmlformats.org/drawingml/2006/table">
            <a:tbl>
              <a:tblPr>
                <a:noFill/>
                <a:tableStyleId>{544FB276-6C9D-4771-A9D3-37D8E1AA6F45}</a:tableStyleId>
              </a:tblPr>
              <a:tblGrid>
                <a:gridCol w="360350"/>
                <a:gridCol w="476250"/>
                <a:gridCol w="474650"/>
                <a:gridCol w="474650"/>
                <a:gridCol w="477825"/>
              </a:tblGrid>
              <a:tr h="371475">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00</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01</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10</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11</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875">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0</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10</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01</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11</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00</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1</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00</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10</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01</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11</a:t>
                      </a:r>
                      <a:endParaRPr/>
                    </a:p>
                  </a:txBody>
                  <a:tcPr marT="45725" marB="45725" marR="91475" marL="91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72" name="Google Shape;672;p4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673" name="Google Shape;673;p42"/>
          <p:cNvSpPr txBox="1"/>
          <p:nvPr/>
        </p:nvSpPr>
        <p:spPr>
          <a:xfrm>
            <a:off x="1022350" y="1774825"/>
            <a:ext cx="150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Sample S-box</a:t>
            </a:r>
            <a:endParaRPr/>
          </a:p>
        </p:txBody>
      </p:sp>
      <p:sp>
        <p:nvSpPr>
          <p:cNvPr id="674" name="Google Shape;674;p42"/>
          <p:cNvSpPr txBox="1"/>
          <p:nvPr/>
        </p:nvSpPr>
        <p:spPr>
          <a:xfrm>
            <a:off x="395536" y="3789040"/>
            <a:ext cx="3464153" cy="2308324"/>
          </a:xfrm>
          <a:prstGeom prst="rect">
            <a:avLst/>
          </a:prstGeom>
          <a:blipFill rotWithShape="1">
            <a:blip r:embed="rId3">
              <a:alphaModFix/>
            </a:blip>
            <a:stretch>
              <a:fillRect b="-1585"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800"/>
              <a:buFont typeface="Gill Sans"/>
              <a:buNone/>
            </a:pPr>
            <a:r>
              <a:rPr b="0" i="0" lang="en-US" sz="1800" u="none" cap="none" strike="noStrike">
                <a:latin typeface="Gill Sans"/>
                <a:ea typeface="Gill Sans"/>
                <a:cs typeface="Gill Sans"/>
                <a:sym typeface="Gill Sans"/>
              </a:rPr>
              <a:t> </a:t>
            </a:r>
            <a:endParaRPr/>
          </a:p>
        </p:txBody>
      </p:sp>
      <p:sp>
        <p:nvSpPr>
          <p:cNvPr id="675" name="Google Shape;675;p42"/>
          <p:cNvSpPr txBox="1"/>
          <p:nvPr/>
        </p:nvSpPr>
        <p:spPr>
          <a:xfrm>
            <a:off x="1022350" y="4084637"/>
            <a:ext cx="530225" cy="368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011</a:t>
            </a:r>
            <a:endParaRPr/>
          </a:p>
        </p:txBody>
      </p:sp>
      <p:pic>
        <p:nvPicPr>
          <p:cNvPr id="676" name="Google Shape;676;p42"/>
          <p:cNvPicPr preferRelativeResize="0"/>
          <p:nvPr/>
        </p:nvPicPr>
        <p:blipFill>
          <a:blip r:embed="rId4">
            <a:alphaModFix/>
          </a:blip>
          <a:stretch>
            <a:fillRect/>
          </a:stretch>
        </p:blipFill>
        <p:spPr>
          <a:xfrm>
            <a:off x="4515364" y="1787550"/>
            <a:ext cx="3629025" cy="4248150"/>
          </a:xfrm>
          <a:prstGeom prst="rect">
            <a:avLst/>
          </a:prstGeom>
          <a:noFill/>
          <a:ln>
            <a:noFill/>
          </a:ln>
        </p:spPr>
      </p:pic>
      <p:sp>
        <p:nvSpPr>
          <p:cNvPr id="677" name="Google Shape;677;p4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44"/>
          <p:cNvSpPr txBox="1"/>
          <p:nvPr>
            <p:ph type="title"/>
          </p:nvPr>
        </p:nvSpPr>
        <p:spPr>
          <a:xfrm>
            <a:off x="1060450" y="134937"/>
            <a:ext cx="6438900" cy="10826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orbel"/>
              <a:buNone/>
            </a:pPr>
            <a:r>
              <a:rPr b="0" i="0" lang="en-US" sz="3600" u="none">
                <a:solidFill>
                  <a:schemeClr val="lt1"/>
                </a:solidFill>
                <a:latin typeface="Corbel"/>
                <a:ea typeface="Corbel"/>
                <a:cs typeface="Corbel"/>
                <a:sym typeface="Corbel"/>
              </a:rPr>
              <a:t>Double DES and meet in the middle attack</a:t>
            </a:r>
            <a:endParaRPr/>
          </a:p>
        </p:txBody>
      </p:sp>
      <p:pic>
        <p:nvPicPr>
          <p:cNvPr id="684" name="Google Shape;684;p44"/>
          <p:cNvPicPr preferRelativeResize="0"/>
          <p:nvPr>
            <p:ph idx="1" type="body"/>
          </p:nvPr>
        </p:nvPicPr>
        <p:blipFill rotWithShape="1">
          <a:blip r:embed="rId3">
            <a:alphaModFix/>
          </a:blip>
          <a:srcRect b="0" l="0" r="0" t="0"/>
          <a:stretch/>
        </p:blipFill>
        <p:spPr>
          <a:xfrm>
            <a:off x="0" y="1916112"/>
            <a:ext cx="3744912" cy="2636837"/>
          </a:xfrm>
          <a:prstGeom prst="rect">
            <a:avLst/>
          </a:prstGeom>
          <a:noFill/>
          <a:ln>
            <a:noFill/>
          </a:ln>
        </p:spPr>
      </p:pic>
      <p:sp>
        <p:nvSpPr>
          <p:cNvPr id="685" name="Google Shape;685;p4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686" name="Google Shape;686;p44"/>
          <p:cNvSpPr txBox="1"/>
          <p:nvPr/>
        </p:nvSpPr>
        <p:spPr>
          <a:xfrm>
            <a:off x="107950" y="5013325"/>
            <a:ext cx="9139237"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1. Encrypt the plaintext with all 2</a:t>
            </a:r>
            <a:r>
              <a:rPr b="0" baseline="30000" i="0" lang="en-US" sz="1800" u="none">
                <a:solidFill>
                  <a:schemeClr val="dk1"/>
                </a:solidFill>
                <a:latin typeface="Cambria"/>
                <a:ea typeface="Cambria"/>
                <a:cs typeface="Cambria"/>
                <a:sym typeface="Cambria"/>
              </a:rPr>
              <a:t>56</a:t>
            </a:r>
            <a:r>
              <a:rPr b="0" i="0" lang="en-US" sz="1800" u="none">
                <a:solidFill>
                  <a:schemeClr val="dk1"/>
                </a:solidFill>
                <a:latin typeface="Cambria"/>
                <a:ea typeface="Cambria"/>
                <a:cs typeface="Cambria"/>
                <a:sym typeface="Cambria"/>
              </a:rPr>
              <a:t> possible keys and write down the results</a:t>
            </a:r>
            <a:endParaRPr/>
          </a:p>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2. Decrypt the ciphertext with all 2</a:t>
            </a:r>
            <a:r>
              <a:rPr b="0" baseline="30000" i="0" lang="en-US" sz="1800" u="none">
                <a:solidFill>
                  <a:schemeClr val="dk1"/>
                </a:solidFill>
                <a:latin typeface="Cambria"/>
                <a:ea typeface="Cambria"/>
                <a:cs typeface="Cambria"/>
                <a:sym typeface="Cambria"/>
              </a:rPr>
              <a:t>56</a:t>
            </a:r>
            <a:r>
              <a:rPr b="0" i="0" lang="en-US" sz="1800" u="none">
                <a:solidFill>
                  <a:schemeClr val="dk1"/>
                </a:solidFill>
                <a:latin typeface="Cambria"/>
                <a:ea typeface="Cambria"/>
                <a:cs typeface="Cambria"/>
                <a:sym typeface="Cambria"/>
              </a:rPr>
              <a:t> possible keys and write down the results</a:t>
            </a:r>
            <a:endParaRPr/>
          </a:p>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3. Check where the results are the same. That is your key.</a:t>
            </a:r>
            <a:endParaRPr/>
          </a:p>
          <a:p>
            <a:pPr indent="0" lvl="0" marL="0" marR="0" rtl="0" algn="l">
              <a:lnSpc>
                <a:spcPct val="100000"/>
              </a:lnSpc>
              <a:spcBef>
                <a:spcPts val="0"/>
              </a:spcBef>
              <a:spcAft>
                <a:spcPts val="0"/>
              </a:spcAft>
              <a:buClr>
                <a:schemeClr val="dk1"/>
              </a:buClr>
              <a:buSzPts val="1800"/>
              <a:buFont typeface="Cambria"/>
              <a:buNone/>
            </a:pPr>
            <a:r>
              <a:rPr b="0" i="0" lang="en-US" sz="1800" u="none">
                <a:solidFill>
                  <a:schemeClr val="dk1"/>
                </a:solidFill>
                <a:latin typeface="Cambria"/>
                <a:ea typeface="Cambria"/>
                <a:cs typeface="Cambria"/>
                <a:sym typeface="Cambria"/>
              </a:rPr>
              <a:t>Note that all you had to do to recover the key was using DES 2 × 2</a:t>
            </a:r>
            <a:r>
              <a:rPr b="0" baseline="30000" i="0" lang="en-US" sz="1800" u="none">
                <a:solidFill>
                  <a:schemeClr val="dk1"/>
                </a:solidFill>
                <a:latin typeface="Cambria"/>
                <a:ea typeface="Cambria"/>
                <a:cs typeface="Cambria"/>
                <a:sym typeface="Cambria"/>
              </a:rPr>
              <a:t>56</a:t>
            </a:r>
            <a:r>
              <a:rPr b="0" i="0" lang="en-US" sz="1800" u="none">
                <a:solidFill>
                  <a:schemeClr val="dk1"/>
                </a:solidFill>
                <a:latin typeface="Cambria"/>
                <a:ea typeface="Cambria"/>
                <a:cs typeface="Cambria"/>
                <a:sym typeface="Cambria"/>
              </a:rPr>
              <a:t> times, which makes 2</a:t>
            </a:r>
            <a:r>
              <a:rPr b="0" baseline="30000" i="0" lang="en-US" sz="1800" u="none">
                <a:solidFill>
                  <a:schemeClr val="dk1"/>
                </a:solidFill>
                <a:latin typeface="Cambria"/>
                <a:ea typeface="Cambria"/>
                <a:cs typeface="Cambria"/>
                <a:sym typeface="Cambria"/>
              </a:rPr>
              <a:t>57</a:t>
            </a:r>
            <a:r>
              <a:rPr b="0" i="0" lang="en-US" sz="1800" u="none">
                <a:solidFill>
                  <a:schemeClr val="dk1"/>
                </a:solidFill>
                <a:latin typeface="Cambria"/>
                <a:ea typeface="Cambria"/>
                <a:cs typeface="Cambria"/>
                <a:sym typeface="Cambria"/>
              </a:rPr>
              <a:t>.</a:t>
            </a:r>
            <a:endParaRPr/>
          </a:p>
          <a:p>
            <a:pPr indent="0" lvl="0" marL="0" marR="0" rtl="0" algn="l">
              <a:lnSpc>
                <a:spcPct val="100000"/>
              </a:lnSpc>
              <a:spcBef>
                <a:spcPts val="0"/>
              </a:spcBef>
              <a:spcAft>
                <a:spcPts val="0"/>
              </a:spcAft>
              <a:buNone/>
            </a:pPr>
            <a:r>
              <a:t/>
            </a:r>
            <a:endParaRPr b="0" i="0" sz="1800" u="none">
              <a:solidFill>
                <a:schemeClr val="dk1"/>
              </a:solidFill>
              <a:latin typeface="Cambria"/>
              <a:ea typeface="Cambria"/>
              <a:cs typeface="Cambria"/>
              <a:sym typeface="Cambria"/>
            </a:endParaRPr>
          </a:p>
        </p:txBody>
      </p:sp>
      <p:pic>
        <p:nvPicPr>
          <p:cNvPr id="687" name="Google Shape;687;p44"/>
          <p:cNvPicPr preferRelativeResize="0"/>
          <p:nvPr/>
        </p:nvPicPr>
        <p:blipFill>
          <a:blip r:embed="rId4">
            <a:alphaModFix/>
          </a:blip>
          <a:stretch>
            <a:fillRect/>
          </a:stretch>
        </p:blipFill>
        <p:spPr>
          <a:xfrm>
            <a:off x="3907212" y="1916112"/>
            <a:ext cx="4400550" cy="2028825"/>
          </a:xfrm>
          <a:prstGeom prst="rect">
            <a:avLst/>
          </a:prstGeom>
          <a:noFill/>
          <a:ln>
            <a:noFill/>
          </a:ln>
        </p:spPr>
      </p:pic>
      <p:sp>
        <p:nvSpPr>
          <p:cNvPr id="688" name="Google Shape;688;p44"/>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43"/>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a:solidFill>
                <a:schemeClr val="lt1"/>
              </a:solidFill>
            </a:endParaRPr>
          </a:p>
        </p:txBody>
      </p:sp>
      <p:sp>
        <p:nvSpPr>
          <p:cNvPr id="694" name="Google Shape;694;p43"/>
          <p:cNvSpPr txBox="1"/>
          <p:nvPr>
            <p:ph idx="1" type="body"/>
          </p:nvPr>
        </p:nvSpPr>
        <p:spPr>
          <a:xfrm>
            <a:off x="982662" y="2997200"/>
            <a:ext cx="6973887" cy="34036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9600"/>
              <a:buFont typeface="Arial"/>
              <a:buNone/>
            </a:pPr>
            <a:r>
              <a:rPr b="0" i="0" lang="en-US" sz="9600" u="none">
                <a:solidFill>
                  <a:schemeClr val="dk1"/>
                </a:solidFill>
                <a:latin typeface="Corbel"/>
                <a:ea typeface="Corbel"/>
                <a:cs typeface="Corbel"/>
                <a:sym typeface="Corbel"/>
              </a:rPr>
              <a:t>Thank you</a:t>
            </a:r>
            <a:endParaRPr/>
          </a:p>
        </p:txBody>
      </p:sp>
      <p:sp>
        <p:nvSpPr>
          <p:cNvPr id="695" name="Google Shape;695;p4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696" name="Google Shape;696;p4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45"/>
          <p:cNvSpPr txBox="1"/>
          <p:nvPr>
            <p:ph idx="1" type="body"/>
          </p:nvPr>
        </p:nvSpPr>
        <p:spPr>
          <a:xfrm>
            <a:off x="581025" y="2227262"/>
            <a:ext cx="7989887" cy="1922462"/>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5400"/>
              <a:buFont typeface="Arial"/>
              <a:buNone/>
            </a:pPr>
            <a:r>
              <a:rPr b="0" i="0" lang="en-US" sz="5400" u="none">
                <a:solidFill>
                  <a:schemeClr val="dk1"/>
                </a:solidFill>
                <a:latin typeface="Corbel"/>
                <a:ea typeface="Corbel"/>
                <a:cs typeface="Corbel"/>
                <a:sym typeface="Corbel"/>
              </a:rPr>
              <a:t>Block Cipher: AES</a:t>
            </a:r>
            <a:endParaRPr/>
          </a:p>
        </p:txBody>
      </p:sp>
      <p:sp>
        <p:nvSpPr>
          <p:cNvPr id="702" name="Google Shape;702;p4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703" name="Google Shape;703;p45"/>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6"/>
          <p:cNvSpPr txBox="1"/>
          <p:nvPr>
            <p:ph type="title"/>
          </p:nvPr>
        </p:nvSpPr>
        <p:spPr>
          <a:xfrm>
            <a:off x="755650" y="333375"/>
            <a:ext cx="7150100"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3200"/>
              <a:buFont typeface="Corbel"/>
              <a:buNone/>
            </a:pPr>
            <a:r>
              <a:rPr b="0" i="0" lang="en-US" sz="3200" u="none">
                <a:solidFill>
                  <a:schemeClr val="lt1"/>
                </a:solidFill>
                <a:latin typeface="Corbel"/>
                <a:ea typeface="Corbel"/>
                <a:cs typeface="Corbel"/>
                <a:sym typeface="Corbel"/>
              </a:rPr>
              <a:t>Advanced Encryption Standard (AES ) History</a:t>
            </a:r>
            <a:endParaRPr/>
          </a:p>
        </p:txBody>
      </p:sp>
      <p:sp>
        <p:nvSpPr>
          <p:cNvPr id="709" name="Google Shape;709;p46"/>
          <p:cNvSpPr txBox="1"/>
          <p:nvPr>
            <p:ph idx="1" type="body"/>
          </p:nvPr>
        </p:nvSpPr>
        <p:spPr>
          <a:xfrm>
            <a:off x="933450" y="1700212"/>
            <a:ext cx="7748587" cy="496887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rgbClr val="376092"/>
              </a:buClr>
              <a:buSzPts val="2400"/>
              <a:buFont typeface="Noto Sans Symbols"/>
              <a:buChar char="⮚"/>
            </a:pPr>
            <a:r>
              <a:rPr b="0" i="0" lang="en-US" sz="2400" u="none">
                <a:solidFill>
                  <a:srgbClr val="000000"/>
                </a:solidFill>
                <a:latin typeface="Corbel"/>
                <a:ea typeface="Corbel"/>
                <a:cs typeface="Corbel"/>
                <a:sym typeface="Corbel"/>
              </a:rPr>
              <a:t>Needs  for replacement for DES</a:t>
            </a:r>
            <a:endParaRPr/>
          </a:p>
          <a:p>
            <a:pPr indent="-342900" lvl="1" marL="666750" marR="0" rtl="0" algn="l">
              <a:lnSpc>
                <a:spcPct val="90000"/>
              </a:lnSpc>
              <a:spcBef>
                <a:spcPts val="300"/>
              </a:spcBef>
              <a:spcAft>
                <a:spcPts val="0"/>
              </a:spcAft>
              <a:buClr>
                <a:srgbClr val="376092"/>
              </a:buClr>
              <a:buSzPts val="2200"/>
              <a:buFont typeface="Noto Sans Symbols"/>
              <a:buChar char="▪"/>
            </a:pPr>
            <a:r>
              <a:rPr b="0" i="0" lang="en-US" sz="2200" u="none" cap="none" strike="noStrike">
                <a:solidFill>
                  <a:srgbClr val="000000"/>
                </a:solidFill>
                <a:latin typeface="Corbel"/>
                <a:ea typeface="Corbel"/>
                <a:cs typeface="Corbel"/>
                <a:sym typeface="Corbel"/>
              </a:rPr>
              <a:t>DES had outlived its usefulness</a:t>
            </a:r>
            <a:endParaRPr/>
          </a:p>
          <a:p>
            <a:pPr indent="-342900" lvl="2" marL="971550" marR="0" rtl="0" algn="l">
              <a:lnSpc>
                <a:spcPct val="90000"/>
              </a:lnSpc>
              <a:spcBef>
                <a:spcPts val="300"/>
              </a:spcBef>
              <a:spcAft>
                <a:spcPts val="0"/>
              </a:spcAft>
              <a:buClr>
                <a:srgbClr val="376092"/>
              </a:buClr>
              <a:buSzPts val="1900"/>
              <a:buFont typeface="Noto Sans Symbols"/>
              <a:buChar char="▪"/>
            </a:pPr>
            <a:r>
              <a:rPr b="0" i="0" lang="en-US" sz="1900" u="none" cap="none" strike="noStrike">
                <a:solidFill>
                  <a:srgbClr val="000000"/>
                </a:solidFill>
                <a:latin typeface="Corbel"/>
                <a:ea typeface="Corbel"/>
                <a:cs typeface="Corbel"/>
                <a:sym typeface="Corbel"/>
              </a:rPr>
              <a:t>Attacked by exhaustive key search: Special purpose DES crackers and distributed attack at internet</a:t>
            </a:r>
            <a:endParaRPr/>
          </a:p>
          <a:p>
            <a:pPr indent="-342900" lvl="1" marL="666750" marR="0" rtl="0" algn="l">
              <a:lnSpc>
                <a:spcPct val="90000"/>
              </a:lnSpc>
              <a:spcBef>
                <a:spcPts val="300"/>
              </a:spcBef>
              <a:spcAft>
                <a:spcPts val="0"/>
              </a:spcAft>
              <a:buClr>
                <a:srgbClr val="376092"/>
              </a:buClr>
              <a:buSzPts val="2200"/>
              <a:buFont typeface="Noto Sans Symbols"/>
              <a:buChar char="⮚"/>
            </a:pPr>
            <a:r>
              <a:rPr b="0" i="0" lang="en-US" sz="2200" u="none" cap="none" strike="noStrike">
                <a:solidFill>
                  <a:srgbClr val="000000"/>
                </a:solidFill>
                <a:latin typeface="Corbel"/>
                <a:ea typeface="Corbel"/>
                <a:cs typeface="Corbel"/>
                <a:sym typeface="Corbel"/>
              </a:rPr>
              <a:t>3DES is very resistant to crypto analysis but</a:t>
            </a:r>
            <a:endParaRPr/>
          </a:p>
          <a:p>
            <a:pPr indent="-342900" lvl="2" marL="971550" marR="0" rtl="0" algn="l">
              <a:lnSpc>
                <a:spcPct val="90000"/>
              </a:lnSpc>
              <a:spcBef>
                <a:spcPts val="300"/>
              </a:spcBef>
              <a:spcAft>
                <a:spcPts val="0"/>
              </a:spcAft>
              <a:buClr>
                <a:srgbClr val="376092"/>
              </a:buClr>
              <a:buSzPts val="1900"/>
              <a:buFont typeface="Noto Sans Symbols"/>
              <a:buChar char="▪"/>
            </a:pPr>
            <a:r>
              <a:rPr b="0" i="0" lang="en-US" sz="1900" u="none" cap="none" strike="noStrike">
                <a:solidFill>
                  <a:srgbClr val="000000"/>
                </a:solidFill>
                <a:latin typeface="Corbel"/>
                <a:ea typeface="Corbel"/>
                <a:cs typeface="Corbel"/>
                <a:sym typeface="Corbel"/>
              </a:rPr>
              <a:t>No efficient software code</a:t>
            </a:r>
            <a:endParaRPr/>
          </a:p>
          <a:p>
            <a:pPr indent="-342900" lvl="2" marL="971550" marR="0" rtl="0" algn="l">
              <a:lnSpc>
                <a:spcPct val="90000"/>
              </a:lnSpc>
              <a:spcBef>
                <a:spcPts val="300"/>
              </a:spcBef>
              <a:spcAft>
                <a:spcPts val="0"/>
              </a:spcAft>
              <a:buClr>
                <a:srgbClr val="376092"/>
              </a:buClr>
              <a:buSzPts val="1900"/>
              <a:buFont typeface="Noto Sans Symbols"/>
              <a:buChar char="▪"/>
            </a:pPr>
            <a:r>
              <a:rPr b="0" i="0" lang="en-US" sz="1900" u="none" cap="none" strike="noStrike">
                <a:solidFill>
                  <a:srgbClr val="000000"/>
                </a:solidFill>
                <a:latin typeface="Corbel"/>
                <a:ea typeface="Corbel"/>
                <a:cs typeface="Corbel"/>
                <a:sym typeface="Corbel"/>
              </a:rPr>
              <a:t>Too slow: 3 times as many rounds as DES</a:t>
            </a:r>
            <a:endParaRPr/>
          </a:p>
          <a:p>
            <a:pPr indent="-342900" lvl="2" marL="971550" marR="0" rtl="0" algn="l">
              <a:lnSpc>
                <a:spcPct val="90000"/>
              </a:lnSpc>
              <a:spcBef>
                <a:spcPts val="300"/>
              </a:spcBef>
              <a:spcAft>
                <a:spcPts val="0"/>
              </a:spcAft>
              <a:buClr>
                <a:srgbClr val="376092"/>
              </a:buClr>
              <a:buSzPts val="1900"/>
              <a:buFont typeface="Noto Sans Symbols"/>
              <a:buChar char="▪"/>
            </a:pPr>
            <a:r>
              <a:rPr b="0" i="0" lang="en-US" sz="1900" u="none" cap="none" strike="noStrike">
                <a:solidFill>
                  <a:srgbClr val="000000"/>
                </a:solidFill>
                <a:latin typeface="Corbel"/>
                <a:ea typeface="Corbel"/>
                <a:cs typeface="Corbel"/>
                <a:sym typeface="Corbel"/>
              </a:rPr>
              <a:t>3DES use 64-bit block size: for reasons of both efficient and security, a larger blk sixe desirable</a:t>
            </a:r>
            <a:endParaRPr/>
          </a:p>
          <a:p>
            <a:pPr indent="-342900" lvl="2" marL="971550" marR="0" rtl="0" algn="l">
              <a:lnSpc>
                <a:spcPct val="90000"/>
              </a:lnSpc>
              <a:spcBef>
                <a:spcPts val="300"/>
              </a:spcBef>
              <a:spcAft>
                <a:spcPts val="0"/>
              </a:spcAft>
              <a:buClr>
                <a:srgbClr val="376092"/>
              </a:buClr>
              <a:buSzPts val="1900"/>
              <a:buFont typeface="Noto Sans Symbols"/>
              <a:buChar char="▪"/>
            </a:pPr>
            <a:r>
              <a:rPr b="0" i="0" lang="en-US" sz="1900" u="none" cap="none" strike="noStrike">
                <a:solidFill>
                  <a:srgbClr val="FF0000"/>
                </a:solidFill>
                <a:latin typeface="Corbel"/>
                <a:ea typeface="Corbel"/>
                <a:cs typeface="Corbel"/>
                <a:sym typeface="Corbel"/>
              </a:rPr>
              <a:t>So, 3DES is not solution for long-term use</a:t>
            </a:r>
            <a:endParaRPr/>
          </a:p>
          <a:p>
            <a:pPr indent="-342900" lvl="0" marL="342900" marR="0" rtl="0" algn="l">
              <a:lnSpc>
                <a:spcPct val="90000"/>
              </a:lnSpc>
              <a:spcBef>
                <a:spcPts val="700"/>
              </a:spcBef>
              <a:spcAft>
                <a:spcPts val="0"/>
              </a:spcAft>
              <a:buClr>
                <a:srgbClr val="376092"/>
              </a:buClr>
              <a:buSzPts val="2400"/>
              <a:buFont typeface="Noto Sans Symbols"/>
              <a:buChar char="⮚"/>
            </a:pPr>
            <a:r>
              <a:rPr b="0" i="0" lang="en-US" sz="2400" u="none">
                <a:solidFill>
                  <a:srgbClr val="000000"/>
                </a:solidFill>
                <a:latin typeface="Corbel"/>
                <a:ea typeface="Corbel"/>
                <a:cs typeface="Corbel"/>
                <a:sym typeface="Corbel"/>
              </a:rPr>
              <a:t>In 1997, NIST made a formal call for advanced encryption standard algorithms</a:t>
            </a:r>
            <a:endParaRPr/>
          </a:p>
          <a:p>
            <a:pPr indent="-19050" lvl="0" marL="171450" marR="0" rtl="0" algn="l">
              <a:lnSpc>
                <a:spcPct val="90000"/>
              </a:lnSpc>
              <a:spcBef>
                <a:spcPts val="750"/>
              </a:spcBef>
              <a:spcAft>
                <a:spcPts val="0"/>
              </a:spcAft>
              <a:buClr>
                <a:schemeClr val="dk1"/>
              </a:buClr>
              <a:buSzPts val="2400"/>
              <a:buFont typeface="Arial"/>
              <a:buNone/>
            </a:pPr>
            <a:r>
              <a:t/>
            </a:r>
            <a:endParaRPr b="0" i="0" sz="2400" u="none">
              <a:solidFill>
                <a:srgbClr val="000000"/>
              </a:solidFill>
              <a:latin typeface="Corbel"/>
              <a:ea typeface="Corbel"/>
              <a:cs typeface="Corbel"/>
              <a:sym typeface="Corbel"/>
            </a:endParaRPr>
          </a:p>
        </p:txBody>
      </p:sp>
      <p:sp>
        <p:nvSpPr>
          <p:cNvPr id="710" name="Google Shape;710;p4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711" name="Google Shape;711;p4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47"/>
          <p:cNvSpPr txBox="1"/>
          <p:nvPr>
            <p:ph type="title"/>
          </p:nvPr>
        </p:nvSpPr>
        <p:spPr>
          <a:xfrm>
            <a:off x="395287" y="333375"/>
            <a:ext cx="7989887" cy="89535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Corbel"/>
              <a:buNone/>
            </a:pPr>
            <a:r>
              <a:rPr b="0" i="0" lang="en-US" sz="2400" u="none">
                <a:solidFill>
                  <a:schemeClr val="lt1"/>
                </a:solidFill>
                <a:latin typeface="Corbel"/>
                <a:ea typeface="Corbel"/>
                <a:cs typeface="Corbel"/>
                <a:sym typeface="Corbel"/>
              </a:rPr>
              <a:t>Advanced Encryption Standard (AES ) History</a:t>
            </a:r>
            <a:endParaRPr/>
          </a:p>
        </p:txBody>
      </p:sp>
      <p:sp>
        <p:nvSpPr>
          <p:cNvPr id="717" name="Google Shape;717;p47"/>
          <p:cNvSpPr txBox="1"/>
          <p:nvPr>
            <p:ph idx="1" type="body"/>
          </p:nvPr>
        </p:nvSpPr>
        <p:spPr>
          <a:xfrm>
            <a:off x="827087" y="1700212"/>
            <a:ext cx="7900987" cy="416718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GOAL: replace DES for both government and private sector encryption.</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Requirement of AES</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100" u="none" cap="none" strike="noStrike">
                <a:solidFill>
                  <a:srgbClr val="FF0000"/>
                </a:solidFill>
                <a:latin typeface="Corbel"/>
                <a:ea typeface="Corbel"/>
                <a:cs typeface="Corbel"/>
                <a:sym typeface="Corbel"/>
              </a:rPr>
              <a:t>Unclassified</a:t>
            </a:r>
            <a:r>
              <a:rPr b="0" i="0" lang="en-US" sz="2100" u="none" cap="none" strike="noStrike">
                <a:solidFill>
                  <a:schemeClr val="dk1"/>
                </a:solidFill>
                <a:latin typeface="Corbel"/>
                <a:ea typeface="Corbel"/>
                <a:cs typeface="Corbel"/>
                <a:sym typeface="Corbel"/>
              </a:rPr>
              <a:t>, publicly disclosed encryption algorithm, </a:t>
            </a:r>
            <a:r>
              <a:rPr b="0" i="0" lang="en-US" sz="2100" u="none" cap="none" strike="noStrike">
                <a:solidFill>
                  <a:srgbClr val="FF0000"/>
                </a:solidFill>
                <a:latin typeface="Corbel"/>
                <a:ea typeface="Corbel"/>
                <a:cs typeface="Corbel"/>
                <a:sym typeface="Corbel"/>
              </a:rPr>
              <a:t>available royalty-free</a:t>
            </a:r>
            <a:r>
              <a:rPr b="0" i="0" lang="en-US" sz="2100" u="none" cap="none" strike="noStrike">
                <a:solidFill>
                  <a:schemeClr val="dk1"/>
                </a:solidFill>
                <a:latin typeface="Corbel"/>
                <a:ea typeface="Corbel"/>
                <a:cs typeface="Corbel"/>
                <a:sym typeface="Corbel"/>
              </a:rPr>
              <a:t>, worldwide.</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100" u="none" cap="none" strike="noStrike">
                <a:solidFill>
                  <a:schemeClr val="dk1"/>
                </a:solidFill>
                <a:latin typeface="Corbel"/>
                <a:ea typeface="Corbel"/>
                <a:cs typeface="Corbel"/>
                <a:sym typeface="Corbel"/>
              </a:rPr>
              <a:t>The algorithm must implement </a:t>
            </a:r>
            <a:r>
              <a:rPr b="0" i="0" lang="en-US" sz="2100" u="none" cap="none" strike="noStrike">
                <a:solidFill>
                  <a:srgbClr val="FF0000"/>
                </a:solidFill>
                <a:latin typeface="Corbel"/>
                <a:ea typeface="Corbel"/>
                <a:cs typeface="Corbel"/>
                <a:sym typeface="Corbel"/>
              </a:rPr>
              <a:t>symmetric key</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100" u="none" cap="none" strike="noStrike">
                <a:solidFill>
                  <a:schemeClr val="dk1"/>
                </a:solidFill>
                <a:latin typeface="Corbel"/>
                <a:ea typeface="Corbel"/>
                <a:cs typeface="Corbel"/>
                <a:sym typeface="Corbel"/>
              </a:rPr>
              <a:t>Cryptography as a block cipher and (at a minimum)  support </a:t>
            </a:r>
            <a:r>
              <a:rPr b="0" i="0" lang="en-US" sz="2100" u="none" cap="none" strike="noStrike">
                <a:solidFill>
                  <a:srgbClr val="FF0000"/>
                </a:solidFill>
                <a:latin typeface="Corbel"/>
                <a:ea typeface="Corbel"/>
                <a:cs typeface="Corbel"/>
                <a:sym typeface="Corbel"/>
              </a:rPr>
              <a:t>block sizes of 128-bits </a:t>
            </a:r>
            <a:r>
              <a:rPr b="0" i="0" lang="en-US" sz="2100" u="none" cap="none" strike="noStrike">
                <a:solidFill>
                  <a:schemeClr val="dk1"/>
                </a:solidFill>
                <a:latin typeface="Corbel"/>
                <a:ea typeface="Corbel"/>
                <a:cs typeface="Corbel"/>
                <a:sym typeface="Corbel"/>
              </a:rPr>
              <a:t>and </a:t>
            </a:r>
            <a:r>
              <a:rPr b="0" i="0" lang="en-US" sz="2100" u="none" cap="none" strike="noStrike">
                <a:solidFill>
                  <a:srgbClr val="FF0000"/>
                </a:solidFill>
                <a:latin typeface="Corbel"/>
                <a:ea typeface="Corbel"/>
                <a:cs typeface="Corbel"/>
                <a:sym typeface="Corbel"/>
              </a:rPr>
              <a:t>key sizes of 128- , 192-, and 256-bits.</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In 1998, NIST announced a group of 15 AES candidate algorithms.</a:t>
            </a:r>
            <a:endParaRPr/>
          </a:p>
          <a:p>
            <a:pPr indent="-19050" lvl="0" marL="171450" marR="0" rtl="0" algn="l">
              <a:lnSpc>
                <a:spcPct val="90000"/>
              </a:lnSpc>
              <a:spcBef>
                <a:spcPts val="750"/>
              </a:spcBef>
              <a:spcAft>
                <a:spcPts val="0"/>
              </a:spcAft>
              <a:buClr>
                <a:schemeClr val="dk1"/>
              </a:buClr>
              <a:buSzPts val="2400"/>
              <a:buFont typeface="Arial"/>
              <a:buNone/>
            </a:pPr>
            <a:r>
              <a:t/>
            </a:r>
            <a:endParaRPr b="0" i="0" sz="2400" u="none">
              <a:solidFill>
                <a:schemeClr val="dk1"/>
              </a:solidFill>
              <a:latin typeface="Corbel"/>
              <a:ea typeface="Corbel"/>
              <a:cs typeface="Corbel"/>
              <a:sym typeface="Corbel"/>
            </a:endParaRPr>
          </a:p>
        </p:txBody>
      </p:sp>
      <p:sp>
        <p:nvSpPr>
          <p:cNvPr id="718" name="Google Shape;718;p4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719" name="Google Shape;719;p47"/>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48"/>
          <p:cNvSpPr txBox="1"/>
          <p:nvPr>
            <p:ph type="title"/>
          </p:nvPr>
        </p:nvSpPr>
        <p:spPr>
          <a:xfrm>
            <a:off x="785812" y="214312"/>
            <a:ext cx="7143750"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AES History</a:t>
            </a:r>
            <a:endParaRPr/>
          </a:p>
        </p:txBody>
      </p:sp>
      <p:sp>
        <p:nvSpPr>
          <p:cNvPr id="726" name="Google Shape;726;p48"/>
          <p:cNvSpPr txBox="1"/>
          <p:nvPr>
            <p:ph idx="1" type="body"/>
          </p:nvPr>
        </p:nvSpPr>
        <p:spPr>
          <a:xfrm>
            <a:off x="900112" y="1700212"/>
            <a:ext cx="7921625" cy="45989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0000"/>
              </a:lnSpc>
              <a:spcBef>
                <a:spcPts val="0"/>
              </a:spcBef>
              <a:spcAft>
                <a:spcPts val="0"/>
              </a:spcAft>
              <a:buClr>
                <a:srgbClr val="376092"/>
              </a:buClr>
              <a:buSzPts val="300"/>
              <a:buFont typeface="Noto Sans Symbols"/>
              <a:buChar char="⮚"/>
            </a:pPr>
            <a:r>
              <a:rPr b="0" i="0" lang="en-US" sz="2400" u="none">
                <a:solidFill>
                  <a:schemeClr val="dk1"/>
                </a:solidFill>
                <a:latin typeface="Corbel"/>
                <a:ea typeface="Corbel"/>
                <a:cs typeface="Corbel"/>
                <a:sym typeface="Corbel"/>
              </a:rPr>
              <a:t>Criteria for selecting AES: </a:t>
            </a:r>
            <a:endParaRPr/>
          </a:p>
          <a:p>
            <a:pPr indent="-342900" lvl="1" marL="666750" marR="0" rtl="0" algn="l">
              <a:lnSpc>
                <a:spcPct val="120000"/>
              </a:lnSpc>
              <a:spcBef>
                <a:spcPts val="300"/>
              </a:spcBef>
              <a:spcAft>
                <a:spcPts val="0"/>
              </a:spcAft>
              <a:buClr>
                <a:srgbClr val="376092"/>
              </a:buClr>
              <a:buSzPts val="300"/>
              <a:buFont typeface="Noto Sans Symbols"/>
              <a:buChar char="⮚"/>
            </a:pPr>
            <a:r>
              <a:rPr b="0" i="0" lang="en-US" sz="2000" u="none" cap="none" strike="noStrike">
                <a:solidFill>
                  <a:schemeClr val="dk1"/>
                </a:solidFill>
                <a:latin typeface="Corbel"/>
                <a:ea typeface="Corbel"/>
                <a:cs typeface="Corbel"/>
                <a:sym typeface="Corbel"/>
              </a:rPr>
              <a:t>Security, Robustness, Speed</a:t>
            </a:r>
            <a:endParaRPr b="0" i="0" sz="1800" u="none" cap="none" strike="noStrike">
              <a:solidFill>
                <a:schemeClr val="dk1"/>
              </a:solidFill>
              <a:latin typeface="Corbel"/>
              <a:ea typeface="Corbel"/>
              <a:cs typeface="Corbel"/>
              <a:sym typeface="Corbel"/>
            </a:endParaRPr>
          </a:p>
          <a:p>
            <a:pPr indent="-342900" lvl="0" marL="342900" marR="0" rtl="0" algn="l">
              <a:lnSpc>
                <a:spcPct val="120000"/>
              </a:lnSpc>
              <a:spcBef>
                <a:spcPts val="300"/>
              </a:spcBef>
              <a:spcAft>
                <a:spcPts val="0"/>
              </a:spcAft>
              <a:buClr>
                <a:srgbClr val="376092"/>
              </a:buClr>
              <a:buSzPts val="300"/>
              <a:buFont typeface="Noto Sans Symbols"/>
              <a:buChar char="⮚"/>
            </a:pPr>
            <a:r>
              <a:rPr b="0" i="0" lang="en-US" sz="2400" u="none">
                <a:solidFill>
                  <a:schemeClr val="dk1"/>
                </a:solidFill>
                <a:latin typeface="Corbel"/>
                <a:ea typeface="Corbel"/>
                <a:cs typeface="Corbel"/>
                <a:sym typeface="Corbel"/>
              </a:rPr>
              <a:t>In 1999, out of 15, the selection was narrowed to 5 candidates: </a:t>
            </a:r>
            <a:endParaRPr/>
          </a:p>
          <a:p>
            <a:pPr indent="-342900" lvl="1" marL="666750" marR="0" rtl="0" algn="l">
              <a:lnSpc>
                <a:spcPct val="120000"/>
              </a:lnSpc>
              <a:spcBef>
                <a:spcPts val="300"/>
              </a:spcBef>
              <a:spcAft>
                <a:spcPts val="0"/>
              </a:spcAft>
              <a:buClr>
                <a:srgbClr val="376092"/>
              </a:buClr>
              <a:buSzPts val="300"/>
              <a:buFont typeface="Noto Sans Symbols"/>
              <a:buChar char="⮚"/>
            </a:pPr>
            <a:r>
              <a:rPr b="0" i="0" lang="en-US" sz="2000" u="none" cap="none" strike="noStrike">
                <a:solidFill>
                  <a:schemeClr val="dk1"/>
                </a:solidFill>
                <a:latin typeface="Corbel"/>
                <a:ea typeface="Corbel"/>
                <a:cs typeface="Corbel"/>
                <a:sym typeface="Corbel"/>
              </a:rPr>
              <a:t>MARS, RC6, Rijndael, Serpent, and Twofish.</a:t>
            </a:r>
            <a:endParaRPr/>
          </a:p>
          <a:p>
            <a:pPr indent="-342900" lvl="0" marL="342900" marR="0" rtl="0" algn="l">
              <a:lnSpc>
                <a:spcPct val="120000"/>
              </a:lnSpc>
              <a:spcBef>
                <a:spcPts val="300"/>
              </a:spcBef>
              <a:spcAft>
                <a:spcPts val="0"/>
              </a:spcAft>
              <a:buClr>
                <a:srgbClr val="376092"/>
              </a:buClr>
              <a:buSzPts val="300"/>
              <a:buFont typeface="Noto Sans Symbols"/>
              <a:buChar char="⮚"/>
            </a:pPr>
            <a:r>
              <a:rPr b="0" i="0" lang="en-US" sz="2400" u="none">
                <a:solidFill>
                  <a:schemeClr val="dk1"/>
                </a:solidFill>
                <a:latin typeface="Corbel"/>
                <a:ea typeface="Corbel"/>
                <a:cs typeface="Corbel"/>
                <a:sym typeface="Corbel"/>
              </a:rPr>
              <a:t>All the five protocols were thought to be secure</a:t>
            </a:r>
            <a:endParaRPr/>
          </a:p>
          <a:p>
            <a:pPr indent="-342900" lvl="0" marL="342900" marR="0" rtl="0" algn="l">
              <a:lnSpc>
                <a:spcPct val="120000"/>
              </a:lnSpc>
              <a:spcBef>
                <a:spcPts val="300"/>
              </a:spcBef>
              <a:spcAft>
                <a:spcPts val="0"/>
              </a:spcAft>
              <a:buClr>
                <a:srgbClr val="376092"/>
              </a:buClr>
              <a:buSzPts val="300"/>
              <a:buFont typeface="Noto Sans Symbols"/>
              <a:buChar char="⮚"/>
            </a:pPr>
            <a:r>
              <a:rPr b="0" i="0" lang="en-US" sz="2400" u="none">
                <a:solidFill>
                  <a:schemeClr val="dk1"/>
                </a:solidFill>
                <a:latin typeface="Corbel"/>
                <a:ea typeface="Corbel"/>
                <a:cs typeface="Corbel"/>
                <a:sym typeface="Corbel"/>
              </a:rPr>
              <a:t>On October 2, 2000, NIST has selected </a:t>
            </a:r>
            <a:r>
              <a:rPr b="0" i="0" lang="en-US" sz="2400" u="none">
                <a:solidFill>
                  <a:srgbClr val="FF0000"/>
                </a:solidFill>
                <a:latin typeface="Corbel"/>
                <a:ea typeface="Corbel"/>
                <a:cs typeface="Corbel"/>
                <a:sym typeface="Corbel"/>
              </a:rPr>
              <a:t>Rijndael</a:t>
            </a:r>
            <a:r>
              <a:rPr b="0" i="0" lang="en-US" sz="2400" u="none">
                <a:solidFill>
                  <a:schemeClr val="dk1"/>
                </a:solidFill>
                <a:latin typeface="Corbel"/>
                <a:ea typeface="Corbel"/>
                <a:cs typeface="Corbel"/>
                <a:sym typeface="Corbel"/>
              </a:rPr>
              <a:t> to propose for the AES.</a:t>
            </a:r>
            <a:endParaRPr/>
          </a:p>
          <a:p>
            <a:pPr indent="-342900" lvl="1" marL="666750" marR="0" rtl="0" algn="l">
              <a:lnSpc>
                <a:spcPct val="90000"/>
              </a:lnSpc>
              <a:spcBef>
                <a:spcPts val="300"/>
              </a:spcBef>
              <a:spcAft>
                <a:spcPts val="0"/>
              </a:spcAft>
              <a:buClr>
                <a:srgbClr val="376092"/>
              </a:buClr>
              <a:buSzPts val="300"/>
              <a:buFont typeface="Noto Sans Symbols"/>
              <a:buChar char="⮚"/>
            </a:pPr>
            <a:r>
              <a:rPr b="0" i="0" lang="en-US" sz="2000" u="none" cap="none" strike="noStrike">
                <a:solidFill>
                  <a:schemeClr val="dk1"/>
                </a:solidFill>
                <a:latin typeface="Corbel"/>
                <a:ea typeface="Corbel"/>
                <a:cs typeface="Corbel"/>
                <a:sym typeface="Corbel"/>
              </a:rPr>
              <a:t>Pronounced like “Rain Doll” or “Rhine Doll”</a:t>
            </a:r>
            <a:endParaRPr/>
          </a:p>
          <a:p>
            <a:pPr indent="-342900" lvl="1" marL="666750" marR="0" rtl="0" algn="l">
              <a:lnSpc>
                <a:spcPct val="90000"/>
              </a:lnSpc>
              <a:spcBef>
                <a:spcPts val="300"/>
              </a:spcBef>
              <a:spcAft>
                <a:spcPts val="0"/>
              </a:spcAft>
              <a:buClr>
                <a:srgbClr val="376092"/>
              </a:buClr>
              <a:buSzPts val="300"/>
              <a:buFont typeface="Noto Sans Symbols"/>
              <a:buChar char="⮚"/>
            </a:pPr>
            <a:r>
              <a:rPr b="0" i="0" lang="en-US" sz="2000" u="none" cap="none" strike="noStrike">
                <a:solidFill>
                  <a:schemeClr val="dk1"/>
                </a:solidFill>
                <a:latin typeface="Corbel"/>
                <a:ea typeface="Corbel"/>
                <a:cs typeface="Corbel"/>
                <a:sym typeface="Corbel"/>
              </a:rPr>
              <a:t>Invented by Joan Daemen and Vincent Rijmen</a:t>
            </a:r>
            <a:endParaRPr/>
          </a:p>
        </p:txBody>
      </p:sp>
      <p:sp>
        <p:nvSpPr>
          <p:cNvPr id="727" name="Google Shape;727;p4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728" name="Google Shape;728;p48"/>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AES Features</a:t>
            </a:r>
            <a:endParaRPr/>
          </a:p>
        </p:txBody>
      </p:sp>
      <p:sp>
        <p:nvSpPr>
          <p:cNvPr id="734" name="Google Shape;734;p49"/>
          <p:cNvSpPr txBox="1"/>
          <p:nvPr>
            <p:ph idx="1" type="body"/>
          </p:nvPr>
        </p:nvSpPr>
        <p:spPr>
          <a:xfrm>
            <a:off x="581025" y="1770062"/>
            <a:ext cx="7989887" cy="440055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rgbClr val="376092"/>
              </a:buClr>
              <a:buSzPts val="2400"/>
              <a:buFont typeface="Noto Sans Symbols"/>
              <a:buChar char="⮚"/>
            </a:pPr>
            <a:r>
              <a:rPr b="0" i="0" lang="en-US" sz="2400" u="none">
                <a:solidFill>
                  <a:srgbClr val="000000"/>
                </a:solidFill>
                <a:latin typeface="Corbel"/>
                <a:ea typeface="Corbel"/>
                <a:cs typeface="Corbel"/>
                <a:sym typeface="Corbel"/>
              </a:rPr>
              <a:t>Designed to be efficient in both hardware and software across a variety of platforms.</a:t>
            </a:r>
            <a:endParaRPr/>
          </a:p>
          <a:p>
            <a:pPr indent="-342900" lvl="0" marL="342900" marR="0" rtl="0" algn="l">
              <a:lnSpc>
                <a:spcPct val="90000"/>
              </a:lnSpc>
              <a:spcBef>
                <a:spcPts val="700"/>
              </a:spcBef>
              <a:spcAft>
                <a:spcPts val="0"/>
              </a:spcAft>
              <a:buClr>
                <a:srgbClr val="376092"/>
              </a:buClr>
              <a:buSzPts val="2400"/>
              <a:buFont typeface="Noto Sans Symbols"/>
              <a:buChar char="⮚"/>
            </a:pPr>
            <a:r>
              <a:rPr b="0" i="0" lang="en-US" sz="2400" u="none">
                <a:solidFill>
                  <a:srgbClr val="000000"/>
                </a:solidFill>
                <a:latin typeface="Corbel"/>
                <a:ea typeface="Corbel"/>
                <a:cs typeface="Corbel"/>
                <a:sym typeface="Corbel"/>
              </a:rPr>
              <a:t>Not a Feistel Network</a:t>
            </a:r>
            <a:endParaRPr/>
          </a:p>
          <a:p>
            <a:pPr indent="-457200" lvl="1" marL="781050" marR="0" rtl="0" algn="l">
              <a:lnSpc>
                <a:spcPct val="90000"/>
              </a:lnSpc>
              <a:spcBef>
                <a:spcPts val="300"/>
              </a:spcBef>
              <a:spcAft>
                <a:spcPts val="0"/>
              </a:spcAft>
              <a:buClr>
                <a:srgbClr val="376092"/>
              </a:buClr>
              <a:buSzPts val="2800"/>
              <a:buFont typeface="Noto Sans Symbols"/>
              <a:buChar char="⮚"/>
            </a:pPr>
            <a:r>
              <a:rPr b="0" i="0" lang="en-US" sz="2800" u="none" cap="none" strike="noStrike">
                <a:solidFill>
                  <a:srgbClr val="1F49F9"/>
                </a:solidFill>
                <a:latin typeface="Corbel"/>
                <a:ea typeface="Corbel"/>
                <a:cs typeface="Corbel"/>
                <a:sym typeface="Corbel"/>
              </a:rPr>
              <a:t>Iterated block cipher (like DES)</a:t>
            </a:r>
            <a:endParaRPr/>
          </a:p>
          <a:p>
            <a:pPr indent="-457200" lvl="1" marL="781050" marR="0" rtl="0" algn="l">
              <a:lnSpc>
                <a:spcPct val="90000"/>
              </a:lnSpc>
              <a:spcBef>
                <a:spcPts val="300"/>
              </a:spcBef>
              <a:spcAft>
                <a:spcPts val="0"/>
              </a:spcAft>
              <a:buClr>
                <a:srgbClr val="376092"/>
              </a:buClr>
              <a:buSzPts val="2800"/>
              <a:buFont typeface="Noto Sans Symbols"/>
              <a:buChar char="⮚"/>
            </a:pPr>
            <a:r>
              <a:rPr b="0" i="0" lang="en-US" sz="2800" u="none" cap="none" strike="noStrike">
                <a:solidFill>
                  <a:srgbClr val="1F49F9"/>
                </a:solidFill>
                <a:latin typeface="Corbel"/>
                <a:ea typeface="Corbel"/>
                <a:cs typeface="Corbel"/>
                <a:sym typeface="Corbel"/>
              </a:rPr>
              <a:t>Not a Feistel cipher (unlike DES)</a:t>
            </a:r>
            <a:endParaRPr/>
          </a:p>
          <a:p>
            <a:pPr indent="-457200" lvl="1" marL="781050" marR="0" rtl="0" algn="l">
              <a:lnSpc>
                <a:spcPct val="90000"/>
              </a:lnSpc>
              <a:spcBef>
                <a:spcPts val="300"/>
              </a:spcBef>
              <a:spcAft>
                <a:spcPts val="0"/>
              </a:spcAft>
              <a:buClr>
                <a:schemeClr val="lt2"/>
              </a:buClr>
              <a:buSzPts val="3000"/>
              <a:buFont typeface="Noto Sans Symbols"/>
              <a:buChar char="⮚"/>
            </a:pPr>
            <a:r>
              <a:rPr b="0" i="0" lang="en-US" sz="3000" u="none" cap="none" strike="noStrike">
                <a:solidFill>
                  <a:srgbClr val="000000"/>
                </a:solidFill>
                <a:latin typeface="Corbel"/>
                <a:ea typeface="Corbel"/>
                <a:cs typeface="Corbel"/>
                <a:sym typeface="Corbel"/>
              </a:rPr>
              <a:t>“Secure forever” – Shamir</a:t>
            </a:r>
            <a:endParaRPr/>
          </a:p>
          <a:p>
            <a:pPr indent="0" lvl="0" marL="171450" marR="0" rtl="0" algn="l">
              <a:lnSpc>
                <a:spcPct val="90000"/>
              </a:lnSpc>
              <a:spcBef>
                <a:spcPts val="750"/>
              </a:spcBef>
              <a:spcAft>
                <a:spcPts val="0"/>
              </a:spcAft>
              <a:buClr>
                <a:schemeClr val="dk1"/>
              </a:buClr>
              <a:buSzPts val="3000"/>
              <a:buFont typeface="Arial"/>
              <a:buNone/>
            </a:pPr>
            <a:r>
              <a:t/>
            </a:r>
            <a:endParaRPr b="0" i="0" sz="3000" u="none" cap="none" strike="noStrike">
              <a:solidFill>
                <a:srgbClr val="000000"/>
              </a:solidFill>
              <a:latin typeface="Corbel"/>
              <a:ea typeface="Corbel"/>
              <a:cs typeface="Corbel"/>
              <a:sym typeface="Corbel"/>
            </a:endParaRPr>
          </a:p>
        </p:txBody>
      </p:sp>
      <p:sp>
        <p:nvSpPr>
          <p:cNvPr id="735" name="Google Shape;735;p4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736" name="Google Shape;736;p4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50"/>
          <p:cNvSpPr txBox="1"/>
          <p:nvPr>
            <p:ph type="title"/>
          </p:nvPr>
        </p:nvSpPr>
        <p:spPr>
          <a:xfrm>
            <a:off x="539750" y="566737"/>
            <a:ext cx="7989887" cy="94138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AES Overview</a:t>
            </a:r>
            <a:endParaRPr/>
          </a:p>
        </p:txBody>
      </p:sp>
      <p:sp>
        <p:nvSpPr>
          <p:cNvPr id="742" name="Google Shape;742;p50"/>
          <p:cNvSpPr txBox="1"/>
          <p:nvPr>
            <p:ph idx="1" type="body"/>
          </p:nvPr>
        </p:nvSpPr>
        <p:spPr>
          <a:xfrm>
            <a:off x="785812" y="1719262"/>
            <a:ext cx="7900987" cy="4567237"/>
          </a:xfrm>
          <a:prstGeom prst="rect">
            <a:avLst/>
          </a:prstGeom>
          <a:noFill/>
          <a:ln>
            <a:noFill/>
          </a:ln>
        </p:spPr>
        <p:txBody>
          <a:bodyPr anchorCtr="0" anchor="t" bIns="45700" lIns="91425" spcFirstLastPara="1" rIns="91425" wrap="square" tIns="45700">
            <a:noAutofit/>
          </a:bodyPr>
          <a:lstStyle/>
          <a:p>
            <a:pPr indent="-381000" lvl="0" marL="457200" marR="0" rtl="0" algn="l">
              <a:lnSpc>
                <a:spcPct val="90000"/>
              </a:lnSpc>
              <a:spcBef>
                <a:spcPts val="0"/>
              </a:spcBef>
              <a:spcAft>
                <a:spcPts val="0"/>
              </a:spcAft>
              <a:buSzPts val="2400"/>
              <a:buFont typeface="Corbel"/>
              <a:buChar char="•"/>
            </a:pPr>
            <a:r>
              <a:rPr b="1" i="0" lang="en-US" sz="2400" u="none">
                <a:solidFill>
                  <a:schemeClr val="accent2"/>
                </a:solidFill>
                <a:latin typeface="Corbel"/>
                <a:ea typeface="Corbel"/>
                <a:cs typeface="Corbel"/>
                <a:sym typeface="Corbel"/>
              </a:rPr>
              <a:t>Block size:</a:t>
            </a:r>
            <a:r>
              <a:rPr b="0" i="0" lang="en-US" sz="2400" u="none">
                <a:solidFill>
                  <a:schemeClr val="dk1"/>
                </a:solidFill>
                <a:latin typeface="Corbel"/>
                <a:ea typeface="Corbel"/>
                <a:cs typeface="Corbel"/>
                <a:sym typeface="Corbel"/>
              </a:rPr>
              <a:t> 128 bits (others in Rijndael)</a:t>
            </a:r>
            <a:endParaRPr/>
          </a:p>
          <a:p>
            <a:pPr indent="-381000" lvl="0" marL="457200" marR="0" rtl="0" algn="l">
              <a:lnSpc>
                <a:spcPct val="90000"/>
              </a:lnSpc>
              <a:spcBef>
                <a:spcPts val="0"/>
              </a:spcBef>
              <a:spcAft>
                <a:spcPts val="0"/>
              </a:spcAft>
              <a:buSzPts val="2400"/>
              <a:buFont typeface="Corbel"/>
              <a:buChar char="•"/>
            </a:pPr>
            <a:r>
              <a:rPr b="1" i="0" lang="en-US" sz="2400" u="none">
                <a:solidFill>
                  <a:schemeClr val="accent2"/>
                </a:solidFill>
                <a:latin typeface="Corbel"/>
                <a:ea typeface="Corbel"/>
                <a:cs typeface="Corbel"/>
                <a:sym typeface="Corbel"/>
              </a:rPr>
              <a:t>Key length:</a:t>
            </a:r>
            <a:r>
              <a:rPr b="0" i="0" lang="en-US" sz="2400" u="none">
                <a:solidFill>
                  <a:schemeClr val="dk1"/>
                </a:solidFill>
                <a:latin typeface="Corbel"/>
                <a:ea typeface="Corbel"/>
                <a:cs typeface="Corbel"/>
                <a:sym typeface="Corbel"/>
              </a:rPr>
              <a:t> 128, 192 or 256 bits (independent of block size in Rijndael)</a:t>
            </a:r>
            <a:endParaRPr/>
          </a:p>
          <a:p>
            <a:pPr indent="-381000" lvl="0" marL="457200" marR="0" rtl="0" algn="l">
              <a:lnSpc>
                <a:spcPct val="90000"/>
              </a:lnSpc>
              <a:spcBef>
                <a:spcPts val="0"/>
              </a:spcBef>
              <a:spcAft>
                <a:spcPts val="0"/>
              </a:spcAft>
              <a:buClr>
                <a:schemeClr val="dk1"/>
              </a:buClr>
              <a:buSzPts val="2400"/>
              <a:buFont typeface="Corbel"/>
              <a:buChar char="•"/>
            </a:pPr>
            <a:r>
              <a:rPr b="0" i="0" lang="en-US" sz="2400" u="none">
                <a:solidFill>
                  <a:schemeClr val="dk1"/>
                </a:solidFill>
                <a:latin typeface="Corbel"/>
                <a:ea typeface="Corbel"/>
                <a:cs typeface="Corbel"/>
                <a:sym typeface="Corbel"/>
              </a:rPr>
              <a:t>10 to 14 rounds (depends on key length)</a:t>
            </a:r>
            <a:endParaRPr/>
          </a:p>
          <a:p>
            <a:pPr indent="-381000" lvl="0" marL="457200" marR="0" rtl="0" algn="l">
              <a:lnSpc>
                <a:spcPct val="90000"/>
              </a:lnSpc>
              <a:spcBef>
                <a:spcPts val="0"/>
              </a:spcBef>
              <a:spcAft>
                <a:spcPts val="0"/>
              </a:spcAft>
              <a:buClr>
                <a:schemeClr val="dk1"/>
              </a:buClr>
              <a:buSzPts val="2400"/>
              <a:buFont typeface="Corbel"/>
              <a:buChar char="•"/>
            </a:pPr>
            <a:r>
              <a:rPr b="0" i="0" lang="en-US" sz="2400" u="none">
                <a:solidFill>
                  <a:schemeClr val="dk1"/>
                </a:solidFill>
                <a:latin typeface="Corbel"/>
                <a:ea typeface="Corbel"/>
                <a:cs typeface="Corbel"/>
                <a:sym typeface="Corbel"/>
              </a:rPr>
              <a:t>Each round uses 4 functions (3 “layers”)</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ByteSub (nonlinear layer)</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ShiftRow (linear mixing layer)</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MixColumn (nonlinear layer)</a:t>
            </a:r>
            <a:endParaRPr/>
          </a:p>
          <a:p>
            <a:pPr indent="-381000" lvl="1" marL="9144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AddRoundKey (key addition layer)</a:t>
            </a:r>
            <a:endParaRPr/>
          </a:p>
        </p:txBody>
      </p:sp>
      <p:sp>
        <p:nvSpPr>
          <p:cNvPr id="743" name="Google Shape;743;p5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744" name="Google Shape;744;p5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1"/>
          <p:cNvSpPr txBox="1"/>
          <p:nvPr>
            <p:ph type="title"/>
          </p:nvPr>
        </p:nvSpPr>
        <p:spPr>
          <a:xfrm>
            <a:off x="581025" y="687387"/>
            <a:ext cx="7989887" cy="7969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AES: Overview</a:t>
            </a:r>
            <a:endParaRPr/>
          </a:p>
        </p:txBody>
      </p:sp>
      <p:sp>
        <p:nvSpPr>
          <p:cNvPr id="750" name="Google Shape;750;p5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descr="E:\Uni\Cryptobook\grundlagen_krypto\graphics\rijndael_princ.png" id="751" name="Google Shape;751;p51"/>
          <p:cNvPicPr preferRelativeResize="0"/>
          <p:nvPr/>
        </p:nvPicPr>
        <p:blipFill rotWithShape="1">
          <a:blip r:embed="rId3">
            <a:alphaModFix/>
          </a:blip>
          <a:srcRect b="0" l="0" r="0" t="0"/>
          <a:stretch/>
        </p:blipFill>
        <p:spPr>
          <a:xfrm>
            <a:off x="3124200" y="1881187"/>
            <a:ext cx="2895600" cy="2411412"/>
          </a:xfrm>
          <a:prstGeom prst="rect">
            <a:avLst/>
          </a:prstGeom>
          <a:noFill/>
          <a:ln>
            <a:noFill/>
          </a:ln>
        </p:spPr>
      </p:pic>
      <p:graphicFrame>
        <p:nvGraphicFramePr>
          <p:cNvPr id="752" name="Google Shape;752;p51"/>
          <p:cNvGraphicFramePr/>
          <p:nvPr/>
        </p:nvGraphicFramePr>
        <p:xfrm>
          <a:off x="1524000" y="4889500"/>
          <a:ext cx="3000000" cy="3000000"/>
        </p:xfrm>
        <a:graphic>
          <a:graphicData uri="http://schemas.openxmlformats.org/drawingml/2006/table">
            <a:tbl>
              <a:tblPr>
                <a:noFill/>
                <a:tableStyleId>{544FB276-6C9D-4771-A9D3-37D8E1AA6F45}</a:tableStyleId>
              </a:tblPr>
              <a:tblGrid>
                <a:gridCol w="3048000"/>
                <a:gridCol w="3048000"/>
              </a:tblGrid>
              <a:tr h="369875">
                <a:tc>
                  <a:txBody>
                    <a:bodyPr/>
                    <a:lstStyle/>
                    <a:p>
                      <a:pPr indent="0" lvl="0" marL="0" marR="0" rtl="0" algn="ctr">
                        <a:lnSpc>
                          <a:spcPct val="100000"/>
                        </a:lnSpc>
                        <a:spcBef>
                          <a:spcPts val="0"/>
                        </a:spcBef>
                        <a:spcAft>
                          <a:spcPts val="0"/>
                        </a:spcAft>
                        <a:buClr>
                          <a:srgbClr val="FFFFFF"/>
                        </a:buClr>
                        <a:buSzPts val="1600"/>
                        <a:buFont typeface="Calibri"/>
                        <a:buNone/>
                      </a:pPr>
                      <a:r>
                        <a:rPr b="1" i="0" lang="en-US" sz="1600" u="none">
                          <a:solidFill>
                            <a:srgbClr val="FFFFFF"/>
                          </a:solidFill>
                          <a:latin typeface="Calibri"/>
                          <a:ea typeface="Calibri"/>
                          <a:cs typeface="Calibri"/>
                          <a:sym typeface="Calibri"/>
                        </a:rPr>
                        <a:t>Key length (bits)</a:t>
                      </a:r>
                      <a:endParaRPr/>
                    </a:p>
                  </a:txBody>
                  <a:tcPr marT="45700" marB="45700" marR="91450" marL="91450">
                    <a:lnL cap="flat" cmpd="sng" w="12700">
                      <a:solidFill>
                        <a:schemeClr val="accent1"/>
                      </a:solidFill>
                      <a:prstDash val="solid"/>
                      <a:round/>
                      <a:headEnd len="sm" w="sm" type="none"/>
                      <a:tailEnd len="sm" w="sm" type="none"/>
                    </a:lnL>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600"/>
                        <a:buFont typeface="Calibri"/>
                        <a:buNone/>
                      </a:pPr>
                      <a:r>
                        <a:rPr b="1" i="0" lang="en-US" sz="1600" u="none">
                          <a:solidFill>
                            <a:srgbClr val="FFFFFF"/>
                          </a:solidFill>
                          <a:latin typeface="Calibri"/>
                          <a:ea typeface="Calibri"/>
                          <a:cs typeface="Calibri"/>
                          <a:sym typeface="Calibri"/>
                        </a:rPr>
                        <a:t>Number of rounds</a:t>
                      </a:r>
                      <a:endParaRPr/>
                    </a:p>
                  </a:txBody>
                  <a:tcPr marT="45700" marB="45700" marR="91450" marL="91450">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solidFill>
                  </a:tcPr>
                </a:tc>
              </a:tr>
              <a:tr h="371475">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a:solidFill>
                            <a:srgbClr val="000000"/>
                          </a:solidFill>
                          <a:latin typeface="Calibri"/>
                          <a:ea typeface="Calibri"/>
                          <a:cs typeface="Calibri"/>
                          <a:sym typeface="Calibri"/>
                        </a:rPr>
                        <a:t>128</a:t>
                      </a:r>
                      <a:endParaRPr/>
                    </a:p>
                  </a:txBody>
                  <a:tcPr marT="45700" marB="45700" marR="91450" marL="91450">
                    <a:lnL cap="flat" cmpd="sng" w="12700">
                      <a:solidFill>
                        <a:schemeClr val="accent1"/>
                      </a:solidFill>
                      <a:prstDash val="solid"/>
                      <a:round/>
                      <a:headEnd len="sm" w="sm" type="none"/>
                      <a:tailEnd len="sm" w="sm" type="none"/>
                    </a:lnL>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E9EBF5"/>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a:solidFill>
                            <a:srgbClr val="000000"/>
                          </a:solidFill>
                          <a:latin typeface="Calibri"/>
                          <a:ea typeface="Calibri"/>
                          <a:cs typeface="Calibri"/>
                          <a:sym typeface="Calibri"/>
                        </a:rPr>
                        <a:t>10</a:t>
                      </a:r>
                      <a:endParaRPr/>
                    </a:p>
                  </a:txBody>
                  <a:tcPr marT="45700" marB="45700" marR="91450" marL="91450">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E9EBF5"/>
                    </a:solidFill>
                  </a:tcPr>
                </a:tc>
              </a:tr>
              <a:tr h="369875">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a:solidFill>
                            <a:srgbClr val="000000"/>
                          </a:solidFill>
                          <a:latin typeface="Calibri"/>
                          <a:ea typeface="Calibri"/>
                          <a:cs typeface="Calibri"/>
                          <a:sym typeface="Calibri"/>
                        </a:rPr>
                        <a:t>192</a:t>
                      </a:r>
                      <a:endParaRPr/>
                    </a:p>
                  </a:txBody>
                  <a:tcPr marT="45700" marB="45700" marR="91450" marL="91450">
                    <a:lnL cap="flat" cmpd="sng" w="12700">
                      <a:solidFill>
                        <a:schemeClr val="accent1"/>
                      </a:solidFill>
                      <a:prstDash val="solid"/>
                      <a:round/>
                      <a:headEnd len="sm" w="sm" type="none"/>
                      <a:tailEnd len="sm" w="sm" type="none"/>
                    </a:lnL>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a:solidFill>
                            <a:srgbClr val="000000"/>
                          </a:solidFill>
                          <a:latin typeface="Calibri"/>
                          <a:ea typeface="Calibri"/>
                          <a:cs typeface="Calibri"/>
                          <a:sym typeface="Calibri"/>
                        </a:rPr>
                        <a:t>12</a:t>
                      </a:r>
                      <a:endParaRPr/>
                    </a:p>
                  </a:txBody>
                  <a:tcPr marT="45700" marB="45700" marR="91450" marL="91450">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lt1"/>
                    </a:solidFill>
                  </a:tcPr>
                </a:tc>
              </a:tr>
              <a:tr h="371475">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a:solidFill>
                            <a:srgbClr val="000000"/>
                          </a:solidFill>
                          <a:latin typeface="Calibri"/>
                          <a:ea typeface="Calibri"/>
                          <a:cs typeface="Calibri"/>
                          <a:sym typeface="Calibri"/>
                        </a:rPr>
                        <a:t>256</a:t>
                      </a:r>
                      <a:endParaRPr/>
                    </a:p>
                  </a:txBody>
                  <a:tcPr marT="45700" marB="45700" marR="91450" marL="91450">
                    <a:lnL cap="flat" cmpd="sng" w="12700">
                      <a:solidFill>
                        <a:schemeClr val="accent1"/>
                      </a:solidFill>
                      <a:prstDash val="solid"/>
                      <a:round/>
                      <a:headEnd len="sm" w="sm" type="none"/>
                      <a:tailEnd len="sm" w="sm" type="none"/>
                    </a:lnL>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E9EBF5"/>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a:solidFill>
                            <a:srgbClr val="000000"/>
                          </a:solidFill>
                          <a:latin typeface="Calibri"/>
                          <a:ea typeface="Calibri"/>
                          <a:cs typeface="Calibri"/>
                          <a:sym typeface="Calibri"/>
                        </a:rPr>
                        <a:t>14</a:t>
                      </a:r>
                      <a:endParaRPr/>
                    </a:p>
                  </a:txBody>
                  <a:tcPr marT="45700" marB="45700" marR="91450" marL="91450">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E9EBF5"/>
                    </a:solidFill>
                  </a:tcPr>
                </a:tc>
              </a:tr>
            </a:tbl>
          </a:graphicData>
        </a:graphic>
      </p:graphicFrame>
      <p:sp>
        <p:nvSpPr>
          <p:cNvPr id="753" name="Google Shape;753;p51"/>
          <p:cNvSpPr txBox="1"/>
          <p:nvPr/>
        </p:nvSpPr>
        <p:spPr>
          <a:xfrm>
            <a:off x="1512887" y="4432300"/>
            <a:ext cx="588645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The number of rounds depends on the chosen key length:</a:t>
            </a:r>
            <a:endParaRPr/>
          </a:p>
        </p:txBody>
      </p:sp>
      <p:sp>
        <p:nvSpPr>
          <p:cNvPr id="754" name="Google Shape;754;p5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52"/>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AES: Overview</a:t>
            </a:r>
            <a:endParaRPr/>
          </a:p>
        </p:txBody>
      </p:sp>
      <p:sp>
        <p:nvSpPr>
          <p:cNvPr id="760" name="Google Shape;760;p5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descr="rijndael_flow.png" id="761" name="Google Shape;761;p52"/>
          <p:cNvPicPr preferRelativeResize="0"/>
          <p:nvPr/>
        </p:nvPicPr>
        <p:blipFill rotWithShape="1">
          <a:blip r:embed="rId3">
            <a:alphaModFix/>
          </a:blip>
          <a:srcRect b="59010" l="0" r="0" t="0"/>
          <a:stretch/>
        </p:blipFill>
        <p:spPr>
          <a:xfrm>
            <a:off x="909637" y="2203450"/>
            <a:ext cx="7272337" cy="4341812"/>
          </a:xfrm>
          <a:prstGeom prst="rect">
            <a:avLst/>
          </a:prstGeom>
          <a:noFill/>
          <a:ln>
            <a:noFill/>
          </a:ln>
        </p:spPr>
      </p:pic>
      <p:sp>
        <p:nvSpPr>
          <p:cNvPr id="762" name="Google Shape;762;p5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5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descr="rijndael_flow.png" id="768" name="Google Shape;768;p53"/>
          <p:cNvPicPr preferRelativeResize="0"/>
          <p:nvPr/>
        </p:nvPicPr>
        <p:blipFill rotWithShape="1">
          <a:blip r:embed="rId3">
            <a:alphaModFix/>
          </a:blip>
          <a:srcRect b="0" l="0" r="0" t="0"/>
          <a:stretch/>
        </p:blipFill>
        <p:spPr>
          <a:xfrm>
            <a:off x="1692275" y="76200"/>
            <a:ext cx="4651375" cy="6775450"/>
          </a:xfrm>
          <a:prstGeom prst="rect">
            <a:avLst/>
          </a:prstGeom>
          <a:noFill/>
          <a:ln>
            <a:noFill/>
          </a:ln>
        </p:spPr>
      </p:pic>
      <p:sp>
        <p:nvSpPr>
          <p:cNvPr id="769" name="Google Shape;769;p5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54"/>
          <p:cNvSpPr txBox="1"/>
          <p:nvPr>
            <p:ph type="title"/>
          </p:nvPr>
        </p:nvSpPr>
        <p:spPr>
          <a:xfrm>
            <a:off x="581025" y="687387"/>
            <a:ext cx="7989887" cy="804862"/>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Internal Structure of AES</a:t>
            </a:r>
            <a:endParaRPr/>
          </a:p>
        </p:txBody>
      </p:sp>
      <p:sp>
        <p:nvSpPr>
          <p:cNvPr id="775" name="Google Shape;775;p54"/>
          <p:cNvSpPr txBox="1"/>
          <p:nvPr>
            <p:ph idx="1" type="body"/>
          </p:nvPr>
        </p:nvSpPr>
        <p:spPr>
          <a:xfrm>
            <a:off x="595312" y="2195512"/>
            <a:ext cx="7989887" cy="3681412"/>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AES is a byte-oriented cipher</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The state </a:t>
            </a:r>
            <a:r>
              <a:rPr b="0" i="1" lang="en-US" sz="2400" u="none">
                <a:solidFill>
                  <a:schemeClr val="dk1"/>
                </a:solidFill>
                <a:latin typeface="Corbel"/>
                <a:ea typeface="Corbel"/>
                <a:cs typeface="Corbel"/>
                <a:sym typeface="Corbel"/>
              </a:rPr>
              <a:t>A</a:t>
            </a:r>
            <a:r>
              <a:rPr b="0" i="0" lang="en-US" sz="2400" u="none">
                <a:solidFill>
                  <a:schemeClr val="dk1"/>
                </a:solidFill>
                <a:latin typeface="Corbel"/>
                <a:ea typeface="Corbel"/>
                <a:cs typeface="Corbel"/>
                <a:sym typeface="Corbel"/>
              </a:rPr>
              <a:t> (i.e., the 128-bit data path) can be arranged in a 4x4 matrix:</a:t>
            </a:r>
            <a:endParaRPr/>
          </a:p>
          <a:p>
            <a:pPr indent="-152400" lvl="0" marL="171450" marR="0" rtl="0" algn="l">
              <a:lnSpc>
                <a:spcPct val="90000"/>
              </a:lnSpc>
              <a:spcBef>
                <a:spcPts val="300"/>
              </a:spcBef>
              <a:spcAft>
                <a:spcPts val="0"/>
              </a:spcAft>
              <a:buClr>
                <a:srgbClr val="376092"/>
              </a:buClr>
              <a:buSzPts val="300"/>
              <a:buFont typeface="Arial"/>
              <a:buNone/>
            </a:pPr>
            <a:r>
              <a:t/>
            </a:r>
            <a:endParaRPr b="0" i="0" sz="2400" u="none">
              <a:solidFill>
                <a:schemeClr val="dk1"/>
              </a:solidFill>
              <a:latin typeface="Corbel"/>
              <a:ea typeface="Corbel"/>
              <a:cs typeface="Corbel"/>
              <a:sym typeface="Corbel"/>
            </a:endParaRPr>
          </a:p>
          <a:p>
            <a:pPr indent="-152400" lvl="0" marL="171450" marR="0" rtl="0" algn="l">
              <a:lnSpc>
                <a:spcPct val="90000"/>
              </a:lnSpc>
              <a:spcBef>
                <a:spcPts val="300"/>
              </a:spcBef>
              <a:spcAft>
                <a:spcPts val="0"/>
              </a:spcAft>
              <a:buClr>
                <a:srgbClr val="376092"/>
              </a:buClr>
              <a:buSzPts val="300"/>
              <a:buFont typeface="Arial"/>
              <a:buNone/>
            </a:pPr>
            <a:r>
              <a:t/>
            </a:r>
            <a:endParaRPr b="0" i="0" sz="2400" u="none">
              <a:solidFill>
                <a:schemeClr val="dk1"/>
              </a:solidFill>
              <a:latin typeface="Corbel"/>
              <a:ea typeface="Corbel"/>
              <a:cs typeface="Corbel"/>
              <a:sym typeface="Corbel"/>
            </a:endParaRPr>
          </a:p>
          <a:p>
            <a:pPr indent="-152400" lvl="0" marL="171450" marR="0" rtl="0" algn="l">
              <a:lnSpc>
                <a:spcPct val="90000"/>
              </a:lnSpc>
              <a:spcBef>
                <a:spcPts val="300"/>
              </a:spcBef>
              <a:spcAft>
                <a:spcPts val="0"/>
              </a:spcAft>
              <a:buClr>
                <a:srgbClr val="376092"/>
              </a:buClr>
              <a:buSzPts val="300"/>
              <a:buFont typeface="Arial"/>
              <a:buNone/>
            </a:pPr>
            <a:r>
              <a:t/>
            </a:r>
            <a:endParaRPr b="0" i="0" sz="2400" u="none">
              <a:solidFill>
                <a:schemeClr val="dk1"/>
              </a:solidFill>
              <a:latin typeface="Corbel"/>
              <a:ea typeface="Corbel"/>
              <a:cs typeface="Corbel"/>
              <a:sym typeface="Corbel"/>
            </a:endParaRPr>
          </a:p>
          <a:p>
            <a:pPr indent="-152400" lvl="0" marL="171450" marR="0" rtl="0" algn="l">
              <a:lnSpc>
                <a:spcPct val="90000"/>
              </a:lnSpc>
              <a:spcBef>
                <a:spcPts val="300"/>
              </a:spcBef>
              <a:spcAft>
                <a:spcPts val="0"/>
              </a:spcAft>
              <a:buClr>
                <a:srgbClr val="376092"/>
              </a:buClr>
              <a:buSzPts val="300"/>
              <a:buFont typeface="Arial"/>
              <a:buNone/>
            </a:pPr>
            <a:r>
              <a:t/>
            </a:r>
            <a:endParaRPr b="0" i="0" sz="2400" u="none">
              <a:solidFill>
                <a:schemeClr val="dk1"/>
              </a:solidFill>
              <a:latin typeface="Corbel"/>
              <a:ea typeface="Corbel"/>
              <a:cs typeface="Corbel"/>
              <a:sym typeface="Corbel"/>
            </a:endParaRPr>
          </a:p>
          <a:p>
            <a:pPr indent="-152400" lvl="0" marL="171450" marR="0" rtl="0" algn="l">
              <a:lnSpc>
                <a:spcPct val="90000"/>
              </a:lnSpc>
              <a:spcBef>
                <a:spcPts val="300"/>
              </a:spcBef>
              <a:spcAft>
                <a:spcPts val="0"/>
              </a:spcAft>
              <a:buClr>
                <a:srgbClr val="376092"/>
              </a:buClr>
              <a:buSzPts val="300"/>
              <a:buFont typeface="Arial"/>
              <a:buNone/>
            </a:pPr>
            <a:r>
              <a:t/>
            </a:r>
            <a:endParaRPr b="0" i="0" sz="2400" u="none">
              <a:solidFill>
                <a:schemeClr val="dk1"/>
              </a:solidFill>
              <a:latin typeface="Corbel"/>
              <a:ea typeface="Corbel"/>
              <a:cs typeface="Corbel"/>
              <a:sym typeface="Corbel"/>
            </a:endParaRPr>
          </a:p>
          <a:p>
            <a:pPr indent="-171450" lvl="0" marL="171450" marR="0" rtl="0" algn="l">
              <a:lnSpc>
                <a:spcPct val="90000"/>
              </a:lnSpc>
              <a:spcBef>
                <a:spcPts val="300"/>
              </a:spcBef>
              <a:spcAft>
                <a:spcPts val="0"/>
              </a:spcAft>
              <a:buClr>
                <a:schemeClr val="dk1"/>
              </a:buClr>
              <a:buSzPts val="2400"/>
              <a:buFont typeface="Arial"/>
              <a:buNone/>
            </a:pPr>
            <a:r>
              <a:rPr b="0" i="0" lang="en-US" sz="2400" u="none">
                <a:solidFill>
                  <a:schemeClr val="dk1"/>
                </a:solidFill>
                <a:latin typeface="Corbel"/>
                <a:ea typeface="Corbel"/>
                <a:cs typeface="Corbel"/>
                <a:sym typeface="Corbel"/>
              </a:rPr>
              <a:t>	</a:t>
            </a:r>
            <a:endParaRPr b="0" i="0" sz="2400" u="none">
              <a:solidFill>
                <a:schemeClr val="dk1"/>
              </a:solidFill>
              <a:latin typeface="Corbel"/>
              <a:ea typeface="Corbel"/>
              <a:cs typeface="Corbel"/>
              <a:sym typeface="Corbel"/>
            </a:endParaRPr>
          </a:p>
          <a:p>
            <a:pPr indent="-171450" lvl="0" marL="171450" marR="0" rtl="0" algn="l">
              <a:lnSpc>
                <a:spcPct val="90000"/>
              </a:lnSpc>
              <a:spcBef>
                <a:spcPts val="300"/>
              </a:spcBef>
              <a:spcAft>
                <a:spcPts val="0"/>
              </a:spcAft>
              <a:buClr>
                <a:schemeClr val="dk1"/>
              </a:buClr>
              <a:buSzPts val="2400"/>
              <a:buFont typeface="Arial"/>
              <a:buNone/>
            </a:pPr>
            <a:r>
              <a:t/>
            </a:r>
            <a:endParaRPr sz="2400">
              <a:latin typeface="Corbel"/>
              <a:ea typeface="Corbel"/>
              <a:cs typeface="Corbel"/>
              <a:sym typeface="Corbel"/>
            </a:endParaRPr>
          </a:p>
          <a:p>
            <a:pPr indent="-171450" lvl="0" marL="171450" marR="0" rtl="0" algn="l">
              <a:lnSpc>
                <a:spcPct val="90000"/>
              </a:lnSpc>
              <a:spcBef>
                <a:spcPts val="300"/>
              </a:spcBef>
              <a:spcAft>
                <a:spcPts val="0"/>
              </a:spcAft>
              <a:buClr>
                <a:schemeClr val="dk1"/>
              </a:buClr>
              <a:buSzPts val="2400"/>
              <a:buFont typeface="Arial"/>
              <a:buNone/>
            </a:pPr>
            <a:r>
              <a:rPr b="0" i="0" lang="en-US" sz="2400" u="none">
                <a:solidFill>
                  <a:schemeClr val="dk1"/>
                </a:solidFill>
                <a:latin typeface="Corbel"/>
                <a:ea typeface="Corbel"/>
                <a:cs typeface="Corbel"/>
                <a:sym typeface="Corbel"/>
              </a:rPr>
              <a:t>with </a:t>
            </a:r>
            <a:r>
              <a:rPr b="0" i="1" lang="en-US" sz="2400" u="none">
                <a:solidFill>
                  <a:schemeClr val="dk1"/>
                </a:solidFill>
                <a:latin typeface="Corbel"/>
                <a:ea typeface="Corbel"/>
                <a:cs typeface="Corbel"/>
                <a:sym typeface="Corbel"/>
              </a:rPr>
              <a:t>A</a:t>
            </a:r>
            <a:r>
              <a:rPr b="0" baseline="-25000" i="0" lang="en-US" sz="2400" u="none">
                <a:solidFill>
                  <a:schemeClr val="dk1"/>
                </a:solidFill>
                <a:latin typeface="Corbel"/>
                <a:ea typeface="Corbel"/>
                <a:cs typeface="Corbel"/>
                <a:sym typeface="Corbel"/>
              </a:rPr>
              <a:t>0</a:t>
            </a:r>
            <a:r>
              <a:rPr b="0" i="1" lang="en-US" sz="2400" u="none">
                <a:solidFill>
                  <a:schemeClr val="dk1"/>
                </a:solidFill>
                <a:latin typeface="Corbel"/>
                <a:ea typeface="Corbel"/>
                <a:cs typeface="Corbel"/>
                <a:sym typeface="Corbel"/>
              </a:rPr>
              <a:t>,…, A</a:t>
            </a:r>
            <a:r>
              <a:rPr b="0" baseline="-25000" i="1" lang="en-US" sz="2400" u="none">
                <a:solidFill>
                  <a:schemeClr val="dk1"/>
                </a:solidFill>
                <a:latin typeface="Corbel"/>
                <a:ea typeface="Corbel"/>
                <a:cs typeface="Corbel"/>
                <a:sym typeface="Corbel"/>
              </a:rPr>
              <a:t>15</a:t>
            </a:r>
            <a:r>
              <a:rPr b="0" i="1" lang="en-US" sz="2400" u="none">
                <a:solidFill>
                  <a:schemeClr val="dk1"/>
                </a:solidFill>
                <a:latin typeface="Corbel"/>
                <a:ea typeface="Corbel"/>
                <a:cs typeface="Corbel"/>
                <a:sym typeface="Corbel"/>
              </a:rPr>
              <a:t> </a:t>
            </a:r>
            <a:r>
              <a:rPr b="0" i="0" lang="en-US" sz="2400" u="none">
                <a:solidFill>
                  <a:schemeClr val="dk1"/>
                </a:solidFill>
                <a:latin typeface="Corbel"/>
                <a:ea typeface="Corbel"/>
                <a:cs typeface="Corbel"/>
                <a:sym typeface="Corbel"/>
              </a:rPr>
              <a:t>denoting the 16-byte input of AES </a:t>
            </a:r>
            <a:endParaRPr/>
          </a:p>
        </p:txBody>
      </p:sp>
      <p:sp>
        <p:nvSpPr>
          <p:cNvPr id="776" name="Google Shape;776;p5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graphicFrame>
        <p:nvGraphicFramePr>
          <p:cNvPr id="777" name="Google Shape;777;p54"/>
          <p:cNvGraphicFramePr/>
          <p:nvPr/>
        </p:nvGraphicFramePr>
        <p:xfrm>
          <a:off x="1619250" y="3492500"/>
          <a:ext cx="3000000" cy="3000000"/>
        </p:xfrm>
        <a:graphic>
          <a:graphicData uri="http://schemas.openxmlformats.org/drawingml/2006/table">
            <a:tbl>
              <a:tblPr>
                <a:noFill/>
                <a:tableStyleId>{544FB276-6C9D-4771-A9D3-37D8E1AA6F45}</a:tableStyleId>
              </a:tblPr>
              <a:tblGrid>
                <a:gridCol w="801675"/>
                <a:gridCol w="803275"/>
                <a:gridCol w="801675"/>
                <a:gridCol w="803275"/>
              </a:tblGrid>
              <a:tr h="520700">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0</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4</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8</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12</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9100">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1</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5</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9</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13</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20700">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2</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6</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10</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14</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20700">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3</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7</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11</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0" i="1" lang="en-US" sz="2000" u="none">
                          <a:solidFill>
                            <a:schemeClr val="dk1"/>
                          </a:solidFill>
                          <a:latin typeface="Calibri"/>
                          <a:ea typeface="Calibri"/>
                          <a:cs typeface="Calibri"/>
                          <a:sym typeface="Calibri"/>
                        </a:rPr>
                        <a:t>A</a:t>
                      </a:r>
                      <a:r>
                        <a:rPr b="0" baseline="-25000" i="0" lang="en-US" sz="2400" u="none">
                          <a:solidFill>
                            <a:schemeClr val="dk1"/>
                          </a:solidFill>
                          <a:latin typeface="Calibri"/>
                          <a:ea typeface="Calibri"/>
                          <a:cs typeface="Calibri"/>
                          <a:sym typeface="Calibri"/>
                        </a:rPr>
                        <a:t>15</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778" name="Google Shape;778;p54"/>
          <p:cNvSpPr txBox="1"/>
          <p:nvPr/>
        </p:nvSpPr>
        <p:spPr>
          <a:xfrm>
            <a:off x="5238750" y="3609975"/>
            <a:ext cx="4572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i="1" lang="en-US" sz="2000" u="none">
                <a:solidFill>
                  <a:schemeClr val="dk1"/>
                </a:solidFill>
                <a:latin typeface="Calibri"/>
                <a:ea typeface="Calibri"/>
                <a:cs typeface="Calibri"/>
                <a:sym typeface="Calibri"/>
              </a:rPr>
              <a:t>A</a:t>
            </a:r>
            <a:r>
              <a:rPr baseline="-25000" i="0" lang="en-US" sz="2000" u="none">
                <a:solidFill>
                  <a:schemeClr val="dk1"/>
                </a:solidFill>
                <a:latin typeface="Calibri"/>
                <a:ea typeface="Calibri"/>
                <a:cs typeface="Calibri"/>
                <a:sym typeface="Calibri"/>
              </a:rPr>
              <a:t>0</a:t>
            </a:r>
            <a:r>
              <a:rPr i="1" lang="en-US" sz="2000" u="none">
                <a:solidFill>
                  <a:schemeClr val="dk1"/>
                </a:solidFill>
                <a:latin typeface="Calibri"/>
                <a:ea typeface="Calibri"/>
                <a:cs typeface="Calibri"/>
                <a:sym typeface="Calibri"/>
              </a:rPr>
              <a:t>,…, A</a:t>
            </a:r>
            <a:r>
              <a:rPr baseline="-25000" i="1" lang="en-US" sz="2000" u="none">
                <a:solidFill>
                  <a:schemeClr val="dk1"/>
                </a:solidFill>
                <a:latin typeface="Calibri"/>
                <a:ea typeface="Calibri"/>
                <a:cs typeface="Calibri"/>
                <a:sym typeface="Calibri"/>
              </a:rPr>
              <a:t>15</a:t>
            </a:r>
            <a:r>
              <a:rPr i="1" lang="en-US" sz="2000" u="none">
                <a:solidFill>
                  <a:schemeClr val="dk1"/>
                </a:solidFill>
                <a:latin typeface="Calibri"/>
                <a:ea typeface="Calibri"/>
                <a:cs typeface="Calibri"/>
                <a:sym typeface="Calibri"/>
              </a:rPr>
              <a:t> </a:t>
            </a:r>
            <a:r>
              <a:rPr i="0" lang="en-US" sz="2000" u="none">
                <a:solidFill>
                  <a:schemeClr val="dk1"/>
                </a:solidFill>
                <a:latin typeface="Calibri"/>
                <a:ea typeface="Calibri"/>
                <a:cs typeface="Calibri"/>
                <a:sym typeface="Calibri"/>
              </a:rPr>
              <a:t>Contain HEX number.</a:t>
            </a:r>
            <a:endParaRPr sz="1600">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Gill Sans"/>
              <a:buNone/>
            </a:pPr>
            <a:r>
              <a:rPr i="1" lang="en-US" sz="2000" u="none">
                <a:solidFill>
                  <a:schemeClr val="dk1"/>
                </a:solidFill>
                <a:latin typeface="Calibri"/>
                <a:ea typeface="Calibri"/>
                <a:cs typeface="Calibri"/>
                <a:sym typeface="Calibri"/>
              </a:rPr>
              <a:t>For example: A</a:t>
            </a:r>
            <a:r>
              <a:rPr baseline="-25000" i="0" lang="en-US" sz="2000" u="none">
                <a:solidFill>
                  <a:schemeClr val="dk1"/>
                </a:solidFill>
                <a:latin typeface="Calibri"/>
                <a:ea typeface="Calibri"/>
                <a:cs typeface="Calibri"/>
                <a:sym typeface="Calibri"/>
              </a:rPr>
              <a:t>0</a:t>
            </a:r>
            <a:r>
              <a:rPr i="1" lang="en-US" sz="2000" u="none">
                <a:solidFill>
                  <a:schemeClr val="dk1"/>
                </a:solidFill>
                <a:latin typeface="Calibri"/>
                <a:ea typeface="Calibri"/>
                <a:cs typeface="Calibri"/>
                <a:sym typeface="Calibri"/>
              </a:rPr>
              <a:t>=C2, A</a:t>
            </a:r>
            <a:r>
              <a:rPr baseline="-25000" i="1" lang="en-US" sz="2000" u="none">
                <a:solidFill>
                  <a:schemeClr val="dk1"/>
                </a:solidFill>
                <a:latin typeface="Calibri"/>
                <a:ea typeface="Calibri"/>
                <a:cs typeface="Calibri"/>
                <a:sym typeface="Calibri"/>
              </a:rPr>
              <a:t>2</a:t>
            </a:r>
            <a:r>
              <a:rPr i="1" lang="en-US" sz="2000" u="none">
                <a:solidFill>
                  <a:schemeClr val="dk1"/>
                </a:solidFill>
                <a:latin typeface="Calibri"/>
                <a:ea typeface="Calibri"/>
                <a:cs typeface="Calibri"/>
                <a:sym typeface="Calibri"/>
              </a:rPr>
              <a:t>=EA ...  </a:t>
            </a:r>
            <a:endParaRPr sz="1600">
              <a:latin typeface="Calibri"/>
              <a:ea typeface="Calibri"/>
              <a:cs typeface="Calibri"/>
              <a:sym typeface="Calibri"/>
            </a:endParaRPr>
          </a:p>
          <a:p>
            <a:pPr indent="0" lvl="0" marL="0" marR="0" rtl="0" algn="l">
              <a:lnSpc>
                <a:spcPct val="100000"/>
              </a:lnSpc>
              <a:spcBef>
                <a:spcPts val="0"/>
              </a:spcBef>
              <a:spcAft>
                <a:spcPts val="0"/>
              </a:spcAft>
              <a:buNone/>
            </a:pPr>
            <a:r>
              <a:t/>
            </a:r>
            <a:endParaRPr i="1" sz="2000" u="none">
              <a:solidFill>
                <a:schemeClr val="dk1"/>
              </a:solidFill>
              <a:latin typeface="Calibri"/>
              <a:ea typeface="Calibri"/>
              <a:cs typeface="Calibri"/>
              <a:sym typeface="Calibri"/>
            </a:endParaRPr>
          </a:p>
        </p:txBody>
      </p:sp>
      <p:sp>
        <p:nvSpPr>
          <p:cNvPr id="779" name="Google Shape;779;p54"/>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55"/>
          <p:cNvSpPr txBox="1"/>
          <p:nvPr>
            <p:ph type="title"/>
          </p:nvPr>
        </p:nvSpPr>
        <p:spPr>
          <a:xfrm>
            <a:off x="581025" y="342901"/>
            <a:ext cx="7989900" cy="8541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Corbel"/>
              <a:buNone/>
            </a:pPr>
            <a:r>
              <a:rPr b="0" i="0" lang="en-US" sz="3600" u="none">
                <a:latin typeface="Corbel"/>
                <a:ea typeface="Corbel"/>
                <a:cs typeface="Corbel"/>
                <a:sym typeface="Corbel"/>
              </a:rPr>
              <a:t>Internal Structure of AES</a:t>
            </a:r>
            <a:endParaRPr/>
          </a:p>
        </p:txBody>
      </p:sp>
      <p:pic>
        <p:nvPicPr>
          <p:cNvPr descr="aes_round.png" id="785" name="Google Shape;785;p55"/>
          <p:cNvPicPr preferRelativeResize="0"/>
          <p:nvPr>
            <p:ph idx="1" type="body"/>
          </p:nvPr>
        </p:nvPicPr>
        <p:blipFill rotWithShape="1">
          <a:blip r:embed="rId3">
            <a:alphaModFix/>
          </a:blip>
          <a:srcRect b="0" l="0" r="0" t="0"/>
          <a:stretch/>
        </p:blipFill>
        <p:spPr>
          <a:xfrm>
            <a:off x="1068387" y="1514475"/>
            <a:ext cx="6877200" cy="5281500"/>
          </a:xfrm>
          <a:prstGeom prst="rect">
            <a:avLst/>
          </a:prstGeom>
          <a:noFill/>
          <a:ln>
            <a:noFill/>
          </a:ln>
        </p:spPr>
      </p:pic>
      <p:sp>
        <p:nvSpPr>
          <p:cNvPr id="786" name="Google Shape;786;p55"/>
          <p:cNvSpPr txBox="1"/>
          <p:nvPr/>
        </p:nvSpPr>
        <p:spPr>
          <a:xfrm>
            <a:off x="5559425" y="6376987"/>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94073"/>
              </a:buClr>
              <a:buSzPts val="900"/>
              <a:buFont typeface="Arial"/>
              <a:buNone/>
            </a:pPr>
            <a:fld id="{00000000-1234-1234-1234-123412341234}" type="slidenum">
              <a:rPr b="0" i="0" lang="en-US" sz="900" u="none">
                <a:solidFill>
                  <a:srgbClr val="394073"/>
                </a:solidFill>
                <a:latin typeface="Arial"/>
                <a:ea typeface="Arial"/>
                <a:cs typeface="Arial"/>
                <a:sym typeface="Arial"/>
              </a:rPr>
              <a:t>‹#›</a:t>
            </a:fld>
            <a:r>
              <a:rPr b="0" i="0" lang="en-US" sz="900" u="none">
                <a:solidFill>
                  <a:srgbClr val="394073"/>
                </a:solidFill>
                <a:latin typeface="Arial"/>
                <a:ea typeface="Arial"/>
                <a:cs typeface="Arial"/>
                <a:sym typeface="Arial"/>
              </a:rPr>
              <a:t>/28</a:t>
            </a:r>
            <a:endParaRPr/>
          </a:p>
        </p:txBody>
      </p:sp>
      <p:sp>
        <p:nvSpPr>
          <p:cNvPr id="787" name="Google Shape;787;p55"/>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56"/>
          <p:cNvSpPr txBox="1"/>
          <p:nvPr>
            <p:ph type="title"/>
          </p:nvPr>
        </p:nvSpPr>
        <p:spPr>
          <a:xfrm>
            <a:off x="581025" y="482600"/>
            <a:ext cx="7989900" cy="7143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Corbel"/>
              <a:buNone/>
            </a:pPr>
            <a:r>
              <a:rPr b="0" i="0" lang="en-US" sz="3600" u="none">
                <a:latin typeface="Corbel"/>
                <a:ea typeface="Corbel"/>
                <a:cs typeface="Corbel"/>
                <a:sym typeface="Corbel"/>
              </a:rPr>
              <a:t>Byte Substitution</a:t>
            </a:r>
            <a:endParaRPr/>
          </a:p>
        </p:txBody>
      </p:sp>
      <p:pic>
        <p:nvPicPr>
          <p:cNvPr descr="aes_round.png" id="793" name="Google Shape;793;p56"/>
          <p:cNvPicPr preferRelativeResize="0"/>
          <p:nvPr>
            <p:ph idx="1" type="body"/>
          </p:nvPr>
        </p:nvPicPr>
        <p:blipFill rotWithShape="1">
          <a:blip r:embed="rId3">
            <a:alphaModFix/>
          </a:blip>
          <a:srcRect b="76788" l="0" r="0" t="0"/>
          <a:stretch/>
        </p:blipFill>
        <p:spPr>
          <a:xfrm>
            <a:off x="473088" y="1612875"/>
            <a:ext cx="8205900" cy="1593900"/>
          </a:xfrm>
          <a:prstGeom prst="rect">
            <a:avLst/>
          </a:prstGeom>
          <a:noFill/>
          <a:ln>
            <a:noFill/>
          </a:ln>
        </p:spPr>
      </p:pic>
      <p:sp>
        <p:nvSpPr>
          <p:cNvPr id="794" name="Google Shape;794;p56"/>
          <p:cNvSpPr txBox="1"/>
          <p:nvPr/>
        </p:nvSpPr>
        <p:spPr>
          <a:xfrm>
            <a:off x="5559425" y="6376987"/>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94073"/>
              </a:buClr>
              <a:buSzPts val="900"/>
              <a:buFont typeface="Arial"/>
              <a:buNone/>
            </a:pPr>
            <a:fld id="{00000000-1234-1234-1234-123412341234}" type="slidenum">
              <a:rPr b="0" i="0" lang="en-US" sz="900" u="none">
                <a:solidFill>
                  <a:srgbClr val="394073"/>
                </a:solidFill>
                <a:latin typeface="Arial"/>
                <a:ea typeface="Arial"/>
                <a:cs typeface="Arial"/>
                <a:sym typeface="Arial"/>
              </a:rPr>
              <a:t>‹#›</a:t>
            </a:fld>
            <a:r>
              <a:rPr b="0" i="0" lang="en-US" sz="900" u="none">
                <a:solidFill>
                  <a:srgbClr val="394073"/>
                </a:solidFill>
                <a:latin typeface="Arial"/>
                <a:ea typeface="Arial"/>
                <a:cs typeface="Arial"/>
                <a:sym typeface="Arial"/>
              </a:rPr>
              <a:t>/28</a:t>
            </a:r>
            <a:endParaRPr/>
          </a:p>
        </p:txBody>
      </p:sp>
      <p:pic>
        <p:nvPicPr>
          <p:cNvPr id="795" name="Google Shape;795;p56"/>
          <p:cNvPicPr preferRelativeResize="0"/>
          <p:nvPr/>
        </p:nvPicPr>
        <p:blipFill rotWithShape="1">
          <a:blip r:embed="rId4">
            <a:alphaModFix/>
          </a:blip>
          <a:srcRect b="0" l="0" r="0" t="0"/>
          <a:stretch/>
        </p:blipFill>
        <p:spPr>
          <a:xfrm>
            <a:off x="2268537" y="3622675"/>
            <a:ext cx="4895850" cy="3119437"/>
          </a:xfrm>
          <a:prstGeom prst="rect">
            <a:avLst/>
          </a:prstGeom>
          <a:noFill/>
          <a:ln>
            <a:noFill/>
          </a:ln>
        </p:spPr>
      </p:pic>
      <p:sp>
        <p:nvSpPr>
          <p:cNvPr id="796" name="Google Shape;796;p56"/>
          <p:cNvSpPr txBox="1"/>
          <p:nvPr/>
        </p:nvSpPr>
        <p:spPr>
          <a:xfrm>
            <a:off x="250825" y="3954462"/>
            <a:ext cx="2109787"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Gill Sans"/>
              <a:buNone/>
            </a:pPr>
            <a:r>
              <a:rPr b="0" i="0" lang="en-US" sz="1600" u="none">
                <a:solidFill>
                  <a:schemeClr val="dk1"/>
                </a:solidFill>
                <a:latin typeface="Gill Sans"/>
                <a:ea typeface="Gill Sans"/>
                <a:cs typeface="Gill Sans"/>
                <a:sym typeface="Gill Sans"/>
              </a:rPr>
              <a:t>Let’s assume the input byte to the S-Box is Ai = (C2)hex,</a:t>
            </a:r>
            <a:endParaRPr/>
          </a:p>
          <a:p>
            <a:pPr indent="0" lvl="0" marL="0" marR="0" rtl="0" algn="l">
              <a:lnSpc>
                <a:spcPct val="100000"/>
              </a:lnSpc>
              <a:spcBef>
                <a:spcPts val="0"/>
              </a:spcBef>
              <a:spcAft>
                <a:spcPts val="0"/>
              </a:spcAft>
              <a:buClr>
                <a:schemeClr val="dk1"/>
              </a:buClr>
              <a:buSzPts val="1600"/>
              <a:buFont typeface="Gill Sans"/>
              <a:buNone/>
            </a:pPr>
            <a:r>
              <a:rPr b="0" i="0" lang="en-US" sz="1600" u="none">
                <a:solidFill>
                  <a:schemeClr val="dk1"/>
                </a:solidFill>
                <a:latin typeface="Gill Sans"/>
                <a:ea typeface="Gill Sans"/>
                <a:cs typeface="Gill Sans"/>
                <a:sym typeface="Gill Sans"/>
              </a:rPr>
              <a:t>then the substituted value is S((C2)hex) = (25)hex.</a:t>
            </a:r>
            <a:endParaRPr/>
          </a:p>
        </p:txBody>
      </p:sp>
      <p:sp>
        <p:nvSpPr>
          <p:cNvPr id="797" name="Google Shape;797;p5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57"/>
          <p:cNvSpPr txBox="1"/>
          <p:nvPr>
            <p:ph type="title"/>
          </p:nvPr>
        </p:nvSpPr>
        <p:spPr>
          <a:xfrm>
            <a:off x="581025" y="687387"/>
            <a:ext cx="7989887" cy="50958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Corbel"/>
              <a:buNone/>
            </a:pPr>
            <a:r>
              <a:rPr b="0" i="0" lang="en-US" sz="3600" u="none">
                <a:solidFill>
                  <a:srgbClr val="000000"/>
                </a:solidFill>
                <a:latin typeface="Corbel"/>
                <a:ea typeface="Corbel"/>
                <a:cs typeface="Corbel"/>
                <a:sym typeface="Corbel"/>
              </a:rPr>
              <a:t>Shiftrows and MixColumn</a:t>
            </a:r>
            <a:endParaRPr/>
          </a:p>
        </p:txBody>
      </p:sp>
      <p:pic>
        <p:nvPicPr>
          <p:cNvPr descr="aes_round.png" id="803" name="Google Shape;803;p57"/>
          <p:cNvPicPr preferRelativeResize="0"/>
          <p:nvPr>
            <p:ph idx="1" type="body"/>
          </p:nvPr>
        </p:nvPicPr>
        <p:blipFill rotWithShape="1">
          <a:blip r:embed="rId3">
            <a:alphaModFix/>
          </a:blip>
          <a:srcRect b="36651" l="0" r="0" t="18266"/>
          <a:stretch/>
        </p:blipFill>
        <p:spPr>
          <a:xfrm>
            <a:off x="827087" y="2420937"/>
            <a:ext cx="7897812" cy="2979737"/>
          </a:xfrm>
          <a:prstGeom prst="rect">
            <a:avLst/>
          </a:prstGeom>
          <a:noFill/>
          <a:ln>
            <a:noFill/>
          </a:ln>
        </p:spPr>
      </p:pic>
      <p:sp>
        <p:nvSpPr>
          <p:cNvPr id="804" name="Google Shape;804;p57"/>
          <p:cNvSpPr txBox="1"/>
          <p:nvPr/>
        </p:nvSpPr>
        <p:spPr>
          <a:xfrm>
            <a:off x="5559425" y="6376987"/>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94073"/>
              </a:buClr>
              <a:buSzPts val="900"/>
              <a:buFont typeface="Arial"/>
              <a:buNone/>
            </a:pPr>
            <a:fld id="{00000000-1234-1234-1234-123412341234}" type="slidenum">
              <a:rPr b="0" i="0" lang="en-US" sz="900" u="none">
                <a:solidFill>
                  <a:srgbClr val="394073"/>
                </a:solidFill>
                <a:latin typeface="Arial"/>
                <a:ea typeface="Arial"/>
                <a:cs typeface="Arial"/>
                <a:sym typeface="Arial"/>
              </a:rPr>
              <a:t>‹#›</a:t>
            </a:fld>
            <a:r>
              <a:rPr b="0" i="0" lang="en-US" sz="900" u="none">
                <a:solidFill>
                  <a:srgbClr val="394073"/>
                </a:solidFill>
                <a:latin typeface="Arial"/>
                <a:ea typeface="Arial"/>
                <a:cs typeface="Arial"/>
                <a:sym typeface="Arial"/>
              </a:rPr>
              <a:t>/28</a:t>
            </a:r>
            <a:endParaRPr/>
          </a:p>
        </p:txBody>
      </p:sp>
      <p:sp>
        <p:nvSpPr>
          <p:cNvPr id="805" name="Google Shape;805;p57"/>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58"/>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ShiftRows Sublayer</a:t>
            </a:r>
            <a:endParaRPr/>
          </a:p>
        </p:txBody>
      </p:sp>
      <p:sp>
        <p:nvSpPr>
          <p:cNvPr id="811" name="Google Shape;811;p58"/>
          <p:cNvSpPr txBox="1"/>
          <p:nvPr>
            <p:ph idx="1" type="body"/>
          </p:nvPr>
        </p:nvSpPr>
        <p:spPr>
          <a:xfrm>
            <a:off x="395287" y="1550987"/>
            <a:ext cx="6084887" cy="2892425"/>
          </a:xfrm>
          <a:prstGeom prst="rect">
            <a:avLst/>
          </a:prstGeom>
          <a:noFill/>
          <a:ln>
            <a:noFill/>
          </a:ln>
        </p:spPr>
        <p:txBody>
          <a:bodyPr anchorCtr="0" anchor="t" bIns="45700" lIns="91425" spcFirstLastPara="1" rIns="91425" wrap="square" tIns="45700">
            <a:norm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200" u="none">
                <a:solidFill>
                  <a:schemeClr val="dk1"/>
                </a:solidFill>
                <a:latin typeface="Corbel"/>
                <a:ea typeface="Corbel"/>
                <a:cs typeface="Corbel"/>
                <a:sym typeface="Corbel"/>
              </a:rPr>
              <a:t>Rows of the state matrix are shifted cyclically:</a:t>
            </a:r>
            <a:endParaRPr/>
          </a:p>
          <a:p>
            <a:pPr indent="-152400" lvl="0" marL="171450" marR="0" rtl="0" algn="l">
              <a:lnSpc>
                <a:spcPct val="90000"/>
              </a:lnSpc>
              <a:spcBef>
                <a:spcPts val="300"/>
              </a:spcBef>
              <a:spcAft>
                <a:spcPts val="0"/>
              </a:spcAft>
              <a:buClr>
                <a:srgbClr val="376092"/>
              </a:buClr>
              <a:buSzPts val="300"/>
              <a:buFont typeface="Arial"/>
              <a:buNone/>
            </a:pPr>
            <a:r>
              <a:t/>
            </a:r>
            <a:endParaRPr b="0" i="0" sz="2200" u="none">
              <a:solidFill>
                <a:schemeClr val="dk1"/>
              </a:solidFill>
              <a:latin typeface="Corbel"/>
              <a:ea typeface="Corbel"/>
              <a:cs typeface="Corbel"/>
              <a:sym typeface="Corbel"/>
            </a:endParaRPr>
          </a:p>
          <a:p>
            <a:pPr indent="-171450" lvl="0" marL="171450" marR="0" rtl="0" algn="l">
              <a:lnSpc>
                <a:spcPct val="90000"/>
              </a:lnSpc>
              <a:spcBef>
                <a:spcPts val="300"/>
              </a:spcBef>
              <a:spcAft>
                <a:spcPts val="0"/>
              </a:spcAft>
              <a:buClr>
                <a:schemeClr val="dk1"/>
              </a:buClr>
              <a:buSzPts val="2200"/>
              <a:buFont typeface="Arial"/>
              <a:buNone/>
            </a:pPr>
            <a:r>
              <a:rPr b="0" i="0" lang="en-US" sz="2200" u="none">
                <a:solidFill>
                  <a:schemeClr val="dk1"/>
                </a:solidFill>
                <a:latin typeface="Corbel"/>
                <a:ea typeface="Corbel"/>
                <a:cs typeface="Corbel"/>
                <a:sym typeface="Corbel"/>
              </a:rPr>
              <a:t>	Input matrix </a:t>
            </a:r>
            <a:endParaRPr/>
          </a:p>
          <a:p>
            <a:pPr indent="-171450" lvl="0" marL="171450" marR="0" rtl="0" algn="l">
              <a:lnSpc>
                <a:spcPct val="90000"/>
              </a:lnSpc>
              <a:spcBef>
                <a:spcPts val="300"/>
              </a:spcBef>
              <a:spcAft>
                <a:spcPts val="0"/>
              </a:spcAft>
              <a:buClr>
                <a:schemeClr val="dk1"/>
              </a:buClr>
              <a:buSzPts val="2200"/>
              <a:buFont typeface="Arial"/>
              <a:buNone/>
            </a:pPr>
            <a:r>
              <a:t/>
            </a:r>
            <a:endParaRPr b="0" i="0" sz="2200" u="none">
              <a:solidFill>
                <a:schemeClr val="dk1"/>
              </a:solidFill>
              <a:latin typeface="Corbel"/>
              <a:ea typeface="Corbel"/>
              <a:cs typeface="Corbel"/>
              <a:sym typeface="Corbel"/>
            </a:endParaRPr>
          </a:p>
          <a:p>
            <a:pPr indent="-171450" lvl="0" marL="171450" marR="0" rtl="0" algn="l">
              <a:lnSpc>
                <a:spcPct val="90000"/>
              </a:lnSpc>
              <a:spcBef>
                <a:spcPts val="300"/>
              </a:spcBef>
              <a:spcAft>
                <a:spcPts val="0"/>
              </a:spcAft>
              <a:buClr>
                <a:schemeClr val="dk1"/>
              </a:buClr>
              <a:buSzPts val="2200"/>
              <a:buFont typeface="Arial"/>
              <a:buNone/>
            </a:pPr>
            <a:r>
              <a:t/>
            </a:r>
            <a:endParaRPr b="0" i="0" sz="2200" u="none">
              <a:solidFill>
                <a:schemeClr val="dk1"/>
              </a:solidFill>
              <a:latin typeface="Corbel"/>
              <a:ea typeface="Corbel"/>
              <a:cs typeface="Corbel"/>
              <a:sym typeface="Corbel"/>
            </a:endParaRPr>
          </a:p>
          <a:p>
            <a:pPr indent="-171450" lvl="0" marL="171450" marR="0" rtl="0" algn="l">
              <a:lnSpc>
                <a:spcPct val="90000"/>
              </a:lnSpc>
              <a:spcBef>
                <a:spcPts val="300"/>
              </a:spcBef>
              <a:spcAft>
                <a:spcPts val="0"/>
              </a:spcAft>
              <a:buClr>
                <a:schemeClr val="dk1"/>
              </a:buClr>
              <a:buSzPts val="2200"/>
              <a:buFont typeface="Arial"/>
              <a:buNone/>
            </a:pPr>
            <a:r>
              <a:t/>
            </a:r>
            <a:endParaRPr b="0" i="0" sz="2200" u="none">
              <a:solidFill>
                <a:schemeClr val="dk1"/>
              </a:solidFill>
              <a:latin typeface="Corbel"/>
              <a:ea typeface="Corbel"/>
              <a:cs typeface="Corbel"/>
              <a:sym typeface="Corbel"/>
            </a:endParaRPr>
          </a:p>
          <a:p>
            <a:pPr indent="-171450" lvl="0" marL="171450" marR="0" rtl="0" algn="l">
              <a:lnSpc>
                <a:spcPct val="90000"/>
              </a:lnSpc>
              <a:spcBef>
                <a:spcPts val="300"/>
              </a:spcBef>
              <a:spcAft>
                <a:spcPts val="0"/>
              </a:spcAft>
              <a:buClr>
                <a:schemeClr val="dk1"/>
              </a:buClr>
              <a:buSzPts val="2200"/>
              <a:buFont typeface="Arial"/>
              <a:buNone/>
            </a:pPr>
            <a:r>
              <a:t/>
            </a:r>
            <a:endParaRPr b="0" i="0" sz="2200" u="none">
              <a:solidFill>
                <a:schemeClr val="dk1"/>
              </a:solidFill>
              <a:latin typeface="Corbel"/>
              <a:ea typeface="Corbel"/>
              <a:cs typeface="Corbel"/>
              <a:sym typeface="Corbel"/>
            </a:endParaRPr>
          </a:p>
          <a:p>
            <a:pPr indent="-171450" lvl="0" marL="171450" marR="0" rtl="0" algn="l">
              <a:lnSpc>
                <a:spcPct val="90000"/>
              </a:lnSpc>
              <a:spcBef>
                <a:spcPts val="300"/>
              </a:spcBef>
              <a:spcAft>
                <a:spcPts val="0"/>
              </a:spcAft>
              <a:buClr>
                <a:schemeClr val="dk1"/>
              </a:buClr>
              <a:buSzPts val="2200"/>
              <a:buFont typeface="Arial"/>
              <a:buNone/>
            </a:pPr>
            <a:r>
              <a:rPr b="0" i="0" lang="en-US" sz="2200" u="none">
                <a:solidFill>
                  <a:schemeClr val="dk1"/>
                </a:solidFill>
                <a:latin typeface="Corbel"/>
                <a:ea typeface="Corbel"/>
                <a:cs typeface="Corbel"/>
                <a:sym typeface="Corbel"/>
              </a:rPr>
              <a:t>	Output matrix			</a:t>
            </a:r>
            <a:endParaRPr/>
          </a:p>
        </p:txBody>
      </p:sp>
      <p:sp>
        <p:nvSpPr>
          <p:cNvPr id="812" name="Google Shape;812;p58"/>
          <p:cNvSpPr txBox="1"/>
          <p:nvPr/>
        </p:nvSpPr>
        <p:spPr>
          <a:xfrm>
            <a:off x="5559425" y="6376987"/>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94073"/>
              </a:buClr>
              <a:buSzPts val="900"/>
              <a:buFont typeface="Arial"/>
              <a:buNone/>
            </a:pPr>
            <a:fld id="{00000000-1234-1234-1234-123412341234}" type="slidenum">
              <a:rPr b="0" i="0" lang="en-US" sz="900" u="none">
                <a:solidFill>
                  <a:srgbClr val="394073"/>
                </a:solidFill>
                <a:latin typeface="Arial"/>
                <a:ea typeface="Arial"/>
                <a:cs typeface="Arial"/>
                <a:sym typeface="Arial"/>
              </a:rPr>
              <a:t>‹#›</a:t>
            </a:fld>
            <a:r>
              <a:rPr b="0" i="0" lang="en-US" sz="900" u="none">
                <a:solidFill>
                  <a:srgbClr val="394073"/>
                </a:solidFill>
                <a:latin typeface="Arial"/>
                <a:ea typeface="Arial"/>
                <a:cs typeface="Arial"/>
                <a:sym typeface="Arial"/>
              </a:rPr>
              <a:t>/28</a:t>
            </a:r>
            <a:endParaRPr/>
          </a:p>
        </p:txBody>
      </p:sp>
      <p:graphicFrame>
        <p:nvGraphicFramePr>
          <p:cNvPr id="813" name="Google Shape;813;p58"/>
          <p:cNvGraphicFramePr/>
          <p:nvPr/>
        </p:nvGraphicFramePr>
        <p:xfrm>
          <a:off x="3006725" y="2276475"/>
          <a:ext cx="3000000" cy="3000000"/>
        </p:xfrm>
        <a:graphic>
          <a:graphicData uri="http://schemas.openxmlformats.org/drawingml/2006/table">
            <a:tbl>
              <a:tblPr>
                <a:noFill/>
                <a:tableStyleId>{544FB276-6C9D-4771-A9D3-37D8E1AA6F45}</a:tableStyleId>
              </a:tblPr>
              <a:tblGrid>
                <a:gridCol w="638175"/>
                <a:gridCol w="638175"/>
                <a:gridCol w="638175"/>
                <a:gridCol w="638175"/>
              </a:tblGrid>
              <a:tr h="447675">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0</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4</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8</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12</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7675">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5</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9</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13</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7675">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2</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6</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10</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14</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7675">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3</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7</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11</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15</a:t>
                      </a:r>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814" name="Google Shape;814;p58"/>
          <p:cNvGraphicFramePr/>
          <p:nvPr/>
        </p:nvGraphicFramePr>
        <p:xfrm>
          <a:off x="3024187" y="4376737"/>
          <a:ext cx="3000000" cy="3000000"/>
        </p:xfrm>
        <a:graphic>
          <a:graphicData uri="http://schemas.openxmlformats.org/drawingml/2006/table">
            <a:tbl>
              <a:tblPr>
                <a:noFill/>
                <a:tableStyleId>{544FB276-6C9D-4771-A9D3-37D8E1AA6F45}</a:tableStyleId>
              </a:tblPr>
              <a:tblGrid>
                <a:gridCol w="638175"/>
                <a:gridCol w="638175"/>
                <a:gridCol w="638175"/>
                <a:gridCol w="638175"/>
              </a:tblGrid>
              <a:tr h="447675">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0</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4</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8</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12</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7675">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5</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9</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13</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1</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6075">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10</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14</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2</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6</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7675">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15</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3</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1" lang="en-US" sz="2400" u="none">
                          <a:solidFill>
                            <a:schemeClr val="dk1"/>
                          </a:solidFill>
                          <a:latin typeface="Calibri"/>
                          <a:ea typeface="Calibri"/>
                          <a:cs typeface="Calibri"/>
                          <a:sym typeface="Calibri"/>
                        </a:rPr>
                        <a:t>7</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1" lang="en-US" sz="2000" u="none">
                          <a:solidFill>
                            <a:schemeClr val="dk1"/>
                          </a:solidFill>
                          <a:latin typeface="Calibri"/>
                          <a:ea typeface="Calibri"/>
                          <a:cs typeface="Calibri"/>
                          <a:sym typeface="Calibri"/>
                        </a:rPr>
                        <a:t>B</a:t>
                      </a:r>
                      <a:r>
                        <a:rPr b="1" baseline="-25000" i="0" lang="en-US" sz="2400" u="none">
                          <a:solidFill>
                            <a:schemeClr val="dk1"/>
                          </a:solidFill>
                          <a:latin typeface="Calibri"/>
                          <a:ea typeface="Calibri"/>
                          <a:cs typeface="Calibri"/>
                          <a:sym typeface="Calibri"/>
                        </a:rPr>
                        <a:t>11</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815" name="Google Shape;815;p58"/>
          <p:cNvSpPr txBox="1"/>
          <p:nvPr/>
        </p:nvSpPr>
        <p:spPr>
          <a:xfrm>
            <a:off x="5207000" y="4392612"/>
            <a:ext cx="13414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	no shift</a:t>
            </a:r>
            <a:endParaRPr/>
          </a:p>
        </p:txBody>
      </p:sp>
      <p:sp>
        <p:nvSpPr>
          <p:cNvPr id="816" name="Google Shape;816;p58"/>
          <p:cNvSpPr txBox="1"/>
          <p:nvPr/>
        </p:nvSpPr>
        <p:spPr>
          <a:xfrm>
            <a:off x="5491162" y="4859337"/>
            <a:ext cx="262890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 ← 	one position left shift</a:t>
            </a:r>
            <a:endParaRPr/>
          </a:p>
        </p:txBody>
      </p:sp>
      <p:sp>
        <p:nvSpPr>
          <p:cNvPr id="817" name="Google Shape;817;p58"/>
          <p:cNvSpPr txBox="1"/>
          <p:nvPr/>
        </p:nvSpPr>
        <p:spPr>
          <a:xfrm>
            <a:off x="5491162" y="5327650"/>
            <a:ext cx="27305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 ← 	two positions left shift</a:t>
            </a:r>
            <a:endParaRPr/>
          </a:p>
        </p:txBody>
      </p:sp>
      <p:sp>
        <p:nvSpPr>
          <p:cNvPr id="818" name="Google Shape;818;p58"/>
          <p:cNvSpPr txBox="1"/>
          <p:nvPr/>
        </p:nvSpPr>
        <p:spPr>
          <a:xfrm>
            <a:off x="5522912" y="5805487"/>
            <a:ext cx="28654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 ← 	three positions left shift</a:t>
            </a:r>
            <a:endParaRPr/>
          </a:p>
        </p:txBody>
      </p:sp>
      <p:sp>
        <p:nvSpPr>
          <p:cNvPr id="819" name="Google Shape;819;p58"/>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5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MixColumn Sublayer</a:t>
            </a:r>
            <a:endParaRPr/>
          </a:p>
        </p:txBody>
      </p:sp>
      <p:sp>
        <p:nvSpPr>
          <p:cNvPr id="825" name="Google Shape;825;p59"/>
          <p:cNvSpPr txBox="1"/>
          <p:nvPr>
            <p:ph idx="1" type="body"/>
          </p:nvPr>
        </p:nvSpPr>
        <p:spPr>
          <a:xfrm>
            <a:off x="581025" y="2227262"/>
            <a:ext cx="7989887" cy="108267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a:solidFill>
                  <a:srgbClr val="000000"/>
                </a:solidFill>
                <a:latin typeface="Corbel"/>
                <a:ea typeface="Corbel"/>
                <a:cs typeface="Corbel"/>
                <a:sym typeface="Corbel"/>
              </a:rPr>
              <a:t>Each 4-byte column is considered as a vector and multiplied</a:t>
            </a:r>
            <a:br>
              <a:rPr b="0" i="0" lang="en-US" sz="2400" u="none">
                <a:solidFill>
                  <a:srgbClr val="000000"/>
                </a:solidFill>
                <a:latin typeface="Corbel"/>
                <a:ea typeface="Corbel"/>
                <a:cs typeface="Corbel"/>
                <a:sym typeface="Corbel"/>
              </a:rPr>
            </a:br>
            <a:r>
              <a:rPr b="0" i="0" lang="en-US" sz="2400" u="none">
                <a:solidFill>
                  <a:srgbClr val="000000"/>
                </a:solidFill>
                <a:latin typeface="Corbel"/>
                <a:ea typeface="Corbel"/>
                <a:cs typeface="Corbel"/>
                <a:sym typeface="Corbel"/>
              </a:rPr>
              <a:t>by a fixed 4x4 matrix, e.g.,</a:t>
            </a:r>
            <a:endParaRPr/>
          </a:p>
          <a:p>
            <a:pPr indent="-19050" lvl="0" marL="171450" marR="0" rtl="0" algn="l">
              <a:lnSpc>
                <a:spcPct val="90000"/>
              </a:lnSpc>
              <a:spcBef>
                <a:spcPts val="750"/>
              </a:spcBef>
              <a:spcAft>
                <a:spcPts val="0"/>
              </a:spcAft>
              <a:buClr>
                <a:schemeClr val="dk1"/>
              </a:buClr>
              <a:buSzPts val="2400"/>
              <a:buFont typeface="Arial"/>
              <a:buNone/>
            </a:pPr>
            <a:r>
              <a:t/>
            </a:r>
            <a:endParaRPr b="0" i="0" sz="2400" u="none">
              <a:solidFill>
                <a:srgbClr val="000000"/>
              </a:solidFill>
              <a:latin typeface="Corbel"/>
              <a:ea typeface="Corbel"/>
              <a:cs typeface="Corbel"/>
              <a:sym typeface="Corbel"/>
            </a:endParaRPr>
          </a:p>
        </p:txBody>
      </p:sp>
      <p:sp>
        <p:nvSpPr>
          <p:cNvPr id="826" name="Google Shape;826;p5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id="827" name="Google Shape;827;p59"/>
          <p:cNvPicPr preferRelativeResize="0"/>
          <p:nvPr/>
        </p:nvPicPr>
        <p:blipFill rotWithShape="1">
          <a:blip r:embed="rId3">
            <a:alphaModFix/>
          </a:blip>
          <a:srcRect b="0" l="0" r="0" t="0"/>
          <a:stretch/>
        </p:blipFill>
        <p:spPr>
          <a:xfrm>
            <a:off x="3783012" y="3289300"/>
            <a:ext cx="4251325" cy="1758950"/>
          </a:xfrm>
          <a:prstGeom prst="rect">
            <a:avLst/>
          </a:prstGeom>
          <a:noFill/>
          <a:ln>
            <a:noFill/>
          </a:ln>
        </p:spPr>
      </p:pic>
      <p:graphicFrame>
        <p:nvGraphicFramePr>
          <p:cNvPr id="828" name="Google Shape;828;p59"/>
          <p:cNvGraphicFramePr/>
          <p:nvPr/>
        </p:nvGraphicFramePr>
        <p:xfrm>
          <a:off x="595312" y="3429000"/>
          <a:ext cx="3000000" cy="3000000"/>
        </p:xfrm>
        <a:graphic>
          <a:graphicData uri="http://schemas.openxmlformats.org/drawingml/2006/table">
            <a:tbl>
              <a:tblPr>
                <a:noFill/>
                <a:tableStyleId>{544FB276-6C9D-4771-A9D3-37D8E1AA6F45}</a:tableStyleId>
              </a:tblPr>
              <a:tblGrid>
                <a:gridCol w="527050"/>
                <a:gridCol w="525450"/>
                <a:gridCol w="525450"/>
                <a:gridCol w="527050"/>
              </a:tblGrid>
              <a:tr h="350825">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0" lang="en-US" sz="1800" u="none">
                          <a:solidFill>
                            <a:schemeClr val="dk1"/>
                          </a:solidFill>
                          <a:latin typeface="Calibri"/>
                          <a:ea typeface="Calibri"/>
                          <a:cs typeface="Calibri"/>
                          <a:sym typeface="Calibri"/>
                        </a:rPr>
                        <a:t>0</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0" lang="en-US" sz="1800" u="none">
                          <a:solidFill>
                            <a:schemeClr val="dk1"/>
                          </a:solidFill>
                          <a:latin typeface="Calibri"/>
                          <a:ea typeface="Calibri"/>
                          <a:cs typeface="Calibri"/>
                          <a:sym typeface="Calibri"/>
                        </a:rPr>
                        <a:t>4</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0" lang="en-US" sz="1800" u="none">
                          <a:solidFill>
                            <a:schemeClr val="dk1"/>
                          </a:solidFill>
                          <a:latin typeface="Calibri"/>
                          <a:ea typeface="Calibri"/>
                          <a:cs typeface="Calibri"/>
                          <a:sym typeface="Calibri"/>
                        </a:rPr>
                        <a:t>8</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0" lang="en-US" sz="1800" u="none">
                          <a:solidFill>
                            <a:schemeClr val="dk1"/>
                          </a:solidFill>
                          <a:latin typeface="Calibri"/>
                          <a:ea typeface="Calibri"/>
                          <a:cs typeface="Calibri"/>
                          <a:sym typeface="Calibri"/>
                        </a:rPr>
                        <a:t>12</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825">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5</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9</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13</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1</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825">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10</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14</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2</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6</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825">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15</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3</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1" lang="en-US" sz="1800" u="none">
                          <a:solidFill>
                            <a:schemeClr val="dk1"/>
                          </a:solidFill>
                          <a:latin typeface="Calibri"/>
                          <a:ea typeface="Calibri"/>
                          <a:cs typeface="Calibri"/>
                          <a:sym typeface="Calibri"/>
                        </a:rPr>
                        <a:t>7</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i="1" lang="en-US" sz="1600" u="none">
                          <a:solidFill>
                            <a:schemeClr val="dk1"/>
                          </a:solidFill>
                          <a:latin typeface="Calibri"/>
                          <a:ea typeface="Calibri"/>
                          <a:cs typeface="Calibri"/>
                          <a:sym typeface="Calibri"/>
                        </a:rPr>
                        <a:t>B</a:t>
                      </a:r>
                      <a:r>
                        <a:rPr b="1" baseline="-25000" i="0" lang="en-US" sz="1800" u="none">
                          <a:solidFill>
                            <a:schemeClr val="dk1"/>
                          </a:solidFill>
                          <a:latin typeface="Calibri"/>
                          <a:ea typeface="Calibri"/>
                          <a:cs typeface="Calibri"/>
                          <a:sym typeface="Calibri"/>
                        </a:rPr>
                        <a:t>11</a:t>
                      </a:r>
                      <a:endParaRPr/>
                    </a:p>
                  </a:txBody>
                  <a:tcPr marT="45750" marB="45750" marR="91475" marL="91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829" name="Google Shape;829;p59"/>
          <p:cNvSpPr txBox="1"/>
          <p:nvPr/>
        </p:nvSpPr>
        <p:spPr>
          <a:xfrm>
            <a:off x="-180975" y="4938712"/>
            <a:ext cx="34163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		Output matrix			</a:t>
            </a:r>
            <a:endParaRPr/>
          </a:p>
        </p:txBody>
      </p:sp>
      <p:sp>
        <p:nvSpPr>
          <p:cNvPr id="830" name="Google Shape;830;p5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60"/>
          <p:cNvSpPr txBox="1"/>
          <p:nvPr>
            <p:ph type="title"/>
          </p:nvPr>
        </p:nvSpPr>
        <p:spPr>
          <a:xfrm>
            <a:off x="581025" y="687387"/>
            <a:ext cx="7989887" cy="50958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Corbel"/>
              <a:buNone/>
            </a:pPr>
            <a:r>
              <a:rPr b="0" i="0" lang="en-US" sz="3600" u="none">
                <a:solidFill>
                  <a:srgbClr val="000000"/>
                </a:solidFill>
                <a:latin typeface="Corbel"/>
                <a:ea typeface="Corbel"/>
                <a:cs typeface="Corbel"/>
                <a:sym typeface="Corbel"/>
              </a:rPr>
              <a:t>Key Addition Layer</a:t>
            </a:r>
            <a:endParaRPr/>
          </a:p>
        </p:txBody>
      </p:sp>
      <p:pic>
        <p:nvPicPr>
          <p:cNvPr descr="aes_round.png" id="836" name="Google Shape;836;p60"/>
          <p:cNvPicPr preferRelativeResize="0"/>
          <p:nvPr>
            <p:ph idx="1" type="body"/>
          </p:nvPr>
        </p:nvPicPr>
        <p:blipFill rotWithShape="1">
          <a:blip r:embed="rId3">
            <a:alphaModFix/>
          </a:blip>
          <a:srcRect b="0" l="14837" r="0" t="58656"/>
          <a:stretch/>
        </p:blipFill>
        <p:spPr>
          <a:xfrm>
            <a:off x="1547812" y="2274887"/>
            <a:ext cx="6938962" cy="2822575"/>
          </a:xfrm>
          <a:prstGeom prst="rect">
            <a:avLst/>
          </a:prstGeom>
          <a:noFill/>
          <a:ln>
            <a:noFill/>
          </a:ln>
        </p:spPr>
      </p:pic>
      <p:sp>
        <p:nvSpPr>
          <p:cNvPr id="837" name="Google Shape;837;p60"/>
          <p:cNvSpPr txBox="1"/>
          <p:nvPr/>
        </p:nvSpPr>
        <p:spPr>
          <a:xfrm>
            <a:off x="5559425" y="6376987"/>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94073"/>
              </a:buClr>
              <a:buSzPts val="900"/>
              <a:buFont typeface="Arial"/>
              <a:buNone/>
            </a:pPr>
            <a:fld id="{00000000-1234-1234-1234-123412341234}" type="slidenum">
              <a:rPr b="0" i="0" lang="en-US" sz="900" u="none">
                <a:solidFill>
                  <a:srgbClr val="394073"/>
                </a:solidFill>
                <a:latin typeface="Arial"/>
                <a:ea typeface="Arial"/>
                <a:cs typeface="Arial"/>
                <a:sym typeface="Arial"/>
              </a:rPr>
              <a:t>‹#›</a:t>
            </a:fld>
            <a:r>
              <a:rPr b="0" i="0" lang="en-US" sz="900" u="none">
                <a:solidFill>
                  <a:srgbClr val="394073"/>
                </a:solidFill>
                <a:latin typeface="Arial"/>
                <a:ea typeface="Arial"/>
                <a:cs typeface="Arial"/>
                <a:sym typeface="Arial"/>
              </a:rPr>
              <a:t>/28</a:t>
            </a:r>
            <a:endParaRPr/>
          </a:p>
        </p:txBody>
      </p:sp>
      <p:sp>
        <p:nvSpPr>
          <p:cNvPr id="838" name="Google Shape;838;p60"/>
          <p:cNvSpPr txBox="1"/>
          <p:nvPr/>
        </p:nvSpPr>
        <p:spPr>
          <a:xfrm>
            <a:off x="1547812" y="4111625"/>
            <a:ext cx="4572000" cy="1970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Inputs: </a:t>
            </a:r>
            <a:endParaRPr/>
          </a:p>
          <a:p>
            <a:pPr indent="0" lvl="1" marL="457200" marR="0" rtl="0" algn="l">
              <a:lnSpc>
                <a:spcPct val="100000"/>
              </a:lnSpc>
              <a:spcBef>
                <a:spcPts val="0"/>
              </a:spcBef>
              <a:spcAft>
                <a:spcPts val="0"/>
              </a:spcAft>
              <a:buClr>
                <a:schemeClr val="dk1"/>
              </a:buClr>
              <a:buSzPts val="1800"/>
              <a:buFont typeface="Gill Sans"/>
              <a:buNone/>
            </a:pPr>
            <a:r>
              <a:rPr b="0" i="0" lang="en-US" sz="1800" u="none" cap="none" strike="noStrike">
                <a:solidFill>
                  <a:schemeClr val="dk1"/>
                </a:solidFill>
                <a:latin typeface="Gill Sans"/>
                <a:ea typeface="Gill Sans"/>
                <a:cs typeface="Gill Sans"/>
                <a:sym typeface="Gill Sans"/>
              </a:rPr>
              <a:t>128bit/16-byte state matrix </a:t>
            </a:r>
            <a:r>
              <a:rPr b="0" i="1" lang="en-US" sz="1800" u="none" cap="none" strike="noStrike">
                <a:solidFill>
                  <a:schemeClr val="dk1"/>
                </a:solidFill>
                <a:latin typeface="Gill Sans"/>
                <a:ea typeface="Gill Sans"/>
                <a:cs typeface="Gill Sans"/>
                <a:sym typeface="Gill Sans"/>
              </a:rPr>
              <a:t>C</a:t>
            </a:r>
            <a:endParaRPr/>
          </a:p>
          <a:p>
            <a:pPr indent="0" lvl="1" marL="457200" marR="0" rtl="0" algn="l">
              <a:lnSpc>
                <a:spcPct val="100000"/>
              </a:lnSpc>
              <a:spcBef>
                <a:spcPts val="0"/>
              </a:spcBef>
              <a:spcAft>
                <a:spcPts val="0"/>
              </a:spcAft>
              <a:buClr>
                <a:schemeClr val="dk1"/>
              </a:buClr>
              <a:buSzPts val="1800"/>
              <a:buFont typeface="Gill Sans"/>
              <a:buNone/>
            </a:pPr>
            <a:r>
              <a:rPr b="0" i="0" lang="en-US" sz="1800" u="none" cap="none" strike="noStrike">
                <a:solidFill>
                  <a:schemeClr val="dk1"/>
                </a:solidFill>
                <a:latin typeface="Gill Sans"/>
                <a:ea typeface="Gill Sans"/>
                <a:cs typeface="Gill Sans"/>
                <a:sym typeface="Gill Sans"/>
              </a:rPr>
              <a:t>128bit/ 16-byte subkey </a:t>
            </a:r>
            <a:r>
              <a:rPr b="0" i="1" lang="en-US" sz="1800" u="none" cap="none" strike="noStrike">
                <a:solidFill>
                  <a:schemeClr val="dk1"/>
                </a:solidFill>
                <a:latin typeface="Gill Sans"/>
                <a:ea typeface="Gill Sans"/>
                <a:cs typeface="Gill Sans"/>
                <a:sym typeface="Gill Sans"/>
              </a:rPr>
              <a:t>k</a:t>
            </a:r>
            <a:r>
              <a:rPr b="0" baseline="-25000" i="1" lang="en-US" sz="1800" u="none" cap="none" strike="noStrike">
                <a:solidFill>
                  <a:schemeClr val="dk1"/>
                </a:solidFill>
                <a:latin typeface="Gill Sans"/>
                <a:ea typeface="Gill Sans"/>
                <a:cs typeface="Gill Sans"/>
                <a:sym typeface="Gill Sans"/>
              </a:rPr>
              <a:t>i</a:t>
            </a:r>
            <a:endParaRPr/>
          </a:p>
          <a:p>
            <a:pPr indent="0" lvl="0" marL="0" marR="0" rtl="0" algn="l">
              <a:lnSpc>
                <a:spcPct val="100000"/>
              </a:lnSpc>
              <a:spcBef>
                <a:spcPts val="0"/>
              </a:spcBef>
              <a:spcAft>
                <a:spcPts val="0"/>
              </a:spcAft>
              <a:buClr>
                <a:schemeClr val="dk1"/>
              </a:buClr>
              <a:buSzPts val="1800"/>
              <a:buFont typeface="Gill Sans"/>
              <a:buNone/>
            </a:pPr>
            <a:r>
              <a:t/>
            </a:r>
            <a:endParaRPr b="0" i="0" sz="1800" u="non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Output: </a:t>
            </a:r>
            <a:r>
              <a:rPr b="0" i="1" lang="en-US" sz="1800" u="none">
                <a:solidFill>
                  <a:schemeClr val="dk1"/>
                </a:solidFill>
                <a:latin typeface="Gill Sans"/>
                <a:ea typeface="Gill Sans"/>
                <a:cs typeface="Gill Sans"/>
                <a:sym typeface="Gill Sans"/>
              </a:rPr>
              <a:t>C </a:t>
            </a:r>
            <a:r>
              <a:rPr b="0" i="0" lang="en-US" sz="1800" u="none">
                <a:solidFill>
                  <a:schemeClr val="dk1"/>
                </a:solidFill>
                <a:latin typeface="Gill Sans"/>
                <a:ea typeface="Gill Sans"/>
                <a:cs typeface="Gill Sans"/>
                <a:sym typeface="Gill Sans"/>
              </a:rPr>
              <a:t>⊕ </a:t>
            </a:r>
            <a:r>
              <a:rPr b="0" i="1" lang="en-US" sz="1800" u="none">
                <a:solidFill>
                  <a:schemeClr val="dk1"/>
                </a:solidFill>
                <a:latin typeface="Gill Sans"/>
                <a:ea typeface="Gill Sans"/>
                <a:cs typeface="Gill Sans"/>
                <a:sym typeface="Gill Sans"/>
              </a:rPr>
              <a:t>k</a:t>
            </a:r>
            <a:r>
              <a:rPr b="0" baseline="-25000" i="1" lang="en-US" sz="1800" u="none">
                <a:solidFill>
                  <a:schemeClr val="dk1"/>
                </a:solidFill>
                <a:latin typeface="Gill Sans"/>
                <a:ea typeface="Gill Sans"/>
                <a:cs typeface="Gill Sans"/>
                <a:sym typeface="Gill Sans"/>
              </a:rPr>
              <a:t>i</a:t>
            </a:r>
            <a:r>
              <a:rPr b="0" i="0" lang="en-US" sz="1400" u="none">
                <a:solidFill>
                  <a:schemeClr val="dk1"/>
                </a:solidFill>
                <a:latin typeface="Gill Sans"/>
                <a:ea typeface="Gill Sans"/>
                <a:cs typeface="Gill Sans"/>
                <a:sym typeface="Gill Sans"/>
              </a:rPr>
              <a:t> </a:t>
            </a:r>
            <a:endParaRPr b="0" i="0" sz="1800" u="non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1400"/>
              <a:buFont typeface="Gill Sans"/>
              <a:buNone/>
            </a:pPr>
            <a:r>
              <a:t/>
            </a:r>
            <a:endParaRPr b="0" i="1" sz="1400" u="non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The subkeys are generated in the key schedule</a:t>
            </a:r>
            <a:endParaRPr/>
          </a:p>
        </p:txBody>
      </p:sp>
      <p:sp>
        <p:nvSpPr>
          <p:cNvPr id="839" name="Google Shape;839;p6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61"/>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a:solidFill>
                <a:schemeClr val="lt1"/>
              </a:solidFill>
            </a:endParaRPr>
          </a:p>
        </p:txBody>
      </p:sp>
      <p:sp>
        <p:nvSpPr>
          <p:cNvPr id="845" name="Google Shape;845;p6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descr="rijndael_flow.png" id="846" name="Google Shape;846;p61"/>
          <p:cNvPicPr preferRelativeResize="0"/>
          <p:nvPr/>
        </p:nvPicPr>
        <p:blipFill rotWithShape="1">
          <a:blip r:embed="rId3">
            <a:alphaModFix/>
          </a:blip>
          <a:srcRect b="0" l="0" r="0" t="0"/>
          <a:stretch/>
        </p:blipFill>
        <p:spPr>
          <a:xfrm>
            <a:off x="1692275" y="76200"/>
            <a:ext cx="4651375" cy="6775450"/>
          </a:xfrm>
          <a:prstGeom prst="rect">
            <a:avLst/>
          </a:prstGeom>
          <a:noFill/>
          <a:ln>
            <a:noFill/>
          </a:ln>
        </p:spPr>
      </p:pic>
      <p:sp>
        <p:nvSpPr>
          <p:cNvPr id="847" name="Google Shape;847;p61"/>
          <p:cNvSpPr txBox="1"/>
          <p:nvPr/>
        </p:nvSpPr>
        <p:spPr>
          <a:xfrm>
            <a:off x="7019925" y="3263900"/>
            <a:ext cx="1774825"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Gill Sans"/>
              <a:buNone/>
            </a:pPr>
            <a:r>
              <a:rPr b="1" i="0" lang="en-US" sz="2000" u="none">
                <a:solidFill>
                  <a:schemeClr val="dk1"/>
                </a:solidFill>
                <a:latin typeface="Gill Sans"/>
                <a:ea typeface="Gill Sans"/>
                <a:cs typeface="Gill Sans"/>
                <a:sym typeface="Gill Sans"/>
              </a:rPr>
              <a:t>Key Schedule</a:t>
            </a:r>
            <a:endParaRPr/>
          </a:p>
        </p:txBody>
      </p:sp>
      <p:sp>
        <p:nvSpPr>
          <p:cNvPr id="848" name="Google Shape;848;p6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62"/>
          <p:cNvSpPr txBox="1"/>
          <p:nvPr>
            <p:ph type="title"/>
          </p:nvPr>
        </p:nvSpPr>
        <p:spPr>
          <a:xfrm>
            <a:off x="581025" y="687387"/>
            <a:ext cx="7989887" cy="79692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Example</a:t>
            </a:r>
            <a:endParaRPr/>
          </a:p>
        </p:txBody>
      </p:sp>
      <p:sp>
        <p:nvSpPr>
          <p:cNvPr id="854" name="Google Shape;854;p6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graphicFrame>
        <p:nvGraphicFramePr>
          <p:cNvPr id="855" name="Google Shape;855;p62"/>
          <p:cNvGraphicFramePr/>
          <p:nvPr/>
        </p:nvGraphicFramePr>
        <p:xfrm>
          <a:off x="827087" y="2460625"/>
          <a:ext cx="3000000" cy="3000000"/>
        </p:xfrm>
        <a:graphic>
          <a:graphicData uri="http://schemas.openxmlformats.org/drawingml/2006/table">
            <a:tbl>
              <a:tblPr>
                <a:noFill/>
                <a:tableStyleId>{544FB276-6C9D-4771-A9D3-37D8E1AA6F45}</a:tableStyleId>
              </a:tblPr>
              <a:tblGrid>
                <a:gridCol w="500050"/>
                <a:gridCol w="500050"/>
                <a:gridCol w="514350"/>
                <a:gridCol w="500050"/>
                <a:gridCol w="512750"/>
                <a:gridCol w="527050"/>
                <a:gridCol w="500050"/>
                <a:gridCol w="500050"/>
                <a:gridCol w="500050"/>
                <a:gridCol w="501650"/>
                <a:gridCol w="525450"/>
                <a:gridCol w="500050"/>
                <a:gridCol w="500050"/>
                <a:gridCol w="501650"/>
                <a:gridCol w="500050"/>
                <a:gridCol w="512750"/>
              </a:tblGrid>
              <a:tr h="371475">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T</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w</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o</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O</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n</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e</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N</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i</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n</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e</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T</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w</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o</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69875">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54</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77</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6F</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20</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4F</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6E</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65</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20</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43</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69</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6E</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25</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20</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54</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77</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6F</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r>
            </a:tbl>
          </a:graphicData>
        </a:graphic>
      </p:graphicFrame>
      <p:graphicFrame>
        <p:nvGraphicFramePr>
          <p:cNvPr id="856" name="Google Shape;856;p62"/>
          <p:cNvGraphicFramePr/>
          <p:nvPr/>
        </p:nvGraphicFramePr>
        <p:xfrm>
          <a:off x="827087" y="4652962"/>
          <a:ext cx="3000000" cy="3000000"/>
        </p:xfrm>
        <a:graphic>
          <a:graphicData uri="http://schemas.openxmlformats.org/drawingml/2006/table">
            <a:tbl>
              <a:tblPr>
                <a:noFill/>
                <a:tableStyleId>{544FB276-6C9D-4771-A9D3-37D8E1AA6F45}</a:tableStyleId>
              </a:tblPr>
              <a:tblGrid>
                <a:gridCol w="500050"/>
                <a:gridCol w="500050"/>
                <a:gridCol w="501650"/>
                <a:gridCol w="500050"/>
                <a:gridCol w="500050"/>
                <a:gridCol w="500050"/>
                <a:gridCol w="531800"/>
                <a:gridCol w="442900"/>
                <a:gridCol w="501650"/>
                <a:gridCol w="525450"/>
                <a:gridCol w="500050"/>
                <a:gridCol w="525450"/>
                <a:gridCol w="500050"/>
                <a:gridCol w="501650"/>
                <a:gridCol w="500050"/>
                <a:gridCol w="500050"/>
              </a:tblGrid>
              <a:tr h="371475">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T</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h</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a</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t</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s</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m</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y</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K</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u</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n</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g</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F</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a:solidFill>
                            <a:srgbClr val="FFFFFF"/>
                          </a:solidFill>
                          <a:latin typeface="Calibri"/>
                          <a:ea typeface="Calibri"/>
                          <a:cs typeface="Calibri"/>
                          <a:sym typeface="Calibri"/>
                        </a:rPr>
                        <a:t>u</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69875">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54</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68</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61</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74</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73</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20</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6D</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79</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20</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4B</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75</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6E</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67</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20</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46</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75</a:t>
                      </a:r>
                      <a:endParaRPr/>
                    </a:p>
                  </a:txBody>
                  <a:tcPr marT="45700" marB="45700"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5EA"/>
                    </a:solidFill>
                  </a:tcPr>
                </a:tc>
              </a:tr>
            </a:tbl>
          </a:graphicData>
        </a:graphic>
      </p:graphicFrame>
      <p:sp>
        <p:nvSpPr>
          <p:cNvPr id="857" name="Google Shape;857;p62"/>
          <p:cNvSpPr txBox="1"/>
          <p:nvPr/>
        </p:nvSpPr>
        <p:spPr>
          <a:xfrm>
            <a:off x="788987" y="4076700"/>
            <a:ext cx="5286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Key</a:t>
            </a:r>
            <a:endParaRPr/>
          </a:p>
        </p:txBody>
      </p:sp>
      <p:sp>
        <p:nvSpPr>
          <p:cNvPr id="858" name="Google Shape;858;p62"/>
          <p:cNvSpPr txBox="1"/>
          <p:nvPr/>
        </p:nvSpPr>
        <p:spPr>
          <a:xfrm>
            <a:off x="788987" y="1916112"/>
            <a:ext cx="10620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Plain text</a:t>
            </a:r>
            <a:endParaRPr/>
          </a:p>
        </p:txBody>
      </p:sp>
      <p:sp>
        <p:nvSpPr>
          <p:cNvPr id="859" name="Google Shape;859;p6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63"/>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a:solidFill>
                <a:schemeClr val="lt1"/>
              </a:solidFill>
            </a:endParaRPr>
          </a:p>
        </p:txBody>
      </p:sp>
      <p:pic>
        <p:nvPicPr>
          <p:cNvPr descr="Screen Clipping" id="865" name="Google Shape;865;p63"/>
          <p:cNvPicPr preferRelativeResize="0"/>
          <p:nvPr>
            <p:ph idx="1" type="body"/>
          </p:nvPr>
        </p:nvPicPr>
        <p:blipFill rotWithShape="1">
          <a:blip r:embed="rId3">
            <a:alphaModFix/>
          </a:blip>
          <a:srcRect b="0" l="3768" r="4838" t="3346"/>
          <a:stretch/>
        </p:blipFill>
        <p:spPr>
          <a:xfrm>
            <a:off x="1042987" y="1700212"/>
            <a:ext cx="6840537" cy="3511550"/>
          </a:xfrm>
          <a:prstGeom prst="rect">
            <a:avLst/>
          </a:prstGeom>
          <a:noFill/>
          <a:ln>
            <a:noFill/>
          </a:ln>
        </p:spPr>
      </p:pic>
      <p:sp>
        <p:nvSpPr>
          <p:cNvPr id="866" name="Google Shape;866;p6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867" name="Google Shape;867;p6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64"/>
          <p:cNvSpPr txBox="1"/>
          <p:nvPr>
            <p:ph type="title"/>
          </p:nvPr>
        </p:nvSpPr>
        <p:spPr>
          <a:xfrm>
            <a:off x="581025" y="687387"/>
            <a:ext cx="7989887" cy="86995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Step 1: Key Addition</a:t>
            </a:r>
            <a:endParaRPr/>
          </a:p>
        </p:txBody>
      </p:sp>
      <p:pic>
        <p:nvPicPr>
          <p:cNvPr descr="Screen Clipping" id="873" name="Google Shape;873;p64"/>
          <p:cNvPicPr preferRelativeResize="0"/>
          <p:nvPr>
            <p:ph idx="1" type="body"/>
          </p:nvPr>
        </p:nvPicPr>
        <p:blipFill rotWithShape="1">
          <a:blip r:embed="rId3">
            <a:alphaModFix/>
          </a:blip>
          <a:srcRect b="0" l="0" r="0" t="0"/>
          <a:stretch/>
        </p:blipFill>
        <p:spPr>
          <a:xfrm>
            <a:off x="971550" y="1700212"/>
            <a:ext cx="6983412" cy="4362450"/>
          </a:xfrm>
          <a:prstGeom prst="rect">
            <a:avLst/>
          </a:prstGeom>
          <a:noFill/>
          <a:ln>
            <a:noFill/>
          </a:ln>
        </p:spPr>
      </p:pic>
      <p:sp>
        <p:nvSpPr>
          <p:cNvPr id="874" name="Google Shape;874;p6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875" name="Google Shape;875;p64"/>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65"/>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Step 2: Byte substitution</a:t>
            </a:r>
            <a:endParaRPr/>
          </a:p>
        </p:txBody>
      </p:sp>
      <p:pic>
        <p:nvPicPr>
          <p:cNvPr descr="Screen Clipping" id="881" name="Google Shape;881;p65"/>
          <p:cNvPicPr preferRelativeResize="0"/>
          <p:nvPr>
            <p:ph idx="1" type="body"/>
          </p:nvPr>
        </p:nvPicPr>
        <p:blipFill rotWithShape="1">
          <a:blip r:embed="rId3">
            <a:alphaModFix/>
          </a:blip>
          <a:srcRect b="1800" l="31570" r="32515" t="50619"/>
          <a:stretch/>
        </p:blipFill>
        <p:spPr>
          <a:xfrm>
            <a:off x="468312" y="1622425"/>
            <a:ext cx="2087562" cy="1728787"/>
          </a:xfrm>
          <a:prstGeom prst="rect">
            <a:avLst/>
          </a:prstGeom>
          <a:noFill/>
          <a:ln>
            <a:noFill/>
          </a:ln>
        </p:spPr>
      </p:pic>
      <p:sp>
        <p:nvSpPr>
          <p:cNvPr id="882" name="Google Shape;882;p6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id="883" name="Google Shape;883;p65"/>
          <p:cNvPicPr preferRelativeResize="0"/>
          <p:nvPr/>
        </p:nvPicPr>
        <p:blipFill rotWithShape="1">
          <a:blip r:embed="rId4">
            <a:alphaModFix/>
          </a:blip>
          <a:srcRect b="0" l="0" r="0" t="0"/>
          <a:stretch/>
        </p:blipFill>
        <p:spPr>
          <a:xfrm>
            <a:off x="1979612" y="3541712"/>
            <a:ext cx="4895850" cy="3119437"/>
          </a:xfrm>
          <a:prstGeom prst="rect">
            <a:avLst/>
          </a:prstGeom>
          <a:noFill/>
          <a:ln>
            <a:noFill/>
          </a:ln>
        </p:spPr>
      </p:pic>
      <p:pic>
        <p:nvPicPr>
          <p:cNvPr descr="Screen Clipping" id="884" name="Google Shape;884;p65"/>
          <p:cNvPicPr preferRelativeResize="0"/>
          <p:nvPr/>
        </p:nvPicPr>
        <p:blipFill rotWithShape="1">
          <a:blip r:embed="rId5">
            <a:alphaModFix/>
          </a:blip>
          <a:srcRect b="0" l="0" r="0" t="0"/>
          <a:stretch/>
        </p:blipFill>
        <p:spPr>
          <a:xfrm>
            <a:off x="6294437" y="1622425"/>
            <a:ext cx="2339975" cy="1733550"/>
          </a:xfrm>
          <a:prstGeom prst="rect">
            <a:avLst/>
          </a:prstGeom>
          <a:noFill/>
          <a:ln>
            <a:noFill/>
          </a:ln>
        </p:spPr>
      </p:pic>
      <p:sp>
        <p:nvSpPr>
          <p:cNvPr id="885" name="Google Shape;885;p65"/>
          <p:cNvSpPr/>
          <p:nvPr/>
        </p:nvSpPr>
        <p:spPr>
          <a:xfrm>
            <a:off x="3568700" y="2473325"/>
            <a:ext cx="1582737" cy="484187"/>
          </a:xfrm>
          <a:prstGeom prst="rightArrow">
            <a:avLst>
              <a:gd fmla="val 18296" name="adj1"/>
              <a:gd fmla="val 50000" name="adj2"/>
            </a:avLst>
          </a:prstGeom>
          <a:solidFill>
            <a:schemeClr val="accent1"/>
          </a:solidFill>
          <a:ln cap="flat" cmpd="sng" w="12700">
            <a:solidFill>
              <a:srgbClr val="2F52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886" name="Google Shape;886;p65"/>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66"/>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Step 3: Shift Row</a:t>
            </a:r>
            <a:endParaRPr/>
          </a:p>
        </p:txBody>
      </p:sp>
      <p:pic>
        <p:nvPicPr>
          <p:cNvPr descr="Screen Clipping" id="892" name="Google Shape;892;p66"/>
          <p:cNvPicPr preferRelativeResize="0"/>
          <p:nvPr>
            <p:ph idx="1" type="body"/>
          </p:nvPr>
        </p:nvPicPr>
        <p:blipFill rotWithShape="1">
          <a:blip r:embed="rId3">
            <a:alphaModFix/>
          </a:blip>
          <a:srcRect b="0" l="0" r="0" t="0"/>
          <a:stretch/>
        </p:blipFill>
        <p:spPr>
          <a:xfrm>
            <a:off x="1258887" y="2636837"/>
            <a:ext cx="6638925" cy="2171700"/>
          </a:xfrm>
          <a:prstGeom prst="rect">
            <a:avLst/>
          </a:prstGeom>
          <a:noFill/>
          <a:ln>
            <a:noFill/>
          </a:ln>
        </p:spPr>
      </p:pic>
      <p:sp>
        <p:nvSpPr>
          <p:cNvPr id="893" name="Google Shape;893;p6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894" name="Google Shape;894;p6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67"/>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Step 4: Mix column </a:t>
            </a:r>
            <a:endParaRPr/>
          </a:p>
        </p:txBody>
      </p:sp>
      <p:pic>
        <p:nvPicPr>
          <p:cNvPr descr="Screen Clipping" id="900" name="Google Shape;900;p67"/>
          <p:cNvPicPr preferRelativeResize="0"/>
          <p:nvPr>
            <p:ph idx="1" type="body"/>
          </p:nvPr>
        </p:nvPicPr>
        <p:blipFill rotWithShape="1">
          <a:blip r:embed="rId3">
            <a:alphaModFix/>
          </a:blip>
          <a:srcRect b="0" l="0" r="0" t="0"/>
          <a:stretch/>
        </p:blipFill>
        <p:spPr>
          <a:xfrm>
            <a:off x="0" y="2205037"/>
            <a:ext cx="9109075" cy="2303462"/>
          </a:xfrm>
          <a:prstGeom prst="rect">
            <a:avLst/>
          </a:prstGeom>
          <a:noFill/>
          <a:ln>
            <a:noFill/>
          </a:ln>
        </p:spPr>
      </p:pic>
      <p:sp>
        <p:nvSpPr>
          <p:cNvPr id="901" name="Google Shape;901;p6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902" name="Google Shape;902;p67"/>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68"/>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Step 5: Add round key</a:t>
            </a:r>
            <a:endParaRPr/>
          </a:p>
        </p:txBody>
      </p:sp>
      <p:pic>
        <p:nvPicPr>
          <p:cNvPr descr="Screen Clipping" id="908" name="Google Shape;908;p68"/>
          <p:cNvPicPr preferRelativeResize="0"/>
          <p:nvPr>
            <p:ph idx="1" type="body"/>
          </p:nvPr>
        </p:nvPicPr>
        <p:blipFill rotWithShape="1">
          <a:blip r:embed="rId3">
            <a:alphaModFix/>
          </a:blip>
          <a:srcRect b="0" l="0" r="0" t="0"/>
          <a:stretch/>
        </p:blipFill>
        <p:spPr>
          <a:xfrm>
            <a:off x="179387" y="2220912"/>
            <a:ext cx="2324100" cy="2271712"/>
          </a:xfrm>
          <a:prstGeom prst="rect">
            <a:avLst/>
          </a:prstGeom>
          <a:noFill/>
          <a:ln>
            <a:noFill/>
          </a:ln>
        </p:spPr>
      </p:pic>
      <p:sp>
        <p:nvSpPr>
          <p:cNvPr id="909" name="Google Shape;909;p6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pic>
        <p:nvPicPr>
          <p:cNvPr descr="Screen Clipping" id="910" name="Google Shape;910;p68"/>
          <p:cNvPicPr preferRelativeResize="0"/>
          <p:nvPr/>
        </p:nvPicPr>
        <p:blipFill rotWithShape="1">
          <a:blip r:embed="rId4">
            <a:alphaModFix/>
          </a:blip>
          <a:srcRect b="0" l="0" r="0" t="0"/>
          <a:stretch/>
        </p:blipFill>
        <p:spPr>
          <a:xfrm>
            <a:off x="3267075" y="2222500"/>
            <a:ext cx="2312987" cy="2270125"/>
          </a:xfrm>
          <a:prstGeom prst="rect">
            <a:avLst/>
          </a:prstGeom>
          <a:noFill/>
          <a:ln>
            <a:noFill/>
          </a:ln>
        </p:spPr>
      </p:pic>
      <p:sp>
        <p:nvSpPr>
          <p:cNvPr id="911" name="Google Shape;911;p68"/>
          <p:cNvSpPr txBox="1"/>
          <p:nvPr/>
        </p:nvSpPr>
        <p:spPr>
          <a:xfrm flipH="1" rot="10800000">
            <a:off x="2117725" y="2971800"/>
            <a:ext cx="1158875" cy="769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Gill Sans"/>
              <a:buNone/>
            </a:pPr>
            <a:r>
              <a:rPr b="1" i="0" lang="en-US" sz="4400" u="none">
                <a:solidFill>
                  <a:schemeClr val="dk1"/>
                </a:solidFill>
                <a:latin typeface="Gill Sans"/>
                <a:ea typeface="Gill Sans"/>
                <a:cs typeface="Gill Sans"/>
                <a:sym typeface="Gill Sans"/>
              </a:rPr>
              <a:t>⊕</a:t>
            </a:r>
            <a:endParaRPr/>
          </a:p>
        </p:txBody>
      </p:sp>
      <p:pic>
        <p:nvPicPr>
          <p:cNvPr descr="Screen Clipping" id="912" name="Google Shape;912;p68"/>
          <p:cNvPicPr preferRelativeResize="0"/>
          <p:nvPr/>
        </p:nvPicPr>
        <p:blipFill rotWithShape="1">
          <a:blip r:embed="rId5">
            <a:alphaModFix/>
          </a:blip>
          <a:srcRect b="0" l="0" r="0" t="0"/>
          <a:stretch/>
        </p:blipFill>
        <p:spPr>
          <a:xfrm>
            <a:off x="6156325" y="2220912"/>
            <a:ext cx="2774950" cy="2271712"/>
          </a:xfrm>
          <a:prstGeom prst="rect">
            <a:avLst/>
          </a:prstGeom>
          <a:noFill/>
          <a:ln>
            <a:noFill/>
          </a:ln>
        </p:spPr>
      </p:pic>
      <p:sp>
        <p:nvSpPr>
          <p:cNvPr id="913" name="Google Shape;913;p68"/>
          <p:cNvSpPr txBox="1"/>
          <p:nvPr/>
        </p:nvSpPr>
        <p:spPr>
          <a:xfrm flipH="1" rot="10800000">
            <a:off x="4999037" y="2992437"/>
            <a:ext cx="1157287" cy="769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Gill Sans"/>
              <a:buNone/>
            </a:pPr>
            <a:r>
              <a:rPr b="1" i="0" lang="en-US" sz="4400" u="none">
                <a:solidFill>
                  <a:schemeClr val="dk1"/>
                </a:solidFill>
                <a:latin typeface="Gill Sans"/>
                <a:ea typeface="Gill Sans"/>
                <a:cs typeface="Gill Sans"/>
                <a:sym typeface="Gill Sans"/>
              </a:rPr>
              <a:t>=</a:t>
            </a:r>
            <a:endParaRPr/>
          </a:p>
        </p:txBody>
      </p:sp>
      <p:sp>
        <p:nvSpPr>
          <p:cNvPr id="914" name="Google Shape;914;p68"/>
          <p:cNvSpPr/>
          <p:nvPr/>
        </p:nvSpPr>
        <p:spPr>
          <a:xfrm>
            <a:off x="7316787" y="4654550"/>
            <a:ext cx="484187" cy="790575"/>
          </a:xfrm>
          <a:prstGeom prst="downArrow">
            <a:avLst>
              <a:gd fmla="val 14986" name="adj1"/>
              <a:gd fmla="val 50000" name="adj2"/>
            </a:avLst>
          </a:prstGeom>
          <a:solidFill>
            <a:schemeClr val="accent1"/>
          </a:solidFill>
          <a:ln cap="flat" cmpd="sng" w="12700">
            <a:solidFill>
              <a:srgbClr val="2F52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ill Sans"/>
              <a:ea typeface="Gill Sans"/>
              <a:cs typeface="Gill Sans"/>
              <a:sym typeface="Gill Sans"/>
            </a:endParaRPr>
          </a:p>
        </p:txBody>
      </p:sp>
      <p:sp>
        <p:nvSpPr>
          <p:cNvPr id="915" name="Google Shape;915;p68"/>
          <p:cNvSpPr txBox="1"/>
          <p:nvPr/>
        </p:nvSpPr>
        <p:spPr>
          <a:xfrm>
            <a:off x="6156325" y="5559425"/>
            <a:ext cx="29749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Gill Sans"/>
              <a:buNone/>
            </a:pPr>
            <a:r>
              <a:rPr b="1" i="0" lang="en-US" sz="2400" u="none">
                <a:solidFill>
                  <a:srgbClr val="FF0000"/>
                </a:solidFill>
                <a:latin typeface="Gill Sans"/>
                <a:ea typeface="Gill Sans"/>
                <a:cs typeface="Gill Sans"/>
                <a:sym typeface="Gill Sans"/>
              </a:rPr>
              <a:t>Input of next round</a:t>
            </a:r>
            <a:endParaRPr/>
          </a:p>
        </p:txBody>
      </p:sp>
      <p:sp>
        <p:nvSpPr>
          <p:cNvPr id="916" name="Google Shape;916;p68"/>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6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a:solidFill>
                <a:schemeClr val="lt1"/>
              </a:solidFill>
            </a:endParaRPr>
          </a:p>
        </p:txBody>
      </p:sp>
      <p:sp>
        <p:nvSpPr>
          <p:cNvPr id="922" name="Google Shape;922;p69"/>
          <p:cNvSpPr txBox="1"/>
          <p:nvPr>
            <p:ph idx="1" type="body"/>
          </p:nvPr>
        </p:nvSpPr>
        <p:spPr>
          <a:xfrm>
            <a:off x="1331912" y="2852737"/>
            <a:ext cx="7507287" cy="354806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7200"/>
              <a:buFont typeface="Arial"/>
              <a:buNone/>
            </a:pPr>
            <a:r>
              <a:rPr b="0" i="0" lang="en-US" sz="7200" u="none">
                <a:solidFill>
                  <a:schemeClr val="dk1"/>
                </a:solidFill>
                <a:latin typeface="Corbel"/>
                <a:ea typeface="Corbel"/>
                <a:cs typeface="Corbel"/>
                <a:sym typeface="Corbel"/>
              </a:rPr>
              <a:t>Key Generation</a:t>
            </a:r>
            <a:endParaRPr/>
          </a:p>
        </p:txBody>
      </p:sp>
      <p:sp>
        <p:nvSpPr>
          <p:cNvPr id="923" name="Google Shape;923;p6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924" name="Google Shape;924;p6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70"/>
          <p:cNvSpPr txBox="1"/>
          <p:nvPr>
            <p:ph type="title"/>
          </p:nvPr>
        </p:nvSpPr>
        <p:spPr>
          <a:xfrm>
            <a:off x="4860925" y="4975225"/>
            <a:ext cx="4287837" cy="10826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orbel"/>
              <a:buNone/>
            </a:pPr>
            <a:r>
              <a:rPr b="0" i="0" lang="en-US" sz="2400" u="none">
                <a:solidFill>
                  <a:schemeClr val="dk1"/>
                </a:solidFill>
                <a:latin typeface="Corbel"/>
                <a:ea typeface="Corbel"/>
                <a:cs typeface="Corbel"/>
                <a:sym typeface="Corbel"/>
              </a:rPr>
              <a:t>Example: Key schedule for 128-bit key AES</a:t>
            </a:r>
            <a:endParaRPr/>
          </a:p>
        </p:txBody>
      </p:sp>
      <p:sp>
        <p:nvSpPr>
          <p:cNvPr id="930" name="Google Shape;930;p70"/>
          <p:cNvSpPr txBox="1"/>
          <p:nvPr/>
        </p:nvSpPr>
        <p:spPr>
          <a:xfrm>
            <a:off x="5559425" y="6376987"/>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94073"/>
              </a:buClr>
              <a:buSzPts val="900"/>
              <a:buFont typeface="Arial"/>
              <a:buNone/>
            </a:pPr>
            <a:fld id="{00000000-1234-1234-1234-123412341234}" type="slidenum">
              <a:rPr b="0" i="0" lang="en-US" sz="900" u="none">
                <a:solidFill>
                  <a:srgbClr val="394073"/>
                </a:solidFill>
                <a:latin typeface="Arial"/>
                <a:ea typeface="Arial"/>
                <a:cs typeface="Arial"/>
                <a:sym typeface="Arial"/>
              </a:rPr>
              <a:t>‹#›</a:t>
            </a:fld>
            <a:r>
              <a:rPr b="0" i="0" lang="en-US" sz="900" u="none">
                <a:solidFill>
                  <a:srgbClr val="394073"/>
                </a:solidFill>
                <a:latin typeface="Arial"/>
                <a:ea typeface="Arial"/>
                <a:cs typeface="Arial"/>
                <a:sym typeface="Arial"/>
              </a:rPr>
              <a:t>/28</a:t>
            </a:r>
            <a:endParaRPr/>
          </a:p>
        </p:txBody>
      </p:sp>
      <p:pic>
        <p:nvPicPr>
          <p:cNvPr descr="E:\Uni\Cryptobook\grundlagen_krypto\graphics\aes_keyschedule_without_g.png" id="931" name="Google Shape;931;p70"/>
          <p:cNvPicPr preferRelativeResize="0"/>
          <p:nvPr/>
        </p:nvPicPr>
        <p:blipFill rotWithShape="1">
          <a:blip r:embed="rId3">
            <a:alphaModFix/>
          </a:blip>
          <a:srcRect b="0" l="0" r="0" t="0"/>
          <a:stretch/>
        </p:blipFill>
        <p:spPr>
          <a:xfrm>
            <a:off x="0" y="-22225"/>
            <a:ext cx="4500562" cy="6892925"/>
          </a:xfrm>
          <a:prstGeom prst="rect">
            <a:avLst/>
          </a:prstGeom>
          <a:noFill/>
          <a:ln>
            <a:noFill/>
          </a:ln>
        </p:spPr>
      </p:pic>
      <p:sp>
        <p:nvSpPr>
          <p:cNvPr id="932" name="Google Shape;932;p70"/>
          <p:cNvSpPr txBox="1"/>
          <p:nvPr/>
        </p:nvSpPr>
        <p:spPr>
          <a:xfrm>
            <a:off x="4786312" y="2193925"/>
            <a:ext cx="4000500" cy="2400300"/>
          </a:xfrm>
          <a:prstGeom prst="rect">
            <a:avLst/>
          </a:prstGeom>
          <a:noFill/>
          <a:ln>
            <a:noFill/>
          </a:ln>
        </p:spPr>
        <p:txBody>
          <a:bodyPr anchorCtr="0" anchor="t" bIns="0" lIns="0" spcFirstLastPara="1" rIns="0" wrap="square" tIns="0">
            <a:spAutoFit/>
          </a:bodyPr>
          <a:lstStyle/>
          <a:p>
            <a:pPr indent="-195262" lvl="0" marL="195262" marR="0" rtl="0" algn="l">
              <a:lnSpc>
                <a:spcPct val="125000"/>
              </a:lnSpc>
              <a:spcBef>
                <a:spcPts val="0"/>
              </a:spcBef>
              <a:spcAft>
                <a:spcPts val="0"/>
              </a:spcAft>
              <a:buClr>
                <a:srgbClr val="007AC2"/>
              </a:buClr>
              <a:buSzPts val="1920"/>
              <a:buFont typeface="Arial"/>
              <a:buChar char="•"/>
            </a:pPr>
            <a:r>
              <a:rPr b="0" i="0" lang="en-US" sz="1600" u="none">
                <a:solidFill>
                  <a:schemeClr val="dk1"/>
                </a:solidFill>
                <a:latin typeface="Calibri"/>
                <a:ea typeface="Calibri"/>
                <a:cs typeface="Calibri"/>
                <a:sym typeface="Calibri"/>
              </a:rPr>
              <a:t>Word-oriented: 1 word = 32 bits</a:t>
            </a:r>
            <a:endParaRPr/>
          </a:p>
          <a:p>
            <a:pPr indent="-73342" lvl="0" marL="195262" marR="0" rtl="0" algn="l">
              <a:lnSpc>
                <a:spcPct val="125000"/>
              </a:lnSpc>
              <a:spcBef>
                <a:spcPts val="400"/>
              </a:spcBef>
              <a:spcAft>
                <a:spcPts val="0"/>
              </a:spcAft>
              <a:buClr>
                <a:srgbClr val="007AC2"/>
              </a:buClr>
              <a:buSzPts val="1920"/>
              <a:buFont typeface="Arial"/>
              <a:buNone/>
            </a:pPr>
            <a:r>
              <a:t/>
            </a:r>
            <a:endParaRPr b="0" i="0" sz="1600" u="none">
              <a:solidFill>
                <a:schemeClr val="dk1"/>
              </a:solidFill>
              <a:latin typeface="Calibri"/>
              <a:ea typeface="Calibri"/>
              <a:cs typeface="Calibri"/>
              <a:sym typeface="Calibri"/>
            </a:endParaRPr>
          </a:p>
          <a:p>
            <a:pPr indent="-195262" lvl="0" marL="195262" marR="0" rtl="0" algn="l">
              <a:lnSpc>
                <a:spcPct val="125000"/>
              </a:lnSpc>
              <a:spcBef>
                <a:spcPts val="400"/>
              </a:spcBef>
              <a:spcAft>
                <a:spcPts val="0"/>
              </a:spcAft>
              <a:buClr>
                <a:srgbClr val="007AC2"/>
              </a:buClr>
              <a:buSzPts val="1920"/>
              <a:buFont typeface="Arial"/>
              <a:buChar char="•"/>
            </a:pPr>
            <a:r>
              <a:rPr b="0" i="0" lang="en-US" sz="1600" u="none">
                <a:solidFill>
                  <a:schemeClr val="dk1"/>
                </a:solidFill>
                <a:latin typeface="Calibri"/>
                <a:ea typeface="Calibri"/>
                <a:cs typeface="Calibri"/>
                <a:sym typeface="Calibri"/>
              </a:rPr>
              <a:t>11 subkeys are stored in </a:t>
            </a:r>
            <a:r>
              <a:rPr b="0" i="1" lang="en-US" sz="1600" u="none">
                <a:solidFill>
                  <a:schemeClr val="dk1"/>
                </a:solidFill>
                <a:latin typeface="Calibri"/>
                <a:ea typeface="Calibri"/>
                <a:cs typeface="Calibri"/>
                <a:sym typeface="Calibri"/>
              </a:rPr>
              <a:t>W[0]…W[3], W[4]…W[7], … , W[40]…W[43]</a:t>
            </a:r>
            <a:endParaRPr b="0" i="0" sz="1600" u="none">
              <a:solidFill>
                <a:schemeClr val="dk1"/>
              </a:solidFill>
              <a:latin typeface="Calibri"/>
              <a:ea typeface="Calibri"/>
              <a:cs typeface="Calibri"/>
              <a:sym typeface="Calibri"/>
            </a:endParaRPr>
          </a:p>
          <a:p>
            <a:pPr indent="-73342" lvl="0" marL="195262" marR="0" rtl="0" algn="l">
              <a:lnSpc>
                <a:spcPct val="125000"/>
              </a:lnSpc>
              <a:spcBef>
                <a:spcPts val="400"/>
              </a:spcBef>
              <a:spcAft>
                <a:spcPts val="0"/>
              </a:spcAft>
              <a:buClr>
                <a:srgbClr val="007AC2"/>
              </a:buClr>
              <a:buSzPts val="1920"/>
              <a:buFont typeface="Arial"/>
              <a:buNone/>
            </a:pPr>
            <a:r>
              <a:t/>
            </a:r>
            <a:endParaRPr b="0" i="1" sz="1600" u="none">
              <a:solidFill>
                <a:schemeClr val="dk1"/>
              </a:solidFill>
              <a:latin typeface="Calibri"/>
              <a:ea typeface="Calibri"/>
              <a:cs typeface="Calibri"/>
              <a:sym typeface="Calibri"/>
            </a:endParaRPr>
          </a:p>
          <a:p>
            <a:pPr indent="-195262" lvl="0" marL="195262" marR="0" rtl="0" algn="l">
              <a:lnSpc>
                <a:spcPct val="125000"/>
              </a:lnSpc>
              <a:spcBef>
                <a:spcPts val="400"/>
              </a:spcBef>
              <a:spcAft>
                <a:spcPts val="0"/>
              </a:spcAft>
              <a:buClr>
                <a:srgbClr val="007AC2"/>
              </a:buClr>
              <a:buSzPts val="1920"/>
              <a:buFont typeface="Arial"/>
              <a:buChar char="•"/>
            </a:pPr>
            <a:r>
              <a:rPr b="0" i="0" lang="en-US" sz="1600" u="none">
                <a:solidFill>
                  <a:schemeClr val="dk1"/>
                </a:solidFill>
                <a:latin typeface="Calibri"/>
                <a:ea typeface="Calibri"/>
                <a:cs typeface="Calibri"/>
                <a:sym typeface="Calibri"/>
              </a:rPr>
              <a:t>First subkey </a:t>
            </a:r>
            <a:r>
              <a:rPr b="0" i="1" lang="en-US" sz="1600" u="none">
                <a:solidFill>
                  <a:schemeClr val="dk1"/>
                </a:solidFill>
                <a:latin typeface="Calibri"/>
                <a:ea typeface="Calibri"/>
                <a:cs typeface="Calibri"/>
                <a:sym typeface="Calibri"/>
              </a:rPr>
              <a:t>W[0]</a:t>
            </a:r>
            <a:r>
              <a:rPr b="0" i="0" lang="en-US" sz="1600" u="none">
                <a:solidFill>
                  <a:schemeClr val="dk1"/>
                </a:solidFill>
                <a:latin typeface="Calibri"/>
                <a:ea typeface="Calibri"/>
                <a:cs typeface="Calibri"/>
                <a:sym typeface="Calibri"/>
              </a:rPr>
              <a:t>…</a:t>
            </a:r>
            <a:r>
              <a:rPr b="0" i="1" lang="en-US" sz="1600" u="none">
                <a:solidFill>
                  <a:schemeClr val="dk1"/>
                </a:solidFill>
                <a:latin typeface="Calibri"/>
                <a:ea typeface="Calibri"/>
                <a:cs typeface="Calibri"/>
                <a:sym typeface="Calibri"/>
              </a:rPr>
              <a:t>W[3]</a:t>
            </a:r>
            <a:r>
              <a:rPr b="0" i="0" lang="en-US" sz="1600" u="none">
                <a:solidFill>
                  <a:schemeClr val="dk1"/>
                </a:solidFill>
                <a:latin typeface="Calibri"/>
                <a:ea typeface="Calibri"/>
                <a:cs typeface="Calibri"/>
                <a:sym typeface="Calibri"/>
              </a:rPr>
              <a:t> is the original AES key</a:t>
            </a:r>
            <a:endParaRPr/>
          </a:p>
        </p:txBody>
      </p:sp>
      <p:sp>
        <p:nvSpPr>
          <p:cNvPr id="933" name="Google Shape;933;p7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pic>
        <p:nvPicPr>
          <p:cNvPr descr="E:\Uni\Cryptobook\grundlagen_krypto\graphics\aes_keyschedule_without_g.png" id="938" name="Google Shape;938;p71"/>
          <p:cNvPicPr preferRelativeResize="0"/>
          <p:nvPr/>
        </p:nvPicPr>
        <p:blipFill rotWithShape="1">
          <a:blip r:embed="rId3">
            <a:alphaModFix/>
          </a:blip>
          <a:srcRect b="0" l="0" r="0" t="0"/>
          <a:stretch/>
        </p:blipFill>
        <p:spPr>
          <a:xfrm>
            <a:off x="0" y="12700"/>
            <a:ext cx="4479925" cy="6862762"/>
          </a:xfrm>
          <a:prstGeom prst="rect">
            <a:avLst/>
          </a:prstGeom>
          <a:noFill/>
          <a:ln>
            <a:noFill/>
          </a:ln>
        </p:spPr>
      </p:pic>
      <p:sp>
        <p:nvSpPr>
          <p:cNvPr id="939" name="Google Shape;939;p71"/>
          <p:cNvSpPr txBox="1"/>
          <p:nvPr/>
        </p:nvSpPr>
        <p:spPr>
          <a:xfrm>
            <a:off x="5559425" y="6376987"/>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94073"/>
              </a:buClr>
              <a:buSzPts val="900"/>
              <a:buFont typeface="Arial"/>
              <a:buNone/>
            </a:pPr>
            <a:fld id="{00000000-1234-1234-1234-123412341234}" type="slidenum">
              <a:rPr b="0" i="0" lang="en-US" sz="900" u="none">
                <a:solidFill>
                  <a:srgbClr val="394073"/>
                </a:solidFill>
                <a:latin typeface="Arial"/>
                <a:ea typeface="Arial"/>
                <a:cs typeface="Arial"/>
                <a:sym typeface="Arial"/>
              </a:rPr>
              <a:t>‹#›</a:t>
            </a:fld>
            <a:r>
              <a:rPr b="0" i="0" lang="en-US" sz="900" u="none">
                <a:solidFill>
                  <a:srgbClr val="394073"/>
                </a:solidFill>
                <a:latin typeface="Arial"/>
                <a:ea typeface="Arial"/>
                <a:cs typeface="Arial"/>
                <a:sym typeface="Arial"/>
              </a:rPr>
              <a:t>/28</a:t>
            </a:r>
            <a:endParaRPr/>
          </a:p>
        </p:txBody>
      </p:sp>
      <p:pic>
        <p:nvPicPr>
          <p:cNvPr id="940" name="Google Shape;940;p71"/>
          <p:cNvPicPr preferRelativeResize="0"/>
          <p:nvPr/>
        </p:nvPicPr>
        <p:blipFill>
          <a:blip r:embed="rId4">
            <a:alphaModFix/>
          </a:blip>
          <a:stretch>
            <a:fillRect/>
          </a:stretch>
        </p:blipFill>
        <p:spPr>
          <a:xfrm>
            <a:off x="5013325" y="1189025"/>
            <a:ext cx="4000500" cy="3638550"/>
          </a:xfrm>
          <a:prstGeom prst="rect">
            <a:avLst/>
          </a:prstGeom>
          <a:noFill/>
          <a:ln>
            <a:noFill/>
          </a:ln>
        </p:spPr>
      </p:pic>
      <p:sp>
        <p:nvSpPr>
          <p:cNvPr id="941" name="Google Shape;941;p7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72"/>
          <p:cNvSpPr txBox="1"/>
          <p:nvPr/>
        </p:nvSpPr>
        <p:spPr>
          <a:xfrm>
            <a:off x="377825" y="1419225"/>
            <a:ext cx="8137500" cy="501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This question is about the Key Schedule of AES algorithm.</a:t>
            </a:r>
            <a:br>
              <a:rPr b="0" i="0" lang="en-US" sz="1800" u="none">
                <a:solidFill>
                  <a:schemeClr val="dk1"/>
                </a:solidFill>
                <a:latin typeface="Gill Sans"/>
                <a:ea typeface="Gill Sans"/>
                <a:cs typeface="Gill Sans"/>
                <a:sym typeface="Gill Sans"/>
              </a:rPr>
            </a:br>
            <a:r>
              <a:rPr b="0" i="0" lang="en-US" sz="1800" u="none">
                <a:solidFill>
                  <a:schemeClr val="dk1"/>
                </a:solidFill>
                <a:latin typeface="Gill Sans"/>
                <a:ea typeface="Gill Sans"/>
                <a:cs typeface="Gill Sans"/>
                <a:sym typeface="Gill Sans"/>
              </a:rPr>
              <a:t>Let's assume the initial key is: </a:t>
            </a:r>
            <a:r>
              <a:rPr b="1" i="0" lang="en-US" sz="1800" u="none">
                <a:solidFill>
                  <a:schemeClr val="dk1"/>
                </a:solidFill>
                <a:latin typeface="Gill Sans"/>
                <a:ea typeface="Gill Sans"/>
                <a:cs typeface="Gill Sans"/>
                <a:sym typeface="Gill Sans"/>
              </a:rPr>
              <a:t>(W[0] W[1] W[2] W[3])</a:t>
            </a:r>
            <a:r>
              <a:rPr b="0" i="0" lang="en-US" sz="1800" u="none">
                <a:solidFill>
                  <a:schemeClr val="dk1"/>
                </a:solidFill>
                <a:latin typeface="Gill Sans"/>
                <a:ea typeface="Gill Sans"/>
                <a:cs typeface="Gill Sans"/>
                <a:sym typeface="Gill Sans"/>
              </a:rPr>
              <a:t> = (</a:t>
            </a:r>
            <a:r>
              <a:rPr b="1" i="0" lang="en-US" sz="1800" u="none">
                <a:solidFill>
                  <a:schemeClr val="dk1"/>
                </a:solidFill>
                <a:latin typeface="Gill Sans"/>
                <a:ea typeface="Gill Sans"/>
                <a:cs typeface="Gill Sans"/>
                <a:sym typeface="Gill Sans"/>
              </a:rPr>
              <a:t>4A C6 9E 45) </a:t>
            </a:r>
            <a:r>
              <a:rPr b="0" i="0" lang="en-US" sz="1800" u="none">
                <a:solidFill>
                  <a:schemeClr val="dk1"/>
                </a:solidFill>
                <a:latin typeface="Gill Sans"/>
                <a:ea typeface="Gill Sans"/>
                <a:cs typeface="Gill Sans"/>
                <a:sym typeface="Gill Sans"/>
              </a:rPr>
              <a:t>and the Round constant is </a:t>
            </a:r>
            <a:r>
              <a:rPr b="1" i="0" lang="en-US" sz="1800" u="none">
                <a:solidFill>
                  <a:schemeClr val="dk1"/>
                </a:solidFill>
                <a:latin typeface="Gill Sans"/>
                <a:ea typeface="Gill Sans"/>
                <a:cs typeface="Gill Sans"/>
                <a:sym typeface="Gill Sans"/>
              </a:rPr>
              <a:t>00 01 10 11.</a:t>
            </a:r>
            <a:br>
              <a:rPr b="0" i="0" lang="en-US" sz="1800" u="none">
                <a:solidFill>
                  <a:schemeClr val="dk1"/>
                </a:solidFill>
                <a:latin typeface="Gill Sans"/>
                <a:ea typeface="Gill Sans"/>
                <a:cs typeface="Gill Sans"/>
                <a:sym typeface="Gill Sans"/>
              </a:rPr>
            </a:br>
            <a:r>
              <a:rPr b="0" i="0" lang="en-US" sz="1800" u="none">
                <a:solidFill>
                  <a:schemeClr val="dk1"/>
                </a:solidFill>
                <a:latin typeface="Gill Sans"/>
                <a:ea typeface="Gill Sans"/>
                <a:cs typeface="Gill Sans"/>
                <a:sym typeface="Gill Sans"/>
              </a:rPr>
              <a:t>You need to use the S-box of AES.</a:t>
            </a:r>
            <a:endParaRPr/>
          </a:p>
          <a:p>
            <a:pPr indent="0" lvl="0" marL="0" marR="0" rtl="0" algn="l">
              <a:lnSpc>
                <a:spcPct val="100000"/>
              </a:lnSpc>
              <a:spcBef>
                <a:spcPts val="0"/>
              </a:spcBef>
              <a:spcAft>
                <a:spcPts val="0"/>
              </a:spcAft>
              <a:buClr>
                <a:schemeClr val="dk1"/>
              </a:buClr>
              <a:buSzPts val="1800"/>
              <a:buFont typeface="Gill Sans"/>
              <a:buNone/>
            </a:pPr>
            <a:r>
              <a:t/>
            </a:r>
            <a:endParaRPr b="0" i="0" sz="1800" u="non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W[4] = W[0] ⊕ g(W[3])</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W[5] = W[1] ⊕  W[4]</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W[6] = W[2] ⊕  W[5]</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W[7] = W[3] ⊕  W[6]</a:t>
            </a:r>
            <a:endParaRPr/>
          </a:p>
          <a:p>
            <a:pPr indent="0" lvl="0" marL="0" marR="0" rtl="0" algn="l">
              <a:lnSpc>
                <a:spcPct val="100000"/>
              </a:lnSpc>
              <a:spcBef>
                <a:spcPts val="0"/>
              </a:spcBef>
              <a:spcAft>
                <a:spcPts val="0"/>
              </a:spcAft>
              <a:buClr>
                <a:schemeClr val="dk1"/>
              </a:buClr>
              <a:buSzPts val="1800"/>
              <a:buFont typeface="Gill Sans"/>
              <a:buNone/>
            </a:pPr>
            <a:r>
              <a:t/>
            </a:r>
            <a:endParaRPr b="1" i="0" sz="1800" u="non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W[4] = 4A ⊕ g(W[3])  = 01001010 ⊕ 00111011</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					=01110001 = 71</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W[5] = C6 ⊕  71 = 11000110 ⊕ 01110001</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					=10110111 = B7</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And so on…</a:t>
            </a:r>
            <a:endParaRPr/>
          </a:p>
          <a:p>
            <a:pPr indent="0" lvl="0" marL="0" marR="0" rtl="0" algn="l">
              <a:lnSpc>
                <a:spcPct val="100000"/>
              </a:lnSpc>
              <a:spcBef>
                <a:spcPts val="0"/>
              </a:spcBef>
              <a:spcAft>
                <a:spcPts val="0"/>
              </a:spcAft>
              <a:buClr>
                <a:schemeClr val="dk1"/>
              </a:buClr>
              <a:buSzPts val="1800"/>
              <a:buFont typeface="Gill Sans"/>
              <a:buNone/>
            </a:pPr>
            <a:r>
              <a:t/>
            </a:r>
            <a:endParaRPr b="1" i="0" sz="1800" u="non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1800"/>
              <a:buFont typeface="Gill Sans"/>
              <a:buNone/>
            </a:pPr>
            <a:br>
              <a:rPr b="1" i="0" lang="en-US" sz="1800" u="none">
                <a:solidFill>
                  <a:schemeClr val="dk1"/>
                </a:solidFill>
                <a:latin typeface="Gill Sans"/>
                <a:ea typeface="Gill Sans"/>
                <a:cs typeface="Gill Sans"/>
                <a:sym typeface="Gill Sans"/>
              </a:rPr>
            </a:br>
            <a:endParaRPr/>
          </a:p>
        </p:txBody>
      </p:sp>
      <p:sp>
        <p:nvSpPr>
          <p:cNvPr id="947" name="Google Shape;947;p72"/>
          <p:cNvSpPr txBox="1"/>
          <p:nvPr/>
        </p:nvSpPr>
        <p:spPr>
          <a:xfrm>
            <a:off x="5795950" y="2924175"/>
            <a:ext cx="3103500" cy="2862900"/>
          </a:xfrm>
          <a:prstGeom prst="rect">
            <a:avLst/>
          </a:prstGeom>
          <a:solidFill>
            <a:srgbClr val="FBE5D6"/>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g(W[3]) = g(45)</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Step 1: </a:t>
            </a:r>
            <a:endParaRPr/>
          </a:p>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Rotate W[3] i.e 45 becomes 54</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Step 2:</a:t>
            </a:r>
            <a:endParaRPr/>
          </a:p>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S-box(54) = 20</a:t>
            </a:r>
            <a:endParaRPr/>
          </a:p>
          <a:p>
            <a:pPr indent="0" lvl="0" marL="0" marR="0" rtl="0" algn="l">
              <a:lnSpc>
                <a:spcPct val="100000"/>
              </a:lnSpc>
              <a:spcBef>
                <a:spcPts val="0"/>
              </a:spcBef>
              <a:spcAft>
                <a:spcPts val="0"/>
              </a:spcAft>
              <a:buClr>
                <a:schemeClr val="dk1"/>
              </a:buClr>
              <a:buSzPts val="1800"/>
              <a:buFont typeface="Gill Sans"/>
              <a:buNone/>
            </a:pPr>
            <a:r>
              <a:rPr b="1" i="0" lang="en-US" sz="1800" u="none">
                <a:solidFill>
                  <a:schemeClr val="dk1"/>
                </a:solidFill>
                <a:latin typeface="Gill Sans"/>
                <a:ea typeface="Gill Sans"/>
                <a:cs typeface="Gill Sans"/>
                <a:sym typeface="Gill Sans"/>
              </a:rPr>
              <a:t>Step 3:</a:t>
            </a:r>
            <a:endParaRPr/>
          </a:p>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20 </a:t>
            </a:r>
            <a:r>
              <a:rPr b="1" i="0" lang="en-US" sz="1800" u="none">
                <a:solidFill>
                  <a:schemeClr val="dk1"/>
                </a:solidFill>
                <a:latin typeface="Gill Sans"/>
                <a:ea typeface="Gill Sans"/>
                <a:cs typeface="Gill Sans"/>
                <a:sym typeface="Gill Sans"/>
              </a:rPr>
              <a:t>⊕ </a:t>
            </a:r>
            <a:r>
              <a:rPr b="0" i="0" lang="en-US" sz="1800" u="none">
                <a:solidFill>
                  <a:schemeClr val="dk1"/>
                </a:solidFill>
                <a:latin typeface="Gill Sans"/>
                <a:ea typeface="Gill Sans"/>
                <a:cs typeface="Gill Sans"/>
                <a:sym typeface="Gill Sans"/>
              </a:rPr>
              <a:t>RC</a:t>
            </a:r>
            <a:endParaRPr/>
          </a:p>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 00100000 ⊕ 00011011</a:t>
            </a:r>
            <a:endParaRPr/>
          </a:p>
          <a:p>
            <a:pPr indent="0" lvl="0" marL="0" marR="0" rtl="0" algn="l">
              <a:lnSpc>
                <a:spcPct val="100000"/>
              </a:lnSpc>
              <a:spcBef>
                <a:spcPts val="0"/>
              </a:spcBef>
              <a:spcAft>
                <a:spcPts val="0"/>
              </a:spcAft>
              <a:buClr>
                <a:schemeClr val="dk1"/>
              </a:buClr>
              <a:buSzPts val="1800"/>
              <a:buFont typeface="Gill Sans"/>
              <a:buNone/>
            </a:pPr>
            <a:r>
              <a:rPr b="0" i="0" lang="en-US" sz="1800" u="none">
                <a:solidFill>
                  <a:schemeClr val="dk1"/>
                </a:solidFill>
                <a:latin typeface="Gill Sans"/>
                <a:ea typeface="Gill Sans"/>
                <a:cs typeface="Gill Sans"/>
                <a:sym typeface="Gill Sans"/>
              </a:rPr>
              <a:t>=</a:t>
            </a:r>
            <a:r>
              <a:rPr b="1" i="0" lang="en-US" sz="1800" u="none">
                <a:solidFill>
                  <a:schemeClr val="dk1"/>
                </a:solidFill>
                <a:latin typeface="Gill Sans"/>
                <a:ea typeface="Gill Sans"/>
                <a:cs typeface="Gill Sans"/>
                <a:sym typeface="Gill Sans"/>
              </a:rPr>
              <a:t>00111011</a:t>
            </a:r>
            <a:r>
              <a:rPr b="0" i="0" lang="en-US" sz="1800" u="none">
                <a:solidFill>
                  <a:schemeClr val="dk1"/>
                </a:solidFill>
                <a:latin typeface="Gill Sans"/>
                <a:ea typeface="Gill Sans"/>
                <a:cs typeface="Gill Sans"/>
                <a:sym typeface="Gill Sans"/>
              </a:rPr>
              <a:t> = g(W[3]) </a:t>
            </a:r>
            <a:endParaRPr/>
          </a:p>
        </p:txBody>
      </p:sp>
      <p:sp>
        <p:nvSpPr>
          <p:cNvPr id="948" name="Google Shape;948;p7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949" name="Google Shape;949;p7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73"/>
          <p:cNvSpPr txBox="1"/>
          <p:nvPr>
            <p:ph type="title"/>
          </p:nvPr>
        </p:nvSpPr>
        <p:spPr>
          <a:xfrm>
            <a:off x="685800" y="457200"/>
            <a:ext cx="7772400"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AES Decryption</a:t>
            </a:r>
            <a:endParaRPr/>
          </a:p>
        </p:txBody>
      </p:sp>
      <p:sp>
        <p:nvSpPr>
          <p:cNvPr id="955" name="Google Shape;955;p73"/>
          <p:cNvSpPr txBox="1"/>
          <p:nvPr>
            <p:ph idx="1" type="body"/>
          </p:nvPr>
        </p:nvSpPr>
        <p:spPr>
          <a:xfrm>
            <a:off x="685800" y="1895475"/>
            <a:ext cx="7696200" cy="44196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To decrypt, process must be invertible</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Inverse of MixAddRoundKey is easy, since “⊕” is its own inverse</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MixColumn is invertible (inverse is also implemented as a lookup table)</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Inverse of ShiftRow is easy (cyclic shift the other direction)</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ByteSub is invertible (inverse is also implemented as a lookup table)</a:t>
            </a:r>
            <a:endParaRPr/>
          </a:p>
        </p:txBody>
      </p:sp>
      <p:sp>
        <p:nvSpPr>
          <p:cNvPr id="956" name="Google Shape;956;p7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957" name="Google Shape;957;p7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74"/>
          <p:cNvSpPr txBox="1"/>
          <p:nvPr>
            <p:ph type="title"/>
          </p:nvPr>
        </p:nvSpPr>
        <p:spPr>
          <a:xfrm>
            <a:off x="5253037" y="582612"/>
            <a:ext cx="2343150" cy="1082675"/>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Corbel"/>
              <a:buNone/>
            </a:pPr>
            <a:r>
              <a:rPr b="0" i="0" lang="en-US" sz="2400" u="none">
                <a:solidFill>
                  <a:schemeClr val="lt1"/>
                </a:solidFill>
                <a:latin typeface="Corbel"/>
                <a:ea typeface="Corbel"/>
                <a:cs typeface="Corbel"/>
                <a:sym typeface="Corbel"/>
              </a:rPr>
              <a:t>AES Decryption</a:t>
            </a:r>
            <a:endParaRPr/>
          </a:p>
        </p:txBody>
      </p:sp>
      <p:pic>
        <p:nvPicPr>
          <p:cNvPr descr="E:\Uni\Cryptobook\grundlagen_krypto\graphics\rijndael_invflow.png" id="963" name="Google Shape;963;p74"/>
          <p:cNvPicPr preferRelativeResize="0"/>
          <p:nvPr>
            <p:ph idx="1" type="body"/>
          </p:nvPr>
        </p:nvPicPr>
        <p:blipFill rotWithShape="1">
          <a:blip r:embed="rId3">
            <a:alphaModFix/>
          </a:blip>
          <a:srcRect b="0" l="0" r="0" t="0"/>
          <a:stretch/>
        </p:blipFill>
        <p:spPr>
          <a:xfrm>
            <a:off x="0" y="149225"/>
            <a:ext cx="4938712" cy="6708775"/>
          </a:xfrm>
          <a:prstGeom prst="rect">
            <a:avLst/>
          </a:prstGeom>
          <a:noFill/>
          <a:ln>
            <a:noFill/>
          </a:ln>
        </p:spPr>
      </p:pic>
      <p:sp>
        <p:nvSpPr>
          <p:cNvPr id="964" name="Google Shape;964;p7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965" name="Google Shape;965;p74"/>
          <p:cNvSpPr txBox="1"/>
          <p:nvPr/>
        </p:nvSpPr>
        <p:spPr>
          <a:xfrm>
            <a:off x="5046662" y="2098675"/>
            <a:ext cx="4097337" cy="36337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1472"/>
              <a:buFont typeface="Noto Sans Symbols"/>
              <a:buChar char="⬛"/>
            </a:pPr>
            <a:r>
              <a:rPr b="0" i="0" lang="en-US" sz="1600" u="none">
                <a:solidFill>
                  <a:schemeClr val="dk1"/>
                </a:solidFill>
                <a:latin typeface="Gill Sans"/>
                <a:ea typeface="Gill Sans"/>
                <a:cs typeface="Gill Sans"/>
                <a:sym typeface="Gill Sans"/>
              </a:rPr>
              <a:t>AES is not based on a Feistel network</a:t>
            </a:r>
            <a:endParaRPr/>
          </a:p>
          <a:p>
            <a:pPr indent="-304800" lvl="0" marL="304800" marR="0" rtl="0" algn="l">
              <a:lnSpc>
                <a:spcPct val="100000"/>
              </a:lnSpc>
              <a:spcBef>
                <a:spcPts val="920"/>
              </a:spcBef>
              <a:spcAft>
                <a:spcPts val="0"/>
              </a:spcAft>
              <a:buClr>
                <a:schemeClr val="dk1"/>
              </a:buClr>
              <a:buSzPts val="1600"/>
              <a:buFont typeface="Gill Sans"/>
              <a:buNone/>
            </a:pPr>
            <a:r>
              <a:rPr b="0" i="0" lang="en-US" sz="1600" u="none">
                <a:solidFill>
                  <a:schemeClr val="dk1"/>
                </a:solidFill>
                <a:latin typeface="Gill Sans"/>
                <a:ea typeface="Gill Sans"/>
                <a:cs typeface="Gill Sans"/>
                <a:sym typeface="Gill Sans"/>
              </a:rPr>
              <a:t>⇒  All layers must be inverted for decryption:</a:t>
            </a:r>
            <a:endParaRPr/>
          </a:p>
          <a:p>
            <a:pPr indent="-223012" lvl="1" marL="628650" marR="0" rtl="0" algn="l">
              <a:lnSpc>
                <a:spcPct val="100000"/>
              </a:lnSpc>
              <a:spcBef>
                <a:spcPts val="880"/>
              </a:spcBef>
              <a:spcAft>
                <a:spcPts val="0"/>
              </a:spcAft>
              <a:buClr>
                <a:schemeClr val="accent2"/>
              </a:buClr>
              <a:buSzPts val="1288"/>
              <a:buFont typeface="Noto Sans Symbols"/>
              <a:buNone/>
            </a:pPr>
            <a:r>
              <a:t/>
            </a:r>
            <a:endParaRPr b="0" i="0" sz="1400" u="none" cap="none" strike="noStrike">
              <a:solidFill>
                <a:schemeClr val="dk1"/>
              </a:solidFill>
              <a:latin typeface="Gill Sans"/>
              <a:ea typeface="Gill Sans"/>
              <a:cs typeface="Gill Sans"/>
              <a:sym typeface="Gill Sans"/>
            </a:endParaRPr>
          </a:p>
          <a:p>
            <a:pPr indent="-304800" lvl="1" marL="628650" marR="0" rtl="0" algn="l">
              <a:lnSpc>
                <a:spcPct val="100000"/>
              </a:lnSpc>
              <a:spcBef>
                <a:spcPts val="880"/>
              </a:spcBef>
              <a:spcAft>
                <a:spcPts val="0"/>
              </a:spcAft>
              <a:buClr>
                <a:schemeClr val="accent2"/>
              </a:buClr>
              <a:buSzPts val="1288"/>
              <a:buFont typeface="Noto Sans Symbols"/>
              <a:buChar char="⬛"/>
            </a:pPr>
            <a:r>
              <a:rPr b="0" i="0" lang="en-US" sz="1400" u="none" cap="none" strike="noStrike">
                <a:solidFill>
                  <a:schemeClr val="dk1"/>
                </a:solidFill>
                <a:latin typeface="Gill Sans"/>
                <a:ea typeface="Gill Sans"/>
                <a:cs typeface="Gill Sans"/>
                <a:sym typeface="Gill Sans"/>
              </a:rPr>
              <a:t>MixColumn layer → </a:t>
            </a:r>
            <a:r>
              <a:rPr b="1" i="0" lang="en-US" sz="1400" u="none" cap="none" strike="noStrike">
                <a:solidFill>
                  <a:schemeClr val="dk1"/>
                </a:solidFill>
                <a:latin typeface="Gill Sans"/>
                <a:ea typeface="Gill Sans"/>
                <a:cs typeface="Gill Sans"/>
                <a:sym typeface="Gill Sans"/>
              </a:rPr>
              <a:t>Inv MixColumn layer</a:t>
            </a:r>
            <a:endParaRPr/>
          </a:p>
          <a:p>
            <a:pPr indent="-304800" lvl="1" marL="628650" marR="0" rtl="0" algn="l">
              <a:lnSpc>
                <a:spcPct val="100000"/>
              </a:lnSpc>
              <a:spcBef>
                <a:spcPts val="880"/>
              </a:spcBef>
              <a:spcAft>
                <a:spcPts val="0"/>
              </a:spcAft>
              <a:buClr>
                <a:schemeClr val="accent2"/>
              </a:buClr>
              <a:buSzPts val="1288"/>
              <a:buFont typeface="Noto Sans Symbols"/>
              <a:buChar char="⬛"/>
            </a:pPr>
            <a:r>
              <a:rPr b="0" i="0" lang="en-US" sz="1400" u="none" cap="none" strike="noStrike">
                <a:solidFill>
                  <a:schemeClr val="dk1"/>
                </a:solidFill>
                <a:latin typeface="Gill Sans"/>
                <a:ea typeface="Gill Sans"/>
                <a:cs typeface="Gill Sans"/>
                <a:sym typeface="Gill Sans"/>
              </a:rPr>
              <a:t>ShiftRows layer→ </a:t>
            </a:r>
            <a:r>
              <a:rPr b="1" i="0" lang="en-US" sz="1400" u="none" cap="none" strike="noStrike">
                <a:solidFill>
                  <a:schemeClr val="dk1"/>
                </a:solidFill>
                <a:latin typeface="Gill Sans"/>
                <a:ea typeface="Gill Sans"/>
                <a:cs typeface="Gill Sans"/>
                <a:sym typeface="Gill Sans"/>
              </a:rPr>
              <a:t>Inv ShiftRows layer</a:t>
            </a:r>
            <a:endParaRPr/>
          </a:p>
          <a:p>
            <a:pPr indent="-304800" lvl="1" marL="628650" marR="0" rtl="0" algn="l">
              <a:lnSpc>
                <a:spcPct val="100000"/>
              </a:lnSpc>
              <a:spcBef>
                <a:spcPts val="880"/>
              </a:spcBef>
              <a:spcAft>
                <a:spcPts val="0"/>
              </a:spcAft>
              <a:buClr>
                <a:schemeClr val="accent2"/>
              </a:buClr>
              <a:buSzPts val="1288"/>
              <a:buFont typeface="Noto Sans Symbols"/>
              <a:buChar char="⬛"/>
            </a:pPr>
            <a:r>
              <a:rPr b="0" i="0" lang="en-US" sz="1400" u="none" cap="none" strike="noStrike">
                <a:solidFill>
                  <a:schemeClr val="dk1"/>
                </a:solidFill>
                <a:latin typeface="Gill Sans"/>
                <a:ea typeface="Gill Sans"/>
                <a:cs typeface="Gill Sans"/>
                <a:sym typeface="Gill Sans"/>
              </a:rPr>
              <a:t>Byte Substitution layer → </a:t>
            </a:r>
            <a:r>
              <a:rPr b="1" i="0" lang="en-US" sz="1400" u="none" cap="none" strike="noStrike">
                <a:solidFill>
                  <a:schemeClr val="dk1"/>
                </a:solidFill>
                <a:latin typeface="Gill Sans"/>
                <a:ea typeface="Gill Sans"/>
                <a:cs typeface="Gill Sans"/>
                <a:sym typeface="Gill Sans"/>
              </a:rPr>
              <a:t>Inv Byte Substitution layer</a:t>
            </a:r>
            <a:endParaRPr/>
          </a:p>
          <a:p>
            <a:pPr indent="-304800" lvl="1" marL="628650" marR="0" rtl="0" algn="l">
              <a:lnSpc>
                <a:spcPct val="100000"/>
              </a:lnSpc>
              <a:spcBef>
                <a:spcPts val="880"/>
              </a:spcBef>
              <a:spcAft>
                <a:spcPts val="0"/>
              </a:spcAft>
              <a:buClr>
                <a:schemeClr val="accent2"/>
              </a:buClr>
              <a:buSzPts val="1288"/>
              <a:buFont typeface="Noto Sans Symbols"/>
              <a:buChar char="⬛"/>
            </a:pPr>
            <a:r>
              <a:rPr b="0" i="0" lang="en-US" sz="1400" u="none" cap="none" strike="noStrike">
                <a:solidFill>
                  <a:schemeClr val="dk1"/>
                </a:solidFill>
                <a:latin typeface="Gill Sans"/>
                <a:ea typeface="Gill Sans"/>
                <a:cs typeface="Gill Sans"/>
                <a:sym typeface="Gill Sans"/>
              </a:rPr>
              <a:t>Key Addition layer is its own inverse</a:t>
            </a:r>
            <a:endParaRPr/>
          </a:p>
        </p:txBody>
      </p:sp>
      <p:sp>
        <p:nvSpPr>
          <p:cNvPr id="966" name="Google Shape;966;p74"/>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75"/>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a:solidFill>
                <a:schemeClr val="lt1"/>
              </a:solidFill>
            </a:endParaRPr>
          </a:p>
        </p:txBody>
      </p:sp>
      <p:pic>
        <p:nvPicPr>
          <p:cNvPr descr="Screen Clipping" id="972" name="Google Shape;972;p75"/>
          <p:cNvPicPr preferRelativeResize="0"/>
          <p:nvPr>
            <p:ph idx="1" type="body"/>
          </p:nvPr>
        </p:nvPicPr>
        <p:blipFill rotWithShape="1">
          <a:blip r:embed="rId3">
            <a:alphaModFix/>
          </a:blip>
          <a:srcRect b="0" l="0" r="0" t="0"/>
          <a:stretch/>
        </p:blipFill>
        <p:spPr>
          <a:xfrm>
            <a:off x="985837" y="1600200"/>
            <a:ext cx="7467600" cy="4951412"/>
          </a:xfrm>
          <a:prstGeom prst="rect">
            <a:avLst/>
          </a:prstGeom>
          <a:noFill/>
          <a:ln>
            <a:noFill/>
          </a:ln>
        </p:spPr>
      </p:pic>
      <p:sp>
        <p:nvSpPr>
          <p:cNvPr id="973" name="Google Shape;973;p7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974" name="Google Shape;974;p75"/>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76"/>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A Few Other Block Ciphers</a:t>
            </a:r>
            <a:endParaRPr/>
          </a:p>
        </p:txBody>
      </p:sp>
      <p:sp>
        <p:nvSpPr>
          <p:cNvPr id="980" name="Google Shape;980;p76"/>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Briefly…</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IDEA</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Blowfish</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RC6</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More detailed…</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TEA</a:t>
            </a:r>
            <a:endParaRPr/>
          </a:p>
        </p:txBody>
      </p:sp>
      <p:sp>
        <p:nvSpPr>
          <p:cNvPr id="981" name="Google Shape;981;p7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982" name="Google Shape;982;p7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7"/>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a:solidFill>
                <a:schemeClr val="lt1"/>
              </a:solidFill>
            </a:endParaRPr>
          </a:p>
        </p:txBody>
      </p:sp>
      <p:sp>
        <p:nvSpPr>
          <p:cNvPr id="988" name="Google Shape;988;p77"/>
          <p:cNvSpPr txBox="1"/>
          <p:nvPr>
            <p:ph idx="1" type="body"/>
          </p:nvPr>
        </p:nvSpPr>
        <p:spPr>
          <a:xfrm>
            <a:off x="2916237" y="3429000"/>
            <a:ext cx="5922962" cy="2971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0" i="0" lang="en-US" sz="2400" u="none">
                <a:solidFill>
                  <a:schemeClr val="dk1"/>
                </a:solidFill>
                <a:latin typeface="Corbel"/>
                <a:ea typeface="Corbel"/>
                <a:cs typeface="Corbel"/>
                <a:sym typeface="Corbel"/>
              </a:rPr>
              <a:t>End of segment</a:t>
            </a:r>
            <a:endParaRPr/>
          </a:p>
        </p:txBody>
      </p:sp>
      <p:sp>
        <p:nvSpPr>
          <p:cNvPr id="989" name="Google Shape;989;p7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ill Sans"/>
              <a:buNone/>
            </a:pPr>
            <a:fld id="{00000000-1234-1234-1234-123412341234}" type="slidenum">
              <a:rPr b="0" i="0" lang="en-US" sz="900" u="none">
                <a:solidFill>
                  <a:schemeClr val="accent2"/>
                </a:solidFill>
                <a:latin typeface="Gill Sans"/>
                <a:ea typeface="Gill Sans"/>
                <a:cs typeface="Gill Sans"/>
                <a:sym typeface="Gill Sans"/>
              </a:rPr>
              <a:t>‹#›</a:t>
            </a:fld>
            <a:endParaRPr/>
          </a:p>
        </p:txBody>
      </p:sp>
      <p:sp>
        <p:nvSpPr>
          <p:cNvPr id="990" name="Google Shape;990;p77"/>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8"/>
          <p:cNvSpPr txBox="1"/>
          <p:nvPr>
            <p:ph type="title"/>
          </p:nvPr>
        </p:nvSpPr>
        <p:spPr>
          <a:xfrm>
            <a:off x="685800" y="304800"/>
            <a:ext cx="7772400"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Modes of Operation</a:t>
            </a:r>
            <a:endParaRPr/>
          </a:p>
        </p:txBody>
      </p:sp>
      <p:sp>
        <p:nvSpPr>
          <p:cNvPr id="996" name="Google Shape;996;p78"/>
          <p:cNvSpPr txBox="1"/>
          <p:nvPr>
            <p:ph idx="1" type="body"/>
          </p:nvPr>
        </p:nvSpPr>
        <p:spPr>
          <a:xfrm>
            <a:off x="723900" y="1906587"/>
            <a:ext cx="7696200" cy="45720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80000"/>
              </a:lnSpc>
              <a:spcBef>
                <a:spcPts val="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Many modes </a:t>
            </a:r>
            <a:r>
              <a:rPr b="0" i="0" lang="en-US" sz="2400" u="none">
                <a:solidFill>
                  <a:schemeClr val="dk1"/>
                </a:solidFill>
                <a:latin typeface="Corbel"/>
                <a:ea typeface="Corbel"/>
                <a:cs typeface="Corbel"/>
                <a:sym typeface="Corbel"/>
              </a:rPr>
              <a:t>⎯</a:t>
            </a:r>
            <a:r>
              <a:rPr b="0" i="0" lang="en-US" sz="2800" u="none">
                <a:solidFill>
                  <a:schemeClr val="dk1"/>
                </a:solidFill>
                <a:latin typeface="Corbel"/>
                <a:ea typeface="Corbel"/>
                <a:cs typeface="Corbel"/>
                <a:sym typeface="Corbel"/>
              </a:rPr>
              <a:t> we discuss 3 most popular</a:t>
            </a:r>
            <a:endParaRPr/>
          </a:p>
          <a:p>
            <a:pPr indent="-171450" lvl="0" marL="171450" marR="0" rtl="0" algn="l">
              <a:lnSpc>
                <a:spcPct val="8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Electronic Codebook (</a:t>
            </a:r>
            <a:r>
              <a:rPr b="1" i="0" lang="en-US" sz="2800" u="none">
                <a:solidFill>
                  <a:schemeClr val="accent2"/>
                </a:solidFill>
                <a:latin typeface="Corbel"/>
                <a:ea typeface="Corbel"/>
                <a:cs typeface="Corbel"/>
                <a:sym typeface="Corbel"/>
              </a:rPr>
              <a:t>ECB</a:t>
            </a:r>
            <a:r>
              <a:rPr b="0" i="0" lang="en-US" sz="2800" u="none">
                <a:solidFill>
                  <a:schemeClr val="dk1"/>
                </a:solidFill>
                <a:latin typeface="Corbel"/>
                <a:ea typeface="Corbel"/>
                <a:cs typeface="Corbel"/>
                <a:sym typeface="Corbel"/>
              </a:rPr>
              <a:t>) mode</a:t>
            </a:r>
            <a:endParaRPr/>
          </a:p>
          <a:p>
            <a:pPr indent="-393700" lvl="1" marL="514350" marR="0" rtl="0" algn="l">
              <a:lnSpc>
                <a:spcPct val="8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Encrypt each block independently</a:t>
            </a:r>
            <a:endParaRPr/>
          </a:p>
          <a:p>
            <a:pPr indent="-393700" lvl="1" marL="514350" marR="0" rtl="0" algn="l">
              <a:lnSpc>
                <a:spcPct val="8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Most obvious approach, but a bad idea</a:t>
            </a:r>
            <a:endParaRPr/>
          </a:p>
          <a:p>
            <a:pPr indent="-171450" lvl="0" marL="171450" marR="0" rtl="0" algn="l">
              <a:lnSpc>
                <a:spcPct val="8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Cipher Block Chaining (</a:t>
            </a:r>
            <a:r>
              <a:rPr b="1" i="0" lang="en-US" sz="2800" u="none">
                <a:solidFill>
                  <a:schemeClr val="accent2"/>
                </a:solidFill>
                <a:latin typeface="Corbel"/>
                <a:ea typeface="Corbel"/>
                <a:cs typeface="Corbel"/>
                <a:sym typeface="Corbel"/>
              </a:rPr>
              <a:t>CBC</a:t>
            </a:r>
            <a:r>
              <a:rPr b="0" i="0" lang="en-US" sz="2800" u="none">
                <a:solidFill>
                  <a:schemeClr val="dk1"/>
                </a:solidFill>
                <a:latin typeface="Corbel"/>
                <a:ea typeface="Corbel"/>
                <a:cs typeface="Corbel"/>
                <a:sym typeface="Corbel"/>
              </a:rPr>
              <a:t>) mode</a:t>
            </a:r>
            <a:endParaRPr/>
          </a:p>
          <a:p>
            <a:pPr indent="-393700" lvl="1" marL="514350" marR="0" rtl="0" algn="l">
              <a:lnSpc>
                <a:spcPct val="8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Chain the blocks together</a:t>
            </a:r>
            <a:endParaRPr/>
          </a:p>
          <a:p>
            <a:pPr indent="-393700" lvl="1" marL="514350" marR="0" rtl="0" algn="l">
              <a:lnSpc>
                <a:spcPct val="8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More secure than ECB, virtually no extra work</a:t>
            </a:r>
            <a:endParaRPr/>
          </a:p>
          <a:p>
            <a:pPr indent="-171450" lvl="0" marL="171450" marR="0" rtl="0" algn="l">
              <a:lnSpc>
                <a:spcPct val="8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Counter Mode (</a:t>
            </a:r>
            <a:r>
              <a:rPr b="1" i="0" lang="en-US" sz="2800" u="none">
                <a:solidFill>
                  <a:schemeClr val="accent2"/>
                </a:solidFill>
                <a:latin typeface="Corbel"/>
                <a:ea typeface="Corbel"/>
                <a:cs typeface="Corbel"/>
                <a:sym typeface="Corbel"/>
              </a:rPr>
              <a:t>CTR</a:t>
            </a:r>
            <a:r>
              <a:rPr b="0" i="0" lang="en-US" sz="2800" u="none">
                <a:solidFill>
                  <a:schemeClr val="dk1"/>
                </a:solidFill>
                <a:latin typeface="Corbel"/>
                <a:ea typeface="Corbel"/>
                <a:cs typeface="Corbel"/>
                <a:sym typeface="Corbel"/>
              </a:rPr>
              <a:t>) mode</a:t>
            </a:r>
            <a:endParaRPr/>
          </a:p>
          <a:p>
            <a:pPr indent="-393700" lvl="1" marL="514350" marR="0" rtl="0" algn="l">
              <a:lnSpc>
                <a:spcPct val="8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Block ciphers acts like a stream cipher</a:t>
            </a:r>
            <a:endParaRPr/>
          </a:p>
          <a:p>
            <a:pPr indent="-393700" lvl="1" marL="514350" marR="0" rtl="0" algn="l">
              <a:lnSpc>
                <a:spcPct val="8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Popular for random access</a:t>
            </a:r>
            <a:endParaRPr/>
          </a:p>
        </p:txBody>
      </p:sp>
      <p:sp>
        <p:nvSpPr>
          <p:cNvPr id="997" name="Google Shape;997;p7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998" name="Google Shape;998;p78"/>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79"/>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Data Integrity</a:t>
            </a:r>
            <a:endParaRPr/>
          </a:p>
        </p:txBody>
      </p:sp>
      <p:sp>
        <p:nvSpPr>
          <p:cNvPr id="1004" name="Google Shape;1004;p79"/>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1" i="0" lang="en-US" sz="2800" u="none">
                <a:solidFill>
                  <a:schemeClr val="accent2"/>
                </a:solidFill>
                <a:latin typeface="Corbel"/>
                <a:ea typeface="Corbel"/>
                <a:cs typeface="Corbel"/>
                <a:sym typeface="Corbel"/>
              </a:rPr>
              <a:t>Integrity</a:t>
            </a:r>
            <a:r>
              <a:rPr b="0" i="0" lang="en-US" sz="2800" u="none">
                <a:solidFill>
                  <a:schemeClr val="dk1"/>
                </a:solidFill>
                <a:latin typeface="Corbel"/>
                <a:ea typeface="Corbel"/>
                <a:cs typeface="Corbel"/>
                <a:sym typeface="Corbel"/>
              </a:rPr>
              <a:t> ⎯ detect unauthorized writing (i.e., detect unauthorized mod of data)</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Example: Inter-bank fund transfers</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Confidentiality may be nice, integrity is </a:t>
            </a:r>
            <a:r>
              <a:rPr b="1" i="1" lang="en-US" sz="2400" u="none" cap="none" strike="noStrike">
                <a:solidFill>
                  <a:schemeClr val="dk1"/>
                </a:solidFill>
                <a:latin typeface="Corbel"/>
                <a:ea typeface="Corbel"/>
                <a:cs typeface="Corbel"/>
                <a:sym typeface="Corbel"/>
              </a:rPr>
              <a:t>critical</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Encryption provides </a:t>
            </a:r>
            <a:r>
              <a:rPr b="1" i="0" lang="en-US" sz="2800" u="none">
                <a:solidFill>
                  <a:schemeClr val="accent2"/>
                </a:solidFill>
                <a:latin typeface="Corbel"/>
                <a:ea typeface="Corbel"/>
                <a:cs typeface="Corbel"/>
                <a:sym typeface="Corbel"/>
              </a:rPr>
              <a:t>confidentiality</a:t>
            </a:r>
            <a:r>
              <a:rPr b="0" i="0" lang="en-US" sz="2800" u="none">
                <a:solidFill>
                  <a:schemeClr val="dk1"/>
                </a:solidFill>
                <a:latin typeface="Corbel"/>
                <a:ea typeface="Corbel"/>
                <a:cs typeface="Corbel"/>
                <a:sym typeface="Corbel"/>
              </a:rPr>
              <a:t> (prevents unauthorized disclosure)</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Encryption alone does </a:t>
            </a:r>
            <a:r>
              <a:rPr b="1" i="0" lang="en-US" sz="2800" u="none">
                <a:solidFill>
                  <a:srgbClr val="FF0000"/>
                </a:solidFill>
                <a:latin typeface="Corbel"/>
                <a:ea typeface="Corbel"/>
                <a:cs typeface="Corbel"/>
                <a:sym typeface="Corbel"/>
              </a:rPr>
              <a:t>not</a:t>
            </a:r>
            <a:r>
              <a:rPr b="0" i="0" lang="en-US" sz="2800" u="none">
                <a:solidFill>
                  <a:schemeClr val="dk1"/>
                </a:solidFill>
                <a:latin typeface="Corbel"/>
                <a:ea typeface="Corbel"/>
                <a:cs typeface="Corbel"/>
                <a:sym typeface="Corbel"/>
              </a:rPr>
              <a:t> provide integrity</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One-time pad, ECB cut-and-paste, etc., etc.</a:t>
            </a:r>
            <a:endParaRPr/>
          </a:p>
        </p:txBody>
      </p:sp>
      <p:sp>
        <p:nvSpPr>
          <p:cNvPr id="1005" name="Google Shape;1005;p7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1006" name="Google Shape;1006;p7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80"/>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a:buNone/>
            </a:pPr>
            <a:r>
              <a:rPr b="0" i="0" lang="en-US" sz="4000" u="none">
                <a:solidFill>
                  <a:schemeClr val="lt1"/>
                </a:solidFill>
                <a:latin typeface="Times"/>
                <a:ea typeface="Times"/>
                <a:cs typeface="Times"/>
                <a:sym typeface="Times"/>
              </a:rPr>
              <a:t>MAC</a:t>
            </a:r>
            <a:endParaRPr/>
          </a:p>
        </p:txBody>
      </p:sp>
      <p:sp>
        <p:nvSpPr>
          <p:cNvPr id="1012" name="Google Shape;1012;p80"/>
          <p:cNvSpPr txBox="1"/>
          <p:nvPr>
            <p:ph idx="1" type="body"/>
          </p:nvPr>
        </p:nvSpPr>
        <p:spPr>
          <a:xfrm>
            <a:off x="669925" y="1844675"/>
            <a:ext cx="7989887" cy="36322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Message Authentication Code (</a:t>
            </a:r>
            <a:r>
              <a:rPr b="0" i="0" lang="en-US" sz="2800" u="none">
                <a:solidFill>
                  <a:schemeClr val="dk1"/>
                </a:solidFill>
                <a:latin typeface="Times"/>
                <a:ea typeface="Times"/>
                <a:cs typeface="Times"/>
                <a:sym typeface="Times"/>
              </a:rPr>
              <a:t>MAC</a:t>
            </a:r>
            <a:r>
              <a:rPr b="0" i="0" lang="en-US" sz="2800" u="none">
                <a:solidFill>
                  <a:schemeClr val="dk1"/>
                </a:solidFill>
                <a:latin typeface="Corbel"/>
                <a:ea typeface="Corbel"/>
                <a:cs typeface="Corbel"/>
                <a:sym typeface="Corbel"/>
              </a:rPr>
              <a:t>)</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Used for data </a:t>
            </a:r>
            <a:r>
              <a:rPr b="1" i="0" lang="en-US" sz="2400" u="none" cap="none" strike="noStrike">
                <a:solidFill>
                  <a:schemeClr val="accent2"/>
                </a:solidFill>
                <a:latin typeface="Corbel"/>
                <a:ea typeface="Corbel"/>
                <a:cs typeface="Corbel"/>
                <a:sym typeface="Corbel"/>
              </a:rPr>
              <a:t>integrity </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Integrity </a:t>
            </a:r>
            <a:r>
              <a:rPr b="1" i="0" lang="en-US" sz="2400" u="none" cap="none" strike="noStrike">
                <a:solidFill>
                  <a:srgbClr val="FF0000"/>
                </a:solidFill>
                <a:latin typeface="Corbel"/>
                <a:ea typeface="Corbel"/>
                <a:cs typeface="Corbel"/>
                <a:sym typeface="Corbel"/>
              </a:rPr>
              <a:t>not</a:t>
            </a:r>
            <a:r>
              <a:rPr b="0" i="0" lang="en-US" sz="2400" u="none" cap="none" strike="noStrike">
                <a:solidFill>
                  <a:schemeClr val="dk1"/>
                </a:solidFill>
                <a:latin typeface="Corbel"/>
                <a:ea typeface="Corbel"/>
                <a:cs typeface="Corbel"/>
                <a:sym typeface="Corbel"/>
              </a:rPr>
              <a:t> the same as confidentiality</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Times"/>
                <a:ea typeface="Times"/>
                <a:cs typeface="Times"/>
                <a:sym typeface="Times"/>
              </a:rPr>
              <a:t>MAC</a:t>
            </a:r>
            <a:r>
              <a:rPr b="0" i="0" lang="en-US" sz="2800" u="none">
                <a:solidFill>
                  <a:schemeClr val="dk1"/>
                </a:solidFill>
                <a:latin typeface="Corbel"/>
                <a:ea typeface="Corbel"/>
                <a:cs typeface="Corbel"/>
                <a:sym typeface="Corbel"/>
              </a:rPr>
              <a:t> is computed as </a:t>
            </a:r>
            <a:r>
              <a:rPr b="1" i="0" lang="en-US" sz="2800" u="none">
                <a:solidFill>
                  <a:schemeClr val="accent2"/>
                </a:solidFill>
                <a:latin typeface="Corbel"/>
                <a:ea typeface="Corbel"/>
                <a:cs typeface="Corbel"/>
                <a:sym typeface="Corbel"/>
              </a:rPr>
              <a:t>CBC residue</a:t>
            </a:r>
            <a:endParaRPr b="0" i="0" sz="2800" u="none">
              <a:solidFill>
                <a:schemeClr val="dk1"/>
              </a:solidFill>
              <a:latin typeface="Corbel"/>
              <a:ea typeface="Corbel"/>
              <a:cs typeface="Corbel"/>
              <a:sym typeface="Corbel"/>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That is, compute CBC encryption, saving only final ciphertext block, the </a:t>
            </a:r>
            <a:r>
              <a:rPr b="0" i="0" lang="en-US" sz="2400" u="none" cap="none" strike="noStrike">
                <a:solidFill>
                  <a:schemeClr val="dk1"/>
                </a:solidFill>
                <a:latin typeface="Times"/>
                <a:ea typeface="Times"/>
                <a:cs typeface="Times"/>
                <a:sym typeface="Times"/>
              </a:rPr>
              <a:t>MAC</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The </a:t>
            </a:r>
            <a:r>
              <a:rPr b="0" i="0" lang="en-US" sz="2400" u="none" cap="none" strike="noStrike">
                <a:solidFill>
                  <a:schemeClr val="dk1"/>
                </a:solidFill>
                <a:latin typeface="Times"/>
                <a:ea typeface="Times"/>
                <a:cs typeface="Times"/>
                <a:sym typeface="Times"/>
              </a:rPr>
              <a:t>MAC</a:t>
            </a:r>
            <a:r>
              <a:rPr b="0" i="0" lang="en-US" sz="2400" u="none" cap="none" strike="noStrike">
                <a:solidFill>
                  <a:schemeClr val="dk1"/>
                </a:solidFill>
                <a:latin typeface="Corbel"/>
                <a:ea typeface="Corbel"/>
                <a:cs typeface="Corbel"/>
                <a:sym typeface="Corbel"/>
              </a:rPr>
              <a:t> serves as a cryptographic checksum for data</a:t>
            </a:r>
            <a:endParaRPr/>
          </a:p>
        </p:txBody>
      </p:sp>
      <p:sp>
        <p:nvSpPr>
          <p:cNvPr id="1013" name="Google Shape;1013;p8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1014" name="Google Shape;1014;p80"/>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81"/>
          <p:cNvSpPr txBox="1"/>
          <p:nvPr>
            <p:ph type="title"/>
          </p:nvPr>
        </p:nvSpPr>
        <p:spPr>
          <a:xfrm>
            <a:off x="685800" y="304800"/>
            <a:ext cx="7772400" cy="9906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a:buNone/>
            </a:pPr>
            <a:r>
              <a:rPr b="0" i="0" lang="en-US" sz="4000" u="none">
                <a:solidFill>
                  <a:schemeClr val="lt1"/>
                </a:solidFill>
                <a:latin typeface="Times"/>
                <a:ea typeface="Times"/>
                <a:cs typeface="Times"/>
                <a:sym typeface="Times"/>
              </a:rPr>
              <a:t>MAC</a:t>
            </a:r>
            <a:r>
              <a:rPr b="0" i="0" lang="en-US" sz="4000" u="none">
                <a:solidFill>
                  <a:schemeClr val="lt1"/>
                </a:solidFill>
                <a:latin typeface="Corbel"/>
                <a:ea typeface="Corbel"/>
                <a:cs typeface="Corbel"/>
                <a:sym typeface="Corbel"/>
              </a:rPr>
              <a:t> Computation</a:t>
            </a:r>
            <a:endParaRPr/>
          </a:p>
        </p:txBody>
      </p:sp>
      <p:sp>
        <p:nvSpPr>
          <p:cNvPr id="1020" name="Google Shape;1020;p81"/>
          <p:cNvSpPr txBox="1"/>
          <p:nvPr>
            <p:ph idx="1" type="body"/>
          </p:nvPr>
        </p:nvSpPr>
        <p:spPr>
          <a:xfrm>
            <a:off x="685800" y="1628775"/>
            <a:ext cx="7848600" cy="461962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400" u="none">
                <a:solidFill>
                  <a:schemeClr val="dk1"/>
                </a:solidFill>
                <a:latin typeface="Times"/>
                <a:ea typeface="Times"/>
                <a:cs typeface="Times"/>
                <a:sym typeface="Times"/>
              </a:rPr>
              <a:t>MAC</a:t>
            </a:r>
            <a:r>
              <a:rPr b="0" i="0" lang="en-US" sz="2400" u="none">
                <a:solidFill>
                  <a:schemeClr val="dk1"/>
                </a:solidFill>
                <a:latin typeface="Corbel"/>
                <a:ea typeface="Corbel"/>
                <a:cs typeface="Corbel"/>
                <a:sym typeface="Corbel"/>
              </a:rPr>
              <a:t> computation (assuming </a:t>
            </a:r>
            <a:r>
              <a:rPr b="0" i="0" lang="en-US" sz="2400" u="none">
                <a:solidFill>
                  <a:schemeClr val="dk1"/>
                </a:solidFill>
                <a:latin typeface="Times"/>
                <a:ea typeface="Times"/>
                <a:cs typeface="Times"/>
                <a:sym typeface="Times"/>
              </a:rPr>
              <a:t>N</a:t>
            </a:r>
            <a:r>
              <a:rPr b="0" i="0" lang="en-US" sz="2400" u="none">
                <a:solidFill>
                  <a:schemeClr val="dk1"/>
                </a:solidFill>
                <a:latin typeface="Corbel"/>
                <a:ea typeface="Corbel"/>
                <a:cs typeface="Corbel"/>
                <a:sym typeface="Corbel"/>
              </a:rPr>
              <a:t> blocks)</a:t>
            </a:r>
            <a:endParaRPr b="0" i="0" sz="2400" u="none">
              <a:solidFill>
                <a:schemeClr val="dk1"/>
              </a:solidFill>
              <a:latin typeface="Courier"/>
              <a:ea typeface="Courier"/>
              <a:cs typeface="Courier"/>
              <a:sym typeface="Courier"/>
            </a:endParaRPr>
          </a:p>
          <a:p>
            <a:pPr indent="-171450" lvl="0" marL="171450" marR="0" rtl="0" algn="l">
              <a:lnSpc>
                <a:spcPct val="90000"/>
              </a:lnSpc>
              <a:spcBef>
                <a:spcPts val="300"/>
              </a:spcBef>
              <a:spcAft>
                <a:spcPts val="0"/>
              </a:spcAft>
              <a:buClr>
                <a:schemeClr val="dk1"/>
              </a:buClr>
              <a:buSzPts val="2400"/>
              <a:buFont typeface="Arial"/>
              <a:buNone/>
            </a:pPr>
            <a:r>
              <a:rPr b="0" i="0" lang="en-US" sz="2400" u="none">
                <a:solidFill>
                  <a:schemeClr val="dk1"/>
                </a:solidFill>
                <a:latin typeface="Times"/>
                <a:ea typeface="Times"/>
                <a:cs typeface="Times"/>
                <a:sym typeface="Times"/>
              </a:rPr>
              <a:t>	C</a:t>
            </a:r>
            <a:r>
              <a:rPr b="0" baseline="-25000" i="0" lang="en-US" sz="2400" u="none">
                <a:solidFill>
                  <a:schemeClr val="dk1"/>
                </a:solidFill>
                <a:latin typeface="Times"/>
                <a:ea typeface="Times"/>
                <a:cs typeface="Times"/>
                <a:sym typeface="Times"/>
              </a:rPr>
              <a:t>0 </a:t>
            </a:r>
            <a:r>
              <a:rPr b="0" i="0" lang="en-US" sz="2400" u="none">
                <a:solidFill>
                  <a:schemeClr val="dk1"/>
                </a:solidFill>
                <a:latin typeface="Times"/>
                <a:ea typeface="Times"/>
                <a:cs typeface="Times"/>
                <a:sym typeface="Times"/>
              </a:rPr>
              <a:t>= E(IV ⊕ P</a:t>
            </a:r>
            <a:r>
              <a:rPr b="0" baseline="-25000" i="0" lang="en-US" sz="2400" u="none">
                <a:solidFill>
                  <a:schemeClr val="dk1"/>
                </a:solidFill>
                <a:latin typeface="Times"/>
                <a:ea typeface="Times"/>
                <a:cs typeface="Times"/>
                <a:sym typeface="Times"/>
              </a:rPr>
              <a:t>0</a:t>
            </a:r>
            <a:r>
              <a:rPr b="0" i="0" lang="en-US" sz="2400" u="none">
                <a:solidFill>
                  <a:schemeClr val="dk1"/>
                </a:solidFill>
                <a:latin typeface="Times"/>
                <a:ea typeface="Times"/>
                <a:cs typeface="Times"/>
                <a:sym typeface="Times"/>
              </a:rPr>
              <a:t>, K),</a:t>
            </a:r>
            <a:endParaRPr/>
          </a:p>
          <a:p>
            <a:pPr indent="-171450" lvl="0" marL="171450" marR="0" rtl="0" algn="l">
              <a:lnSpc>
                <a:spcPct val="90000"/>
              </a:lnSpc>
              <a:spcBef>
                <a:spcPts val="300"/>
              </a:spcBef>
              <a:spcAft>
                <a:spcPts val="0"/>
              </a:spcAft>
              <a:buClr>
                <a:schemeClr val="dk1"/>
              </a:buClr>
              <a:buSzPts val="2400"/>
              <a:buFont typeface="Arial"/>
              <a:buNone/>
            </a:pPr>
            <a:r>
              <a:rPr b="0" i="0" lang="en-US" sz="2400" u="none">
                <a:solidFill>
                  <a:schemeClr val="dk1"/>
                </a:solidFill>
                <a:latin typeface="Times"/>
                <a:ea typeface="Times"/>
                <a:cs typeface="Times"/>
                <a:sym typeface="Times"/>
              </a:rPr>
              <a:t>	C</a:t>
            </a:r>
            <a:r>
              <a:rPr b="0" baseline="-25000" i="0" lang="en-US" sz="2400" u="none">
                <a:solidFill>
                  <a:schemeClr val="dk1"/>
                </a:solidFill>
                <a:latin typeface="Times"/>
                <a:ea typeface="Times"/>
                <a:cs typeface="Times"/>
                <a:sym typeface="Times"/>
              </a:rPr>
              <a:t>1 </a:t>
            </a:r>
            <a:r>
              <a:rPr b="0" i="0" lang="en-US" sz="2400" u="none">
                <a:solidFill>
                  <a:schemeClr val="dk1"/>
                </a:solidFill>
                <a:latin typeface="Times"/>
                <a:ea typeface="Times"/>
                <a:cs typeface="Times"/>
                <a:sym typeface="Times"/>
              </a:rPr>
              <a:t>= E(C</a:t>
            </a:r>
            <a:r>
              <a:rPr b="0" baseline="-25000" i="0" lang="en-US" sz="2400" u="none">
                <a:solidFill>
                  <a:schemeClr val="dk1"/>
                </a:solidFill>
                <a:latin typeface="Times"/>
                <a:ea typeface="Times"/>
                <a:cs typeface="Times"/>
                <a:sym typeface="Times"/>
              </a:rPr>
              <a:t>0 </a:t>
            </a:r>
            <a:r>
              <a:rPr b="0" i="0" lang="en-US" sz="2400" u="none">
                <a:solidFill>
                  <a:schemeClr val="dk1"/>
                </a:solidFill>
                <a:latin typeface="Times"/>
                <a:ea typeface="Times"/>
                <a:cs typeface="Times"/>
                <a:sym typeface="Times"/>
              </a:rPr>
              <a:t>⊕ P</a:t>
            </a:r>
            <a:r>
              <a:rPr b="0" baseline="-25000" i="0" lang="en-US" sz="2400" u="none">
                <a:solidFill>
                  <a:schemeClr val="dk1"/>
                </a:solidFill>
                <a:latin typeface="Times"/>
                <a:ea typeface="Times"/>
                <a:cs typeface="Times"/>
                <a:sym typeface="Times"/>
              </a:rPr>
              <a:t>1</a:t>
            </a:r>
            <a:r>
              <a:rPr b="0" i="0" lang="en-US" sz="2400" u="none">
                <a:solidFill>
                  <a:schemeClr val="dk1"/>
                </a:solidFill>
                <a:latin typeface="Times"/>
                <a:ea typeface="Times"/>
                <a:cs typeface="Times"/>
                <a:sym typeface="Times"/>
              </a:rPr>
              <a:t>, K),</a:t>
            </a:r>
            <a:endParaRPr/>
          </a:p>
          <a:p>
            <a:pPr indent="-171450" lvl="0" marL="171450" marR="0" rtl="0" algn="l">
              <a:lnSpc>
                <a:spcPct val="90000"/>
              </a:lnSpc>
              <a:spcBef>
                <a:spcPts val="300"/>
              </a:spcBef>
              <a:spcAft>
                <a:spcPts val="0"/>
              </a:spcAft>
              <a:buClr>
                <a:schemeClr val="dk1"/>
              </a:buClr>
              <a:buSzPts val="2400"/>
              <a:buFont typeface="Arial"/>
              <a:buNone/>
            </a:pPr>
            <a:r>
              <a:rPr b="0" i="0" lang="en-US" sz="2400" u="none">
                <a:solidFill>
                  <a:schemeClr val="dk1"/>
                </a:solidFill>
                <a:latin typeface="Times"/>
                <a:ea typeface="Times"/>
                <a:cs typeface="Times"/>
                <a:sym typeface="Times"/>
              </a:rPr>
              <a:t>	C</a:t>
            </a:r>
            <a:r>
              <a:rPr b="0" baseline="-25000" i="0" lang="en-US" sz="2400" u="none">
                <a:solidFill>
                  <a:schemeClr val="dk1"/>
                </a:solidFill>
                <a:latin typeface="Times"/>
                <a:ea typeface="Times"/>
                <a:cs typeface="Times"/>
                <a:sym typeface="Times"/>
              </a:rPr>
              <a:t>2 </a:t>
            </a:r>
            <a:r>
              <a:rPr b="0" i="0" lang="en-US" sz="2400" u="none">
                <a:solidFill>
                  <a:schemeClr val="dk1"/>
                </a:solidFill>
                <a:latin typeface="Times"/>
                <a:ea typeface="Times"/>
                <a:cs typeface="Times"/>
                <a:sym typeface="Times"/>
              </a:rPr>
              <a:t>= E(C</a:t>
            </a:r>
            <a:r>
              <a:rPr b="0" baseline="-25000" i="0" lang="en-US" sz="2400" u="none">
                <a:solidFill>
                  <a:schemeClr val="dk1"/>
                </a:solidFill>
                <a:latin typeface="Times"/>
                <a:ea typeface="Times"/>
                <a:cs typeface="Times"/>
                <a:sym typeface="Times"/>
              </a:rPr>
              <a:t>1 </a:t>
            </a:r>
            <a:r>
              <a:rPr b="0" i="0" lang="en-US" sz="2400" u="none">
                <a:solidFill>
                  <a:schemeClr val="dk1"/>
                </a:solidFill>
                <a:latin typeface="Times"/>
                <a:ea typeface="Times"/>
                <a:cs typeface="Times"/>
                <a:sym typeface="Times"/>
              </a:rPr>
              <a:t>⊕ P</a:t>
            </a:r>
            <a:r>
              <a:rPr b="0" baseline="-25000" i="0" lang="en-US" sz="2400" u="none">
                <a:solidFill>
                  <a:schemeClr val="dk1"/>
                </a:solidFill>
                <a:latin typeface="Times"/>
                <a:ea typeface="Times"/>
                <a:cs typeface="Times"/>
                <a:sym typeface="Times"/>
              </a:rPr>
              <a:t>2</a:t>
            </a:r>
            <a:r>
              <a:rPr b="0" i="0" lang="en-US" sz="2400" u="none">
                <a:solidFill>
                  <a:schemeClr val="dk1"/>
                </a:solidFill>
                <a:latin typeface="Times"/>
                <a:ea typeface="Times"/>
                <a:cs typeface="Times"/>
                <a:sym typeface="Times"/>
              </a:rPr>
              <a:t>, K),…</a:t>
            </a:r>
            <a:endParaRPr/>
          </a:p>
          <a:p>
            <a:pPr indent="-171450" lvl="0" marL="171450" marR="0" rtl="0" algn="l">
              <a:lnSpc>
                <a:spcPct val="90000"/>
              </a:lnSpc>
              <a:spcBef>
                <a:spcPts val="300"/>
              </a:spcBef>
              <a:spcAft>
                <a:spcPts val="0"/>
              </a:spcAft>
              <a:buClr>
                <a:schemeClr val="dk1"/>
              </a:buClr>
              <a:buSzPts val="2400"/>
              <a:buFont typeface="Arial"/>
              <a:buNone/>
            </a:pPr>
            <a:r>
              <a:rPr b="0" i="0" lang="en-US" sz="2400" u="none">
                <a:solidFill>
                  <a:schemeClr val="dk1"/>
                </a:solidFill>
                <a:latin typeface="Times"/>
                <a:ea typeface="Times"/>
                <a:cs typeface="Times"/>
                <a:sym typeface="Times"/>
              </a:rPr>
              <a:t>	C</a:t>
            </a:r>
            <a:r>
              <a:rPr b="0" baseline="-25000" i="0" lang="en-US" sz="2400" u="none">
                <a:solidFill>
                  <a:schemeClr val="dk1"/>
                </a:solidFill>
                <a:latin typeface="Times"/>
                <a:ea typeface="Times"/>
                <a:cs typeface="Times"/>
                <a:sym typeface="Times"/>
              </a:rPr>
              <a:t>N−1 </a:t>
            </a:r>
            <a:r>
              <a:rPr b="0" i="0" lang="en-US" sz="2400" u="none">
                <a:solidFill>
                  <a:schemeClr val="dk1"/>
                </a:solidFill>
                <a:latin typeface="Times"/>
                <a:ea typeface="Times"/>
                <a:cs typeface="Times"/>
                <a:sym typeface="Times"/>
              </a:rPr>
              <a:t>= E(C</a:t>
            </a:r>
            <a:r>
              <a:rPr b="0" baseline="-25000" i="0" lang="en-US" sz="2400" u="none">
                <a:solidFill>
                  <a:schemeClr val="dk1"/>
                </a:solidFill>
                <a:latin typeface="Times"/>
                <a:ea typeface="Times"/>
                <a:cs typeface="Times"/>
                <a:sym typeface="Times"/>
              </a:rPr>
              <a:t>N−2 </a:t>
            </a:r>
            <a:r>
              <a:rPr b="0" i="0" lang="en-US" sz="2400" u="none">
                <a:solidFill>
                  <a:schemeClr val="dk1"/>
                </a:solidFill>
                <a:latin typeface="Times"/>
                <a:ea typeface="Times"/>
                <a:cs typeface="Times"/>
                <a:sym typeface="Times"/>
              </a:rPr>
              <a:t>⊕ P</a:t>
            </a:r>
            <a:r>
              <a:rPr b="0" baseline="-25000" i="0" lang="en-US" sz="2400" u="none">
                <a:solidFill>
                  <a:schemeClr val="dk1"/>
                </a:solidFill>
                <a:latin typeface="Times"/>
                <a:ea typeface="Times"/>
                <a:cs typeface="Times"/>
                <a:sym typeface="Times"/>
              </a:rPr>
              <a:t>N−1</a:t>
            </a:r>
            <a:r>
              <a:rPr b="0" i="0" lang="en-US" sz="2400" u="none">
                <a:solidFill>
                  <a:schemeClr val="dk1"/>
                </a:solidFill>
                <a:latin typeface="Times"/>
                <a:ea typeface="Times"/>
                <a:cs typeface="Times"/>
                <a:sym typeface="Times"/>
              </a:rPr>
              <a:t>, K) = MAC</a:t>
            </a:r>
            <a:endParaRPr/>
          </a:p>
          <a:p>
            <a:pPr indent="-171450" lvl="0" marL="171450" marR="0" rtl="0" algn="l">
              <a:lnSpc>
                <a:spcPct val="85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Send </a:t>
            </a:r>
            <a:r>
              <a:rPr b="0" i="0" lang="en-US" sz="2400" u="none">
                <a:solidFill>
                  <a:schemeClr val="dk1"/>
                </a:solidFill>
                <a:latin typeface="Times"/>
                <a:ea typeface="Times"/>
                <a:cs typeface="Times"/>
                <a:sym typeface="Times"/>
              </a:rPr>
              <a:t>IV, P</a:t>
            </a:r>
            <a:r>
              <a:rPr b="0" baseline="-25000" i="0" lang="en-US" sz="2400" u="none">
                <a:solidFill>
                  <a:schemeClr val="dk1"/>
                </a:solidFill>
                <a:latin typeface="Times"/>
                <a:ea typeface="Times"/>
                <a:cs typeface="Times"/>
                <a:sym typeface="Times"/>
              </a:rPr>
              <a:t>0</a:t>
            </a:r>
            <a:r>
              <a:rPr b="0" i="0" lang="en-US" sz="2400" u="none">
                <a:solidFill>
                  <a:schemeClr val="dk1"/>
                </a:solidFill>
                <a:latin typeface="Times"/>
                <a:ea typeface="Times"/>
                <a:cs typeface="Times"/>
                <a:sym typeface="Times"/>
              </a:rPr>
              <a:t>, P</a:t>
            </a:r>
            <a:r>
              <a:rPr b="0" baseline="-25000" i="0" lang="en-US" sz="2400" u="none">
                <a:solidFill>
                  <a:schemeClr val="dk1"/>
                </a:solidFill>
                <a:latin typeface="Times"/>
                <a:ea typeface="Times"/>
                <a:cs typeface="Times"/>
                <a:sym typeface="Times"/>
              </a:rPr>
              <a:t>1</a:t>
            </a:r>
            <a:r>
              <a:rPr b="0" i="0" lang="en-US" sz="2400" u="none">
                <a:solidFill>
                  <a:schemeClr val="dk1"/>
                </a:solidFill>
                <a:latin typeface="Times"/>
                <a:ea typeface="Times"/>
                <a:cs typeface="Times"/>
                <a:sym typeface="Times"/>
              </a:rPr>
              <a:t>, …, P</a:t>
            </a:r>
            <a:r>
              <a:rPr b="0" baseline="-25000" i="0" lang="en-US" sz="2400" u="none">
                <a:solidFill>
                  <a:schemeClr val="dk1"/>
                </a:solidFill>
                <a:latin typeface="Times"/>
                <a:ea typeface="Times"/>
                <a:cs typeface="Times"/>
                <a:sym typeface="Times"/>
              </a:rPr>
              <a:t>N−1</a:t>
            </a:r>
            <a:r>
              <a:rPr b="0" i="0" lang="en-US" sz="2400" u="none">
                <a:solidFill>
                  <a:schemeClr val="dk1"/>
                </a:solidFill>
                <a:latin typeface="Corbel"/>
                <a:ea typeface="Corbel"/>
                <a:cs typeface="Corbel"/>
                <a:sym typeface="Corbel"/>
              </a:rPr>
              <a:t> and </a:t>
            </a:r>
            <a:r>
              <a:rPr b="0" i="0" lang="en-US" sz="2400" u="none">
                <a:solidFill>
                  <a:schemeClr val="dk1"/>
                </a:solidFill>
                <a:latin typeface="Times"/>
                <a:ea typeface="Times"/>
                <a:cs typeface="Times"/>
                <a:sym typeface="Times"/>
              </a:rPr>
              <a:t>MAC</a:t>
            </a:r>
            <a:r>
              <a:rPr b="0" i="0" lang="en-US" sz="2400" u="none">
                <a:solidFill>
                  <a:schemeClr val="dk1"/>
                </a:solidFill>
                <a:latin typeface="Corbel"/>
                <a:ea typeface="Corbel"/>
                <a:cs typeface="Corbel"/>
                <a:sym typeface="Corbel"/>
              </a:rPr>
              <a:t> </a:t>
            </a:r>
            <a:endParaRPr/>
          </a:p>
          <a:p>
            <a:pPr indent="-171450" lvl="0" marL="171450" marR="0" rtl="0" algn="l">
              <a:lnSpc>
                <a:spcPct val="85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Receiver does same computation and verifies that result agrees with </a:t>
            </a:r>
            <a:r>
              <a:rPr b="0" i="0" lang="en-US" sz="2400" u="none">
                <a:solidFill>
                  <a:schemeClr val="dk1"/>
                </a:solidFill>
                <a:latin typeface="Times"/>
                <a:ea typeface="Times"/>
                <a:cs typeface="Times"/>
                <a:sym typeface="Times"/>
              </a:rPr>
              <a:t>MAC</a:t>
            </a:r>
            <a:endParaRPr/>
          </a:p>
          <a:p>
            <a:pPr indent="-171450" lvl="0" marL="171450" marR="0" rtl="0" algn="l">
              <a:lnSpc>
                <a:spcPct val="85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Both sender and receiver must know </a:t>
            </a:r>
            <a:r>
              <a:rPr b="0" i="0" lang="en-US" sz="2400" u="none">
                <a:solidFill>
                  <a:schemeClr val="dk1"/>
                </a:solidFill>
                <a:latin typeface="Times"/>
                <a:ea typeface="Times"/>
                <a:cs typeface="Times"/>
                <a:sym typeface="Times"/>
              </a:rPr>
              <a:t>K</a:t>
            </a:r>
            <a:endParaRPr/>
          </a:p>
        </p:txBody>
      </p:sp>
      <p:sp>
        <p:nvSpPr>
          <p:cNvPr id="1021" name="Google Shape;1021;p8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1022" name="Google Shape;1022;p81"/>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82"/>
          <p:cNvSpPr txBox="1"/>
          <p:nvPr>
            <p:ph type="title"/>
          </p:nvPr>
        </p:nvSpPr>
        <p:spPr>
          <a:xfrm>
            <a:off x="685800" y="304800"/>
            <a:ext cx="7772400" cy="9906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Does a </a:t>
            </a:r>
            <a:r>
              <a:rPr b="0" i="0" lang="en-US" sz="4000" u="none">
                <a:solidFill>
                  <a:schemeClr val="lt1"/>
                </a:solidFill>
                <a:latin typeface="Times"/>
                <a:ea typeface="Times"/>
                <a:cs typeface="Times"/>
                <a:sym typeface="Times"/>
              </a:rPr>
              <a:t>MAC</a:t>
            </a:r>
            <a:r>
              <a:rPr b="0" i="0" lang="en-US" sz="4000" u="none">
                <a:solidFill>
                  <a:schemeClr val="lt1"/>
                </a:solidFill>
                <a:latin typeface="Corbel"/>
                <a:ea typeface="Corbel"/>
                <a:cs typeface="Corbel"/>
                <a:sym typeface="Corbel"/>
              </a:rPr>
              <a:t> work?</a:t>
            </a:r>
            <a:endParaRPr/>
          </a:p>
        </p:txBody>
      </p:sp>
      <p:sp>
        <p:nvSpPr>
          <p:cNvPr id="1028" name="Google Shape;1028;p82"/>
          <p:cNvSpPr txBox="1"/>
          <p:nvPr>
            <p:ph idx="1" type="body"/>
          </p:nvPr>
        </p:nvSpPr>
        <p:spPr>
          <a:xfrm>
            <a:off x="685800" y="1677987"/>
            <a:ext cx="8001000" cy="48006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Suppose Alice has 4 plaintext blocks</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Alice computes</a:t>
            </a:r>
            <a:endParaRPr b="0" i="0" sz="2800" u="none">
              <a:solidFill>
                <a:schemeClr val="dk1"/>
              </a:solidFill>
              <a:latin typeface="Courier"/>
              <a:ea typeface="Courier"/>
              <a:cs typeface="Courier"/>
              <a:sym typeface="Courier"/>
            </a:endParaRPr>
          </a:p>
          <a:p>
            <a:pPr indent="-171450" lvl="0" marL="171450" marR="0" rtl="0" algn="l">
              <a:lnSpc>
                <a:spcPct val="90000"/>
              </a:lnSpc>
              <a:spcBef>
                <a:spcPts val="300"/>
              </a:spcBef>
              <a:spcAft>
                <a:spcPts val="0"/>
              </a:spcAft>
              <a:buClr>
                <a:schemeClr val="accent2"/>
              </a:buClr>
              <a:buSzPts val="2400"/>
              <a:buFont typeface="Arial"/>
              <a:buNone/>
            </a:pPr>
            <a:r>
              <a:rPr b="1" i="0" lang="en-US" sz="2400" u="none">
                <a:solidFill>
                  <a:schemeClr val="accent2"/>
                </a:solidFill>
                <a:latin typeface="Times"/>
                <a:ea typeface="Times"/>
                <a:cs typeface="Times"/>
                <a:sym typeface="Times"/>
              </a:rPr>
              <a:t>	C</a:t>
            </a:r>
            <a:r>
              <a:rPr b="1" baseline="-25000" i="0" lang="en-US" sz="2400" u="none">
                <a:solidFill>
                  <a:schemeClr val="accent2"/>
                </a:solidFill>
                <a:latin typeface="Times"/>
                <a:ea typeface="Times"/>
                <a:cs typeface="Times"/>
                <a:sym typeface="Times"/>
              </a:rPr>
              <a:t>0</a:t>
            </a:r>
            <a:r>
              <a:rPr b="0" baseline="-25000" i="0" lang="en-US" sz="2400" u="none">
                <a:solidFill>
                  <a:schemeClr val="dk1"/>
                </a:solidFill>
                <a:latin typeface="Times"/>
                <a:ea typeface="Times"/>
                <a:cs typeface="Times"/>
                <a:sym typeface="Times"/>
              </a:rPr>
              <a:t> </a:t>
            </a:r>
            <a:r>
              <a:rPr b="0" i="0" lang="en-US" sz="2400" u="none">
                <a:solidFill>
                  <a:schemeClr val="dk1"/>
                </a:solidFill>
                <a:latin typeface="Times"/>
                <a:ea typeface="Times"/>
                <a:cs typeface="Times"/>
                <a:sym typeface="Times"/>
              </a:rPr>
              <a:t>= E(IV⊕P</a:t>
            </a:r>
            <a:r>
              <a:rPr b="0" baseline="-25000" i="0" lang="en-US" sz="2400" u="none">
                <a:solidFill>
                  <a:schemeClr val="dk1"/>
                </a:solidFill>
                <a:latin typeface="Times"/>
                <a:ea typeface="Times"/>
                <a:cs typeface="Times"/>
                <a:sym typeface="Times"/>
              </a:rPr>
              <a:t>0</a:t>
            </a:r>
            <a:r>
              <a:rPr b="0" i="0" lang="en-US" sz="2400" u="none">
                <a:solidFill>
                  <a:schemeClr val="dk1"/>
                </a:solidFill>
                <a:latin typeface="Times"/>
                <a:ea typeface="Times"/>
                <a:cs typeface="Times"/>
                <a:sym typeface="Times"/>
              </a:rPr>
              <a:t>, K), </a:t>
            </a:r>
            <a:r>
              <a:rPr b="1" i="0" lang="en-US" sz="2400" u="none">
                <a:solidFill>
                  <a:schemeClr val="accent2"/>
                </a:solidFill>
                <a:latin typeface="Times"/>
                <a:ea typeface="Times"/>
                <a:cs typeface="Times"/>
                <a:sym typeface="Times"/>
              </a:rPr>
              <a:t>C</a:t>
            </a:r>
            <a:r>
              <a:rPr b="1" baseline="-25000" i="0" lang="en-US" sz="2400" u="none">
                <a:solidFill>
                  <a:schemeClr val="accent2"/>
                </a:solidFill>
                <a:latin typeface="Times"/>
                <a:ea typeface="Times"/>
                <a:cs typeface="Times"/>
                <a:sym typeface="Times"/>
              </a:rPr>
              <a:t>1</a:t>
            </a:r>
            <a:r>
              <a:rPr b="0" baseline="-25000" i="0" lang="en-US" sz="2400" u="none">
                <a:solidFill>
                  <a:schemeClr val="dk1"/>
                </a:solidFill>
                <a:latin typeface="Times"/>
                <a:ea typeface="Times"/>
                <a:cs typeface="Times"/>
                <a:sym typeface="Times"/>
              </a:rPr>
              <a:t> </a:t>
            </a:r>
            <a:r>
              <a:rPr b="0" i="0" lang="en-US" sz="2400" u="none">
                <a:solidFill>
                  <a:schemeClr val="dk1"/>
                </a:solidFill>
                <a:latin typeface="Times"/>
                <a:ea typeface="Times"/>
                <a:cs typeface="Times"/>
                <a:sym typeface="Times"/>
              </a:rPr>
              <a:t>= E(</a:t>
            </a:r>
            <a:r>
              <a:rPr b="1" i="0" lang="en-US" sz="2400" u="none">
                <a:solidFill>
                  <a:schemeClr val="accent2"/>
                </a:solidFill>
                <a:latin typeface="Times"/>
                <a:ea typeface="Times"/>
                <a:cs typeface="Times"/>
                <a:sym typeface="Times"/>
              </a:rPr>
              <a:t>C</a:t>
            </a:r>
            <a:r>
              <a:rPr b="1" baseline="-25000" i="0" lang="en-US" sz="2400" u="none">
                <a:solidFill>
                  <a:schemeClr val="accent2"/>
                </a:solidFill>
                <a:latin typeface="Times"/>
                <a:ea typeface="Times"/>
                <a:cs typeface="Times"/>
                <a:sym typeface="Times"/>
              </a:rPr>
              <a:t>0</a:t>
            </a:r>
            <a:r>
              <a:rPr b="0" i="0" lang="en-US" sz="2400" u="none">
                <a:solidFill>
                  <a:schemeClr val="dk1"/>
                </a:solidFill>
                <a:latin typeface="Times"/>
                <a:ea typeface="Times"/>
                <a:cs typeface="Times"/>
                <a:sym typeface="Times"/>
              </a:rPr>
              <a:t>⊕P</a:t>
            </a:r>
            <a:r>
              <a:rPr b="0" baseline="-25000" i="0" lang="en-US" sz="2400" u="none">
                <a:solidFill>
                  <a:schemeClr val="dk1"/>
                </a:solidFill>
                <a:latin typeface="Times"/>
                <a:ea typeface="Times"/>
                <a:cs typeface="Times"/>
                <a:sym typeface="Times"/>
              </a:rPr>
              <a:t>1</a:t>
            </a:r>
            <a:r>
              <a:rPr b="0" i="0" lang="en-US" sz="2400" u="none">
                <a:solidFill>
                  <a:schemeClr val="dk1"/>
                </a:solidFill>
                <a:latin typeface="Times"/>
                <a:ea typeface="Times"/>
                <a:cs typeface="Times"/>
                <a:sym typeface="Times"/>
              </a:rPr>
              <a:t>, K),</a:t>
            </a:r>
            <a:endParaRPr/>
          </a:p>
          <a:p>
            <a:pPr indent="-171450" lvl="0" marL="171450" marR="0" rtl="0" algn="l">
              <a:lnSpc>
                <a:spcPct val="90000"/>
              </a:lnSpc>
              <a:spcBef>
                <a:spcPts val="300"/>
              </a:spcBef>
              <a:spcAft>
                <a:spcPts val="0"/>
              </a:spcAft>
              <a:buClr>
                <a:schemeClr val="accent2"/>
              </a:buClr>
              <a:buSzPts val="2400"/>
              <a:buFont typeface="Arial"/>
              <a:buNone/>
            </a:pPr>
            <a:r>
              <a:rPr b="1" i="0" lang="en-US" sz="2400" u="none">
                <a:solidFill>
                  <a:schemeClr val="accent2"/>
                </a:solidFill>
                <a:latin typeface="Times"/>
                <a:ea typeface="Times"/>
                <a:cs typeface="Times"/>
                <a:sym typeface="Times"/>
              </a:rPr>
              <a:t>	C</a:t>
            </a:r>
            <a:r>
              <a:rPr b="1" baseline="-25000" i="0" lang="en-US" sz="2400" u="none">
                <a:solidFill>
                  <a:schemeClr val="accent2"/>
                </a:solidFill>
                <a:latin typeface="Times"/>
                <a:ea typeface="Times"/>
                <a:cs typeface="Times"/>
                <a:sym typeface="Times"/>
              </a:rPr>
              <a:t>2</a:t>
            </a:r>
            <a:r>
              <a:rPr b="0" baseline="-25000" i="0" lang="en-US" sz="2400" u="none">
                <a:solidFill>
                  <a:schemeClr val="dk1"/>
                </a:solidFill>
                <a:latin typeface="Times"/>
                <a:ea typeface="Times"/>
                <a:cs typeface="Times"/>
                <a:sym typeface="Times"/>
              </a:rPr>
              <a:t> </a:t>
            </a:r>
            <a:r>
              <a:rPr b="0" i="0" lang="en-US" sz="2400" u="none">
                <a:solidFill>
                  <a:schemeClr val="dk1"/>
                </a:solidFill>
                <a:latin typeface="Times"/>
                <a:ea typeface="Times"/>
                <a:cs typeface="Times"/>
                <a:sym typeface="Times"/>
              </a:rPr>
              <a:t>= E(</a:t>
            </a:r>
            <a:r>
              <a:rPr b="1" i="0" lang="en-US" sz="2400" u="none">
                <a:solidFill>
                  <a:schemeClr val="accent2"/>
                </a:solidFill>
                <a:latin typeface="Times"/>
                <a:ea typeface="Times"/>
                <a:cs typeface="Times"/>
                <a:sym typeface="Times"/>
              </a:rPr>
              <a:t>C</a:t>
            </a:r>
            <a:r>
              <a:rPr b="1" baseline="-25000" i="0" lang="en-US" sz="2400" u="none">
                <a:solidFill>
                  <a:schemeClr val="accent2"/>
                </a:solidFill>
                <a:latin typeface="Times"/>
                <a:ea typeface="Times"/>
                <a:cs typeface="Times"/>
                <a:sym typeface="Times"/>
              </a:rPr>
              <a:t>1</a:t>
            </a:r>
            <a:r>
              <a:rPr b="0" i="0" lang="en-US" sz="2400" u="none">
                <a:solidFill>
                  <a:schemeClr val="dk1"/>
                </a:solidFill>
                <a:latin typeface="Times"/>
                <a:ea typeface="Times"/>
                <a:cs typeface="Times"/>
                <a:sym typeface="Times"/>
              </a:rPr>
              <a:t>⊕P</a:t>
            </a:r>
            <a:r>
              <a:rPr b="0" baseline="-25000" i="0" lang="en-US" sz="2400" u="none">
                <a:solidFill>
                  <a:schemeClr val="dk1"/>
                </a:solidFill>
                <a:latin typeface="Times"/>
                <a:ea typeface="Times"/>
                <a:cs typeface="Times"/>
                <a:sym typeface="Times"/>
              </a:rPr>
              <a:t>2</a:t>
            </a:r>
            <a:r>
              <a:rPr b="0" i="0" lang="en-US" sz="2400" u="none">
                <a:solidFill>
                  <a:schemeClr val="dk1"/>
                </a:solidFill>
                <a:latin typeface="Times"/>
                <a:ea typeface="Times"/>
                <a:cs typeface="Times"/>
                <a:sym typeface="Times"/>
              </a:rPr>
              <a:t>, K), </a:t>
            </a:r>
            <a:r>
              <a:rPr b="1" i="0" lang="en-US" sz="2400" u="none">
                <a:solidFill>
                  <a:schemeClr val="accent2"/>
                </a:solidFill>
                <a:latin typeface="Times"/>
                <a:ea typeface="Times"/>
                <a:cs typeface="Times"/>
                <a:sym typeface="Times"/>
              </a:rPr>
              <a:t>C</a:t>
            </a:r>
            <a:r>
              <a:rPr b="1" baseline="-25000" i="0" lang="en-US" sz="2400" u="none">
                <a:solidFill>
                  <a:schemeClr val="accent2"/>
                </a:solidFill>
                <a:latin typeface="Times"/>
                <a:ea typeface="Times"/>
                <a:cs typeface="Times"/>
                <a:sym typeface="Times"/>
              </a:rPr>
              <a:t>3</a:t>
            </a:r>
            <a:r>
              <a:rPr b="0" baseline="-25000" i="0" lang="en-US" sz="2400" u="none">
                <a:solidFill>
                  <a:schemeClr val="dk1"/>
                </a:solidFill>
                <a:latin typeface="Times"/>
                <a:ea typeface="Times"/>
                <a:cs typeface="Times"/>
                <a:sym typeface="Times"/>
              </a:rPr>
              <a:t> </a:t>
            </a:r>
            <a:r>
              <a:rPr b="0" i="0" lang="en-US" sz="2400" u="none">
                <a:solidFill>
                  <a:schemeClr val="dk1"/>
                </a:solidFill>
                <a:latin typeface="Times"/>
                <a:ea typeface="Times"/>
                <a:cs typeface="Times"/>
                <a:sym typeface="Times"/>
              </a:rPr>
              <a:t>= E(</a:t>
            </a:r>
            <a:r>
              <a:rPr b="1" i="0" lang="en-US" sz="2400" u="none">
                <a:solidFill>
                  <a:schemeClr val="accent2"/>
                </a:solidFill>
                <a:latin typeface="Times"/>
                <a:ea typeface="Times"/>
                <a:cs typeface="Times"/>
                <a:sym typeface="Times"/>
              </a:rPr>
              <a:t>C</a:t>
            </a:r>
            <a:r>
              <a:rPr b="1" baseline="-25000" i="0" lang="en-US" sz="2400" u="none">
                <a:solidFill>
                  <a:schemeClr val="accent2"/>
                </a:solidFill>
                <a:latin typeface="Times"/>
                <a:ea typeface="Times"/>
                <a:cs typeface="Times"/>
                <a:sym typeface="Times"/>
              </a:rPr>
              <a:t>2</a:t>
            </a:r>
            <a:r>
              <a:rPr b="0" i="0" lang="en-US" sz="2400" u="none">
                <a:solidFill>
                  <a:schemeClr val="dk1"/>
                </a:solidFill>
                <a:latin typeface="Times"/>
                <a:ea typeface="Times"/>
                <a:cs typeface="Times"/>
                <a:sym typeface="Times"/>
              </a:rPr>
              <a:t>⊕P</a:t>
            </a:r>
            <a:r>
              <a:rPr b="0" baseline="-25000" i="0" lang="en-US" sz="2400" u="none">
                <a:solidFill>
                  <a:schemeClr val="dk1"/>
                </a:solidFill>
                <a:latin typeface="Times"/>
                <a:ea typeface="Times"/>
                <a:cs typeface="Times"/>
                <a:sym typeface="Times"/>
              </a:rPr>
              <a:t>3</a:t>
            </a:r>
            <a:r>
              <a:rPr b="0" i="0" lang="en-US" sz="2400" u="none">
                <a:solidFill>
                  <a:schemeClr val="dk1"/>
                </a:solidFill>
                <a:latin typeface="Times"/>
                <a:ea typeface="Times"/>
                <a:cs typeface="Times"/>
                <a:sym typeface="Times"/>
              </a:rPr>
              <a:t>, K) = </a:t>
            </a:r>
            <a:r>
              <a:rPr b="1" i="0" lang="en-US" sz="2400" u="none">
                <a:solidFill>
                  <a:schemeClr val="accent2"/>
                </a:solidFill>
                <a:latin typeface="Times"/>
                <a:ea typeface="Times"/>
                <a:cs typeface="Times"/>
                <a:sym typeface="Times"/>
              </a:rPr>
              <a:t>MAC</a:t>
            </a:r>
            <a:endParaRPr b="0" i="0" sz="2400" u="none">
              <a:solidFill>
                <a:schemeClr val="dk1"/>
              </a:solidFill>
              <a:latin typeface="Times"/>
              <a:ea typeface="Times"/>
              <a:cs typeface="Times"/>
              <a:sym typeface="Times"/>
            </a:endParaRPr>
          </a:p>
          <a:p>
            <a:pPr indent="-171450" lvl="0" marL="171450" marR="0" rtl="0" algn="l">
              <a:lnSpc>
                <a:spcPct val="85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Alice sends </a:t>
            </a:r>
            <a:r>
              <a:rPr b="0" i="0" lang="en-US" sz="2800" u="none">
                <a:solidFill>
                  <a:schemeClr val="dk1"/>
                </a:solidFill>
                <a:latin typeface="Times"/>
                <a:ea typeface="Times"/>
                <a:cs typeface="Times"/>
                <a:sym typeface="Times"/>
              </a:rPr>
              <a:t>IV, P</a:t>
            </a:r>
            <a:r>
              <a:rPr b="0" baseline="-25000" i="0" lang="en-US" sz="2800" u="none">
                <a:solidFill>
                  <a:schemeClr val="dk1"/>
                </a:solidFill>
                <a:latin typeface="Times"/>
                <a:ea typeface="Times"/>
                <a:cs typeface="Times"/>
                <a:sym typeface="Times"/>
              </a:rPr>
              <a:t>0</a:t>
            </a:r>
            <a:r>
              <a:rPr b="0" i="0" lang="en-US" sz="2800" u="none">
                <a:solidFill>
                  <a:schemeClr val="dk1"/>
                </a:solidFill>
                <a:latin typeface="Times"/>
                <a:ea typeface="Times"/>
                <a:cs typeface="Times"/>
                <a:sym typeface="Times"/>
              </a:rPr>
              <a:t>, P</a:t>
            </a:r>
            <a:r>
              <a:rPr b="0" baseline="-25000" i="0" lang="en-US" sz="2800" u="none">
                <a:solidFill>
                  <a:schemeClr val="dk1"/>
                </a:solidFill>
                <a:latin typeface="Times"/>
                <a:ea typeface="Times"/>
                <a:cs typeface="Times"/>
                <a:sym typeface="Times"/>
              </a:rPr>
              <a:t>1</a:t>
            </a:r>
            <a:r>
              <a:rPr b="0" i="0" lang="en-US" sz="2800" u="none">
                <a:solidFill>
                  <a:schemeClr val="dk1"/>
                </a:solidFill>
                <a:latin typeface="Times"/>
                <a:ea typeface="Times"/>
                <a:cs typeface="Times"/>
                <a:sym typeface="Times"/>
              </a:rPr>
              <a:t>, P</a:t>
            </a:r>
            <a:r>
              <a:rPr b="0" baseline="-25000" i="0" lang="en-US" sz="2800" u="none">
                <a:solidFill>
                  <a:schemeClr val="dk1"/>
                </a:solidFill>
                <a:latin typeface="Times"/>
                <a:ea typeface="Times"/>
                <a:cs typeface="Times"/>
                <a:sym typeface="Times"/>
              </a:rPr>
              <a:t>2</a:t>
            </a:r>
            <a:r>
              <a:rPr b="0" i="0" lang="en-US" sz="2800" u="none">
                <a:solidFill>
                  <a:schemeClr val="dk1"/>
                </a:solidFill>
                <a:latin typeface="Times"/>
                <a:ea typeface="Times"/>
                <a:cs typeface="Times"/>
                <a:sym typeface="Times"/>
              </a:rPr>
              <a:t>, P</a:t>
            </a:r>
            <a:r>
              <a:rPr b="0" baseline="-25000" i="0" lang="en-US" sz="2800" u="none">
                <a:solidFill>
                  <a:schemeClr val="dk1"/>
                </a:solidFill>
                <a:latin typeface="Times"/>
                <a:ea typeface="Times"/>
                <a:cs typeface="Times"/>
                <a:sym typeface="Times"/>
              </a:rPr>
              <a:t>3</a:t>
            </a:r>
            <a:r>
              <a:rPr b="0" i="0" lang="en-US" sz="2800" u="none">
                <a:solidFill>
                  <a:schemeClr val="dk1"/>
                </a:solidFill>
                <a:latin typeface="Times New Roman"/>
                <a:ea typeface="Times New Roman"/>
                <a:cs typeface="Times New Roman"/>
                <a:sym typeface="Times New Roman"/>
              </a:rPr>
              <a:t> </a:t>
            </a:r>
            <a:r>
              <a:rPr b="0" i="0" lang="en-US" sz="2800" u="none">
                <a:solidFill>
                  <a:schemeClr val="dk1"/>
                </a:solidFill>
                <a:latin typeface="Corbel"/>
                <a:ea typeface="Corbel"/>
                <a:cs typeface="Corbel"/>
                <a:sym typeface="Corbel"/>
              </a:rPr>
              <a:t>and </a:t>
            </a:r>
            <a:r>
              <a:rPr b="1" i="0" lang="en-US" sz="2800" u="none">
                <a:solidFill>
                  <a:schemeClr val="accent2"/>
                </a:solidFill>
                <a:latin typeface="Times"/>
                <a:ea typeface="Times"/>
                <a:cs typeface="Times"/>
                <a:sym typeface="Times"/>
              </a:rPr>
              <a:t>MAC</a:t>
            </a:r>
            <a:r>
              <a:rPr b="0" i="0" lang="en-US" sz="2800" u="none">
                <a:solidFill>
                  <a:schemeClr val="dk1"/>
                </a:solidFill>
                <a:latin typeface="Corbel"/>
                <a:ea typeface="Corbel"/>
                <a:cs typeface="Corbel"/>
                <a:sym typeface="Corbel"/>
              </a:rPr>
              <a:t> to Bob </a:t>
            </a:r>
            <a:endParaRPr/>
          </a:p>
          <a:p>
            <a:pPr indent="-171450" lvl="0" marL="171450" marR="0" rtl="0" algn="l">
              <a:lnSpc>
                <a:spcPct val="85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Suppose Trudy changes </a:t>
            </a:r>
            <a:r>
              <a:rPr b="0" i="0" lang="en-US" sz="2800" u="none">
                <a:solidFill>
                  <a:schemeClr val="dk1"/>
                </a:solidFill>
                <a:latin typeface="Times"/>
                <a:ea typeface="Times"/>
                <a:cs typeface="Times"/>
                <a:sym typeface="Times"/>
              </a:rPr>
              <a:t>P</a:t>
            </a:r>
            <a:r>
              <a:rPr b="0" baseline="-25000" i="0" lang="en-US" sz="2800" u="none">
                <a:solidFill>
                  <a:schemeClr val="dk1"/>
                </a:solidFill>
                <a:latin typeface="Times"/>
                <a:ea typeface="Times"/>
                <a:cs typeface="Times"/>
                <a:sym typeface="Times"/>
              </a:rPr>
              <a:t>1</a:t>
            </a:r>
            <a:r>
              <a:rPr b="0" i="0" lang="en-US" sz="2800" u="none">
                <a:solidFill>
                  <a:schemeClr val="dk1"/>
                </a:solidFill>
                <a:latin typeface="Corbel"/>
                <a:ea typeface="Corbel"/>
                <a:cs typeface="Corbel"/>
                <a:sym typeface="Corbel"/>
              </a:rPr>
              <a:t> to </a:t>
            </a:r>
            <a:r>
              <a:rPr b="0" i="0" lang="en-US" sz="2800" u="none">
                <a:solidFill>
                  <a:schemeClr val="dk1"/>
                </a:solidFill>
                <a:latin typeface="Times"/>
                <a:ea typeface="Times"/>
                <a:cs typeface="Times"/>
                <a:sym typeface="Times"/>
              </a:rPr>
              <a:t>X</a:t>
            </a:r>
            <a:r>
              <a:rPr b="0" i="0" lang="en-US" sz="2800" u="none">
                <a:solidFill>
                  <a:schemeClr val="dk1"/>
                </a:solidFill>
                <a:latin typeface="Corbel"/>
                <a:ea typeface="Corbel"/>
                <a:cs typeface="Corbel"/>
                <a:sym typeface="Corbel"/>
              </a:rPr>
              <a:t> </a:t>
            </a:r>
            <a:endParaRPr/>
          </a:p>
          <a:p>
            <a:pPr indent="-171450" lvl="0" marL="171450" marR="0" rtl="0" algn="l">
              <a:lnSpc>
                <a:spcPct val="85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Bob computes</a:t>
            </a:r>
            <a:endParaRPr/>
          </a:p>
          <a:p>
            <a:pPr indent="-171450" lvl="0" marL="171450" marR="0" rtl="0" algn="l">
              <a:lnSpc>
                <a:spcPct val="90000"/>
              </a:lnSpc>
              <a:spcBef>
                <a:spcPts val="300"/>
              </a:spcBef>
              <a:spcAft>
                <a:spcPts val="0"/>
              </a:spcAft>
              <a:buClr>
                <a:schemeClr val="accent2"/>
              </a:buClr>
              <a:buSzPts val="2400"/>
              <a:buFont typeface="Arial"/>
              <a:buNone/>
            </a:pPr>
            <a:r>
              <a:rPr b="1" i="0" lang="en-US" sz="2400" u="none">
                <a:solidFill>
                  <a:schemeClr val="accent2"/>
                </a:solidFill>
                <a:latin typeface="Times"/>
                <a:ea typeface="Times"/>
                <a:cs typeface="Times"/>
                <a:sym typeface="Times"/>
              </a:rPr>
              <a:t>	C</a:t>
            </a:r>
            <a:r>
              <a:rPr b="1" baseline="-25000" i="0" lang="en-US" sz="2400" u="none">
                <a:solidFill>
                  <a:schemeClr val="accent2"/>
                </a:solidFill>
                <a:latin typeface="Times"/>
                <a:ea typeface="Times"/>
                <a:cs typeface="Times"/>
                <a:sym typeface="Times"/>
              </a:rPr>
              <a:t>0</a:t>
            </a:r>
            <a:r>
              <a:rPr b="0" baseline="-25000" i="0" lang="en-US" sz="2400" u="none">
                <a:solidFill>
                  <a:schemeClr val="dk1"/>
                </a:solidFill>
                <a:latin typeface="Times"/>
                <a:ea typeface="Times"/>
                <a:cs typeface="Times"/>
                <a:sym typeface="Times"/>
              </a:rPr>
              <a:t> </a:t>
            </a:r>
            <a:r>
              <a:rPr b="0" i="0" lang="en-US" sz="2400" u="none">
                <a:solidFill>
                  <a:schemeClr val="dk1"/>
                </a:solidFill>
                <a:latin typeface="Times"/>
                <a:ea typeface="Times"/>
                <a:cs typeface="Times"/>
                <a:sym typeface="Times"/>
              </a:rPr>
              <a:t>= E(IV⊕P</a:t>
            </a:r>
            <a:r>
              <a:rPr b="0" baseline="-25000" i="0" lang="en-US" sz="2400" u="none">
                <a:solidFill>
                  <a:schemeClr val="dk1"/>
                </a:solidFill>
                <a:latin typeface="Times"/>
                <a:ea typeface="Times"/>
                <a:cs typeface="Times"/>
                <a:sym typeface="Times"/>
              </a:rPr>
              <a:t>0</a:t>
            </a:r>
            <a:r>
              <a:rPr b="0" i="0" lang="en-US" sz="2400" u="none">
                <a:solidFill>
                  <a:schemeClr val="dk1"/>
                </a:solidFill>
                <a:latin typeface="Times"/>
                <a:ea typeface="Times"/>
                <a:cs typeface="Times"/>
                <a:sym typeface="Times"/>
              </a:rPr>
              <a:t>, K), </a:t>
            </a:r>
            <a:r>
              <a:rPr b="1" i="1" lang="en-US" sz="2400" u="none">
                <a:solidFill>
                  <a:srgbClr val="FF0000"/>
                </a:solidFill>
                <a:latin typeface="Times"/>
                <a:ea typeface="Times"/>
                <a:cs typeface="Times"/>
                <a:sym typeface="Times"/>
              </a:rPr>
              <a:t>C</a:t>
            </a:r>
            <a:r>
              <a:rPr b="1" baseline="-25000" i="1" lang="en-US" sz="2400" u="none">
                <a:solidFill>
                  <a:srgbClr val="FF0000"/>
                </a:solidFill>
                <a:latin typeface="Times"/>
                <a:ea typeface="Times"/>
                <a:cs typeface="Times"/>
                <a:sym typeface="Times"/>
              </a:rPr>
              <a:t>1</a:t>
            </a:r>
            <a:r>
              <a:rPr b="0" baseline="-25000" i="0" lang="en-US" sz="2400" u="none">
                <a:solidFill>
                  <a:schemeClr val="dk1"/>
                </a:solidFill>
                <a:latin typeface="Times"/>
                <a:ea typeface="Times"/>
                <a:cs typeface="Times"/>
                <a:sym typeface="Times"/>
              </a:rPr>
              <a:t> </a:t>
            </a:r>
            <a:r>
              <a:rPr b="0" i="0" lang="en-US" sz="2400" u="none">
                <a:solidFill>
                  <a:schemeClr val="dk1"/>
                </a:solidFill>
                <a:latin typeface="Times"/>
                <a:ea typeface="Times"/>
                <a:cs typeface="Times"/>
                <a:sym typeface="Times"/>
              </a:rPr>
              <a:t>= E(</a:t>
            </a:r>
            <a:r>
              <a:rPr b="1" i="0" lang="en-US" sz="2400" u="none">
                <a:solidFill>
                  <a:schemeClr val="accent2"/>
                </a:solidFill>
                <a:latin typeface="Times"/>
                <a:ea typeface="Times"/>
                <a:cs typeface="Times"/>
                <a:sym typeface="Times"/>
              </a:rPr>
              <a:t>C</a:t>
            </a:r>
            <a:r>
              <a:rPr b="1" baseline="-25000" i="0" lang="en-US" sz="2400" u="none">
                <a:solidFill>
                  <a:schemeClr val="accent2"/>
                </a:solidFill>
                <a:latin typeface="Times"/>
                <a:ea typeface="Times"/>
                <a:cs typeface="Times"/>
                <a:sym typeface="Times"/>
              </a:rPr>
              <a:t>0</a:t>
            </a:r>
            <a:r>
              <a:rPr b="0" i="0" lang="en-US" sz="2400" u="none">
                <a:solidFill>
                  <a:schemeClr val="dk1"/>
                </a:solidFill>
                <a:latin typeface="Times"/>
                <a:ea typeface="Times"/>
                <a:cs typeface="Times"/>
                <a:sym typeface="Times"/>
              </a:rPr>
              <a:t>⊕X, K),</a:t>
            </a:r>
            <a:endParaRPr/>
          </a:p>
          <a:p>
            <a:pPr indent="-171450" lvl="0" marL="171450" marR="0" rtl="0" algn="l">
              <a:lnSpc>
                <a:spcPct val="90000"/>
              </a:lnSpc>
              <a:spcBef>
                <a:spcPts val="300"/>
              </a:spcBef>
              <a:spcAft>
                <a:spcPts val="0"/>
              </a:spcAft>
              <a:buClr>
                <a:srgbClr val="FF0000"/>
              </a:buClr>
              <a:buSzPts val="2400"/>
              <a:buFont typeface="Arial"/>
              <a:buNone/>
            </a:pPr>
            <a:r>
              <a:rPr b="1" i="0" lang="en-US" sz="2400" u="none">
                <a:solidFill>
                  <a:srgbClr val="FF0000"/>
                </a:solidFill>
                <a:latin typeface="Times"/>
                <a:ea typeface="Times"/>
                <a:cs typeface="Times"/>
                <a:sym typeface="Times"/>
              </a:rPr>
              <a:t>	</a:t>
            </a:r>
            <a:r>
              <a:rPr b="1" i="1" lang="en-US" sz="2400" u="none">
                <a:solidFill>
                  <a:srgbClr val="FF0000"/>
                </a:solidFill>
                <a:latin typeface="Times"/>
                <a:ea typeface="Times"/>
                <a:cs typeface="Times"/>
                <a:sym typeface="Times"/>
              </a:rPr>
              <a:t>C</a:t>
            </a:r>
            <a:r>
              <a:rPr b="1" baseline="-25000" i="1" lang="en-US" sz="2400" u="none">
                <a:solidFill>
                  <a:srgbClr val="FF0000"/>
                </a:solidFill>
                <a:latin typeface="Times"/>
                <a:ea typeface="Times"/>
                <a:cs typeface="Times"/>
                <a:sym typeface="Times"/>
              </a:rPr>
              <a:t>2</a:t>
            </a:r>
            <a:r>
              <a:rPr b="0" baseline="-25000" i="0" lang="en-US" sz="2400" u="none">
                <a:solidFill>
                  <a:schemeClr val="dk1"/>
                </a:solidFill>
                <a:latin typeface="Times"/>
                <a:ea typeface="Times"/>
                <a:cs typeface="Times"/>
                <a:sym typeface="Times"/>
              </a:rPr>
              <a:t> </a:t>
            </a:r>
            <a:r>
              <a:rPr b="0" i="0" lang="en-US" sz="2400" u="none">
                <a:solidFill>
                  <a:schemeClr val="dk1"/>
                </a:solidFill>
                <a:latin typeface="Times"/>
                <a:ea typeface="Times"/>
                <a:cs typeface="Times"/>
                <a:sym typeface="Times"/>
              </a:rPr>
              <a:t>= E(</a:t>
            </a:r>
            <a:r>
              <a:rPr b="1" i="1" lang="en-US" sz="2400" u="none">
                <a:solidFill>
                  <a:srgbClr val="FF0000"/>
                </a:solidFill>
                <a:latin typeface="Times"/>
                <a:ea typeface="Times"/>
                <a:cs typeface="Times"/>
                <a:sym typeface="Times"/>
              </a:rPr>
              <a:t>C</a:t>
            </a:r>
            <a:r>
              <a:rPr b="1" baseline="-25000" i="1" lang="en-US" sz="2400" u="none">
                <a:solidFill>
                  <a:srgbClr val="FF0000"/>
                </a:solidFill>
                <a:latin typeface="Times"/>
                <a:ea typeface="Times"/>
                <a:cs typeface="Times"/>
                <a:sym typeface="Times"/>
              </a:rPr>
              <a:t>1</a:t>
            </a:r>
            <a:r>
              <a:rPr b="0" i="0" lang="en-US" sz="2400" u="none">
                <a:solidFill>
                  <a:schemeClr val="dk1"/>
                </a:solidFill>
                <a:latin typeface="Times"/>
                <a:ea typeface="Times"/>
                <a:cs typeface="Times"/>
                <a:sym typeface="Times"/>
              </a:rPr>
              <a:t>⊕P</a:t>
            </a:r>
            <a:r>
              <a:rPr b="0" baseline="-25000" i="0" lang="en-US" sz="2400" u="none">
                <a:solidFill>
                  <a:schemeClr val="dk1"/>
                </a:solidFill>
                <a:latin typeface="Times"/>
                <a:ea typeface="Times"/>
                <a:cs typeface="Times"/>
                <a:sym typeface="Times"/>
              </a:rPr>
              <a:t>2</a:t>
            </a:r>
            <a:r>
              <a:rPr b="0" i="0" lang="en-US" sz="2400" u="none">
                <a:solidFill>
                  <a:schemeClr val="dk1"/>
                </a:solidFill>
                <a:latin typeface="Times"/>
                <a:ea typeface="Times"/>
                <a:cs typeface="Times"/>
                <a:sym typeface="Times"/>
              </a:rPr>
              <a:t>, K), </a:t>
            </a:r>
            <a:r>
              <a:rPr b="1" i="1" lang="en-US" sz="2400" u="none">
                <a:solidFill>
                  <a:srgbClr val="FF0000"/>
                </a:solidFill>
                <a:latin typeface="Times"/>
                <a:ea typeface="Times"/>
                <a:cs typeface="Times"/>
                <a:sym typeface="Times"/>
              </a:rPr>
              <a:t>C</a:t>
            </a:r>
            <a:r>
              <a:rPr b="1" baseline="-25000" i="1" lang="en-US" sz="2400" u="none">
                <a:solidFill>
                  <a:srgbClr val="FF0000"/>
                </a:solidFill>
                <a:latin typeface="Times"/>
                <a:ea typeface="Times"/>
                <a:cs typeface="Times"/>
                <a:sym typeface="Times"/>
              </a:rPr>
              <a:t>3</a:t>
            </a:r>
            <a:r>
              <a:rPr b="0" baseline="-25000" i="0" lang="en-US" sz="2400" u="none">
                <a:solidFill>
                  <a:schemeClr val="dk1"/>
                </a:solidFill>
                <a:latin typeface="Times"/>
                <a:ea typeface="Times"/>
                <a:cs typeface="Times"/>
                <a:sym typeface="Times"/>
              </a:rPr>
              <a:t> </a:t>
            </a:r>
            <a:r>
              <a:rPr b="0" i="0" lang="en-US" sz="2400" u="none">
                <a:solidFill>
                  <a:schemeClr val="dk1"/>
                </a:solidFill>
                <a:latin typeface="Times"/>
                <a:ea typeface="Times"/>
                <a:cs typeface="Times"/>
                <a:sym typeface="Times"/>
              </a:rPr>
              <a:t>= E(</a:t>
            </a:r>
            <a:r>
              <a:rPr b="1" i="1" lang="en-US" sz="2400" u="none">
                <a:solidFill>
                  <a:srgbClr val="FF0000"/>
                </a:solidFill>
                <a:latin typeface="Times"/>
                <a:ea typeface="Times"/>
                <a:cs typeface="Times"/>
                <a:sym typeface="Times"/>
              </a:rPr>
              <a:t>C</a:t>
            </a:r>
            <a:r>
              <a:rPr b="1" baseline="-25000" i="1" lang="en-US" sz="2400" u="none">
                <a:solidFill>
                  <a:srgbClr val="FF0000"/>
                </a:solidFill>
                <a:latin typeface="Times"/>
                <a:ea typeface="Times"/>
                <a:cs typeface="Times"/>
                <a:sym typeface="Times"/>
              </a:rPr>
              <a:t>2</a:t>
            </a:r>
            <a:r>
              <a:rPr b="0" i="0" lang="en-US" sz="2400" u="none">
                <a:solidFill>
                  <a:schemeClr val="dk1"/>
                </a:solidFill>
                <a:latin typeface="Times"/>
                <a:ea typeface="Times"/>
                <a:cs typeface="Times"/>
                <a:sym typeface="Times"/>
              </a:rPr>
              <a:t>⊕P</a:t>
            </a:r>
            <a:r>
              <a:rPr b="0" baseline="-25000" i="0" lang="en-US" sz="2400" u="none">
                <a:solidFill>
                  <a:schemeClr val="dk1"/>
                </a:solidFill>
                <a:latin typeface="Times"/>
                <a:ea typeface="Times"/>
                <a:cs typeface="Times"/>
                <a:sym typeface="Times"/>
              </a:rPr>
              <a:t>3</a:t>
            </a:r>
            <a:r>
              <a:rPr b="0" i="0" lang="en-US" sz="2400" u="none">
                <a:solidFill>
                  <a:schemeClr val="dk1"/>
                </a:solidFill>
                <a:latin typeface="Times"/>
                <a:ea typeface="Times"/>
                <a:cs typeface="Times"/>
                <a:sym typeface="Times"/>
              </a:rPr>
              <a:t>, K) = </a:t>
            </a:r>
            <a:r>
              <a:rPr b="1" i="1" lang="en-US" sz="2400" u="none">
                <a:solidFill>
                  <a:srgbClr val="FF0000"/>
                </a:solidFill>
                <a:latin typeface="Times"/>
                <a:ea typeface="Times"/>
                <a:cs typeface="Times"/>
                <a:sym typeface="Times"/>
              </a:rPr>
              <a:t>MAC</a:t>
            </a:r>
            <a:r>
              <a:rPr b="0" i="0" lang="en-US" sz="2400" u="none">
                <a:solidFill>
                  <a:schemeClr val="dk1"/>
                </a:solidFill>
                <a:latin typeface="Times"/>
                <a:ea typeface="Times"/>
                <a:cs typeface="Times"/>
                <a:sym typeface="Times"/>
              </a:rPr>
              <a:t> ≠ </a:t>
            </a:r>
            <a:r>
              <a:rPr b="1" i="0" lang="en-US" sz="2400" u="none">
                <a:solidFill>
                  <a:schemeClr val="accent2"/>
                </a:solidFill>
                <a:latin typeface="Times"/>
                <a:ea typeface="Times"/>
                <a:cs typeface="Times"/>
                <a:sym typeface="Times"/>
              </a:rPr>
              <a:t>MAC</a:t>
            </a:r>
            <a:endParaRPr b="0" i="0" sz="2400" u="none">
              <a:solidFill>
                <a:schemeClr val="dk1"/>
              </a:solidFill>
              <a:latin typeface="Times"/>
              <a:ea typeface="Times"/>
              <a:cs typeface="Times"/>
              <a:sym typeface="Times"/>
            </a:endParaRPr>
          </a:p>
          <a:p>
            <a:pPr indent="-171450" lvl="0" marL="171450" marR="0" rtl="0" algn="l">
              <a:lnSpc>
                <a:spcPct val="85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It works since error </a:t>
            </a:r>
            <a:r>
              <a:rPr b="0" i="0" lang="en-US" sz="2800" u="sng">
                <a:solidFill>
                  <a:schemeClr val="dk1"/>
                </a:solidFill>
                <a:latin typeface="Corbel"/>
                <a:ea typeface="Corbel"/>
                <a:cs typeface="Corbel"/>
                <a:sym typeface="Corbel"/>
              </a:rPr>
              <a:t>propagates</a:t>
            </a:r>
            <a:r>
              <a:rPr b="0" i="0" lang="en-US" sz="2800" u="none">
                <a:solidFill>
                  <a:schemeClr val="dk1"/>
                </a:solidFill>
                <a:latin typeface="Corbel"/>
                <a:ea typeface="Corbel"/>
                <a:cs typeface="Corbel"/>
                <a:sym typeface="Corbel"/>
              </a:rPr>
              <a:t> into </a:t>
            </a:r>
            <a:r>
              <a:rPr b="1" i="0" lang="en-US" sz="2800" u="none">
                <a:solidFill>
                  <a:schemeClr val="dk1"/>
                </a:solidFill>
                <a:latin typeface="Times"/>
                <a:ea typeface="Times"/>
                <a:cs typeface="Times"/>
                <a:sym typeface="Times"/>
              </a:rPr>
              <a:t>MAC</a:t>
            </a:r>
            <a:endParaRPr/>
          </a:p>
          <a:p>
            <a:pPr indent="-171450" lvl="0" marL="171450" marR="0" rtl="0" algn="l">
              <a:lnSpc>
                <a:spcPct val="85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Trudy can’t make </a:t>
            </a:r>
            <a:r>
              <a:rPr b="1" i="1" lang="en-US" sz="2800" u="none">
                <a:solidFill>
                  <a:srgbClr val="FF0000"/>
                </a:solidFill>
                <a:latin typeface="Times"/>
                <a:ea typeface="Times"/>
                <a:cs typeface="Times"/>
                <a:sym typeface="Times"/>
              </a:rPr>
              <a:t>MAC</a:t>
            </a:r>
            <a:r>
              <a:rPr b="0" i="0" lang="en-US" sz="2800" u="none">
                <a:solidFill>
                  <a:schemeClr val="dk1"/>
                </a:solidFill>
                <a:latin typeface="Corbel"/>
                <a:ea typeface="Corbel"/>
                <a:cs typeface="Corbel"/>
                <a:sym typeface="Corbel"/>
              </a:rPr>
              <a:t> </a:t>
            </a:r>
            <a:r>
              <a:rPr b="0" i="0" lang="en-US" sz="2800" u="none">
                <a:solidFill>
                  <a:schemeClr val="dk1"/>
                </a:solidFill>
                <a:latin typeface="Times"/>
                <a:ea typeface="Times"/>
                <a:cs typeface="Times"/>
                <a:sym typeface="Times"/>
              </a:rPr>
              <a:t>== </a:t>
            </a:r>
            <a:r>
              <a:rPr b="1" i="0" lang="en-US" sz="2800" u="none">
                <a:solidFill>
                  <a:schemeClr val="accent2"/>
                </a:solidFill>
                <a:latin typeface="Times"/>
                <a:ea typeface="Times"/>
                <a:cs typeface="Times"/>
                <a:sym typeface="Times"/>
              </a:rPr>
              <a:t>MAC</a:t>
            </a:r>
            <a:r>
              <a:rPr b="0" i="0" lang="en-US" sz="2800" u="none">
                <a:solidFill>
                  <a:schemeClr val="dk1"/>
                </a:solidFill>
                <a:latin typeface="Corbel"/>
                <a:ea typeface="Corbel"/>
                <a:cs typeface="Corbel"/>
                <a:sym typeface="Corbel"/>
              </a:rPr>
              <a:t> without </a:t>
            </a:r>
            <a:r>
              <a:rPr b="0" i="0" lang="en-US" sz="2800" u="none">
                <a:solidFill>
                  <a:schemeClr val="dk1"/>
                </a:solidFill>
                <a:latin typeface="Times"/>
                <a:ea typeface="Times"/>
                <a:cs typeface="Times"/>
                <a:sym typeface="Times"/>
              </a:rPr>
              <a:t>K</a:t>
            </a:r>
            <a:endParaRPr/>
          </a:p>
        </p:txBody>
      </p:sp>
      <p:sp>
        <p:nvSpPr>
          <p:cNvPr id="1029" name="Google Shape;1029;p8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1030" name="Google Shape;1030;p82"/>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0" st="0"/>
                                            </p:txEl>
                                          </p:spTgt>
                                        </p:tgtEl>
                                        <p:attrNameLst>
                                          <p:attrName>style.visibility</p:attrName>
                                        </p:attrNameLst>
                                      </p:cBhvr>
                                      <p:to>
                                        <p:strVal val="visible"/>
                                      </p:to>
                                    </p:set>
                                    <p:animEffect filter="fade" transition="in">
                                      <p:cBhvr>
                                        <p:cTn dur="500"/>
                                        <p:tgtEl>
                                          <p:spTgt spid="10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1" st="1"/>
                                            </p:txEl>
                                          </p:spTgt>
                                        </p:tgtEl>
                                        <p:attrNameLst>
                                          <p:attrName>style.visibility</p:attrName>
                                        </p:attrNameLst>
                                      </p:cBhvr>
                                      <p:to>
                                        <p:strVal val="visible"/>
                                      </p:to>
                                    </p:set>
                                    <p:animEffect filter="fade" transition="in">
                                      <p:cBhvr>
                                        <p:cTn dur="500"/>
                                        <p:tgtEl>
                                          <p:spTgt spid="10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2" st="2"/>
                                            </p:txEl>
                                          </p:spTgt>
                                        </p:tgtEl>
                                        <p:attrNameLst>
                                          <p:attrName>style.visibility</p:attrName>
                                        </p:attrNameLst>
                                      </p:cBhvr>
                                      <p:to>
                                        <p:strVal val="visible"/>
                                      </p:to>
                                    </p:set>
                                    <p:animEffect filter="fade" transition="in">
                                      <p:cBhvr>
                                        <p:cTn dur="500"/>
                                        <p:tgtEl>
                                          <p:spTgt spid="10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3" st="3"/>
                                            </p:txEl>
                                          </p:spTgt>
                                        </p:tgtEl>
                                        <p:attrNameLst>
                                          <p:attrName>style.visibility</p:attrName>
                                        </p:attrNameLst>
                                      </p:cBhvr>
                                      <p:to>
                                        <p:strVal val="visible"/>
                                      </p:to>
                                    </p:set>
                                    <p:animEffect filter="fade" transition="in">
                                      <p:cBhvr>
                                        <p:cTn dur="500"/>
                                        <p:tgtEl>
                                          <p:spTgt spid="10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4" st="4"/>
                                            </p:txEl>
                                          </p:spTgt>
                                        </p:tgtEl>
                                        <p:attrNameLst>
                                          <p:attrName>style.visibility</p:attrName>
                                        </p:attrNameLst>
                                      </p:cBhvr>
                                      <p:to>
                                        <p:strVal val="visible"/>
                                      </p:to>
                                    </p:set>
                                    <p:animEffect filter="fade" transition="in">
                                      <p:cBhvr>
                                        <p:cTn dur="500"/>
                                        <p:tgtEl>
                                          <p:spTgt spid="10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5" st="5"/>
                                            </p:txEl>
                                          </p:spTgt>
                                        </p:tgtEl>
                                        <p:attrNameLst>
                                          <p:attrName>style.visibility</p:attrName>
                                        </p:attrNameLst>
                                      </p:cBhvr>
                                      <p:to>
                                        <p:strVal val="visible"/>
                                      </p:to>
                                    </p:set>
                                    <p:animEffect filter="fade" transition="in">
                                      <p:cBhvr>
                                        <p:cTn dur="500"/>
                                        <p:tgtEl>
                                          <p:spTgt spid="10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6" st="6"/>
                                            </p:txEl>
                                          </p:spTgt>
                                        </p:tgtEl>
                                        <p:attrNameLst>
                                          <p:attrName>style.visibility</p:attrName>
                                        </p:attrNameLst>
                                      </p:cBhvr>
                                      <p:to>
                                        <p:strVal val="visible"/>
                                      </p:to>
                                    </p:set>
                                    <p:animEffect filter="fade" transition="in">
                                      <p:cBhvr>
                                        <p:cTn dur="500"/>
                                        <p:tgtEl>
                                          <p:spTgt spid="102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7" st="7"/>
                                            </p:txEl>
                                          </p:spTgt>
                                        </p:tgtEl>
                                        <p:attrNameLst>
                                          <p:attrName>style.visibility</p:attrName>
                                        </p:attrNameLst>
                                      </p:cBhvr>
                                      <p:to>
                                        <p:strVal val="visible"/>
                                      </p:to>
                                    </p:set>
                                    <p:animEffect filter="fade" transition="in">
                                      <p:cBhvr>
                                        <p:cTn dur="500"/>
                                        <p:tgtEl>
                                          <p:spTgt spid="102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8" st="8"/>
                                            </p:txEl>
                                          </p:spTgt>
                                        </p:tgtEl>
                                        <p:attrNameLst>
                                          <p:attrName>style.visibility</p:attrName>
                                        </p:attrNameLst>
                                      </p:cBhvr>
                                      <p:to>
                                        <p:strVal val="visible"/>
                                      </p:to>
                                    </p:set>
                                    <p:animEffect filter="fade" transition="in">
                                      <p:cBhvr>
                                        <p:cTn dur="500"/>
                                        <p:tgtEl>
                                          <p:spTgt spid="102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9" st="9"/>
                                            </p:txEl>
                                          </p:spTgt>
                                        </p:tgtEl>
                                        <p:attrNameLst>
                                          <p:attrName>style.visibility</p:attrName>
                                        </p:attrNameLst>
                                      </p:cBhvr>
                                      <p:to>
                                        <p:strVal val="visible"/>
                                      </p:to>
                                    </p:set>
                                    <p:animEffect filter="fade" transition="in">
                                      <p:cBhvr>
                                        <p:cTn dur="500"/>
                                        <p:tgtEl>
                                          <p:spTgt spid="102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10" st="10"/>
                                            </p:txEl>
                                          </p:spTgt>
                                        </p:tgtEl>
                                        <p:attrNameLst>
                                          <p:attrName>style.visibility</p:attrName>
                                        </p:attrNameLst>
                                      </p:cBhvr>
                                      <p:to>
                                        <p:strVal val="visible"/>
                                      </p:to>
                                    </p:set>
                                    <p:animEffect filter="fade" transition="in">
                                      <p:cBhvr>
                                        <p:cTn dur="500"/>
                                        <p:tgtEl>
                                          <p:spTgt spid="102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83"/>
          <p:cNvSpPr txBox="1"/>
          <p:nvPr>
            <p:ph type="title"/>
          </p:nvPr>
        </p:nvSpPr>
        <p:spPr>
          <a:xfrm>
            <a:off x="685800" y="457200"/>
            <a:ext cx="7772400" cy="1143000"/>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Confidentiality and Integrity</a:t>
            </a:r>
            <a:endParaRPr/>
          </a:p>
        </p:txBody>
      </p:sp>
      <p:sp>
        <p:nvSpPr>
          <p:cNvPr id="1036" name="Google Shape;1036;p83"/>
          <p:cNvSpPr txBox="1"/>
          <p:nvPr>
            <p:ph idx="1" type="body"/>
          </p:nvPr>
        </p:nvSpPr>
        <p:spPr>
          <a:xfrm>
            <a:off x="685800" y="1860550"/>
            <a:ext cx="8001000" cy="43434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Encrypt with one key, </a:t>
            </a:r>
            <a:r>
              <a:rPr b="0" i="0" lang="en-US" sz="2800" u="none">
                <a:solidFill>
                  <a:schemeClr val="dk1"/>
                </a:solidFill>
                <a:latin typeface="Times"/>
                <a:ea typeface="Times"/>
                <a:cs typeface="Times"/>
                <a:sym typeface="Times"/>
              </a:rPr>
              <a:t>MAC</a:t>
            </a:r>
            <a:r>
              <a:rPr b="0" i="0" lang="en-US" sz="2800" u="none">
                <a:solidFill>
                  <a:schemeClr val="dk1"/>
                </a:solidFill>
                <a:latin typeface="Corbel"/>
                <a:ea typeface="Corbel"/>
                <a:cs typeface="Corbel"/>
                <a:sym typeface="Corbel"/>
              </a:rPr>
              <a:t> with another key </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Why not use the same key?</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Send last encrypted block (</a:t>
            </a:r>
            <a:r>
              <a:rPr b="0" i="0" lang="en-US" sz="2400" u="none" cap="none" strike="noStrike">
                <a:solidFill>
                  <a:schemeClr val="dk1"/>
                </a:solidFill>
                <a:latin typeface="Times"/>
                <a:ea typeface="Times"/>
                <a:cs typeface="Times"/>
                <a:sym typeface="Times"/>
              </a:rPr>
              <a:t>MAC</a:t>
            </a:r>
            <a:r>
              <a:rPr b="0" i="0" lang="en-US" sz="2400" u="none" cap="none" strike="noStrike">
                <a:solidFill>
                  <a:schemeClr val="dk1"/>
                </a:solidFill>
                <a:latin typeface="Corbel"/>
                <a:ea typeface="Corbel"/>
                <a:cs typeface="Corbel"/>
                <a:sym typeface="Corbel"/>
              </a:rPr>
              <a:t>) twice? </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This cannot add any security!</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Using different keys to encrypt and compute </a:t>
            </a:r>
            <a:r>
              <a:rPr b="0" i="0" lang="en-US" sz="2800" u="none">
                <a:solidFill>
                  <a:schemeClr val="dk1"/>
                </a:solidFill>
                <a:latin typeface="Times"/>
                <a:ea typeface="Times"/>
                <a:cs typeface="Times"/>
                <a:sym typeface="Times"/>
              </a:rPr>
              <a:t>MAC</a:t>
            </a:r>
            <a:r>
              <a:rPr b="0" i="0" lang="en-US" sz="2800" u="none">
                <a:solidFill>
                  <a:schemeClr val="dk1"/>
                </a:solidFill>
                <a:latin typeface="Corbel"/>
                <a:ea typeface="Corbel"/>
                <a:cs typeface="Corbel"/>
                <a:sym typeface="Corbel"/>
              </a:rPr>
              <a:t> works, even if keys are related</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But, twice as much work as encryption alone</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400" u="none" cap="none" strike="noStrike">
                <a:solidFill>
                  <a:schemeClr val="dk1"/>
                </a:solidFill>
                <a:latin typeface="Corbel"/>
                <a:ea typeface="Corbel"/>
                <a:cs typeface="Corbel"/>
                <a:sym typeface="Corbel"/>
              </a:rPr>
              <a:t>Can do a little better ⎯ about 1.5 “encryptions”</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800" u="none">
                <a:solidFill>
                  <a:schemeClr val="dk1"/>
                </a:solidFill>
                <a:latin typeface="Corbel"/>
                <a:ea typeface="Corbel"/>
                <a:cs typeface="Corbel"/>
                <a:sym typeface="Corbel"/>
              </a:rPr>
              <a:t>Confidentiality </a:t>
            </a:r>
            <a:r>
              <a:rPr b="0" i="1" lang="en-US" sz="2800" u="none">
                <a:solidFill>
                  <a:schemeClr val="dk1"/>
                </a:solidFill>
                <a:latin typeface="Corbel"/>
                <a:ea typeface="Corbel"/>
                <a:cs typeface="Corbel"/>
                <a:sym typeface="Corbel"/>
              </a:rPr>
              <a:t>and</a:t>
            </a:r>
            <a:r>
              <a:rPr b="0" i="0" lang="en-US" sz="2800" u="none">
                <a:solidFill>
                  <a:schemeClr val="dk1"/>
                </a:solidFill>
                <a:latin typeface="Corbel"/>
                <a:ea typeface="Corbel"/>
                <a:cs typeface="Corbel"/>
                <a:sym typeface="Corbel"/>
              </a:rPr>
              <a:t> integrity with same work as one encryption is a research topic</a:t>
            </a:r>
            <a:endParaRPr/>
          </a:p>
        </p:txBody>
      </p:sp>
      <p:sp>
        <p:nvSpPr>
          <p:cNvPr id="1037" name="Google Shape;1037;p8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1038" name="Google Shape;1038;p8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84"/>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rbel"/>
              <a:buNone/>
            </a:pPr>
            <a:r>
              <a:rPr b="0" i="0" lang="en-US" sz="4000" u="none">
                <a:solidFill>
                  <a:schemeClr val="lt1"/>
                </a:solidFill>
                <a:latin typeface="Corbel"/>
                <a:ea typeface="Corbel"/>
                <a:cs typeface="Corbel"/>
                <a:sym typeface="Corbel"/>
              </a:rPr>
              <a:t>Uses for Symmetric Crypto</a:t>
            </a:r>
            <a:endParaRPr/>
          </a:p>
        </p:txBody>
      </p:sp>
      <p:sp>
        <p:nvSpPr>
          <p:cNvPr id="1044" name="Google Shape;1044;p84"/>
          <p:cNvSpPr txBox="1"/>
          <p:nvPr>
            <p:ph idx="1" type="body"/>
          </p:nvPr>
        </p:nvSpPr>
        <p:spPr>
          <a:xfrm>
            <a:off x="468312" y="1668462"/>
            <a:ext cx="7886700" cy="451167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Confidentiality</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000" u="none" cap="none" strike="noStrike">
                <a:solidFill>
                  <a:schemeClr val="dk1"/>
                </a:solidFill>
                <a:latin typeface="Corbel"/>
                <a:ea typeface="Corbel"/>
                <a:cs typeface="Corbel"/>
                <a:sym typeface="Corbel"/>
              </a:rPr>
              <a:t>Transmitting data over insecure channel</a:t>
            </a:r>
            <a:endParaRPr/>
          </a:p>
          <a:p>
            <a:pPr indent="-393700" lvl="1" marL="514350" marR="0" rtl="0" algn="l">
              <a:lnSpc>
                <a:spcPct val="90000"/>
              </a:lnSpc>
              <a:spcBef>
                <a:spcPts val="300"/>
              </a:spcBef>
              <a:spcAft>
                <a:spcPts val="0"/>
              </a:spcAft>
              <a:buClr>
                <a:srgbClr val="376092"/>
              </a:buClr>
              <a:buSzPts val="300"/>
              <a:buFont typeface="Arial"/>
              <a:buChar char="•"/>
            </a:pPr>
            <a:r>
              <a:rPr b="0" i="0" lang="en-US" sz="2000" u="none" cap="none" strike="noStrike">
                <a:solidFill>
                  <a:schemeClr val="dk1"/>
                </a:solidFill>
                <a:latin typeface="Corbel"/>
                <a:ea typeface="Corbel"/>
                <a:cs typeface="Corbel"/>
                <a:sym typeface="Corbel"/>
              </a:rPr>
              <a:t>Secure storage on insecure media</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Integrity (</a:t>
            </a:r>
            <a:r>
              <a:rPr b="0" i="0" lang="en-US" sz="2400" u="none">
                <a:solidFill>
                  <a:schemeClr val="dk1"/>
                </a:solidFill>
                <a:latin typeface="Times"/>
                <a:ea typeface="Times"/>
                <a:cs typeface="Times"/>
                <a:sym typeface="Times"/>
              </a:rPr>
              <a:t>MAC</a:t>
            </a:r>
            <a:r>
              <a:rPr b="0" i="0" lang="en-US" sz="2400" u="none">
                <a:solidFill>
                  <a:schemeClr val="dk1"/>
                </a:solidFill>
                <a:latin typeface="Corbel"/>
                <a:ea typeface="Corbel"/>
                <a:cs typeface="Corbel"/>
                <a:sym typeface="Corbel"/>
              </a:rPr>
              <a:t>)</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Authentication protocols (later…)</a:t>
            </a:r>
            <a:endParaRPr/>
          </a:p>
          <a:p>
            <a:pPr indent="-171450" lvl="0" marL="171450" marR="0" rtl="0" algn="l">
              <a:lnSpc>
                <a:spcPct val="90000"/>
              </a:lnSpc>
              <a:spcBef>
                <a:spcPts val="30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Anything you can do with a hash function (upcoming chapter…)</a:t>
            </a:r>
            <a:endParaRPr/>
          </a:p>
        </p:txBody>
      </p:sp>
      <p:sp>
        <p:nvSpPr>
          <p:cNvPr id="1045" name="Google Shape;1045;p8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1046" name="Google Shape;1046;p84"/>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85"/>
          <p:cNvSpPr txBox="1"/>
          <p:nvPr>
            <p:ph type="title"/>
          </p:nvPr>
        </p:nvSpPr>
        <p:spPr>
          <a:xfrm>
            <a:off x="468312" y="303212"/>
            <a:ext cx="7886700" cy="1163637"/>
          </a:xfrm>
          <a:prstGeom prst="rect">
            <a:avLst/>
          </a:prstGeom>
          <a:solidFill>
            <a:srgbClr val="2F5597"/>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a:solidFill>
                <a:schemeClr val="lt1"/>
              </a:solidFill>
            </a:endParaRPr>
          </a:p>
        </p:txBody>
      </p:sp>
      <p:sp>
        <p:nvSpPr>
          <p:cNvPr id="1052" name="Google Shape;1052;p85"/>
          <p:cNvSpPr txBox="1"/>
          <p:nvPr>
            <p:ph idx="1" type="body"/>
          </p:nvPr>
        </p:nvSpPr>
        <p:spPr>
          <a:xfrm>
            <a:off x="2268537" y="3573462"/>
            <a:ext cx="6570662" cy="2827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376092"/>
              </a:buClr>
              <a:buSzPts val="300"/>
              <a:buFont typeface="Arial"/>
              <a:buChar char="•"/>
            </a:pPr>
            <a:r>
              <a:rPr b="0" i="0" lang="en-US" sz="2400" u="none">
                <a:solidFill>
                  <a:schemeClr val="dk1"/>
                </a:solidFill>
                <a:latin typeface="Corbel"/>
                <a:ea typeface="Corbel"/>
                <a:cs typeface="Corbel"/>
                <a:sym typeface="Corbel"/>
              </a:rPr>
              <a:t>End</a:t>
            </a:r>
            <a:endParaRPr/>
          </a:p>
        </p:txBody>
      </p:sp>
      <p:sp>
        <p:nvSpPr>
          <p:cNvPr id="1053" name="Google Shape;1053;p8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Corbel"/>
              <a:buNone/>
            </a:pPr>
            <a:fld id="{00000000-1234-1234-1234-123412341234}" type="slidenum">
              <a:rPr b="0" i="0" lang="en-US" sz="900" u="none">
                <a:solidFill>
                  <a:srgbClr val="000000"/>
                </a:solidFill>
                <a:latin typeface="Corbel"/>
                <a:ea typeface="Corbel"/>
                <a:cs typeface="Corbel"/>
                <a:sym typeface="Corbel"/>
              </a:rPr>
              <a:t>‹#›</a:t>
            </a:fld>
            <a:endParaRPr/>
          </a:p>
        </p:txBody>
      </p:sp>
      <p:sp>
        <p:nvSpPr>
          <p:cNvPr id="1054" name="Google Shape;1054;p85"/>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900"/>
              <a:buFont typeface="Gill Sans"/>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2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BRAC University 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2006-02-20T14:25:37Z</dcterms:created>
  <dc:creator>안태남</dc:creator>
</cp:coreProperties>
</file>

<file path=docProps/custom.xml><?xml version="1.0" encoding="utf-8"?>
<Properties xmlns="http://schemas.openxmlformats.org/officeDocument/2006/custom-properties" xmlns:vt="http://schemas.openxmlformats.org/officeDocument/2006/docPropsVTypes"/>
</file>